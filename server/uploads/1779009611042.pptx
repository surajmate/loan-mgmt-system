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3.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4.xml" ContentType="application/vnd.openxmlformats-officedocument.themeOverr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543" r:id="rId5"/>
    <p:sldId id="527" r:id="rId6"/>
    <p:sldId id="2147483599" r:id="rId7"/>
    <p:sldId id="550" r:id="rId8"/>
    <p:sldId id="509" r:id="rId9"/>
    <p:sldId id="2147483607" r:id="rId10"/>
    <p:sldId id="554" r:id="rId11"/>
    <p:sldId id="2147483601" r:id="rId12"/>
    <p:sldId id="547" r:id="rId13"/>
    <p:sldId id="546" r:id="rId14"/>
    <p:sldId id="551" r:id="rId15"/>
    <p:sldId id="548" r:id="rId16"/>
    <p:sldId id="2147483606" r:id="rId17"/>
    <p:sldId id="54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DAEC5A7-D13A-4CFE-B7B7-08B026A1101E}">
          <p14:sldIdLst>
            <p14:sldId id="543"/>
            <p14:sldId id="527"/>
            <p14:sldId id="2147483599"/>
            <p14:sldId id="550"/>
            <p14:sldId id="509"/>
            <p14:sldId id="2147483607"/>
            <p14:sldId id="554"/>
            <p14:sldId id="2147483601"/>
            <p14:sldId id="547"/>
            <p14:sldId id="546"/>
            <p14:sldId id="551"/>
            <p14:sldId id="548"/>
            <p14:sldId id="2147483606"/>
            <p14:sldId id="542"/>
          </p14:sldIdLst>
        </p14:section>
        <p14:section name="appendix" id="{A824FBC9-30E5-459C-87B9-6E5B98CE24C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7FF"/>
    <a:srgbClr val="D6E1F1"/>
    <a:srgbClr val="B674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oleObject" Target="https://myoffice.accenture.com/personal/swati_sharad_lambe_accenture_com/Documents/Documents/Bajaj-All/Bajaj%20Implementation%20Q2(Apr-Jun%2025)%20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APIs Developed</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Sheet6!$B$1</c:f>
              <c:strCache>
                <c:ptCount val="1"/>
                <c:pt idx="0">
                  <c:v>Aug-23</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Sheet6!$A$2</c:f>
              <c:strCache>
                <c:ptCount val="1"/>
                <c:pt idx="0">
                  <c:v>Number Of APIs Developed</c:v>
                </c:pt>
              </c:strCache>
            </c:strRef>
          </c:cat>
          <c:val>
            <c:numRef>
              <c:f>Sheet6!$B$2</c:f>
              <c:numCache>
                <c:formatCode>General</c:formatCode>
                <c:ptCount val="1"/>
                <c:pt idx="0">
                  <c:v>30</c:v>
                </c:pt>
              </c:numCache>
            </c:numRef>
          </c:val>
          <c:extLst>
            <c:ext xmlns:c16="http://schemas.microsoft.com/office/drawing/2014/chart" uri="{C3380CC4-5D6E-409C-BE32-E72D297353CC}">
              <c16:uniqueId val="{00000000-16EB-45D6-BF74-24014971D264}"/>
            </c:ext>
          </c:extLst>
        </c:ser>
        <c:ser>
          <c:idx val="1"/>
          <c:order val="1"/>
          <c:tx>
            <c:strRef>
              <c:f>Sheet6!$C$1</c:f>
              <c:strCache>
                <c:ptCount val="1"/>
                <c:pt idx="0">
                  <c:v>Aug-24</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Sheet6!$A$2</c:f>
              <c:strCache>
                <c:ptCount val="1"/>
                <c:pt idx="0">
                  <c:v>Number Of APIs Developed</c:v>
                </c:pt>
              </c:strCache>
            </c:strRef>
          </c:cat>
          <c:val>
            <c:numRef>
              <c:f>Sheet6!$C$2</c:f>
              <c:numCache>
                <c:formatCode>General</c:formatCode>
                <c:ptCount val="1"/>
                <c:pt idx="0">
                  <c:v>78</c:v>
                </c:pt>
              </c:numCache>
            </c:numRef>
          </c:val>
          <c:extLst>
            <c:ext xmlns:c16="http://schemas.microsoft.com/office/drawing/2014/chart" uri="{C3380CC4-5D6E-409C-BE32-E72D297353CC}">
              <c16:uniqueId val="{00000001-16EB-45D6-BF74-24014971D264}"/>
            </c:ext>
          </c:extLst>
        </c:ser>
        <c:ser>
          <c:idx val="2"/>
          <c:order val="2"/>
          <c:tx>
            <c:strRef>
              <c:f>Sheet6!$D$1</c:f>
              <c:strCache>
                <c:ptCount val="1"/>
                <c:pt idx="0">
                  <c:v>Jul-25</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r>
                      <a:rPr lang="en-US"/>
                      <a:t>120</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644-494B-9A1B-E89179FCFAD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Sheet6!$A$2</c:f>
              <c:strCache>
                <c:ptCount val="1"/>
                <c:pt idx="0">
                  <c:v>Number Of APIs Developed</c:v>
                </c:pt>
              </c:strCache>
            </c:strRef>
          </c:cat>
          <c:val>
            <c:numRef>
              <c:f>Sheet6!$D$2</c:f>
              <c:numCache>
                <c:formatCode>General</c:formatCode>
                <c:ptCount val="1"/>
                <c:pt idx="0">
                  <c:v>100</c:v>
                </c:pt>
              </c:numCache>
            </c:numRef>
          </c:val>
          <c:extLst>
            <c:ext xmlns:c16="http://schemas.microsoft.com/office/drawing/2014/chart" uri="{C3380CC4-5D6E-409C-BE32-E72D297353CC}">
              <c16:uniqueId val="{00000002-16EB-45D6-BF74-24014971D264}"/>
            </c:ext>
          </c:extLst>
        </c:ser>
        <c:dLbls>
          <c:dLblPos val="inEnd"/>
          <c:showLegendKey val="0"/>
          <c:showVal val="1"/>
          <c:showCatName val="0"/>
          <c:showSerName val="0"/>
          <c:showPercent val="0"/>
          <c:showBubbleSize val="0"/>
        </c:dLbls>
        <c:gapWidth val="100"/>
        <c:overlap val="-24"/>
        <c:axId val="351696160"/>
        <c:axId val="351696640"/>
      </c:barChart>
      <c:catAx>
        <c:axId val="35169616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351696640"/>
        <c:crosses val="autoZero"/>
        <c:auto val="1"/>
        <c:lblAlgn val="ctr"/>
        <c:lblOffset val="100"/>
        <c:noMultiLvlLbl val="0"/>
      </c:catAx>
      <c:valAx>
        <c:axId val="35169664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3516961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Total Hits To Platform</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Sheet8!$B$1</c:f>
              <c:strCache>
                <c:ptCount val="1"/>
                <c:pt idx="0">
                  <c:v>Q2-2024</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Sheet8!$A$2</c:f>
              <c:strCache>
                <c:ptCount val="1"/>
                <c:pt idx="0">
                  <c:v>Total Hits To Platform</c:v>
                </c:pt>
              </c:strCache>
            </c:strRef>
          </c:cat>
          <c:val>
            <c:numRef>
              <c:f>Sheet8!$B$2</c:f>
              <c:numCache>
                <c:formatCode>General</c:formatCode>
                <c:ptCount val="1"/>
                <c:pt idx="0">
                  <c:v>4500000</c:v>
                </c:pt>
              </c:numCache>
            </c:numRef>
          </c:val>
          <c:extLst>
            <c:ext xmlns:c16="http://schemas.microsoft.com/office/drawing/2014/chart" uri="{C3380CC4-5D6E-409C-BE32-E72D297353CC}">
              <c16:uniqueId val="{00000000-B3BA-4C25-A949-9F357BBE2825}"/>
            </c:ext>
          </c:extLst>
        </c:ser>
        <c:ser>
          <c:idx val="1"/>
          <c:order val="1"/>
          <c:tx>
            <c:strRef>
              <c:f>Sheet8!$C$1</c:f>
              <c:strCache>
                <c:ptCount val="1"/>
                <c:pt idx="0">
                  <c:v>Q3-2024</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Sheet8!$A$2</c:f>
              <c:strCache>
                <c:ptCount val="1"/>
                <c:pt idx="0">
                  <c:v>Total Hits To Platform</c:v>
                </c:pt>
              </c:strCache>
            </c:strRef>
          </c:cat>
          <c:val>
            <c:numRef>
              <c:f>Sheet8!$C$2</c:f>
              <c:numCache>
                <c:formatCode>General</c:formatCode>
                <c:ptCount val="1"/>
                <c:pt idx="0">
                  <c:v>6500000</c:v>
                </c:pt>
              </c:numCache>
            </c:numRef>
          </c:val>
          <c:extLst>
            <c:ext xmlns:c16="http://schemas.microsoft.com/office/drawing/2014/chart" uri="{C3380CC4-5D6E-409C-BE32-E72D297353CC}">
              <c16:uniqueId val="{00000001-B3BA-4C25-A949-9F357BBE2825}"/>
            </c:ext>
          </c:extLst>
        </c:ser>
        <c:ser>
          <c:idx val="2"/>
          <c:order val="2"/>
          <c:tx>
            <c:strRef>
              <c:f>Sheet8!$D$1</c:f>
              <c:strCache>
                <c:ptCount val="1"/>
                <c:pt idx="0">
                  <c:v>Q4-2024</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Sheet8!$A$2</c:f>
              <c:strCache>
                <c:ptCount val="1"/>
                <c:pt idx="0">
                  <c:v>Total Hits To Platform</c:v>
                </c:pt>
              </c:strCache>
            </c:strRef>
          </c:cat>
          <c:val>
            <c:numRef>
              <c:f>Sheet8!$D$2</c:f>
              <c:numCache>
                <c:formatCode>General</c:formatCode>
                <c:ptCount val="1"/>
                <c:pt idx="0">
                  <c:v>7000000</c:v>
                </c:pt>
              </c:numCache>
            </c:numRef>
          </c:val>
          <c:extLst>
            <c:ext xmlns:c16="http://schemas.microsoft.com/office/drawing/2014/chart" uri="{C3380CC4-5D6E-409C-BE32-E72D297353CC}">
              <c16:uniqueId val="{00000002-B3BA-4C25-A949-9F357BBE2825}"/>
            </c:ext>
          </c:extLst>
        </c:ser>
        <c:ser>
          <c:idx val="3"/>
          <c:order val="3"/>
          <c:tx>
            <c:strRef>
              <c:f>Sheet8!$E$1</c:f>
              <c:strCache>
                <c:ptCount val="1"/>
                <c:pt idx="0">
                  <c:v>Q1-2025</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Sheet8!$A$2</c:f>
              <c:strCache>
                <c:ptCount val="1"/>
                <c:pt idx="0">
                  <c:v>Total Hits To Platform</c:v>
                </c:pt>
              </c:strCache>
            </c:strRef>
          </c:cat>
          <c:val>
            <c:numRef>
              <c:f>Sheet8!$E$2</c:f>
              <c:numCache>
                <c:formatCode>General</c:formatCode>
                <c:ptCount val="1"/>
                <c:pt idx="0">
                  <c:v>8000000</c:v>
                </c:pt>
              </c:numCache>
            </c:numRef>
          </c:val>
          <c:extLst>
            <c:ext xmlns:c16="http://schemas.microsoft.com/office/drawing/2014/chart" uri="{C3380CC4-5D6E-409C-BE32-E72D297353CC}">
              <c16:uniqueId val="{00000003-B3BA-4C25-A949-9F357BBE2825}"/>
            </c:ext>
          </c:extLst>
        </c:ser>
        <c:ser>
          <c:idx val="4"/>
          <c:order val="4"/>
          <c:tx>
            <c:strRef>
              <c:f>Sheet8!$F$1</c:f>
              <c:strCache>
                <c:ptCount val="1"/>
                <c:pt idx="0">
                  <c:v>Q2-2025</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r>
                      <a:rPr lang="en-US" dirty="0"/>
                      <a:t> 8.9</a:t>
                    </a:r>
                    <a:r>
                      <a:rPr lang="en-US" baseline="0" dirty="0"/>
                      <a:t> M</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3BA-4C25-A949-9F357BBE2825}"/>
                </c:ext>
              </c:extLst>
            </c:dLbl>
            <c:numFmt formatCode="0.00,,\ &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Sheet8!$A$2</c:f>
              <c:strCache>
                <c:ptCount val="1"/>
                <c:pt idx="0">
                  <c:v>Total Hits To Platform</c:v>
                </c:pt>
              </c:strCache>
            </c:strRef>
          </c:cat>
          <c:val>
            <c:numRef>
              <c:f>Sheet8!$F$2</c:f>
              <c:numCache>
                <c:formatCode>General</c:formatCode>
                <c:ptCount val="1"/>
                <c:pt idx="0">
                  <c:v>10000000</c:v>
                </c:pt>
              </c:numCache>
            </c:numRef>
          </c:val>
          <c:extLst>
            <c:ext xmlns:c16="http://schemas.microsoft.com/office/drawing/2014/chart" uri="{C3380CC4-5D6E-409C-BE32-E72D297353CC}">
              <c16:uniqueId val="{00000004-B3BA-4C25-A949-9F357BBE2825}"/>
            </c:ext>
          </c:extLst>
        </c:ser>
        <c:dLbls>
          <c:dLblPos val="inEnd"/>
          <c:showLegendKey val="0"/>
          <c:showVal val="1"/>
          <c:showCatName val="0"/>
          <c:showSerName val="0"/>
          <c:showPercent val="0"/>
          <c:showBubbleSize val="0"/>
        </c:dLbls>
        <c:gapWidth val="100"/>
        <c:overlap val="-24"/>
        <c:axId val="443686560"/>
        <c:axId val="443687520"/>
      </c:barChart>
      <c:catAx>
        <c:axId val="44368656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43687520"/>
        <c:crosses val="autoZero"/>
        <c:auto val="1"/>
        <c:lblAlgn val="ctr"/>
        <c:lblOffset val="100"/>
        <c:noMultiLvlLbl val="0"/>
      </c:catAx>
      <c:valAx>
        <c:axId val="44368752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436865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1660383330154222"/>
          <c:y val="2.8636873544902956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strRef>
              <c:f>Sheet10!$A$2</c:f>
              <c:strCache>
                <c:ptCount val="1"/>
                <c:pt idx="0">
                  <c:v>Total Production Vcore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Sheet10!$B$1:$F$1</c:f>
              <c:strCache>
                <c:ptCount val="5"/>
                <c:pt idx="0">
                  <c:v>Q2-2024</c:v>
                </c:pt>
                <c:pt idx="1">
                  <c:v>Q3-2024</c:v>
                </c:pt>
                <c:pt idx="2">
                  <c:v>Q4-2024</c:v>
                </c:pt>
                <c:pt idx="3">
                  <c:v>Q1-2025</c:v>
                </c:pt>
                <c:pt idx="4">
                  <c:v>Q2-2025</c:v>
                </c:pt>
              </c:strCache>
            </c:strRef>
          </c:cat>
          <c:val>
            <c:numRef>
              <c:f>Sheet10!$B$2:$F$2</c:f>
              <c:numCache>
                <c:formatCode>General</c:formatCode>
                <c:ptCount val="5"/>
                <c:pt idx="0">
                  <c:v>3.2</c:v>
                </c:pt>
                <c:pt idx="1">
                  <c:v>3.7</c:v>
                </c:pt>
                <c:pt idx="2">
                  <c:v>3.9</c:v>
                </c:pt>
                <c:pt idx="3">
                  <c:v>4</c:v>
                </c:pt>
                <c:pt idx="4">
                  <c:v>3.5</c:v>
                </c:pt>
              </c:numCache>
            </c:numRef>
          </c:val>
          <c:extLst>
            <c:ext xmlns:c16="http://schemas.microsoft.com/office/drawing/2014/chart" uri="{C3380CC4-5D6E-409C-BE32-E72D297353CC}">
              <c16:uniqueId val="{00000000-81DE-46E1-9900-841A5FA7AA99}"/>
            </c:ext>
          </c:extLst>
        </c:ser>
        <c:dLbls>
          <c:showLegendKey val="0"/>
          <c:showVal val="1"/>
          <c:showCatName val="0"/>
          <c:showSerName val="0"/>
          <c:showPercent val="0"/>
          <c:showBubbleSize val="0"/>
        </c:dLbls>
        <c:gapWidth val="150"/>
        <c:shape val="box"/>
        <c:axId val="1381467343"/>
        <c:axId val="1381468303"/>
        <c:axId val="0"/>
      </c:bar3DChart>
      <c:catAx>
        <c:axId val="138146734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381468303"/>
        <c:crosses val="autoZero"/>
        <c:auto val="1"/>
        <c:lblAlgn val="ctr"/>
        <c:lblOffset val="100"/>
        <c:noMultiLvlLbl val="0"/>
      </c:catAx>
      <c:valAx>
        <c:axId val="1381468303"/>
        <c:scaling>
          <c:orientation val="minMax"/>
          <c:min val="1"/>
        </c:scaling>
        <c:delete val="0"/>
        <c:axPos val="l"/>
        <c:majorGridlines>
          <c:spPr>
            <a:ln w="9525" cap="flat" cmpd="sng" algn="ctr">
              <a:solidFill>
                <a:schemeClr val="dk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3814673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APIs Major Contribution on Cache Hits</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pieChart>
        <c:varyColors val="1"/>
        <c:ser>
          <c:idx val="0"/>
          <c:order val="0"/>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41A1-4F72-BAB8-6AAC094503B7}"/>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41A1-4F72-BAB8-6AAC094503B7}"/>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41A1-4F72-BAB8-6AAC094503B7}"/>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41A1-4F72-BAB8-6AAC094503B7}"/>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41A1-4F72-BAB8-6AAC094503B7}"/>
              </c:ext>
            </c:extLst>
          </c:dPt>
          <c:dPt>
            <c:idx val="5"/>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B-41A1-4F72-BAB8-6AAC094503B7}"/>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Sheet5!$E$1:$E$6</c:f>
              <c:strCache>
                <c:ptCount val="6"/>
                <c:pt idx="0">
                  <c:v>/NearestDealers</c:v>
                </c:pt>
                <c:pt idx="1">
                  <c:v>/GetModelsByBrand</c:v>
                </c:pt>
                <c:pt idx="2">
                  <c:v>/GetActiveStatesByBU</c:v>
                </c:pt>
                <c:pt idx="3">
                  <c:v>/GetActiveDealers</c:v>
                </c:pt>
                <c:pt idx="4">
                  <c:v>/GetActiveCityByBU</c:v>
                </c:pt>
                <c:pt idx="5">
                  <c:v>/getVehicleServiceDetails</c:v>
                </c:pt>
              </c:strCache>
            </c:strRef>
          </c:cat>
          <c:val>
            <c:numRef>
              <c:f>Sheet5!$F$1:$F$6</c:f>
              <c:numCache>
                <c:formatCode>General</c:formatCode>
                <c:ptCount val="6"/>
                <c:pt idx="0">
                  <c:v>12584492</c:v>
                </c:pt>
                <c:pt idx="1">
                  <c:v>1524081</c:v>
                </c:pt>
                <c:pt idx="2">
                  <c:v>4621990</c:v>
                </c:pt>
                <c:pt idx="3">
                  <c:v>1080176</c:v>
                </c:pt>
                <c:pt idx="4">
                  <c:v>1233245</c:v>
                </c:pt>
                <c:pt idx="5">
                  <c:v>2444659</c:v>
                </c:pt>
              </c:numCache>
            </c:numRef>
          </c:val>
          <c:extLst>
            <c:ext xmlns:c16="http://schemas.microsoft.com/office/drawing/2014/chart" uri="{C3380CC4-5D6E-409C-BE32-E72D297353CC}">
              <c16:uniqueId val="{0000000C-41A1-4F72-BAB8-6AAC094503B7}"/>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Cache Hits Trend</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Sheet7!$B$1</c:f>
              <c:strCache>
                <c:ptCount val="1"/>
                <c:pt idx="0">
                  <c:v>Q2-2024</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layout>
                <c:manualLayout>
                  <c:x val="2.7777777777777779E-3"/>
                  <c:y val="9.252333041703120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9F8-4930-BECA-542560C39CA5}"/>
                </c:ext>
              </c:extLst>
            </c:dLbl>
            <c:numFmt formatCode="0.00,,\ &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Sheet7!$A$2</c:f>
              <c:strCache>
                <c:ptCount val="1"/>
                <c:pt idx="0">
                  <c:v>Cache Hits Trends</c:v>
                </c:pt>
              </c:strCache>
            </c:strRef>
          </c:cat>
          <c:val>
            <c:numRef>
              <c:f>Sheet7!$B$2</c:f>
              <c:numCache>
                <c:formatCode>General</c:formatCode>
                <c:ptCount val="1"/>
                <c:pt idx="0">
                  <c:v>2229611</c:v>
                </c:pt>
              </c:numCache>
            </c:numRef>
          </c:val>
          <c:extLst>
            <c:ext xmlns:c16="http://schemas.microsoft.com/office/drawing/2014/chart" uri="{C3380CC4-5D6E-409C-BE32-E72D297353CC}">
              <c16:uniqueId val="{00000001-39F8-4930-BECA-542560C39CA5}"/>
            </c:ext>
          </c:extLst>
        </c:ser>
        <c:ser>
          <c:idx val="1"/>
          <c:order val="1"/>
          <c:tx>
            <c:strRef>
              <c:f>Sheet7!$C$1</c:f>
              <c:strCache>
                <c:ptCount val="1"/>
                <c:pt idx="0">
                  <c:v>Q3-2024</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Sheet7!$A$2</c:f>
              <c:strCache>
                <c:ptCount val="1"/>
                <c:pt idx="0">
                  <c:v>Cache Hits Trends</c:v>
                </c:pt>
              </c:strCache>
            </c:strRef>
          </c:cat>
          <c:val>
            <c:numRef>
              <c:f>Sheet7!$C$2</c:f>
              <c:numCache>
                <c:formatCode>General</c:formatCode>
                <c:ptCount val="1"/>
                <c:pt idx="0">
                  <c:v>3750608.6666666665</c:v>
                </c:pt>
              </c:numCache>
            </c:numRef>
          </c:val>
          <c:extLst>
            <c:ext xmlns:c16="http://schemas.microsoft.com/office/drawing/2014/chart" uri="{C3380CC4-5D6E-409C-BE32-E72D297353CC}">
              <c16:uniqueId val="{00000002-39F8-4930-BECA-542560C39CA5}"/>
            </c:ext>
          </c:extLst>
        </c:ser>
        <c:ser>
          <c:idx val="2"/>
          <c:order val="2"/>
          <c:tx>
            <c:strRef>
              <c:f>Sheet7!$D$1</c:f>
              <c:strCache>
                <c:ptCount val="1"/>
                <c:pt idx="0">
                  <c:v>Q4-2024</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Sheet7!$A$2</c:f>
              <c:strCache>
                <c:ptCount val="1"/>
                <c:pt idx="0">
                  <c:v>Cache Hits Trends</c:v>
                </c:pt>
              </c:strCache>
            </c:strRef>
          </c:cat>
          <c:val>
            <c:numRef>
              <c:f>Sheet7!$D$2</c:f>
              <c:numCache>
                <c:formatCode>General</c:formatCode>
                <c:ptCount val="1"/>
                <c:pt idx="0">
                  <c:v>3908911</c:v>
                </c:pt>
              </c:numCache>
            </c:numRef>
          </c:val>
          <c:extLst>
            <c:ext xmlns:c16="http://schemas.microsoft.com/office/drawing/2014/chart" uri="{C3380CC4-5D6E-409C-BE32-E72D297353CC}">
              <c16:uniqueId val="{00000003-39F8-4930-BECA-542560C39CA5}"/>
            </c:ext>
          </c:extLst>
        </c:ser>
        <c:ser>
          <c:idx val="3"/>
          <c:order val="3"/>
          <c:tx>
            <c:strRef>
              <c:f>Sheet7!$E$1</c:f>
              <c:strCache>
                <c:ptCount val="1"/>
                <c:pt idx="0">
                  <c:v>Q1-2025</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Sheet7!$A$2</c:f>
              <c:strCache>
                <c:ptCount val="1"/>
                <c:pt idx="0">
                  <c:v>Cache Hits Trends</c:v>
                </c:pt>
              </c:strCache>
            </c:strRef>
          </c:cat>
          <c:val>
            <c:numRef>
              <c:f>Sheet7!$E$2</c:f>
              <c:numCache>
                <c:formatCode>General</c:formatCode>
                <c:ptCount val="1"/>
                <c:pt idx="0">
                  <c:v>4217314.666666667</c:v>
                </c:pt>
              </c:numCache>
            </c:numRef>
          </c:val>
          <c:extLst>
            <c:ext xmlns:c16="http://schemas.microsoft.com/office/drawing/2014/chart" uri="{C3380CC4-5D6E-409C-BE32-E72D297353CC}">
              <c16:uniqueId val="{00000004-39F8-4930-BECA-542560C39CA5}"/>
            </c:ext>
          </c:extLst>
        </c:ser>
        <c:ser>
          <c:idx val="4"/>
          <c:order val="4"/>
          <c:tx>
            <c:strRef>
              <c:f>Sheet7!$F$1</c:f>
              <c:strCache>
                <c:ptCount val="1"/>
                <c:pt idx="0">
                  <c:v>Q2-2025</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Sheet7!$A$2</c:f>
              <c:strCache>
                <c:ptCount val="1"/>
                <c:pt idx="0">
                  <c:v>Cache Hits Trends</c:v>
                </c:pt>
              </c:strCache>
            </c:strRef>
          </c:cat>
          <c:val>
            <c:numRef>
              <c:f>Sheet7!$F$2</c:f>
              <c:numCache>
                <c:formatCode>General</c:formatCode>
                <c:ptCount val="1"/>
                <c:pt idx="0">
                  <c:v>4227500</c:v>
                </c:pt>
              </c:numCache>
            </c:numRef>
          </c:val>
          <c:extLst>
            <c:ext xmlns:c16="http://schemas.microsoft.com/office/drawing/2014/chart" uri="{C3380CC4-5D6E-409C-BE32-E72D297353CC}">
              <c16:uniqueId val="{00000005-39F8-4930-BECA-542560C39CA5}"/>
            </c:ext>
          </c:extLst>
        </c:ser>
        <c:dLbls>
          <c:dLblPos val="inEnd"/>
          <c:showLegendKey val="0"/>
          <c:showVal val="1"/>
          <c:showCatName val="0"/>
          <c:showSerName val="0"/>
          <c:showPercent val="0"/>
          <c:showBubbleSize val="0"/>
        </c:dLbls>
        <c:gapWidth val="100"/>
        <c:overlap val="-24"/>
        <c:axId val="220952112"/>
        <c:axId val="220946832"/>
      </c:barChart>
      <c:catAx>
        <c:axId val="22095211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20946832"/>
        <c:crosses val="autoZero"/>
        <c:auto val="1"/>
        <c:lblAlgn val="ctr"/>
        <c:lblOffset val="100"/>
        <c:noMultiLvlLbl val="0"/>
      </c:catAx>
      <c:valAx>
        <c:axId val="220946832"/>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20952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diagrams/_rels/data3.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6" Type="http://schemas.openxmlformats.org/officeDocument/2006/relationships/image" Target="../media/image22.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6" Type="http://schemas.openxmlformats.org/officeDocument/2006/relationships/image" Target="../media/image22.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DF2656-B7BA-46F4-AD83-40E68C7BA62A}" type="doc">
      <dgm:prSet loTypeId="urn:microsoft.com/office/officeart/2005/8/layout/hList6" loCatId="list" qsTypeId="urn:microsoft.com/office/officeart/2005/8/quickstyle/simple5" qsCatId="simple" csTypeId="urn:microsoft.com/office/officeart/2005/8/colors/accent1_2" csCatId="accent1" phldr="1"/>
      <dgm:spPr/>
    </dgm:pt>
    <dgm:pt modelId="{2C390493-95D9-4A15-BC59-2AA9DFF3C838}">
      <dgm:prSet phldrT="[Text]"/>
      <dgm:spPr/>
      <dgm:t>
        <a:bodyPr/>
        <a:lstStyle/>
        <a:p>
          <a:r>
            <a:rPr lang="en-US" b="1">
              <a:latin typeface="Abadi" panose="020B0604020104020204" pitchFamily="34" charset="0"/>
            </a:rPr>
            <a:t>Lack of Real-Time Data Integration </a:t>
          </a:r>
          <a:endParaRPr lang="en-IN">
            <a:latin typeface="Abadi" panose="020B0604020104020204" pitchFamily="34" charset="0"/>
          </a:endParaRPr>
        </a:p>
      </dgm:t>
    </dgm:pt>
    <dgm:pt modelId="{26450D47-574D-46D0-B3B3-BC62AFF84C48}" type="parTrans" cxnId="{D16055EF-F3BB-4B28-89F5-2D3B757A5971}">
      <dgm:prSet/>
      <dgm:spPr/>
      <dgm:t>
        <a:bodyPr/>
        <a:lstStyle/>
        <a:p>
          <a:endParaRPr lang="en-IN"/>
        </a:p>
      </dgm:t>
    </dgm:pt>
    <dgm:pt modelId="{C5658F75-D2B1-4D95-AF63-C42A5F43189E}" type="sibTrans" cxnId="{D16055EF-F3BB-4B28-89F5-2D3B757A5971}">
      <dgm:prSet/>
      <dgm:spPr/>
      <dgm:t>
        <a:bodyPr/>
        <a:lstStyle/>
        <a:p>
          <a:endParaRPr lang="en-IN"/>
        </a:p>
      </dgm:t>
    </dgm:pt>
    <dgm:pt modelId="{F6DD4E10-FE13-4C78-9690-ABB5BD7EE2BF}">
      <dgm:prSet phldrT="[Text]"/>
      <dgm:spPr/>
      <dgm:t>
        <a:bodyPr/>
        <a:lstStyle/>
        <a:p>
          <a:r>
            <a:rPr lang="en-IN" b="1">
              <a:latin typeface="Abadi" panose="020B0604020104020204" pitchFamily="34" charset="0"/>
            </a:rPr>
            <a:t>Rigid Point-to-Point Connectivity</a:t>
          </a:r>
        </a:p>
      </dgm:t>
    </dgm:pt>
    <dgm:pt modelId="{82FF1C3A-9CC6-4650-B73A-C6DF06ACDA05}" type="parTrans" cxnId="{62A583C0-5F02-4525-824C-FBE2FC10FE4E}">
      <dgm:prSet/>
      <dgm:spPr/>
      <dgm:t>
        <a:bodyPr/>
        <a:lstStyle/>
        <a:p>
          <a:endParaRPr lang="en-IN"/>
        </a:p>
      </dgm:t>
    </dgm:pt>
    <dgm:pt modelId="{7C844FB6-BB25-43AA-B638-DFDE056D79BD}" type="sibTrans" cxnId="{62A583C0-5F02-4525-824C-FBE2FC10FE4E}">
      <dgm:prSet/>
      <dgm:spPr/>
      <dgm:t>
        <a:bodyPr/>
        <a:lstStyle/>
        <a:p>
          <a:endParaRPr lang="en-IN"/>
        </a:p>
      </dgm:t>
    </dgm:pt>
    <dgm:pt modelId="{BED781BE-195F-4917-8257-DA9A933B3918}">
      <dgm:prSet phldrT="[Text]"/>
      <dgm:spPr/>
      <dgm:t>
        <a:bodyPr/>
        <a:lstStyle/>
        <a:p>
          <a:r>
            <a:rPr lang="en-IN" b="1">
              <a:latin typeface="Abadi" panose="020B0604020104020204" pitchFamily="34" charset="0"/>
            </a:rPr>
            <a:t>High  Maintenance Efforts</a:t>
          </a:r>
          <a:endParaRPr lang="en-IN">
            <a:latin typeface="Abadi" panose="020B0604020104020204" pitchFamily="34" charset="0"/>
          </a:endParaRPr>
        </a:p>
      </dgm:t>
    </dgm:pt>
    <dgm:pt modelId="{A7CEA17E-167A-4556-BDB0-EDEA1BDA67A5}" type="parTrans" cxnId="{9B47E854-AE60-411A-ABA5-8E18926109E6}">
      <dgm:prSet/>
      <dgm:spPr/>
      <dgm:t>
        <a:bodyPr/>
        <a:lstStyle/>
        <a:p>
          <a:endParaRPr lang="en-IN"/>
        </a:p>
      </dgm:t>
    </dgm:pt>
    <dgm:pt modelId="{4ECF2728-D911-469B-B767-67116D0BCED1}" type="sibTrans" cxnId="{9B47E854-AE60-411A-ABA5-8E18926109E6}">
      <dgm:prSet/>
      <dgm:spPr/>
      <dgm:t>
        <a:bodyPr/>
        <a:lstStyle/>
        <a:p>
          <a:endParaRPr lang="en-IN"/>
        </a:p>
      </dgm:t>
    </dgm:pt>
    <dgm:pt modelId="{3928C682-4C9A-4CE2-A14C-E660E17744AE}">
      <dgm:prSet phldrT="[Text]"/>
      <dgm:spPr/>
      <dgm:t>
        <a:bodyPr/>
        <a:lstStyle/>
        <a:p>
          <a:r>
            <a:rPr lang="en-IN" b="1">
              <a:latin typeface="Abadi" panose="020B0604020104020204" pitchFamily="34" charset="0"/>
            </a:rPr>
            <a:t>Poor Visibility &amp; Monitoring</a:t>
          </a:r>
        </a:p>
      </dgm:t>
    </dgm:pt>
    <dgm:pt modelId="{752CB044-62DE-49F3-803F-9BD1C46D9825}" type="parTrans" cxnId="{BD4AA55F-E374-4E57-8E4F-5D2F429EAC53}">
      <dgm:prSet/>
      <dgm:spPr/>
      <dgm:t>
        <a:bodyPr/>
        <a:lstStyle/>
        <a:p>
          <a:endParaRPr lang="en-IN"/>
        </a:p>
      </dgm:t>
    </dgm:pt>
    <dgm:pt modelId="{5E819779-CEFA-4A2B-87C8-7A7166C73957}" type="sibTrans" cxnId="{BD4AA55F-E374-4E57-8E4F-5D2F429EAC53}">
      <dgm:prSet/>
      <dgm:spPr/>
      <dgm:t>
        <a:bodyPr/>
        <a:lstStyle/>
        <a:p>
          <a:endParaRPr lang="en-IN"/>
        </a:p>
      </dgm:t>
    </dgm:pt>
    <dgm:pt modelId="{B1FA5114-5E6C-40EB-8B1F-F91DA1216DC9}">
      <dgm:prSet phldrT="[Text]"/>
      <dgm:spPr/>
      <dgm:t>
        <a:bodyPr/>
        <a:lstStyle/>
        <a:p>
          <a:r>
            <a:rPr lang="en-IN" b="1">
              <a:latin typeface="Abadi" panose="020B0604020104020204" pitchFamily="34" charset="0"/>
            </a:rPr>
            <a:t>Slow Time to Market</a:t>
          </a:r>
          <a:endParaRPr lang="en-IN">
            <a:latin typeface="Abadi" panose="020B0604020104020204" pitchFamily="34" charset="0"/>
          </a:endParaRPr>
        </a:p>
      </dgm:t>
    </dgm:pt>
    <dgm:pt modelId="{A7FAE99F-8F58-47AF-8FF9-97D86E8F3B2F}" type="parTrans" cxnId="{6386E9FA-75C4-4EB9-81AF-857F51478D6C}">
      <dgm:prSet/>
      <dgm:spPr/>
      <dgm:t>
        <a:bodyPr/>
        <a:lstStyle/>
        <a:p>
          <a:endParaRPr lang="en-IN"/>
        </a:p>
      </dgm:t>
    </dgm:pt>
    <dgm:pt modelId="{AE35E76A-3020-4747-9C69-85CB6D8318B1}" type="sibTrans" cxnId="{6386E9FA-75C4-4EB9-81AF-857F51478D6C}">
      <dgm:prSet/>
      <dgm:spPr/>
      <dgm:t>
        <a:bodyPr/>
        <a:lstStyle/>
        <a:p>
          <a:endParaRPr lang="en-IN"/>
        </a:p>
      </dgm:t>
    </dgm:pt>
    <dgm:pt modelId="{353CC0F2-3F35-40CF-9F22-D1DE4FB701EB}">
      <dgm:prSet phldrT="[Text]"/>
      <dgm:spPr/>
      <dgm:t>
        <a:bodyPr/>
        <a:lstStyle/>
        <a:p>
          <a:r>
            <a:rPr lang="en-IN" b="1">
              <a:latin typeface="Abadi" panose="020B0604020104020204" pitchFamily="34" charset="0"/>
            </a:rPr>
            <a:t>Disconnected Systems</a:t>
          </a:r>
          <a:endParaRPr lang="en-IN">
            <a:latin typeface="Abadi" panose="020B0604020104020204" pitchFamily="34" charset="0"/>
          </a:endParaRPr>
        </a:p>
      </dgm:t>
    </dgm:pt>
    <dgm:pt modelId="{DCB171E3-9DDA-461C-BE56-8F007D1D4A0B}" type="parTrans" cxnId="{C1C13B35-4790-41D6-B946-502DE97DCE04}">
      <dgm:prSet/>
      <dgm:spPr/>
      <dgm:t>
        <a:bodyPr/>
        <a:lstStyle/>
        <a:p>
          <a:endParaRPr lang="en-IN"/>
        </a:p>
      </dgm:t>
    </dgm:pt>
    <dgm:pt modelId="{7E1D7DC2-34C1-4598-A54E-5E0FCCD7A05B}" type="sibTrans" cxnId="{C1C13B35-4790-41D6-B946-502DE97DCE04}">
      <dgm:prSet/>
      <dgm:spPr/>
      <dgm:t>
        <a:bodyPr/>
        <a:lstStyle/>
        <a:p>
          <a:endParaRPr lang="en-IN"/>
        </a:p>
      </dgm:t>
    </dgm:pt>
    <dgm:pt modelId="{268DD5A4-5354-462F-9271-F727D3945F14}" type="pres">
      <dgm:prSet presAssocID="{55DF2656-B7BA-46F4-AD83-40E68C7BA62A}" presName="Name0" presStyleCnt="0">
        <dgm:presLayoutVars>
          <dgm:dir/>
          <dgm:resizeHandles val="exact"/>
        </dgm:presLayoutVars>
      </dgm:prSet>
      <dgm:spPr/>
    </dgm:pt>
    <dgm:pt modelId="{C2D57BFE-4E7E-4422-BBC0-02947B72B727}" type="pres">
      <dgm:prSet presAssocID="{2C390493-95D9-4A15-BC59-2AA9DFF3C838}" presName="node" presStyleLbl="node1" presStyleIdx="0" presStyleCnt="6">
        <dgm:presLayoutVars>
          <dgm:bulletEnabled val="1"/>
        </dgm:presLayoutVars>
      </dgm:prSet>
      <dgm:spPr/>
    </dgm:pt>
    <dgm:pt modelId="{A0B40A9D-A9D5-478B-AE3E-B0D089AD4C09}" type="pres">
      <dgm:prSet presAssocID="{C5658F75-D2B1-4D95-AF63-C42A5F43189E}" presName="sibTrans" presStyleCnt="0"/>
      <dgm:spPr/>
    </dgm:pt>
    <dgm:pt modelId="{77A57BCF-9D33-4EA6-9C4A-DCEA3538002F}" type="pres">
      <dgm:prSet presAssocID="{353CC0F2-3F35-40CF-9F22-D1DE4FB701EB}" presName="node" presStyleLbl="node1" presStyleIdx="1" presStyleCnt="6">
        <dgm:presLayoutVars>
          <dgm:bulletEnabled val="1"/>
        </dgm:presLayoutVars>
      </dgm:prSet>
      <dgm:spPr/>
    </dgm:pt>
    <dgm:pt modelId="{10990F3A-9770-48E9-A357-70017B19CBFA}" type="pres">
      <dgm:prSet presAssocID="{7E1D7DC2-34C1-4598-A54E-5E0FCCD7A05B}" presName="sibTrans" presStyleCnt="0"/>
      <dgm:spPr/>
    </dgm:pt>
    <dgm:pt modelId="{58B5E644-5891-4B05-BDB8-8E08A4073EA6}" type="pres">
      <dgm:prSet presAssocID="{F6DD4E10-FE13-4C78-9690-ABB5BD7EE2BF}" presName="node" presStyleLbl="node1" presStyleIdx="2" presStyleCnt="6">
        <dgm:presLayoutVars>
          <dgm:bulletEnabled val="1"/>
        </dgm:presLayoutVars>
      </dgm:prSet>
      <dgm:spPr/>
    </dgm:pt>
    <dgm:pt modelId="{A27FA284-AF35-42FA-B5E3-F2BEC7E57F56}" type="pres">
      <dgm:prSet presAssocID="{7C844FB6-BB25-43AA-B638-DFDE056D79BD}" presName="sibTrans" presStyleCnt="0"/>
      <dgm:spPr/>
    </dgm:pt>
    <dgm:pt modelId="{E3B972CD-E4DA-4155-A774-7CA64BFB065D}" type="pres">
      <dgm:prSet presAssocID="{BED781BE-195F-4917-8257-DA9A933B3918}" presName="node" presStyleLbl="node1" presStyleIdx="3" presStyleCnt="6">
        <dgm:presLayoutVars>
          <dgm:bulletEnabled val="1"/>
        </dgm:presLayoutVars>
      </dgm:prSet>
      <dgm:spPr/>
    </dgm:pt>
    <dgm:pt modelId="{B1ED6DBD-790F-408B-850C-8D57B9CB2D6B}" type="pres">
      <dgm:prSet presAssocID="{4ECF2728-D911-469B-B767-67116D0BCED1}" presName="sibTrans" presStyleCnt="0"/>
      <dgm:spPr/>
    </dgm:pt>
    <dgm:pt modelId="{D528E876-97EE-4566-94C0-568670E035D2}" type="pres">
      <dgm:prSet presAssocID="{3928C682-4C9A-4CE2-A14C-E660E17744AE}" presName="node" presStyleLbl="node1" presStyleIdx="4" presStyleCnt="6">
        <dgm:presLayoutVars>
          <dgm:bulletEnabled val="1"/>
        </dgm:presLayoutVars>
      </dgm:prSet>
      <dgm:spPr/>
    </dgm:pt>
    <dgm:pt modelId="{0D6C08C9-E2DF-417B-8A2C-E98CAF50CEA5}" type="pres">
      <dgm:prSet presAssocID="{5E819779-CEFA-4A2B-87C8-7A7166C73957}" presName="sibTrans" presStyleCnt="0"/>
      <dgm:spPr/>
    </dgm:pt>
    <dgm:pt modelId="{960C1C66-7236-4E50-AFCA-1DE3A852E656}" type="pres">
      <dgm:prSet presAssocID="{B1FA5114-5E6C-40EB-8B1F-F91DA1216DC9}" presName="node" presStyleLbl="node1" presStyleIdx="5" presStyleCnt="6">
        <dgm:presLayoutVars>
          <dgm:bulletEnabled val="1"/>
        </dgm:presLayoutVars>
      </dgm:prSet>
      <dgm:spPr/>
    </dgm:pt>
  </dgm:ptLst>
  <dgm:cxnLst>
    <dgm:cxn modelId="{8916802D-FC2A-489C-AC83-24215770F2FC}" type="presOf" srcId="{BED781BE-195F-4917-8257-DA9A933B3918}" destId="{E3B972CD-E4DA-4155-A774-7CA64BFB065D}" srcOrd="0" destOrd="0" presId="urn:microsoft.com/office/officeart/2005/8/layout/hList6"/>
    <dgm:cxn modelId="{CE2EA02F-5E72-46F8-973D-59015DF56853}" type="presOf" srcId="{B1FA5114-5E6C-40EB-8B1F-F91DA1216DC9}" destId="{960C1C66-7236-4E50-AFCA-1DE3A852E656}" srcOrd="0" destOrd="0" presId="urn:microsoft.com/office/officeart/2005/8/layout/hList6"/>
    <dgm:cxn modelId="{C1C13B35-4790-41D6-B946-502DE97DCE04}" srcId="{55DF2656-B7BA-46F4-AD83-40E68C7BA62A}" destId="{353CC0F2-3F35-40CF-9F22-D1DE4FB701EB}" srcOrd="1" destOrd="0" parTransId="{DCB171E3-9DDA-461C-BE56-8F007D1D4A0B}" sibTransId="{7E1D7DC2-34C1-4598-A54E-5E0FCCD7A05B}"/>
    <dgm:cxn modelId="{C847FA3C-D661-4089-9C45-D69F5ECAF469}" type="presOf" srcId="{2C390493-95D9-4A15-BC59-2AA9DFF3C838}" destId="{C2D57BFE-4E7E-4422-BBC0-02947B72B727}" srcOrd="0" destOrd="0" presId="urn:microsoft.com/office/officeart/2005/8/layout/hList6"/>
    <dgm:cxn modelId="{584E475E-45BF-46EC-AD9C-7869EAC536B4}" type="presOf" srcId="{353CC0F2-3F35-40CF-9F22-D1DE4FB701EB}" destId="{77A57BCF-9D33-4EA6-9C4A-DCEA3538002F}" srcOrd="0" destOrd="0" presId="urn:microsoft.com/office/officeart/2005/8/layout/hList6"/>
    <dgm:cxn modelId="{BD4AA55F-E374-4E57-8E4F-5D2F429EAC53}" srcId="{55DF2656-B7BA-46F4-AD83-40E68C7BA62A}" destId="{3928C682-4C9A-4CE2-A14C-E660E17744AE}" srcOrd="4" destOrd="0" parTransId="{752CB044-62DE-49F3-803F-9BD1C46D9825}" sibTransId="{5E819779-CEFA-4A2B-87C8-7A7166C73957}"/>
    <dgm:cxn modelId="{9B47E854-AE60-411A-ABA5-8E18926109E6}" srcId="{55DF2656-B7BA-46F4-AD83-40E68C7BA62A}" destId="{BED781BE-195F-4917-8257-DA9A933B3918}" srcOrd="3" destOrd="0" parTransId="{A7CEA17E-167A-4556-BDB0-EDEA1BDA67A5}" sibTransId="{4ECF2728-D911-469B-B767-67116D0BCED1}"/>
    <dgm:cxn modelId="{B018857F-37EF-473D-BF26-5B508733A103}" type="presOf" srcId="{3928C682-4C9A-4CE2-A14C-E660E17744AE}" destId="{D528E876-97EE-4566-94C0-568670E035D2}" srcOrd="0" destOrd="0" presId="urn:microsoft.com/office/officeart/2005/8/layout/hList6"/>
    <dgm:cxn modelId="{1CD74EB8-E9DF-43F7-A10A-84FA736FC653}" type="presOf" srcId="{F6DD4E10-FE13-4C78-9690-ABB5BD7EE2BF}" destId="{58B5E644-5891-4B05-BDB8-8E08A4073EA6}" srcOrd="0" destOrd="0" presId="urn:microsoft.com/office/officeart/2005/8/layout/hList6"/>
    <dgm:cxn modelId="{62A583C0-5F02-4525-824C-FBE2FC10FE4E}" srcId="{55DF2656-B7BA-46F4-AD83-40E68C7BA62A}" destId="{F6DD4E10-FE13-4C78-9690-ABB5BD7EE2BF}" srcOrd="2" destOrd="0" parTransId="{82FF1C3A-9CC6-4650-B73A-C6DF06ACDA05}" sibTransId="{7C844FB6-BB25-43AA-B638-DFDE056D79BD}"/>
    <dgm:cxn modelId="{AF41B2C0-1D07-4180-B8EF-FA230ED19D00}" type="presOf" srcId="{55DF2656-B7BA-46F4-AD83-40E68C7BA62A}" destId="{268DD5A4-5354-462F-9271-F727D3945F14}" srcOrd="0" destOrd="0" presId="urn:microsoft.com/office/officeart/2005/8/layout/hList6"/>
    <dgm:cxn modelId="{D16055EF-F3BB-4B28-89F5-2D3B757A5971}" srcId="{55DF2656-B7BA-46F4-AD83-40E68C7BA62A}" destId="{2C390493-95D9-4A15-BC59-2AA9DFF3C838}" srcOrd="0" destOrd="0" parTransId="{26450D47-574D-46D0-B3B3-BC62AFF84C48}" sibTransId="{C5658F75-D2B1-4D95-AF63-C42A5F43189E}"/>
    <dgm:cxn modelId="{6386E9FA-75C4-4EB9-81AF-857F51478D6C}" srcId="{55DF2656-B7BA-46F4-AD83-40E68C7BA62A}" destId="{B1FA5114-5E6C-40EB-8B1F-F91DA1216DC9}" srcOrd="5" destOrd="0" parTransId="{A7FAE99F-8F58-47AF-8FF9-97D86E8F3B2F}" sibTransId="{AE35E76A-3020-4747-9C69-85CB6D8318B1}"/>
    <dgm:cxn modelId="{22C1101A-98E9-47C2-805C-542EF9EF61E3}" type="presParOf" srcId="{268DD5A4-5354-462F-9271-F727D3945F14}" destId="{C2D57BFE-4E7E-4422-BBC0-02947B72B727}" srcOrd="0" destOrd="0" presId="urn:microsoft.com/office/officeart/2005/8/layout/hList6"/>
    <dgm:cxn modelId="{DDA9A9FD-44BD-419D-8900-7C464C4D29E3}" type="presParOf" srcId="{268DD5A4-5354-462F-9271-F727D3945F14}" destId="{A0B40A9D-A9D5-478B-AE3E-B0D089AD4C09}" srcOrd="1" destOrd="0" presId="urn:microsoft.com/office/officeart/2005/8/layout/hList6"/>
    <dgm:cxn modelId="{DB963F9D-4C61-4B14-8CC0-D7DF629A217C}" type="presParOf" srcId="{268DD5A4-5354-462F-9271-F727D3945F14}" destId="{77A57BCF-9D33-4EA6-9C4A-DCEA3538002F}" srcOrd="2" destOrd="0" presId="urn:microsoft.com/office/officeart/2005/8/layout/hList6"/>
    <dgm:cxn modelId="{90E21D01-7CBD-4A4B-B66F-54C8C3B11B52}" type="presParOf" srcId="{268DD5A4-5354-462F-9271-F727D3945F14}" destId="{10990F3A-9770-48E9-A357-70017B19CBFA}" srcOrd="3" destOrd="0" presId="urn:microsoft.com/office/officeart/2005/8/layout/hList6"/>
    <dgm:cxn modelId="{E1FC4490-9237-49C1-9317-9E18C08BB42D}" type="presParOf" srcId="{268DD5A4-5354-462F-9271-F727D3945F14}" destId="{58B5E644-5891-4B05-BDB8-8E08A4073EA6}" srcOrd="4" destOrd="0" presId="urn:microsoft.com/office/officeart/2005/8/layout/hList6"/>
    <dgm:cxn modelId="{4FD0B5DC-6455-49EA-B6CB-EC12428577D9}" type="presParOf" srcId="{268DD5A4-5354-462F-9271-F727D3945F14}" destId="{A27FA284-AF35-42FA-B5E3-F2BEC7E57F56}" srcOrd="5" destOrd="0" presId="urn:microsoft.com/office/officeart/2005/8/layout/hList6"/>
    <dgm:cxn modelId="{294B00F6-5F2E-4D67-A9B3-695F1443EBE9}" type="presParOf" srcId="{268DD5A4-5354-462F-9271-F727D3945F14}" destId="{E3B972CD-E4DA-4155-A774-7CA64BFB065D}" srcOrd="6" destOrd="0" presId="urn:microsoft.com/office/officeart/2005/8/layout/hList6"/>
    <dgm:cxn modelId="{B167CCC4-F229-4428-8E7B-7ECD84318721}" type="presParOf" srcId="{268DD5A4-5354-462F-9271-F727D3945F14}" destId="{B1ED6DBD-790F-408B-850C-8D57B9CB2D6B}" srcOrd="7" destOrd="0" presId="urn:microsoft.com/office/officeart/2005/8/layout/hList6"/>
    <dgm:cxn modelId="{9593BAD7-7052-470D-8FD2-A039A88D6D7A}" type="presParOf" srcId="{268DD5A4-5354-462F-9271-F727D3945F14}" destId="{D528E876-97EE-4566-94C0-568670E035D2}" srcOrd="8" destOrd="0" presId="urn:microsoft.com/office/officeart/2005/8/layout/hList6"/>
    <dgm:cxn modelId="{EAEBF50A-B9A9-460B-8FB0-640BD2466800}" type="presParOf" srcId="{268DD5A4-5354-462F-9271-F727D3945F14}" destId="{0D6C08C9-E2DF-417B-8A2C-E98CAF50CEA5}" srcOrd="9" destOrd="0" presId="urn:microsoft.com/office/officeart/2005/8/layout/hList6"/>
    <dgm:cxn modelId="{A8231CF2-3D20-4BC5-B180-9ADB747AC44B}" type="presParOf" srcId="{268DD5A4-5354-462F-9271-F727D3945F14}" destId="{960C1C66-7236-4E50-AFCA-1DE3A852E656}" srcOrd="10" destOrd="0" presId="urn:microsoft.com/office/officeart/2005/8/layout/hList6"/>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049A7A-2CC6-4BB3-B42B-4C92A2AB0335}" type="doc">
      <dgm:prSet loTypeId="urn:diagrams.loki3.com/VaryingWidthList" loCatId="list" qsTypeId="urn:microsoft.com/office/officeart/2005/8/quickstyle/simple1" qsCatId="simple" csTypeId="urn:microsoft.com/office/officeart/2005/8/colors/accent1_2" csCatId="accent1" phldr="1"/>
      <dgm:spPr/>
      <dgm:t>
        <a:bodyPr/>
        <a:lstStyle/>
        <a:p>
          <a:endParaRPr lang="en-IN"/>
        </a:p>
      </dgm:t>
    </dgm:pt>
    <dgm:pt modelId="{AE9DDEDF-8E0C-4D77-86C5-83AC42E20C4C}" type="pres">
      <dgm:prSet presAssocID="{F2049A7A-2CC6-4BB3-B42B-4C92A2AB0335}" presName="Name0" presStyleCnt="0">
        <dgm:presLayoutVars>
          <dgm:resizeHandles/>
        </dgm:presLayoutVars>
      </dgm:prSet>
      <dgm:spPr/>
    </dgm:pt>
  </dgm:ptLst>
  <dgm:cxnLst>
    <dgm:cxn modelId="{93EB36A5-45BD-4782-9CF7-82225777CCA0}" type="presOf" srcId="{F2049A7A-2CC6-4BB3-B42B-4C92A2AB0335}" destId="{AE9DDEDF-8E0C-4D77-86C5-83AC42E20C4C}" srcOrd="0" destOrd="0" presId="urn:diagrams.loki3.com/VaryingWidthLis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094B7B0-1B4F-4228-8B34-09979D69EE09}"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5313CA11-A4A2-4B65-971F-6CB10B930B25}">
      <dgm:prSet custT="1"/>
      <dgm:spPr/>
      <dgm:t>
        <a:bodyPr/>
        <a:lstStyle/>
        <a:p>
          <a:pPr>
            <a:lnSpc>
              <a:spcPct val="100000"/>
            </a:lnSpc>
          </a:pPr>
          <a:r>
            <a:rPr lang="en-US" sz="1000" b="1" dirty="0">
              <a:latin typeface="Graphik" panose="020B0503030202060203" pitchFamily="34" charset="0"/>
            </a:rPr>
            <a:t>Improved Communication </a:t>
          </a:r>
          <a:r>
            <a:rPr lang="en-US" sz="1000" dirty="0">
              <a:latin typeface="Graphik" panose="020B0503030202060203" pitchFamily="34" charset="0"/>
            </a:rPr>
            <a:t>: Improving the communications between the system.</a:t>
          </a:r>
        </a:p>
      </dgm:t>
    </dgm:pt>
    <dgm:pt modelId="{21901250-7457-42BA-BB3E-A407FCD8E7B8}" type="parTrans" cxnId="{08E6377A-1E02-44B7-9CCA-6D6F439B24FB}">
      <dgm:prSet/>
      <dgm:spPr/>
      <dgm:t>
        <a:bodyPr/>
        <a:lstStyle/>
        <a:p>
          <a:endParaRPr lang="en-US" sz="1000">
            <a:latin typeface="Graphik" panose="020B0503030202060203" pitchFamily="34" charset="0"/>
          </a:endParaRPr>
        </a:p>
      </dgm:t>
    </dgm:pt>
    <dgm:pt modelId="{AF7D2F96-749A-4158-A0AC-10C204A08829}" type="sibTrans" cxnId="{08E6377A-1E02-44B7-9CCA-6D6F439B24FB}">
      <dgm:prSet/>
      <dgm:spPr/>
      <dgm:t>
        <a:bodyPr/>
        <a:lstStyle/>
        <a:p>
          <a:pPr>
            <a:lnSpc>
              <a:spcPct val="100000"/>
            </a:lnSpc>
          </a:pPr>
          <a:endParaRPr lang="en-US" sz="1000">
            <a:latin typeface="Graphik" panose="020B0503030202060203" pitchFamily="34" charset="0"/>
          </a:endParaRPr>
        </a:p>
      </dgm:t>
    </dgm:pt>
    <dgm:pt modelId="{B84C344B-FFF7-452D-98F2-1A01CF670570}">
      <dgm:prSet custT="1"/>
      <dgm:spPr/>
      <dgm:t>
        <a:bodyPr/>
        <a:lstStyle/>
        <a:p>
          <a:pPr>
            <a:lnSpc>
              <a:spcPct val="100000"/>
            </a:lnSpc>
          </a:pPr>
          <a:r>
            <a:rPr lang="en-US" sz="1000" b="1" kern="1200" dirty="0">
              <a:latin typeface="Graphik" panose="020B0503030202060203" pitchFamily="34" charset="0"/>
            </a:rPr>
            <a:t>Flexibility</a:t>
          </a:r>
          <a:r>
            <a:rPr lang="en-US" sz="1000" kern="1200" dirty="0">
              <a:latin typeface="Graphik" panose="020B0503030202060203" pitchFamily="34" charset="0"/>
            </a:rPr>
            <a:t> : MuleSoft Layer gives flexibility to integrate with wide variety of system including legacy systems, </a:t>
          </a:r>
          <a:r>
            <a:rPr lang="en-US" sz="1000" kern="1200" dirty="0">
              <a:solidFill>
                <a:prstClr val="black">
                  <a:hueOff val="0"/>
                  <a:satOff val="0"/>
                  <a:lumOff val="0"/>
                  <a:alphaOff val="0"/>
                </a:prstClr>
              </a:solidFill>
              <a:latin typeface="Graphik" panose="020B0503030202060203" pitchFamily="34" charset="0"/>
              <a:ea typeface="+mn-ea"/>
              <a:cs typeface="+mn-cs"/>
            </a:rPr>
            <a:t>cloud</a:t>
          </a:r>
          <a:r>
            <a:rPr lang="en-US" sz="1000" kern="1200" dirty="0">
              <a:latin typeface="Graphik" panose="020B0503030202060203" pitchFamily="34" charset="0"/>
            </a:rPr>
            <a:t> applications and APIs.</a:t>
          </a:r>
        </a:p>
      </dgm:t>
    </dgm:pt>
    <dgm:pt modelId="{A70BBBCF-E6A3-4FE7-9A13-53F8E7B5279D}" type="parTrans" cxnId="{42FAD723-1B01-4998-A8D8-467788C862BA}">
      <dgm:prSet/>
      <dgm:spPr/>
      <dgm:t>
        <a:bodyPr/>
        <a:lstStyle/>
        <a:p>
          <a:endParaRPr lang="en-US" sz="1000">
            <a:latin typeface="Graphik" panose="020B0503030202060203" pitchFamily="34" charset="0"/>
          </a:endParaRPr>
        </a:p>
      </dgm:t>
    </dgm:pt>
    <dgm:pt modelId="{95280C5E-4D96-42E9-AC9A-F1316023EFF2}" type="sibTrans" cxnId="{42FAD723-1B01-4998-A8D8-467788C862BA}">
      <dgm:prSet/>
      <dgm:spPr/>
      <dgm:t>
        <a:bodyPr/>
        <a:lstStyle/>
        <a:p>
          <a:pPr>
            <a:lnSpc>
              <a:spcPct val="100000"/>
            </a:lnSpc>
          </a:pPr>
          <a:endParaRPr lang="en-US" sz="1000">
            <a:latin typeface="Graphik" panose="020B0503030202060203" pitchFamily="34" charset="0"/>
          </a:endParaRPr>
        </a:p>
      </dgm:t>
    </dgm:pt>
    <dgm:pt modelId="{5B676985-5940-486F-80A0-75A38250EE80}">
      <dgm:prSet custT="1"/>
      <dgm:spPr/>
      <dgm:t>
        <a:bodyPr/>
        <a:lstStyle/>
        <a:p>
          <a:pPr>
            <a:lnSpc>
              <a:spcPct val="100000"/>
            </a:lnSpc>
          </a:pPr>
          <a:r>
            <a:rPr lang="en-US" sz="1000" b="1" dirty="0">
              <a:latin typeface="Graphik" panose="020B0503030202060203" pitchFamily="34" charset="0"/>
            </a:rPr>
            <a:t>Scalability</a:t>
          </a:r>
          <a:r>
            <a:rPr lang="en-US" sz="1000" dirty="0">
              <a:latin typeface="Graphik" panose="020B0503030202060203" pitchFamily="34" charset="0"/>
            </a:rPr>
            <a:t>:  with the help of MuleSoft integration layer can handle large volume of data and transaction as it can be scaled.</a:t>
          </a:r>
        </a:p>
      </dgm:t>
    </dgm:pt>
    <dgm:pt modelId="{2B4E71C5-C016-4888-83E7-EDB6EB6B2D53}" type="parTrans" cxnId="{327404B3-3987-4B99-BC8D-D8094AAEF88A}">
      <dgm:prSet/>
      <dgm:spPr/>
      <dgm:t>
        <a:bodyPr/>
        <a:lstStyle/>
        <a:p>
          <a:endParaRPr lang="en-US" sz="1000">
            <a:latin typeface="Graphik" panose="020B0503030202060203" pitchFamily="34" charset="0"/>
          </a:endParaRPr>
        </a:p>
      </dgm:t>
    </dgm:pt>
    <dgm:pt modelId="{E8E55205-93A9-4259-AFDA-1124F2CA50AA}" type="sibTrans" cxnId="{327404B3-3987-4B99-BC8D-D8094AAEF88A}">
      <dgm:prSet/>
      <dgm:spPr/>
      <dgm:t>
        <a:bodyPr/>
        <a:lstStyle/>
        <a:p>
          <a:pPr>
            <a:lnSpc>
              <a:spcPct val="100000"/>
            </a:lnSpc>
          </a:pPr>
          <a:endParaRPr lang="en-US" sz="1000">
            <a:latin typeface="Graphik" panose="020B0503030202060203" pitchFamily="34" charset="0"/>
          </a:endParaRPr>
        </a:p>
      </dgm:t>
    </dgm:pt>
    <dgm:pt modelId="{CFEFC0B2-F63A-40AC-B4FA-817F93294EC3}">
      <dgm:prSet custT="1"/>
      <dgm:spPr/>
      <dgm:t>
        <a:bodyPr/>
        <a:lstStyle/>
        <a:p>
          <a:pPr>
            <a:lnSpc>
              <a:spcPct val="100000"/>
            </a:lnSpc>
          </a:pPr>
          <a:r>
            <a:rPr lang="en-US" sz="1000" b="1" dirty="0">
              <a:latin typeface="Graphik" panose="020B0503030202060203" pitchFamily="34" charset="0"/>
            </a:rPr>
            <a:t>Security</a:t>
          </a:r>
          <a:r>
            <a:rPr lang="en-US" sz="1000" dirty="0">
              <a:latin typeface="Graphik" panose="020B0503030202060203" pitchFamily="34" charset="0"/>
            </a:rPr>
            <a:t> : Having added security on services like Oauth, Client secret , encryption and access control.</a:t>
          </a:r>
        </a:p>
      </dgm:t>
    </dgm:pt>
    <dgm:pt modelId="{910FA960-65EB-4B00-9F04-EE56EC5DAA90}" type="parTrans" cxnId="{03A0355B-FA40-4FD2-BABF-3C2617D5DB63}">
      <dgm:prSet/>
      <dgm:spPr/>
      <dgm:t>
        <a:bodyPr/>
        <a:lstStyle/>
        <a:p>
          <a:endParaRPr lang="en-US" sz="1000">
            <a:latin typeface="Graphik" panose="020B0503030202060203" pitchFamily="34" charset="0"/>
          </a:endParaRPr>
        </a:p>
      </dgm:t>
    </dgm:pt>
    <dgm:pt modelId="{4C1C7E37-5FB1-4003-8039-0541D06C0807}" type="sibTrans" cxnId="{03A0355B-FA40-4FD2-BABF-3C2617D5DB63}">
      <dgm:prSet/>
      <dgm:spPr/>
      <dgm:t>
        <a:bodyPr/>
        <a:lstStyle/>
        <a:p>
          <a:pPr>
            <a:lnSpc>
              <a:spcPct val="100000"/>
            </a:lnSpc>
          </a:pPr>
          <a:endParaRPr lang="en-US" sz="1000">
            <a:latin typeface="Graphik" panose="020B0503030202060203" pitchFamily="34" charset="0"/>
          </a:endParaRPr>
        </a:p>
      </dgm:t>
    </dgm:pt>
    <dgm:pt modelId="{DABBD99E-BBB1-464C-A6C1-0BD4F8B94EC2}">
      <dgm:prSet custT="1"/>
      <dgm:spPr/>
      <dgm:t>
        <a:bodyPr/>
        <a:lstStyle/>
        <a:p>
          <a:pPr>
            <a:lnSpc>
              <a:spcPct val="100000"/>
            </a:lnSpc>
          </a:pPr>
          <a:r>
            <a:rPr lang="en-US" sz="1000" b="1" dirty="0">
              <a:latin typeface="Graphik" panose="020B0503030202060203" pitchFamily="34" charset="0"/>
            </a:rPr>
            <a:t>Speed</a:t>
          </a:r>
          <a:r>
            <a:rPr lang="en-US" sz="1000" dirty="0">
              <a:latin typeface="Graphik" panose="020B0503030202060203" pitchFamily="34" charset="0"/>
            </a:rPr>
            <a:t> : MuleSoft Integration layer designed as fast and support caching, there are certain APIs for aggregators where we will have caching which will help retrieval faster.</a:t>
          </a:r>
        </a:p>
      </dgm:t>
    </dgm:pt>
    <dgm:pt modelId="{DF0A6CAA-0B6E-4C08-B26A-08F545D5E19E}" type="parTrans" cxnId="{277BBE96-6B8D-4148-A9BF-4ADBBB567535}">
      <dgm:prSet/>
      <dgm:spPr/>
      <dgm:t>
        <a:bodyPr/>
        <a:lstStyle/>
        <a:p>
          <a:endParaRPr lang="en-US" sz="1000">
            <a:latin typeface="Graphik" panose="020B0503030202060203" pitchFamily="34" charset="0"/>
          </a:endParaRPr>
        </a:p>
      </dgm:t>
    </dgm:pt>
    <dgm:pt modelId="{B04F546F-B58F-41CC-AFFF-ED2312C5ED6C}" type="sibTrans" cxnId="{277BBE96-6B8D-4148-A9BF-4ADBBB567535}">
      <dgm:prSet/>
      <dgm:spPr/>
      <dgm:t>
        <a:bodyPr/>
        <a:lstStyle/>
        <a:p>
          <a:pPr>
            <a:lnSpc>
              <a:spcPct val="100000"/>
            </a:lnSpc>
          </a:pPr>
          <a:endParaRPr lang="en-US" sz="1000">
            <a:latin typeface="Graphik" panose="020B0503030202060203" pitchFamily="34" charset="0"/>
          </a:endParaRPr>
        </a:p>
      </dgm:t>
    </dgm:pt>
    <dgm:pt modelId="{983AA53B-109F-471C-9C75-309791F41E52}">
      <dgm:prSet custT="1"/>
      <dgm:spPr/>
      <dgm:t>
        <a:bodyPr/>
        <a:lstStyle/>
        <a:p>
          <a:pPr>
            <a:lnSpc>
              <a:spcPct val="100000"/>
            </a:lnSpc>
          </a:pPr>
          <a:r>
            <a:rPr lang="en-US" sz="1000" b="1" dirty="0">
              <a:latin typeface="Graphik" panose="020B0503030202060203" pitchFamily="34" charset="0"/>
            </a:rPr>
            <a:t>Agility</a:t>
          </a:r>
          <a:r>
            <a:rPr lang="en-US" sz="1000" dirty="0">
              <a:latin typeface="Graphik" panose="020B0503030202060203" pitchFamily="34" charset="0"/>
            </a:rPr>
            <a:t> : With our API layers we can quickly adapt to changing business needs and integrate new systems and applications this gives agility to be competitive.</a:t>
          </a:r>
        </a:p>
      </dgm:t>
    </dgm:pt>
    <dgm:pt modelId="{3F78564B-1554-4120-AB65-7D6E74762623}" type="parTrans" cxnId="{CAA2DDD5-CD58-4495-97A5-86F86CEF8176}">
      <dgm:prSet/>
      <dgm:spPr/>
      <dgm:t>
        <a:bodyPr/>
        <a:lstStyle/>
        <a:p>
          <a:endParaRPr lang="en-US" sz="1000">
            <a:latin typeface="Graphik" panose="020B0503030202060203" pitchFamily="34" charset="0"/>
          </a:endParaRPr>
        </a:p>
      </dgm:t>
    </dgm:pt>
    <dgm:pt modelId="{453513FB-B022-45A7-85AD-C8C214281D94}" type="sibTrans" cxnId="{CAA2DDD5-CD58-4495-97A5-86F86CEF8176}">
      <dgm:prSet/>
      <dgm:spPr/>
      <dgm:t>
        <a:bodyPr/>
        <a:lstStyle/>
        <a:p>
          <a:pPr>
            <a:lnSpc>
              <a:spcPct val="100000"/>
            </a:lnSpc>
          </a:pPr>
          <a:endParaRPr lang="en-US" sz="1000">
            <a:latin typeface="Graphik" panose="020B0503030202060203" pitchFamily="34" charset="0"/>
          </a:endParaRPr>
        </a:p>
      </dgm:t>
    </dgm:pt>
    <dgm:pt modelId="{F0D95CFD-4325-4F14-B9E6-5D7E5DD74EFF}">
      <dgm:prSet custT="1"/>
      <dgm:spPr/>
      <dgm:t>
        <a:bodyPr/>
        <a:lstStyle/>
        <a:p>
          <a:pPr>
            <a:lnSpc>
              <a:spcPct val="100000"/>
            </a:lnSpc>
          </a:pPr>
          <a:r>
            <a:rPr lang="en-US" sz="1000" b="1" dirty="0">
              <a:latin typeface="Graphik" panose="020B0503030202060203" pitchFamily="34" charset="0"/>
            </a:rPr>
            <a:t>Analytics</a:t>
          </a:r>
          <a:r>
            <a:rPr lang="en-US" sz="1000" dirty="0">
              <a:latin typeface="Graphik" panose="020B0503030202060203" pitchFamily="34" charset="0"/>
            </a:rPr>
            <a:t> :Any point analytics enables to gain insight on their API usage, performance and operational data. </a:t>
          </a:r>
        </a:p>
      </dgm:t>
    </dgm:pt>
    <dgm:pt modelId="{20553189-B633-420E-B605-541717780E23}" type="parTrans" cxnId="{73FA4C96-8056-488A-8D0A-AB151E7B8713}">
      <dgm:prSet/>
      <dgm:spPr/>
      <dgm:t>
        <a:bodyPr/>
        <a:lstStyle/>
        <a:p>
          <a:endParaRPr lang="en-US" sz="1000"/>
        </a:p>
      </dgm:t>
    </dgm:pt>
    <dgm:pt modelId="{EC6B8DA5-160F-43C3-A7DC-27729427FB86}" type="sibTrans" cxnId="{73FA4C96-8056-488A-8D0A-AB151E7B8713}">
      <dgm:prSet/>
      <dgm:spPr/>
      <dgm:t>
        <a:bodyPr/>
        <a:lstStyle/>
        <a:p>
          <a:pPr>
            <a:lnSpc>
              <a:spcPct val="100000"/>
            </a:lnSpc>
          </a:pPr>
          <a:endParaRPr lang="en-US" sz="1000"/>
        </a:p>
      </dgm:t>
    </dgm:pt>
    <dgm:pt modelId="{FEE36F42-7E02-4C4F-99AC-0AD10B8903F5}">
      <dgm:prSet custT="1"/>
      <dgm:spPr/>
      <dgm:t>
        <a:bodyPr/>
        <a:lstStyle/>
        <a:p>
          <a:pPr>
            <a:lnSpc>
              <a:spcPct val="100000"/>
            </a:lnSpc>
          </a:pPr>
          <a:r>
            <a:rPr lang="en-US" sz="1100" b="1" dirty="0">
              <a:latin typeface="Graphik" panose="020B0503030202060203" pitchFamily="34" charset="0"/>
            </a:rPr>
            <a:t>Reusability</a:t>
          </a:r>
          <a:r>
            <a:rPr lang="en-US" sz="1100" dirty="0">
              <a:latin typeface="Graphik" panose="020B0503030202060203" pitchFamily="34" charset="0"/>
            </a:rPr>
            <a:t> : </a:t>
          </a:r>
          <a:r>
            <a:rPr lang="en-US" sz="1000" dirty="0">
              <a:latin typeface="Graphik" panose="020B0503030202060203" pitchFamily="34" charset="0"/>
            </a:rPr>
            <a:t>APIs can be reused across multiple projects, reducing duplication and effort.</a:t>
          </a:r>
        </a:p>
      </dgm:t>
    </dgm:pt>
    <dgm:pt modelId="{CB005C3B-B653-4919-9587-913D2B1C8629}" type="parTrans" cxnId="{FE182320-6888-4C21-B31F-8762D1394502}">
      <dgm:prSet/>
      <dgm:spPr/>
      <dgm:t>
        <a:bodyPr/>
        <a:lstStyle/>
        <a:p>
          <a:endParaRPr lang="en-US"/>
        </a:p>
      </dgm:t>
    </dgm:pt>
    <dgm:pt modelId="{EE8EFC31-6765-48F4-85EE-B7882CEEB2B8}" type="sibTrans" cxnId="{FE182320-6888-4C21-B31F-8762D1394502}">
      <dgm:prSet/>
      <dgm:spPr/>
      <dgm:t>
        <a:bodyPr/>
        <a:lstStyle/>
        <a:p>
          <a:endParaRPr lang="en-US"/>
        </a:p>
      </dgm:t>
    </dgm:pt>
    <dgm:pt modelId="{6F3ACD50-E815-49E2-91B7-410233DAF27F}" type="pres">
      <dgm:prSet presAssocID="{C094B7B0-1B4F-4228-8B34-09979D69EE09}" presName="root" presStyleCnt="0">
        <dgm:presLayoutVars>
          <dgm:dir/>
          <dgm:resizeHandles val="exact"/>
        </dgm:presLayoutVars>
      </dgm:prSet>
      <dgm:spPr/>
    </dgm:pt>
    <dgm:pt modelId="{8FD02E30-7A54-4F66-8494-78F4A25D926D}" type="pres">
      <dgm:prSet presAssocID="{C094B7B0-1B4F-4228-8B34-09979D69EE09}" presName="container" presStyleCnt="0">
        <dgm:presLayoutVars>
          <dgm:dir/>
          <dgm:resizeHandles val="exact"/>
        </dgm:presLayoutVars>
      </dgm:prSet>
      <dgm:spPr/>
    </dgm:pt>
    <dgm:pt modelId="{FDD97736-0EC0-44C0-A520-732B0935990C}" type="pres">
      <dgm:prSet presAssocID="{5313CA11-A4A2-4B65-971F-6CB10B930B25}" presName="compNode" presStyleCnt="0"/>
      <dgm:spPr/>
    </dgm:pt>
    <dgm:pt modelId="{B1AD5E86-E426-4029-B3CE-0ACB19526103}" type="pres">
      <dgm:prSet presAssocID="{5313CA11-A4A2-4B65-971F-6CB10B930B25}" presName="iconBgRect" presStyleLbl="bgShp" presStyleIdx="0" presStyleCnt="8"/>
      <dgm:spPr>
        <a:solidFill>
          <a:srgbClr val="F0E7FF"/>
        </a:solidFill>
      </dgm:spPr>
    </dgm:pt>
    <dgm:pt modelId="{8360FC46-6E6F-4A89-B556-5041EC054650}" type="pres">
      <dgm:prSet presAssocID="{5313CA11-A4A2-4B65-971F-6CB10B930B25}"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ireless"/>
        </a:ext>
      </dgm:extLst>
    </dgm:pt>
    <dgm:pt modelId="{0919A3AA-354F-4CE1-939F-36BDB04279FB}" type="pres">
      <dgm:prSet presAssocID="{5313CA11-A4A2-4B65-971F-6CB10B930B25}" presName="spaceRect" presStyleCnt="0"/>
      <dgm:spPr/>
    </dgm:pt>
    <dgm:pt modelId="{48D9EFEE-877D-4989-B0E6-43E68051A273}" type="pres">
      <dgm:prSet presAssocID="{5313CA11-A4A2-4B65-971F-6CB10B930B25}" presName="textRect" presStyleLbl="revTx" presStyleIdx="0" presStyleCnt="8">
        <dgm:presLayoutVars>
          <dgm:chMax val="1"/>
          <dgm:chPref val="1"/>
        </dgm:presLayoutVars>
      </dgm:prSet>
      <dgm:spPr/>
    </dgm:pt>
    <dgm:pt modelId="{E039D889-90A1-42EE-83A2-03FCAD975428}" type="pres">
      <dgm:prSet presAssocID="{AF7D2F96-749A-4158-A0AC-10C204A08829}" presName="sibTrans" presStyleLbl="sibTrans2D1" presStyleIdx="0" presStyleCnt="0"/>
      <dgm:spPr/>
    </dgm:pt>
    <dgm:pt modelId="{DC9D56A4-F8E9-43B6-81FD-96EE7B1563E1}" type="pres">
      <dgm:prSet presAssocID="{B84C344B-FFF7-452D-98F2-1A01CF670570}" presName="compNode" presStyleCnt="0"/>
      <dgm:spPr/>
    </dgm:pt>
    <dgm:pt modelId="{42ED91D1-A7F0-4444-BB66-B8E932A8504E}" type="pres">
      <dgm:prSet presAssocID="{B84C344B-FFF7-452D-98F2-1A01CF670570}" presName="iconBgRect" presStyleLbl="bgShp" presStyleIdx="1" presStyleCnt="8"/>
      <dgm:spPr>
        <a:solidFill>
          <a:srgbClr val="F0E7FF"/>
        </a:solidFill>
      </dgm:spPr>
    </dgm:pt>
    <dgm:pt modelId="{E1613071-3009-4899-82C3-BE862743EAA3}" type="pres">
      <dgm:prSet presAssocID="{B84C344B-FFF7-452D-98F2-1A01CF670570}"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yncing Cloud"/>
        </a:ext>
      </dgm:extLst>
    </dgm:pt>
    <dgm:pt modelId="{7F163E7E-E8B7-4E65-B926-97F3C1CB5F51}" type="pres">
      <dgm:prSet presAssocID="{B84C344B-FFF7-452D-98F2-1A01CF670570}" presName="spaceRect" presStyleCnt="0"/>
      <dgm:spPr/>
    </dgm:pt>
    <dgm:pt modelId="{21BF2328-2B29-4C6D-8D5A-FB5563679C96}" type="pres">
      <dgm:prSet presAssocID="{B84C344B-FFF7-452D-98F2-1A01CF670570}" presName="textRect" presStyleLbl="revTx" presStyleIdx="1" presStyleCnt="8">
        <dgm:presLayoutVars>
          <dgm:chMax val="1"/>
          <dgm:chPref val="1"/>
        </dgm:presLayoutVars>
      </dgm:prSet>
      <dgm:spPr/>
    </dgm:pt>
    <dgm:pt modelId="{3E56522F-6421-4FDC-BE6A-50516F711FDA}" type="pres">
      <dgm:prSet presAssocID="{95280C5E-4D96-42E9-AC9A-F1316023EFF2}" presName="sibTrans" presStyleLbl="sibTrans2D1" presStyleIdx="0" presStyleCnt="0"/>
      <dgm:spPr/>
    </dgm:pt>
    <dgm:pt modelId="{ADCF0DD6-AE8E-4627-9DDB-EFD33868F23A}" type="pres">
      <dgm:prSet presAssocID="{5B676985-5940-486F-80A0-75A38250EE80}" presName="compNode" presStyleCnt="0"/>
      <dgm:spPr/>
    </dgm:pt>
    <dgm:pt modelId="{A94DA048-B3F3-4CE2-AF27-243AD843F0B9}" type="pres">
      <dgm:prSet presAssocID="{5B676985-5940-486F-80A0-75A38250EE80}" presName="iconBgRect" presStyleLbl="bgShp" presStyleIdx="2" presStyleCnt="8"/>
      <dgm:spPr>
        <a:solidFill>
          <a:srgbClr val="F0E7FF"/>
        </a:solidFill>
      </dgm:spPr>
    </dgm:pt>
    <dgm:pt modelId="{82D69FC3-68CC-4693-9265-F08BB62B4B26}" type="pres">
      <dgm:prSet presAssocID="{5B676985-5940-486F-80A0-75A38250EE80}"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960576EF-FFF9-4968-AA5A-0F28D6B70B31}" type="pres">
      <dgm:prSet presAssocID="{5B676985-5940-486F-80A0-75A38250EE80}" presName="spaceRect" presStyleCnt="0"/>
      <dgm:spPr/>
    </dgm:pt>
    <dgm:pt modelId="{31E735AA-7DBA-45FB-8FBC-A66B6B2DA390}" type="pres">
      <dgm:prSet presAssocID="{5B676985-5940-486F-80A0-75A38250EE80}" presName="textRect" presStyleLbl="revTx" presStyleIdx="2" presStyleCnt="8">
        <dgm:presLayoutVars>
          <dgm:chMax val="1"/>
          <dgm:chPref val="1"/>
        </dgm:presLayoutVars>
      </dgm:prSet>
      <dgm:spPr/>
    </dgm:pt>
    <dgm:pt modelId="{8D25864A-24AD-44DF-B422-FA13FDBCBC4C}" type="pres">
      <dgm:prSet presAssocID="{E8E55205-93A9-4259-AFDA-1124F2CA50AA}" presName="sibTrans" presStyleLbl="sibTrans2D1" presStyleIdx="0" presStyleCnt="0"/>
      <dgm:spPr/>
    </dgm:pt>
    <dgm:pt modelId="{5F6607B0-6EDD-4B64-B69A-4CEA47CC3EA5}" type="pres">
      <dgm:prSet presAssocID="{CFEFC0B2-F63A-40AC-B4FA-817F93294EC3}" presName="compNode" presStyleCnt="0"/>
      <dgm:spPr/>
    </dgm:pt>
    <dgm:pt modelId="{6BA3667B-914A-4500-8A40-F285C3CBE99B}" type="pres">
      <dgm:prSet presAssocID="{CFEFC0B2-F63A-40AC-B4FA-817F93294EC3}" presName="iconBgRect" presStyleLbl="bgShp" presStyleIdx="3" presStyleCnt="8"/>
      <dgm:spPr>
        <a:solidFill>
          <a:srgbClr val="F0E7FF"/>
        </a:solidFill>
      </dgm:spPr>
    </dgm:pt>
    <dgm:pt modelId="{44EA3F78-924B-4C14-80B9-1AD3B78975F4}" type="pres">
      <dgm:prSet presAssocID="{CFEFC0B2-F63A-40AC-B4FA-817F93294EC3}"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ock"/>
        </a:ext>
      </dgm:extLst>
    </dgm:pt>
    <dgm:pt modelId="{0C1EF032-2A4D-4051-8853-815B373E98BC}" type="pres">
      <dgm:prSet presAssocID="{CFEFC0B2-F63A-40AC-B4FA-817F93294EC3}" presName="spaceRect" presStyleCnt="0"/>
      <dgm:spPr/>
    </dgm:pt>
    <dgm:pt modelId="{621F14DD-E6AB-4F25-A64E-6668E5BA8836}" type="pres">
      <dgm:prSet presAssocID="{CFEFC0B2-F63A-40AC-B4FA-817F93294EC3}" presName="textRect" presStyleLbl="revTx" presStyleIdx="3" presStyleCnt="8">
        <dgm:presLayoutVars>
          <dgm:chMax val="1"/>
          <dgm:chPref val="1"/>
        </dgm:presLayoutVars>
      </dgm:prSet>
      <dgm:spPr/>
    </dgm:pt>
    <dgm:pt modelId="{4B0D04C4-23AB-49B4-A352-D770E5B73496}" type="pres">
      <dgm:prSet presAssocID="{4C1C7E37-5FB1-4003-8039-0541D06C0807}" presName="sibTrans" presStyleLbl="sibTrans2D1" presStyleIdx="0" presStyleCnt="0"/>
      <dgm:spPr/>
    </dgm:pt>
    <dgm:pt modelId="{5A2880F4-B020-4CCA-BAF7-CA9931A91FE8}" type="pres">
      <dgm:prSet presAssocID="{DABBD99E-BBB1-464C-A6C1-0BD4F8B94EC2}" presName="compNode" presStyleCnt="0"/>
      <dgm:spPr/>
    </dgm:pt>
    <dgm:pt modelId="{FA5B44C8-1477-4C3E-B762-A4396A99E29A}" type="pres">
      <dgm:prSet presAssocID="{DABBD99E-BBB1-464C-A6C1-0BD4F8B94EC2}" presName="iconBgRect" presStyleLbl="bgShp" presStyleIdx="4" presStyleCnt="8"/>
      <dgm:spPr>
        <a:solidFill>
          <a:srgbClr val="F0E7FF"/>
        </a:solidFill>
      </dgm:spPr>
    </dgm:pt>
    <dgm:pt modelId="{BFE433C1-D974-408A-90B5-5231AAEB9B5D}" type="pres">
      <dgm:prSet presAssocID="{DABBD99E-BBB1-464C-A6C1-0BD4F8B94EC2}"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atabase"/>
        </a:ext>
      </dgm:extLst>
    </dgm:pt>
    <dgm:pt modelId="{00359B18-9A0F-4436-9799-58FB7241600C}" type="pres">
      <dgm:prSet presAssocID="{DABBD99E-BBB1-464C-A6C1-0BD4F8B94EC2}" presName="spaceRect" presStyleCnt="0"/>
      <dgm:spPr/>
    </dgm:pt>
    <dgm:pt modelId="{B48144FB-4EDC-4FF1-BB71-B4DAF9A9ED19}" type="pres">
      <dgm:prSet presAssocID="{DABBD99E-BBB1-464C-A6C1-0BD4F8B94EC2}" presName="textRect" presStyleLbl="revTx" presStyleIdx="4" presStyleCnt="8">
        <dgm:presLayoutVars>
          <dgm:chMax val="1"/>
          <dgm:chPref val="1"/>
        </dgm:presLayoutVars>
      </dgm:prSet>
      <dgm:spPr/>
    </dgm:pt>
    <dgm:pt modelId="{6641B331-C707-46B5-83B3-E314164CA547}" type="pres">
      <dgm:prSet presAssocID="{B04F546F-B58F-41CC-AFFF-ED2312C5ED6C}" presName="sibTrans" presStyleLbl="sibTrans2D1" presStyleIdx="0" presStyleCnt="0"/>
      <dgm:spPr/>
    </dgm:pt>
    <dgm:pt modelId="{0ED0C1BF-F29B-4CBB-8169-4DBB5F5826B4}" type="pres">
      <dgm:prSet presAssocID="{983AA53B-109F-471C-9C75-309791F41E52}" presName="compNode" presStyleCnt="0"/>
      <dgm:spPr/>
    </dgm:pt>
    <dgm:pt modelId="{2E65F255-A157-4670-A87E-990603D2B432}" type="pres">
      <dgm:prSet presAssocID="{983AA53B-109F-471C-9C75-309791F41E52}" presName="iconBgRect" presStyleLbl="bgShp" presStyleIdx="5" presStyleCnt="8"/>
      <dgm:spPr>
        <a:solidFill>
          <a:srgbClr val="F0E7FF"/>
        </a:solidFill>
      </dgm:spPr>
    </dgm:pt>
    <dgm:pt modelId="{B5B63725-EEEE-42B6-9B60-E3589F9F2DFC}" type="pres">
      <dgm:prSet presAssocID="{983AA53B-109F-471C-9C75-309791F41E52}"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Gears"/>
        </a:ext>
      </dgm:extLst>
    </dgm:pt>
    <dgm:pt modelId="{E6A2D2EB-4501-475E-A0BA-477ECEC34EC1}" type="pres">
      <dgm:prSet presAssocID="{983AA53B-109F-471C-9C75-309791F41E52}" presName="spaceRect" presStyleCnt="0"/>
      <dgm:spPr/>
    </dgm:pt>
    <dgm:pt modelId="{C99BB57D-905C-4796-9600-3DF486E37B61}" type="pres">
      <dgm:prSet presAssocID="{983AA53B-109F-471C-9C75-309791F41E52}" presName="textRect" presStyleLbl="revTx" presStyleIdx="5" presStyleCnt="8">
        <dgm:presLayoutVars>
          <dgm:chMax val="1"/>
          <dgm:chPref val="1"/>
        </dgm:presLayoutVars>
      </dgm:prSet>
      <dgm:spPr/>
    </dgm:pt>
    <dgm:pt modelId="{9B707F72-95D5-4E4B-8C60-0382B603FBE6}" type="pres">
      <dgm:prSet presAssocID="{453513FB-B022-45A7-85AD-C8C214281D94}" presName="sibTrans" presStyleLbl="sibTrans2D1" presStyleIdx="0" presStyleCnt="0"/>
      <dgm:spPr/>
    </dgm:pt>
    <dgm:pt modelId="{148948B4-AC56-4008-B3E6-B16D27E94B24}" type="pres">
      <dgm:prSet presAssocID="{F0D95CFD-4325-4F14-B9E6-5D7E5DD74EFF}" presName="compNode" presStyleCnt="0"/>
      <dgm:spPr/>
    </dgm:pt>
    <dgm:pt modelId="{2DD1D58C-AF5C-4DD7-B87B-A3F834D26D83}" type="pres">
      <dgm:prSet presAssocID="{F0D95CFD-4325-4F14-B9E6-5D7E5DD74EFF}" presName="iconBgRect" presStyleLbl="bgShp" presStyleIdx="6" presStyleCnt="8"/>
      <dgm:spPr>
        <a:solidFill>
          <a:srgbClr val="F0E7FF"/>
        </a:solidFill>
      </dgm:spPr>
    </dgm:pt>
    <dgm:pt modelId="{2F678FF3-E149-408F-98BC-2014C85D5988}" type="pres">
      <dgm:prSet presAssocID="{F0D95CFD-4325-4F14-B9E6-5D7E5DD74EFF}" presName="iconRect" presStyleLbl="node1" presStyleIdx="6" presStyleCnt="8"/>
      <dgm:spPr>
        <a:blipFill>
          <a:blip xmlns:r="http://schemas.openxmlformats.org/officeDocument/2006/relationships" r:embed="rId13">
            <a:extLst>
              <a:ext uri="{96DAC541-7B7A-43D3-8B79-37D633B846F1}">
                <asvg:svgBlip xmlns:asvg="http://schemas.microsoft.com/office/drawing/2016/SVG/main" r:embed="rId14"/>
              </a:ext>
            </a:extLst>
          </a:blip>
          <a:srcRect/>
          <a:stretch>
            <a:fillRect/>
          </a:stretch>
        </a:blipFill>
        <a:ln>
          <a:solidFill>
            <a:schemeClr val="accent1"/>
          </a:solidFill>
        </a:ln>
      </dgm:spPr>
      <dgm:extLst>
        <a:ext uri="{E40237B7-FDA0-4F09-8148-C483321AD2D9}">
          <dgm14:cNvPr xmlns:dgm14="http://schemas.microsoft.com/office/drawing/2010/diagram" id="0" name="" descr="Abacus outline"/>
        </a:ext>
      </dgm:extLst>
    </dgm:pt>
    <dgm:pt modelId="{55BACB0F-054C-44C3-9502-01C4D550AC7C}" type="pres">
      <dgm:prSet presAssocID="{F0D95CFD-4325-4F14-B9E6-5D7E5DD74EFF}" presName="spaceRect" presStyleCnt="0"/>
      <dgm:spPr/>
    </dgm:pt>
    <dgm:pt modelId="{1C15B417-4648-4AF2-AD28-F5FAC3B67A58}" type="pres">
      <dgm:prSet presAssocID="{F0D95CFD-4325-4F14-B9E6-5D7E5DD74EFF}" presName="textRect" presStyleLbl="revTx" presStyleIdx="6" presStyleCnt="8">
        <dgm:presLayoutVars>
          <dgm:chMax val="1"/>
          <dgm:chPref val="1"/>
        </dgm:presLayoutVars>
      </dgm:prSet>
      <dgm:spPr/>
    </dgm:pt>
    <dgm:pt modelId="{8C4F82B3-71C9-4803-B74D-72FAA4F46846}" type="pres">
      <dgm:prSet presAssocID="{EC6B8DA5-160F-43C3-A7DC-27729427FB86}" presName="sibTrans" presStyleLbl="sibTrans2D1" presStyleIdx="0" presStyleCnt="0"/>
      <dgm:spPr/>
    </dgm:pt>
    <dgm:pt modelId="{AD250DD5-42F3-4197-80EF-E58D43BD9A65}" type="pres">
      <dgm:prSet presAssocID="{FEE36F42-7E02-4C4F-99AC-0AD10B8903F5}" presName="compNode" presStyleCnt="0"/>
      <dgm:spPr/>
    </dgm:pt>
    <dgm:pt modelId="{C6822832-FD26-42EF-B4BB-D31715872D24}" type="pres">
      <dgm:prSet presAssocID="{FEE36F42-7E02-4C4F-99AC-0AD10B8903F5}" presName="iconBgRect" presStyleLbl="bgShp" presStyleIdx="7" presStyleCnt="8" custLinFactNeighborY="1327"/>
      <dgm:spPr>
        <a:solidFill>
          <a:srgbClr val="F0E7FF"/>
        </a:solidFill>
      </dgm:spPr>
    </dgm:pt>
    <dgm:pt modelId="{E8F2E123-9FD9-4B92-BAB7-B5D3F616BDA1}" type="pres">
      <dgm:prSet presAssocID="{FEE36F42-7E02-4C4F-99AC-0AD10B8903F5}" presName="iconRect" presStyleLbl="node1" presStyleIdx="7" presStyleCnt="8"/>
      <dgm:spPr>
        <a:blipFill>
          <a:blip xmlns:r="http://schemas.openxmlformats.org/officeDocument/2006/relationships" r:embed="rId15">
            <a:extLst>
              <a:ext uri="{96DAC541-7B7A-43D3-8B79-37D633B846F1}">
                <asvg:svgBlip xmlns:asvg="http://schemas.microsoft.com/office/drawing/2016/SVG/main" r:embed="rId16"/>
              </a:ext>
            </a:extLst>
          </a:blip>
          <a:srcRect/>
          <a:stretch>
            <a:fillRect/>
          </a:stretch>
        </a:blipFill>
      </dgm:spPr>
      <dgm:extLst>
        <a:ext uri="{E40237B7-FDA0-4F09-8148-C483321AD2D9}">
          <dgm14:cNvPr xmlns:dgm14="http://schemas.microsoft.com/office/drawing/2010/diagram" id="0" name="" descr="Continuous Improvement outline"/>
        </a:ext>
      </dgm:extLst>
    </dgm:pt>
    <dgm:pt modelId="{A31B56B2-5414-4B11-B051-61B2426D9C45}" type="pres">
      <dgm:prSet presAssocID="{FEE36F42-7E02-4C4F-99AC-0AD10B8903F5}" presName="spaceRect" presStyleCnt="0"/>
      <dgm:spPr/>
    </dgm:pt>
    <dgm:pt modelId="{9C1DADE0-5074-4F3B-92F7-29433CEFE54C}" type="pres">
      <dgm:prSet presAssocID="{FEE36F42-7E02-4C4F-99AC-0AD10B8903F5}" presName="textRect" presStyleLbl="revTx" presStyleIdx="7" presStyleCnt="8">
        <dgm:presLayoutVars>
          <dgm:chMax val="1"/>
          <dgm:chPref val="1"/>
        </dgm:presLayoutVars>
      </dgm:prSet>
      <dgm:spPr/>
    </dgm:pt>
  </dgm:ptLst>
  <dgm:cxnLst>
    <dgm:cxn modelId="{54D85F04-AA0C-4B36-94FA-09B2B3AC4CE8}" type="presOf" srcId="{95280C5E-4D96-42E9-AC9A-F1316023EFF2}" destId="{3E56522F-6421-4FDC-BE6A-50516F711FDA}" srcOrd="0" destOrd="0" presId="urn:microsoft.com/office/officeart/2018/2/layout/IconCircleList"/>
    <dgm:cxn modelId="{46055806-49B0-4CFC-9072-47656252AFB2}" type="presOf" srcId="{5B676985-5940-486F-80A0-75A38250EE80}" destId="{31E735AA-7DBA-45FB-8FBC-A66B6B2DA390}" srcOrd="0" destOrd="0" presId="urn:microsoft.com/office/officeart/2018/2/layout/IconCircleList"/>
    <dgm:cxn modelId="{FE182320-6888-4C21-B31F-8762D1394502}" srcId="{C094B7B0-1B4F-4228-8B34-09979D69EE09}" destId="{FEE36F42-7E02-4C4F-99AC-0AD10B8903F5}" srcOrd="7" destOrd="0" parTransId="{CB005C3B-B653-4919-9587-913D2B1C8629}" sibTransId="{EE8EFC31-6765-48F4-85EE-B7882CEEB2B8}"/>
    <dgm:cxn modelId="{42FAD723-1B01-4998-A8D8-467788C862BA}" srcId="{C094B7B0-1B4F-4228-8B34-09979D69EE09}" destId="{B84C344B-FFF7-452D-98F2-1A01CF670570}" srcOrd="1" destOrd="0" parTransId="{A70BBBCF-E6A3-4FE7-9A13-53F8E7B5279D}" sibTransId="{95280C5E-4D96-42E9-AC9A-F1316023EFF2}"/>
    <dgm:cxn modelId="{80BD512C-0267-4D50-90F2-DCDE34B9B4D3}" type="presOf" srcId="{CFEFC0B2-F63A-40AC-B4FA-817F93294EC3}" destId="{621F14DD-E6AB-4F25-A64E-6668E5BA8836}" srcOrd="0" destOrd="0" presId="urn:microsoft.com/office/officeart/2018/2/layout/IconCircleList"/>
    <dgm:cxn modelId="{7AE07037-AC09-432E-A083-40481DFC5F4F}" type="presOf" srcId="{F0D95CFD-4325-4F14-B9E6-5D7E5DD74EFF}" destId="{1C15B417-4648-4AF2-AD28-F5FAC3B67A58}" srcOrd="0" destOrd="0" presId="urn:microsoft.com/office/officeart/2018/2/layout/IconCircleList"/>
    <dgm:cxn modelId="{3F3C7A3B-CE6E-47C5-BC12-F267764517B2}" type="presOf" srcId="{DABBD99E-BBB1-464C-A6C1-0BD4F8B94EC2}" destId="{B48144FB-4EDC-4FF1-BB71-B4DAF9A9ED19}" srcOrd="0" destOrd="0" presId="urn:microsoft.com/office/officeart/2018/2/layout/IconCircleList"/>
    <dgm:cxn modelId="{73C8C43D-8292-4AD3-BB70-9E7541BB5A0E}" type="presOf" srcId="{AF7D2F96-749A-4158-A0AC-10C204A08829}" destId="{E039D889-90A1-42EE-83A2-03FCAD975428}" srcOrd="0" destOrd="0" presId="urn:microsoft.com/office/officeart/2018/2/layout/IconCircleList"/>
    <dgm:cxn modelId="{03A0355B-FA40-4FD2-BABF-3C2617D5DB63}" srcId="{C094B7B0-1B4F-4228-8B34-09979D69EE09}" destId="{CFEFC0B2-F63A-40AC-B4FA-817F93294EC3}" srcOrd="3" destOrd="0" parTransId="{910FA960-65EB-4B00-9F04-EE56EC5DAA90}" sibTransId="{4C1C7E37-5FB1-4003-8039-0541D06C0807}"/>
    <dgm:cxn modelId="{415DB15C-FAC4-41D4-9FF8-201C6B6A90AA}" type="presOf" srcId="{B04F546F-B58F-41CC-AFFF-ED2312C5ED6C}" destId="{6641B331-C707-46B5-83B3-E314164CA547}" srcOrd="0" destOrd="0" presId="urn:microsoft.com/office/officeart/2018/2/layout/IconCircleList"/>
    <dgm:cxn modelId="{CB798E42-B2BD-4D86-9556-20CA2CC278CF}" type="presOf" srcId="{B84C344B-FFF7-452D-98F2-1A01CF670570}" destId="{21BF2328-2B29-4C6D-8D5A-FB5563679C96}" srcOrd="0" destOrd="0" presId="urn:microsoft.com/office/officeart/2018/2/layout/IconCircleList"/>
    <dgm:cxn modelId="{36CA9043-6B73-4F09-BF3C-686CE20BF09E}" type="presOf" srcId="{EC6B8DA5-160F-43C3-A7DC-27729427FB86}" destId="{8C4F82B3-71C9-4803-B74D-72FAA4F46846}" srcOrd="0" destOrd="0" presId="urn:microsoft.com/office/officeart/2018/2/layout/IconCircleList"/>
    <dgm:cxn modelId="{C6BEB165-D070-43FE-B50E-D3237C661FB3}" type="presOf" srcId="{453513FB-B022-45A7-85AD-C8C214281D94}" destId="{9B707F72-95D5-4E4B-8C60-0382B603FBE6}" srcOrd="0" destOrd="0" presId="urn:microsoft.com/office/officeart/2018/2/layout/IconCircleList"/>
    <dgm:cxn modelId="{08E6377A-1E02-44B7-9CCA-6D6F439B24FB}" srcId="{C094B7B0-1B4F-4228-8B34-09979D69EE09}" destId="{5313CA11-A4A2-4B65-971F-6CB10B930B25}" srcOrd="0" destOrd="0" parTransId="{21901250-7457-42BA-BB3E-A407FCD8E7B8}" sibTransId="{AF7D2F96-749A-4158-A0AC-10C204A08829}"/>
    <dgm:cxn modelId="{935B5683-3D5E-42BA-ADE3-1DB7947B0C20}" type="presOf" srcId="{4C1C7E37-5FB1-4003-8039-0541D06C0807}" destId="{4B0D04C4-23AB-49B4-A352-D770E5B73496}" srcOrd="0" destOrd="0" presId="urn:microsoft.com/office/officeart/2018/2/layout/IconCircleList"/>
    <dgm:cxn modelId="{FE53B592-B4EC-4FD8-8A50-DE3361B51C54}" type="presOf" srcId="{E8E55205-93A9-4259-AFDA-1124F2CA50AA}" destId="{8D25864A-24AD-44DF-B422-FA13FDBCBC4C}" srcOrd="0" destOrd="0" presId="urn:microsoft.com/office/officeart/2018/2/layout/IconCircleList"/>
    <dgm:cxn modelId="{3E045494-0F9D-41BA-B0BE-7E2555C29DF8}" type="presOf" srcId="{5313CA11-A4A2-4B65-971F-6CB10B930B25}" destId="{48D9EFEE-877D-4989-B0E6-43E68051A273}" srcOrd="0" destOrd="0" presId="urn:microsoft.com/office/officeart/2018/2/layout/IconCircleList"/>
    <dgm:cxn modelId="{73FA4C96-8056-488A-8D0A-AB151E7B8713}" srcId="{C094B7B0-1B4F-4228-8B34-09979D69EE09}" destId="{F0D95CFD-4325-4F14-B9E6-5D7E5DD74EFF}" srcOrd="6" destOrd="0" parTransId="{20553189-B633-420E-B605-541717780E23}" sibTransId="{EC6B8DA5-160F-43C3-A7DC-27729427FB86}"/>
    <dgm:cxn modelId="{277BBE96-6B8D-4148-A9BF-4ADBBB567535}" srcId="{C094B7B0-1B4F-4228-8B34-09979D69EE09}" destId="{DABBD99E-BBB1-464C-A6C1-0BD4F8B94EC2}" srcOrd="4" destOrd="0" parTransId="{DF0A6CAA-0B6E-4C08-B26A-08F545D5E19E}" sibTransId="{B04F546F-B58F-41CC-AFFF-ED2312C5ED6C}"/>
    <dgm:cxn modelId="{068C74AB-D8B1-4ABD-A6BA-0A2C639FA8A9}" type="presOf" srcId="{FEE36F42-7E02-4C4F-99AC-0AD10B8903F5}" destId="{9C1DADE0-5074-4F3B-92F7-29433CEFE54C}" srcOrd="0" destOrd="0" presId="urn:microsoft.com/office/officeart/2018/2/layout/IconCircleList"/>
    <dgm:cxn modelId="{327404B3-3987-4B99-BC8D-D8094AAEF88A}" srcId="{C094B7B0-1B4F-4228-8B34-09979D69EE09}" destId="{5B676985-5940-486F-80A0-75A38250EE80}" srcOrd="2" destOrd="0" parTransId="{2B4E71C5-C016-4888-83E7-EDB6EB6B2D53}" sibTransId="{E8E55205-93A9-4259-AFDA-1124F2CA50AA}"/>
    <dgm:cxn modelId="{41D1DCD5-E440-4CA1-96B3-1C16276A890D}" type="presOf" srcId="{983AA53B-109F-471C-9C75-309791F41E52}" destId="{C99BB57D-905C-4796-9600-3DF486E37B61}" srcOrd="0" destOrd="0" presId="urn:microsoft.com/office/officeart/2018/2/layout/IconCircleList"/>
    <dgm:cxn modelId="{CAA2DDD5-CD58-4495-97A5-86F86CEF8176}" srcId="{C094B7B0-1B4F-4228-8B34-09979D69EE09}" destId="{983AA53B-109F-471C-9C75-309791F41E52}" srcOrd="5" destOrd="0" parTransId="{3F78564B-1554-4120-AB65-7D6E74762623}" sibTransId="{453513FB-B022-45A7-85AD-C8C214281D94}"/>
    <dgm:cxn modelId="{519ACDEB-52D6-4D8D-A537-7BB732ABC972}" type="presOf" srcId="{C094B7B0-1B4F-4228-8B34-09979D69EE09}" destId="{6F3ACD50-E815-49E2-91B7-410233DAF27F}" srcOrd="0" destOrd="0" presId="urn:microsoft.com/office/officeart/2018/2/layout/IconCircleList"/>
    <dgm:cxn modelId="{B1A5B247-B66A-49B8-AD43-134C804443E9}" type="presParOf" srcId="{6F3ACD50-E815-49E2-91B7-410233DAF27F}" destId="{8FD02E30-7A54-4F66-8494-78F4A25D926D}" srcOrd="0" destOrd="0" presId="urn:microsoft.com/office/officeart/2018/2/layout/IconCircleList"/>
    <dgm:cxn modelId="{0C3B2F81-AD5E-43E3-B329-2C7B73206FCA}" type="presParOf" srcId="{8FD02E30-7A54-4F66-8494-78F4A25D926D}" destId="{FDD97736-0EC0-44C0-A520-732B0935990C}" srcOrd="0" destOrd="0" presId="urn:microsoft.com/office/officeart/2018/2/layout/IconCircleList"/>
    <dgm:cxn modelId="{F3800099-6CE5-4BFB-89BE-A64782181178}" type="presParOf" srcId="{FDD97736-0EC0-44C0-A520-732B0935990C}" destId="{B1AD5E86-E426-4029-B3CE-0ACB19526103}" srcOrd="0" destOrd="0" presId="urn:microsoft.com/office/officeart/2018/2/layout/IconCircleList"/>
    <dgm:cxn modelId="{E2C7F669-91FE-465D-A32B-13AF676726C3}" type="presParOf" srcId="{FDD97736-0EC0-44C0-A520-732B0935990C}" destId="{8360FC46-6E6F-4A89-B556-5041EC054650}" srcOrd="1" destOrd="0" presId="urn:microsoft.com/office/officeart/2018/2/layout/IconCircleList"/>
    <dgm:cxn modelId="{FB64820F-8239-4508-8D77-D999963EA190}" type="presParOf" srcId="{FDD97736-0EC0-44C0-A520-732B0935990C}" destId="{0919A3AA-354F-4CE1-939F-36BDB04279FB}" srcOrd="2" destOrd="0" presId="urn:microsoft.com/office/officeart/2018/2/layout/IconCircleList"/>
    <dgm:cxn modelId="{6E7EBC9C-5E4D-4B62-BCBF-CAA3123A4371}" type="presParOf" srcId="{FDD97736-0EC0-44C0-A520-732B0935990C}" destId="{48D9EFEE-877D-4989-B0E6-43E68051A273}" srcOrd="3" destOrd="0" presId="urn:microsoft.com/office/officeart/2018/2/layout/IconCircleList"/>
    <dgm:cxn modelId="{489FF6C4-4285-4484-95F9-C5CF2DB4553E}" type="presParOf" srcId="{8FD02E30-7A54-4F66-8494-78F4A25D926D}" destId="{E039D889-90A1-42EE-83A2-03FCAD975428}" srcOrd="1" destOrd="0" presId="urn:microsoft.com/office/officeart/2018/2/layout/IconCircleList"/>
    <dgm:cxn modelId="{58EBC772-B7F6-4D27-A1A5-4DE9952990D7}" type="presParOf" srcId="{8FD02E30-7A54-4F66-8494-78F4A25D926D}" destId="{DC9D56A4-F8E9-43B6-81FD-96EE7B1563E1}" srcOrd="2" destOrd="0" presId="urn:microsoft.com/office/officeart/2018/2/layout/IconCircleList"/>
    <dgm:cxn modelId="{277DC932-4FA5-4026-AC49-F7788E72B419}" type="presParOf" srcId="{DC9D56A4-F8E9-43B6-81FD-96EE7B1563E1}" destId="{42ED91D1-A7F0-4444-BB66-B8E932A8504E}" srcOrd="0" destOrd="0" presId="urn:microsoft.com/office/officeart/2018/2/layout/IconCircleList"/>
    <dgm:cxn modelId="{DFA3B2DE-5069-4911-9877-04E6AA0C0429}" type="presParOf" srcId="{DC9D56A4-F8E9-43B6-81FD-96EE7B1563E1}" destId="{E1613071-3009-4899-82C3-BE862743EAA3}" srcOrd="1" destOrd="0" presId="urn:microsoft.com/office/officeart/2018/2/layout/IconCircleList"/>
    <dgm:cxn modelId="{BA22F71D-2FA1-4AE8-AEF7-21B5F67281A8}" type="presParOf" srcId="{DC9D56A4-F8E9-43B6-81FD-96EE7B1563E1}" destId="{7F163E7E-E8B7-4E65-B926-97F3C1CB5F51}" srcOrd="2" destOrd="0" presId="urn:microsoft.com/office/officeart/2018/2/layout/IconCircleList"/>
    <dgm:cxn modelId="{1E0FB074-4D07-4FA8-A915-0C3FD137526E}" type="presParOf" srcId="{DC9D56A4-F8E9-43B6-81FD-96EE7B1563E1}" destId="{21BF2328-2B29-4C6D-8D5A-FB5563679C96}" srcOrd="3" destOrd="0" presId="urn:microsoft.com/office/officeart/2018/2/layout/IconCircleList"/>
    <dgm:cxn modelId="{4405FBBF-D4FE-4036-86A0-B84469A548EB}" type="presParOf" srcId="{8FD02E30-7A54-4F66-8494-78F4A25D926D}" destId="{3E56522F-6421-4FDC-BE6A-50516F711FDA}" srcOrd="3" destOrd="0" presId="urn:microsoft.com/office/officeart/2018/2/layout/IconCircleList"/>
    <dgm:cxn modelId="{C571C87F-FC79-4D2B-A4DF-BCC746A4B481}" type="presParOf" srcId="{8FD02E30-7A54-4F66-8494-78F4A25D926D}" destId="{ADCF0DD6-AE8E-4627-9DDB-EFD33868F23A}" srcOrd="4" destOrd="0" presId="urn:microsoft.com/office/officeart/2018/2/layout/IconCircleList"/>
    <dgm:cxn modelId="{896B68ED-56EC-4480-944A-70867EF1D108}" type="presParOf" srcId="{ADCF0DD6-AE8E-4627-9DDB-EFD33868F23A}" destId="{A94DA048-B3F3-4CE2-AF27-243AD843F0B9}" srcOrd="0" destOrd="0" presId="urn:microsoft.com/office/officeart/2018/2/layout/IconCircleList"/>
    <dgm:cxn modelId="{E678C896-9687-465F-84FD-B6293A92B7A2}" type="presParOf" srcId="{ADCF0DD6-AE8E-4627-9DDB-EFD33868F23A}" destId="{82D69FC3-68CC-4693-9265-F08BB62B4B26}" srcOrd="1" destOrd="0" presId="urn:microsoft.com/office/officeart/2018/2/layout/IconCircleList"/>
    <dgm:cxn modelId="{6728851A-4C10-4AFC-8185-8510D6DE5920}" type="presParOf" srcId="{ADCF0DD6-AE8E-4627-9DDB-EFD33868F23A}" destId="{960576EF-FFF9-4968-AA5A-0F28D6B70B31}" srcOrd="2" destOrd="0" presId="urn:microsoft.com/office/officeart/2018/2/layout/IconCircleList"/>
    <dgm:cxn modelId="{1AD49EA6-3ED1-49C5-8520-1D087760C49A}" type="presParOf" srcId="{ADCF0DD6-AE8E-4627-9DDB-EFD33868F23A}" destId="{31E735AA-7DBA-45FB-8FBC-A66B6B2DA390}" srcOrd="3" destOrd="0" presId="urn:microsoft.com/office/officeart/2018/2/layout/IconCircleList"/>
    <dgm:cxn modelId="{63018A84-A498-4D3A-8BAA-0D48ABB7CD73}" type="presParOf" srcId="{8FD02E30-7A54-4F66-8494-78F4A25D926D}" destId="{8D25864A-24AD-44DF-B422-FA13FDBCBC4C}" srcOrd="5" destOrd="0" presId="urn:microsoft.com/office/officeart/2018/2/layout/IconCircleList"/>
    <dgm:cxn modelId="{AB960756-D184-4E64-8B3F-06030820E08E}" type="presParOf" srcId="{8FD02E30-7A54-4F66-8494-78F4A25D926D}" destId="{5F6607B0-6EDD-4B64-B69A-4CEA47CC3EA5}" srcOrd="6" destOrd="0" presId="urn:microsoft.com/office/officeart/2018/2/layout/IconCircleList"/>
    <dgm:cxn modelId="{D4D2B08B-499B-40A2-B8EC-768837BF42A3}" type="presParOf" srcId="{5F6607B0-6EDD-4B64-B69A-4CEA47CC3EA5}" destId="{6BA3667B-914A-4500-8A40-F285C3CBE99B}" srcOrd="0" destOrd="0" presId="urn:microsoft.com/office/officeart/2018/2/layout/IconCircleList"/>
    <dgm:cxn modelId="{8A4D687E-83AC-42AE-96ED-7DC9BEE8DA51}" type="presParOf" srcId="{5F6607B0-6EDD-4B64-B69A-4CEA47CC3EA5}" destId="{44EA3F78-924B-4C14-80B9-1AD3B78975F4}" srcOrd="1" destOrd="0" presId="urn:microsoft.com/office/officeart/2018/2/layout/IconCircleList"/>
    <dgm:cxn modelId="{6F9AA99C-08D4-4088-BFA0-BD6F97D8A540}" type="presParOf" srcId="{5F6607B0-6EDD-4B64-B69A-4CEA47CC3EA5}" destId="{0C1EF032-2A4D-4051-8853-815B373E98BC}" srcOrd="2" destOrd="0" presId="urn:microsoft.com/office/officeart/2018/2/layout/IconCircleList"/>
    <dgm:cxn modelId="{45C3991D-0A1D-4C73-9F50-6B562E601409}" type="presParOf" srcId="{5F6607B0-6EDD-4B64-B69A-4CEA47CC3EA5}" destId="{621F14DD-E6AB-4F25-A64E-6668E5BA8836}" srcOrd="3" destOrd="0" presId="urn:microsoft.com/office/officeart/2018/2/layout/IconCircleList"/>
    <dgm:cxn modelId="{607253B7-35B9-4110-A0DF-82A6F2225308}" type="presParOf" srcId="{8FD02E30-7A54-4F66-8494-78F4A25D926D}" destId="{4B0D04C4-23AB-49B4-A352-D770E5B73496}" srcOrd="7" destOrd="0" presId="urn:microsoft.com/office/officeart/2018/2/layout/IconCircleList"/>
    <dgm:cxn modelId="{B7797BE5-3475-4AE5-9F1F-636EDDF2843A}" type="presParOf" srcId="{8FD02E30-7A54-4F66-8494-78F4A25D926D}" destId="{5A2880F4-B020-4CCA-BAF7-CA9931A91FE8}" srcOrd="8" destOrd="0" presId="urn:microsoft.com/office/officeart/2018/2/layout/IconCircleList"/>
    <dgm:cxn modelId="{15C0F425-9CDC-4F73-AFE2-C802E9F8C420}" type="presParOf" srcId="{5A2880F4-B020-4CCA-BAF7-CA9931A91FE8}" destId="{FA5B44C8-1477-4C3E-B762-A4396A99E29A}" srcOrd="0" destOrd="0" presId="urn:microsoft.com/office/officeart/2018/2/layout/IconCircleList"/>
    <dgm:cxn modelId="{4EFC9975-61EF-479F-86DD-EC5410B447C8}" type="presParOf" srcId="{5A2880F4-B020-4CCA-BAF7-CA9931A91FE8}" destId="{BFE433C1-D974-408A-90B5-5231AAEB9B5D}" srcOrd="1" destOrd="0" presId="urn:microsoft.com/office/officeart/2018/2/layout/IconCircleList"/>
    <dgm:cxn modelId="{EB81D549-BFFC-4FF8-83D1-9D87253583E0}" type="presParOf" srcId="{5A2880F4-B020-4CCA-BAF7-CA9931A91FE8}" destId="{00359B18-9A0F-4436-9799-58FB7241600C}" srcOrd="2" destOrd="0" presId="urn:microsoft.com/office/officeart/2018/2/layout/IconCircleList"/>
    <dgm:cxn modelId="{2B2838FA-88A1-41EA-8A35-C94DDFAA0155}" type="presParOf" srcId="{5A2880F4-B020-4CCA-BAF7-CA9931A91FE8}" destId="{B48144FB-4EDC-4FF1-BB71-B4DAF9A9ED19}" srcOrd="3" destOrd="0" presId="urn:microsoft.com/office/officeart/2018/2/layout/IconCircleList"/>
    <dgm:cxn modelId="{0D72D7E7-4E75-4DA5-8BA7-CA571ABFABC6}" type="presParOf" srcId="{8FD02E30-7A54-4F66-8494-78F4A25D926D}" destId="{6641B331-C707-46B5-83B3-E314164CA547}" srcOrd="9" destOrd="0" presId="urn:microsoft.com/office/officeart/2018/2/layout/IconCircleList"/>
    <dgm:cxn modelId="{B6D4DB1D-7820-428E-9365-4ED43D8E739A}" type="presParOf" srcId="{8FD02E30-7A54-4F66-8494-78F4A25D926D}" destId="{0ED0C1BF-F29B-4CBB-8169-4DBB5F5826B4}" srcOrd="10" destOrd="0" presId="urn:microsoft.com/office/officeart/2018/2/layout/IconCircleList"/>
    <dgm:cxn modelId="{37521C81-527D-4DB9-9E48-F09E390CFD4F}" type="presParOf" srcId="{0ED0C1BF-F29B-4CBB-8169-4DBB5F5826B4}" destId="{2E65F255-A157-4670-A87E-990603D2B432}" srcOrd="0" destOrd="0" presId="urn:microsoft.com/office/officeart/2018/2/layout/IconCircleList"/>
    <dgm:cxn modelId="{6784E6CE-8E5E-4A13-864E-84C8784B3325}" type="presParOf" srcId="{0ED0C1BF-F29B-4CBB-8169-4DBB5F5826B4}" destId="{B5B63725-EEEE-42B6-9B60-E3589F9F2DFC}" srcOrd="1" destOrd="0" presId="urn:microsoft.com/office/officeart/2018/2/layout/IconCircleList"/>
    <dgm:cxn modelId="{0889B8EC-3C42-4F54-8669-68FA41ECD71C}" type="presParOf" srcId="{0ED0C1BF-F29B-4CBB-8169-4DBB5F5826B4}" destId="{E6A2D2EB-4501-475E-A0BA-477ECEC34EC1}" srcOrd="2" destOrd="0" presId="urn:microsoft.com/office/officeart/2018/2/layout/IconCircleList"/>
    <dgm:cxn modelId="{C0E4CCFE-38C3-4A43-8745-F9AC4505D19C}" type="presParOf" srcId="{0ED0C1BF-F29B-4CBB-8169-4DBB5F5826B4}" destId="{C99BB57D-905C-4796-9600-3DF486E37B61}" srcOrd="3" destOrd="0" presId="urn:microsoft.com/office/officeart/2018/2/layout/IconCircleList"/>
    <dgm:cxn modelId="{5669B4A9-6834-4D88-A19B-E9BE6B2D9EEF}" type="presParOf" srcId="{8FD02E30-7A54-4F66-8494-78F4A25D926D}" destId="{9B707F72-95D5-4E4B-8C60-0382B603FBE6}" srcOrd="11" destOrd="0" presId="urn:microsoft.com/office/officeart/2018/2/layout/IconCircleList"/>
    <dgm:cxn modelId="{09BAB7C7-85D2-4E1F-AA8C-1DB451EF93BB}" type="presParOf" srcId="{8FD02E30-7A54-4F66-8494-78F4A25D926D}" destId="{148948B4-AC56-4008-B3E6-B16D27E94B24}" srcOrd="12" destOrd="0" presId="urn:microsoft.com/office/officeart/2018/2/layout/IconCircleList"/>
    <dgm:cxn modelId="{9291111C-4112-48BA-AA83-BBE56DD69DCE}" type="presParOf" srcId="{148948B4-AC56-4008-B3E6-B16D27E94B24}" destId="{2DD1D58C-AF5C-4DD7-B87B-A3F834D26D83}" srcOrd="0" destOrd="0" presId="urn:microsoft.com/office/officeart/2018/2/layout/IconCircleList"/>
    <dgm:cxn modelId="{A09EEE97-A41E-4E88-8100-D39F9831738C}" type="presParOf" srcId="{148948B4-AC56-4008-B3E6-B16D27E94B24}" destId="{2F678FF3-E149-408F-98BC-2014C85D5988}" srcOrd="1" destOrd="0" presId="urn:microsoft.com/office/officeart/2018/2/layout/IconCircleList"/>
    <dgm:cxn modelId="{F1A08D6C-3C1C-4301-B7E2-BCBA3845EE63}" type="presParOf" srcId="{148948B4-AC56-4008-B3E6-B16D27E94B24}" destId="{55BACB0F-054C-44C3-9502-01C4D550AC7C}" srcOrd="2" destOrd="0" presId="urn:microsoft.com/office/officeart/2018/2/layout/IconCircleList"/>
    <dgm:cxn modelId="{C1E04909-19C9-4277-9851-45C6A58B1B86}" type="presParOf" srcId="{148948B4-AC56-4008-B3E6-B16D27E94B24}" destId="{1C15B417-4648-4AF2-AD28-F5FAC3B67A58}" srcOrd="3" destOrd="0" presId="urn:microsoft.com/office/officeart/2018/2/layout/IconCircleList"/>
    <dgm:cxn modelId="{615E373A-6C8E-4A8F-9596-9EC385C20D92}" type="presParOf" srcId="{8FD02E30-7A54-4F66-8494-78F4A25D926D}" destId="{8C4F82B3-71C9-4803-B74D-72FAA4F46846}" srcOrd="13" destOrd="0" presId="urn:microsoft.com/office/officeart/2018/2/layout/IconCircleList"/>
    <dgm:cxn modelId="{C9AAB109-EB1D-48B7-8B1F-0D0C73F3869B}" type="presParOf" srcId="{8FD02E30-7A54-4F66-8494-78F4A25D926D}" destId="{AD250DD5-42F3-4197-80EF-E58D43BD9A65}" srcOrd="14" destOrd="0" presId="urn:microsoft.com/office/officeart/2018/2/layout/IconCircleList"/>
    <dgm:cxn modelId="{D62C1320-3416-4D57-B72F-18ACBF623FE7}" type="presParOf" srcId="{AD250DD5-42F3-4197-80EF-E58D43BD9A65}" destId="{C6822832-FD26-42EF-B4BB-D31715872D24}" srcOrd="0" destOrd="0" presId="urn:microsoft.com/office/officeart/2018/2/layout/IconCircleList"/>
    <dgm:cxn modelId="{14F13E7D-824F-4AEC-A563-2316E0DA9687}" type="presParOf" srcId="{AD250DD5-42F3-4197-80EF-E58D43BD9A65}" destId="{E8F2E123-9FD9-4B92-BAB7-B5D3F616BDA1}" srcOrd="1" destOrd="0" presId="urn:microsoft.com/office/officeart/2018/2/layout/IconCircleList"/>
    <dgm:cxn modelId="{B77964A5-7717-41DA-A2D1-B2B326A1E9D9}" type="presParOf" srcId="{AD250DD5-42F3-4197-80EF-E58D43BD9A65}" destId="{A31B56B2-5414-4B11-B051-61B2426D9C45}" srcOrd="2" destOrd="0" presId="urn:microsoft.com/office/officeart/2018/2/layout/IconCircleList"/>
    <dgm:cxn modelId="{BBDA7144-BD2C-44AB-A793-5BB8326D0DA7}" type="presParOf" srcId="{AD250DD5-42F3-4197-80EF-E58D43BD9A65}" destId="{9C1DADE0-5074-4F3B-92F7-29433CEFE54C}" srcOrd="3" destOrd="0" presId="urn:microsoft.com/office/officeart/2018/2/layout/IconCircle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4E629C-482D-40CA-985D-4DA1FC832E45}"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FD2C5ADA-46DA-474E-B7C5-A533ADB53AA1}">
      <dgm:prSet phldrT="[Text]" custT="1"/>
      <dgm:spPr>
        <a:solidFill>
          <a:srgbClr val="B674F6"/>
        </a:solidFill>
      </dgm:spPr>
      <dgm:t>
        <a:bodyPr/>
        <a:lstStyle/>
        <a:p>
          <a:endParaRPr lang="en-US" sz="1300" dirty="0"/>
        </a:p>
        <a:p>
          <a:r>
            <a:rPr lang="en-US" sz="1300"/>
            <a:t>Monthly Traffic </a:t>
          </a:r>
          <a:r>
            <a:rPr lang="en-US" sz="1400"/>
            <a:t>to System</a:t>
          </a:r>
        </a:p>
        <a:p>
          <a:endParaRPr lang="en-US" sz="1300" dirty="0"/>
        </a:p>
      </dgm:t>
    </dgm:pt>
    <dgm:pt modelId="{1163CAD3-488C-4314-BA71-32FE2626EA4B}" type="parTrans" cxnId="{CE404874-D774-4233-901A-383FBA20D9AF}">
      <dgm:prSet/>
      <dgm:spPr/>
      <dgm:t>
        <a:bodyPr/>
        <a:lstStyle/>
        <a:p>
          <a:endParaRPr lang="en-US"/>
        </a:p>
      </dgm:t>
    </dgm:pt>
    <dgm:pt modelId="{D1A51BF8-DA12-4D90-8C02-467667C2190A}" type="sibTrans" cxnId="{CE404874-D774-4233-901A-383FBA20D9AF}">
      <dgm:prSet/>
      <dgm:spPr/>
      <dgm:t>
        <a:bodyPr/>
        <a:lstStyle/>
        <a:p>
          <a:endParaRPr lang="en-US"/>
        </a:p>
      </dgm:t>
    </dgm:pt>
    <dgm:pt modelId="{F3363323-5360-411B-8B66-527B0E7BEEF5}">
      <dgm:prSet phldrT="[Text]" custT="1"/>
      <dgm:spPr>
        <a:solidFill>
          <a:srgbClr val="B674F6"/>
        </a:solidFill>
      </dgm:spPr>
      <dgm:t>
        <a:bodyPr/>
        <a:lstStyle/>
        <a:p>
          <a:r>
            <a:rPr lang="en-US" sz="1400" dirty="0"/>
            <a:t>Bookings</a:t>
          </a:r>
          <a:r>
            <a:rPr lang="en-US" sz="1400" baseline="0" dirty="0"/>
            <a:t> Done Per Month </a:t>
          </a:r>
          <a:endParaRPr lang="en-US" sz="1400" dirty="0"/>
        </a:p>
      </dgm:t>
    </dgm:pt>
    <dgm:pt modelId="{6B7B7418-F6FF-4F87-AF10-A9C0220A13B1}" type="parTrans" cxnId="{D6C28E8F-CEFA-46E4-A7B6-D05685904F8B}">
      <dgm:prSet/>
      <dgm:spPr/>
      <dgm:t>
        <a:bodyPr/>
        <a:lstStyle/>
        <a:p>
          <a:endParaRPr lang="en-US"/>
        </a:p>
      </dgm:t>
    </dgm:pt>
    <dgm:pt modelId="{6F694F39-905E-47FD-8A20-A219FA1179F4}" type="sibTrans" cxnId="{D6C28E8F-CEFA-46E4-A7B6-D05685904F8B}">
      <dgm:prSet/>
      <dgm:spPr/>
      <dgm:t>
        <a:bodyPr/>
        <a:lstStyle/>
        <a:p>
          <a:endParaRPr lang="en-US"/>
        </a:p>
      </dgm:t>
    </dgm:pt>
    <dgm:pt modelId="{80F8FD45-6221-434E-877F-86822BD3DA6A}">
      <dgm:prSet phldrT="[Text]" custT="1"/>
      <dgm:spPr>
        <a:solidFill>
          <a:srgbClr val="B674F6"/>
        </a:solidFill>
      </dgm:spPr>
      <dgm:t>
        <a:bodyPr/>
        <a:lstStyle/>
        <a:p>
          <a:r>
            <a:rPr lang="en-US" sz="1400" dirty="0"/>
            <a:t>Bookings From Ecom platform Like Amazon &amp; Flipkart Per Month</a:t>
          </a:r>
        </a:p>
      </dgm:t>
    </dgm:pt>
    <dgm:pt modelId="{1651149B-2ED1-4B27-85F4-638BD2A26CAD}" type="parTrans" cxnId="{2D43DBAD-E910-496F-8C1F-043BDDF1BE03}">
      <dgm:prSet/>
      <dgm:spPr/>
      <dgm:t>
        <a:bodyPr/>
        <a:lstStyle/>
        <a:p>
          <a:endParaRPr lang="en-US"/>
        </a:p>
      </dgm:t>
    </dgm:pt>
    <dgm:pt modelId="{414759BA-2555-4717-A927-16872B5CEF6A}" type="sibTrans" cxnId="{2D43DBAD-E910-496F-8C1F-043BDDF1BE03}">
      <dgm:prSet/>
      <dgm:spPr/>
      <dgm:t>
        <a:bodyPr/>
        <a:lstStyle/>
        <a:p>
          <a:endParaRPr lang="en-US"/>
        </a:p>
      </dgm:t>
    </dgm:pt>
    <dgm:pt modelId="{3B9DC2CC-FFC9-422B-8636-68278413A516}">
      <dgm:prSet phldrT="[Text]" custT="1"/>
      <dgm:spPr>
        <a:solidFill>
          <a:srgbClr val="B674F6"/>
        </a:solidFill>
      </dgm:spPr>
      <dgm:t>
        <a:bodyPr/>
        <a:lstStyle/>
        <a:p>
          <a:r>
            <a:rPr lang="en-US" sz="1400"/>
            <a:t>Total Cache Hits in a month</a:t>
          </a:r>
          <a:endParaRPr lang="en-US" sz="1400" dirty="0"/>
        </a:p>
      </dgm:t>
    </dgm:pt>
    <dgm:pt modelId="{0A2BDFB0-7426-417A-8850-0F3F3A861BDE}" type="parTrans" cxnId="{9034AC0E-904F-42AC-A595-E94935D04937}">
      <dgm:prSet/>
      <dgm:spPr/>
      <dgm:t>
        <a:bodyPr/>
        <a:lstStyle/>
        <a:p>
          <a:endParaRPr lang="en-US"/>
        </a:p>
      </dgm:t>
    </dgm:pt>
    <dgm:pt modelId="{DB889C70-4EDA-4754-858E-A6272A4C98C6}" type="sibTrans" cxnId="{9034AC0E-904F-42AC-A595-E94935D04937}">
      <dgm:prSet/>
      <dgm:spPr/>
      <dgm:t>
        <a:bodyPr/>
        <a:lstStyle/>
        <a:p>
          <a:endParaRPr lang="en-US"/>
        </a:p>
      </dgm:t>
    </dgm:pt>
    <dgm:pt modelId="{A41BA418-7C57-44F0-A695-413D4DF43AFC}" type="pres">
      <dgm:prSet presAssocID="{D04E629C-482D-40CA-985D-4DA1FC832E45}" presName="Name0" presStyleCnt="0">
        <dgm:presLayoutVars>
          <dgm:chMax val="7"/>
          <dgm:chPref val="7"/>
          <dgm:dir/>
        </dgm:presLayoutVars>
      </dgm:prSet>
      <dgm:spPr/>
    </dgm:pt>
    <dgm:pt modelId="{01C804D1-C5F3-4088-9352-E70F82E9B860}" type="pres">
      <dgm:prSet presAssocID="{D04E629C-482D-40CA-985D-4DA1FC832E45}" presName="Name1" presStyleCnt="0"/>
      <dgm:spPr/>
    </dgm:pt>
    <dgm:pt modelId="{3B907079-9422-4928-8DCF-14E52D055375}" type="pres">
      <dgm:prSet presAssocID="{D04E629C-482D-40CA-985D-4DA1FC832E45}" presName="cycle" presStyleCnt="0"/>
      <dgm:spPr/>
    </dgm:pt>
    <dgm:pt modelId="{517B5DA4-062C-4ACB-A840-41475777C7A9}" type="pres">
      <dgm:prSet presAssocID="{D04E629C-482D-40CA-985D-4DA1FC832E45}" presName="srcNode" presStyleLbl="node1" presStyleIdx="0" presStyleCnt="4"/>
      <dgm:spPr/>
    </dgm:pt>
    <dgm:pt modelId="{B8D1EADD-009A-49E7-B7B6-EF1E56D4D285}" type="pres">
      <dgm:prSet presAssocID="{D04E629C-482D-40CA-985D-4DA1FC832E45}" presName="conn" presStyleLbl="parChTrans1D2" presStyleIdx="0" presStyleCnt="1"/>
      <dgm:spPr/>
    </dgm:pt>
    <dgm:pt modelId="{12FDBAB2-3CBE-413B-83DA-2C9D344E5574}" type="pres">
      <dgm:prSet presAssocID="{D04E629C-482D-40CA-985D-4DA1FC832E45}" presName="extraNode" presStyleLbl="node1" presStyleIdx="0" presStyleCnt="4"/>
      <dgm:spPr/>
    </dgm:pt>
    <dgm:pt modelId="{DFCE9A7E-FD90-4ACC-B8D7-09B0E5CDDA63}" type="pres">
      <dgm:prSet presAssocID="{D04E629C-482D-40CA-985D-4DA1FC832E45}" presName="dstNode" presStyleLbl="node1" presStyleIdx="0" presStyleCnt="4"/>
      <dgm:spPr/>
    </dgm:pt>
    <dgm:pt modelId="{C932BFD2-230F-4488-A689-DC121B4C0E55}" type="pres">
      <dgm:prSet presAssocID="{FD2C5ADA-46DA-474E-B7C5-A533ADB53AA1}" presName="text_1" presStyleLbl="node1" presStyleIdx="0" presStyleCnt="4">
        <dgm:presLayoutVars>
          <dgm:bulletEnabled val="1"/>
        </dgm:presLayoutVars>
      </dgm:prSet>
      <dgm:spPr/>
    </dgm:pt>
    <dgm:pt modelId="{9DA26884-5E8D-441B-A02D-6B96512A83FA}" type="pres">
      <dgm:prSet presAssocID="{FD2C5ADA-46DA-474E-B7C5-A533ADB53AA1}" presName="accent_1" presStyleCnt="0"/>
      <dgm:spPr/>
    </dgm:pt>
    <dgm:pt modelId="{CD24B2C2-FDE3-4916-9992-E6C6EFCB2DF9}" type="pres">
      <dgm:prSet presAssocID="{FD2C5ADA-46DA-474E-B7C5-A533ADB53AA1}" presName="accentRepeatNode" presStyleLbl="solidFgAcc1" presStyleIdx="0" presStyleCnt="4"/>
      <dgm:spPr/>
    </dgm:pt>
    <dgm:pt modelId="{57433A48-DB0D-4053-8FF4-E806C364264B}" type="pres">
      <dgm:prSet presAssocID="{F3363323-5360-411B-8B66-527B0E7BEEF5}" presName="text_2" presStyleLbl="node1" presStyleIdx="1" presStyleCnt="4">
        <dgm:presLayoutVars>
          <dgm:bulletEnabled val="1"/>
        </dgm:presLayoutVars>
      </dgm:prSet>
      <dgm:spPr/>
    </dgm:pt>
    <dgm:pt modelId="{6CE4A98E-70DF-4718-A3EF-1988A3D1063C}" type="pres">
      <dgm:prSet presAssocID="{F3363323-5360-411B-8B66-527B0E7BEEF5}" presName="accent_2" presStyleCnt="0"/>
      <dgm:spPr/>
    </dgm:pt>
    <dgm:pt modelId="{CAB39692-05A3-437E-B56A-2664BAB0A84A}" type="pres">
      <dgm:prSet presAssocID="{F3363323-5360-411B-8B66-527B0E7BEEF5}" presName="accentRepeatNode" presStyleLbl="solidFgAcc1" presStyleIdx="1" presStyleCnt="4"/>
      <dgm:spPr/>
    </dgm:pt>
    <dgm:pt modelId="{6E243EA5-70AA-42CE-955C-F818CA2FB8A1}" type="pres">
      <dgm:prSet presAssocID="{80F8FD45-6221-434E-877F-86822BD3DA6A}" presName="text_3" presStyleLbl="node1" presStyleIdx="2" presStyleCnt="4">
        <dgm:presLayoutVars>
          <dgm:bulletEnabled val="1"/>
        </dgm:presLayoutVars>
      </dgm:prSet>
      <dgm:spPr/>
    </dgm:pt>
    <dgm:pt modelId="{17D9F69E-1629-4787-990B-AF73EF7ED5CB}" type="pres">
      <dgm:prSet presAssocID="{80F8FD45-6221-434E-877F-86822BD3DA6A}" presName="accent_3" presStyleCnt="0"/>
      <dgm:spPr/>
    </dgm:pt>
    <dgm:pt modelId="{9368F4C6-F79A-4F93-BDE6-BAB8BA450F67}" type="pres">
      <dgm:prSet presAssocID="{80F8FD45-6221-434E-877F-86822BD3DA6A}" presName="accentRepeatNode" presStyleLbl="solidFgAcc1" presStyleIdx="2" presStyleCnt="4"/>
      <dgm:spPr/>
    </dgm:pt>
    <dgm:pt modelId="{A3DF9A04-A141-4DAD-9B2B-F277E8D21617}" type="pres">
      <dgm:prSet presAssocID="{3B9DC2CC-FFC9-422B-8636-68278413A516}" presName="text_4" presStyleLbl="node1" presStyleIdx="3" presStyleCnt="4">
        <dgm:presLayoutVars>
          <dgm:bulletEnabled val="1"/>
        </dgm:presLayoutVars>
      </dgm:prSet>
      <dgm:spPr/>
    </dgm:pt>
    <dgm:pt modelId="{2B5FC6FE-9CF5-487F-988A-FED1EBA70BA1}" type="pres">
      <dgm:prSet presAssocID="{3B9DC2CC-FFC9-422B-8636-68278413A516}" presName="accent_4" presStyleCnt="0"/>
      <dgm:spPr/>
    </dgm:pt>
    <dgm:pt modelId="{F0B16FF2-F618-40F0-AC2E-0A036E732723}" type="pres">
      <dgm:prSet presAssocID="{3B9DC2CC-FFC9-422B-8636-68278413A516}" presName="accentRepeatNode" presStyleLbl="solidFgAcc1" presStyleIdx="3" presStyleCnt="4"/>
      <dgm:spPr/>
    </dgm:pt>
  </dgm:ptLst>
  <dgm:cxnLst>
    <dgm:cxn modelId="{AF914605-CBB8-45A0-B1B2-31BD97E36816}" type="presOf" srcId="{80F8FD45-6221-434E-877F-86822BD3DA6A}" destId="{6E243EA5-70AA-42CE-955C-F818CA2FB8A1}" srcOrd="0" destOrd="0" presId="urn:microsoft.com/office/officeart/2008/layout/VerticalCurvedList"/>
    <dgm:cxn modelId="{9034AC0E-904F-42AC-A595-E94935D04937}" srcId="{D04E629C-482D-40CA-985D-4DA1FC832E45}" destId="{3B9DC2CC-FFC9-422B-8636-68278413A516}" srcOrd="3" destOrd="0" parTransId="{0A2BDFB0-7426-417A-8850-0F3F3A861BDE}" sibTransId="{DB889C70-4EDA-4754-858E-A6272A4C98C6}"/>
    <dgm:cxn modelId="{CE404874-D774-4233-901A-383FBA20D9AF}" srcId="{D04E629C-482D-40CA-985D-4DA1FC832E45}" destId="{FD2C5ADA-46DA-474E-B7C5-A533ADB53AA1}" srcOrd="0" destOrd="0" parTransId="{1163CAD3-488C-4314-BA71-32FE2626EA4B}" sibTransId="{D1A51BF8-DA12-4D90-8C02-467667C2190A}"/>
    <dgm:cxn modelId="{00257754-2011-433A-A5D5-08EF541BA010}" type="presOf" srcId="{FD2C5ADA-46DA-474E-B7C5-A533ADB53AA1}" destId="{C932BFD2-230F-4488-A689-DC121B4C0E55}" srcOrd="0" destOrd="0" presId="urn:microsoft.com/office/officeart/2008/layout/VerticalCurvedList"/>
    <dgm:cxn modelId="{5AEA1F57-FB22-48E0-8186-60FD1724DB0A}" type="presOf" srcId="{D1A51BF8-DA12-4D90-8C02-467667C2190A}" destId="{B8D1EADD-009A-49E7-B7B6-EF1E56D4D285}" srcOrd="0" destOrd="0" presId="urn:microsoft.com/office/officeart/2008/layout/VerticalCurvedList"/>
    <dgm:cxn modelId="{D6C28E8F-CEFA-46E4-A7B6-D05685904F8B}" srcId="{D04E629C-482D-40CA-985D-4DA1FC832E45}" destId="{F3363323-5360-411B-8B66-527B0E7BEEF5}" srcOrd="1" destOrd="0" parTransId="{6B7B7418-F6FF-4F87-AF10-A9C0220A13B1}" sibTransId="{6F694F39-905E-47FD-8A20-A219FA1179F4}"/>
    <dgm:cxn modelId="{256F08A2-5C6F-4802-A768-00E5E77F03B7}" type="presOf" srcId="{D04E629C-482D-40CA-985D-4DA1FC832E45}" destId="{A41BA418-7C57-44F0-A695-413D4DF43AFC}" srcOrd="0" destOrd="0" presId="urn:microsoft.com/office/officeart/2008/layout/VerticalCurvedList"/>
    <dgm:cxn modelId="{2D43DBAD-E910-496F-8C1F-043BDDF1BE03}" srcId="{D04E629C-482D-40CA-985D-4DA1FC832E45}" destId="{80F8FD45-6221-434E-877F-86822BD3DA6A}" srcOrd="2" destOrd="0" parTransId="{1651149B-2ED1-4B27-85F4-638BD2A26CAD}" sibTransId="{414759BA-2555-4717-A927-16872B5CEF6A}"/>
    <dgm:cxn modelId="{006798B9-F5ED-48AA-9A22-CFD0EC4992EA}" type="presOf" srcId="{F3363323-5360-411B-8B66-527B0E7BEEF5}" destId="{57433A48-DB0D-4053-8FF4-E806C364264B}" srcOrd="0" destOrd="0" presId="urn:microsoft.com/office/officeart/2008/layout/VerticalCurvedList"/>
    <dgm:cxn modelId="{E1EEF6C2-0879-4866-8531-E70D60487FA1}" type="presOf" srcId="{3B9DC2CC-FFC9-422B-8636-68278413A516}" destId="{A3DF9A04-A141-4DAD-9B2B-F277E8D21617}" srcOrd="0" destOrd="0" presId="urn:microsoft.com/office/officeart/2008/layout/VerticalCurvedList"/>
    <dgm:cxn modelId="{0FF3F04F-9F8F-48A8-A2BB-2E20CB04064A}" type="presParOf" srcId="{A41BA418-7C57-44F0-A695-413D4DF43AFC}" destId="{01C804D1-C5F3-4088-9352-E70F82E9B860}" srcOrd="0" destOrd="0" presId="urn:microsoft.com/office/officeart/2008/layout/VerticalCurvedList"/>
    <dgm:cxn modelId="{9DE54C0A-6B5F-498C-B607-F77A8C897547}" type="presParOf" srcId="{01C804D1-C5F3-4088-9352-E70F82E9B860}" destId="{3B907079-9422-4928-8DCF-14E52D055375}" srcOrd="0" destOrd="0" presId="urn:microsoft.com/office/officeart/2008/layout/VerticalCurvedList"/>
    <dgm:cxn modelId="{5D96CA83-ED75-4824-A813-97E1F61F30CE}" type="presParOf" srcId="{3B907079-9422-4928-8DCF-14E52D055375}" destId="{517B5DA4-062C-4ACB-A840-41475777C7A9}" srcOrd="0" destOrd="0" presId="urn:microsoft.com/office/officeart/2008/layout/VerticalCurvedList"/>
    <dgm:cxn modelId="{22E27EE3-6773-4ADA-A7C9-9AECD438D472}" type="presParOf" srcId="{3B907079-9422-4928-8DCF-14E52D055375}" destId="{B8D1EADD-009A-49E7-B7B6-EF1E56D4D285}" srcOrd="1" destOrd="0" presId="urn:microsoft.com/office/officeart/2008/layout/VerticalCurvedList"/>
    <dgm:cxn modelId="{62E1B25A-2C96-4758-8E93-6E8D1F3B30EB}" type="presParOf" srcId="{3B907079-9422-4928-8DCF-14E52D055375}" destId="{12FDBAB2-3CBE-413B-83DA-2C9D344E5574}" srcOrd="2" destOrd="0" presId="urn:microsoft.com/office/officeart/2008/layout/VerticalCurvedList"/>
    <dgm:cxn modelId="{CFA304C2-1D37-4DB6-9594-C6226580ED2E}" type="presParOf" srcId="{3B907079-9422-4928-8DCF-14E52D055375}" destId="{DFCE9A7E-FD90-4ACC-B8D7-09B0E5CDDA63}" srcOrd="3" destOrd="0" presId="urn:microsoft.com/office/officeart/2008/layout/VerticalCurvedList"/>
    <dgm:cxn modelId="{F9F86FDB-22D6-41A3-9689-81B38E36C7E5}" type="presParOf" srcId="{01C804D1-C5F3-4088-9352-E70F82E9B860}" destId="{C932BFD2-230F-4488-A689-DC121B4C0E55}" srcOrd="1" destOrd="0" presId="urn:microsoft.com/office/officeart/2008/layout/VerticalCurvedList"/>
    <dgm:cxn modelId="{CBCE41A8-B1D8-46EF-BDC5-1EF8A592344D}" type="presParOf" srcId="{01C804D1-C5F3-4088-9352-E70F82E9B860}" destId="{9DA26884-5E8D-441B-A02D-6B96512A83FA}" srcOrd="2" destOrd="0" presId="urn:microsoft.com/office/officeart/2008/layout/VerticalCurvedList"/>
    <dgm:cxn modelId="{D38AA60B-3ECF-4A1D-BDF0-E0B8B2E6F313}" type="presParOf" srcId="{9DA26884-5E8D-441B-A02D-6B96512A83FA}" destId="{CD24B2C2-FDE3-4916-9992-E6C6EFCB2DF9}" srcOrd="0" destOrd="0" presId="urn:microsoft.com/office/officeart/2008/layout/VerticalCurvedList"/>
    <dgm:cxn modelId="{530B6643-FC1A-4594-8499-451CDBF123D1}" type="presParOf" srcId="{01C804D1-C5F3-4088-9352-E70F82E9B860}" destId="{57433A48-DB0D-4053-8FF4-E806C364264B}" srcOrd="3" destOrd="0" presId="urn:microsoft.com/office/officeart/2008/layout/VerticalCurvedList"/>
    <dgm:cxn modelId="{9C3C205E-9B39-4C52-92E9-290BA157D9DD}" type="presParOf" srcId="{01C804D1-C5F3-4088-9352-E70F82E9B860}" destId="{6CE4A98E-70DF-4718-A3EF-1988A3D1063C}" srcOrd="4" destOrd="0" presId="urn:microsoft.com/office/officeart/2008/layout/VerticalCurvedList"/>
    <dgm:cxn modelId="{FC14C568-58C7-4875-8360-FF5463482DE2}" type="presParOf" srcId="{6CE4A98E-70DF-4718-A3EF-1988A3D1063C}" destId="{CAB39692-05A3-437E-B56A-2664BAB0A84A}" srcOrd="0" destOrd="0" presId="urn:microsoft.com/office/officeart/2008/layout/VerticalCurvedList"/>
    <dgm:cxn modelId="{316BEB35-4AF7-42D8-AB38-88C17057E51D}" type="presParOf" srcId="{01C804D1-C5F3-4088-9352-E70F82E9B860}" destId="{6E243EA5-70AA-42CE-955C-F818CA2FB8A1}" srcOrd="5" destOrd="0" presId="urn:microsoft.com/office/officeart/2008/layout/VerticalCurvedList"/>
    <dgm:cxn modelId="{63DC9CEF-2C8C-4A87-9132-94BAE68A8F4E}" type="presParOf" srcId="{01C804D1-C5F3-4088-9352-E70F82E9B860}" destId="{17D9F69E-1629-4787-990B-AF73EF7ED5CB}" srcOrd="6" destOrd="0" presId="urn:microsoft.com/office/officeart/2008/layout/VerticalCurvedList"/>
    <dgm:cxn modelId="{E9198D58-534B-443D-8502-04840F6CE593}" type="presParOf" srcId="{17D9F69E-1629-4787-990B-AF73EF7ED5CB}" destId="{9368F4C6-F79A-4F93-BDE6-BAB8BA450F67}" srcOrd="0" destOrd="0" presId="urn:microsoft.com/office/officeart/2008/layout/VerticalCurvedList"/>
    <dgm:cxn modelId="{1CC58311-0F7D-40D2-A20E-7AA5F390AEDA}" type="presParOf" srcId="{01C804D1-C5F3-4088-9352-E70F82E9B860}" destId="{A3DF9A04-A141-4DAD-9B2B-F277E8D21617}" srcOrd="7" destOrd="0" presId="urn:microsoft.com/office/officeart/2008/layout/VerticalCurvedList"/>
    <dgm:cxn modelId="{0FA742AD-33BC-4B51-AC1B-2B653E5323DB}" type="presParOf" srcId="{01C804D1-C5F3-4088-9352-E70F82E9B860}" destId="{2B5FC6FE-9CF5-487F-988A-FED1EBA70BA1}" srcOrd="8" destOrd="0" presId="urn:microsoft.com/office/officeart/2008/layout/VerticalCurvedList"/>
    <dgm:cxn modelId="{FA6E8595-9673-4D2F-8E3D-797F28CF4080}" type="presParOf" srcId="{2B5FC6FE-9CF5-487F-988A-FED1EBA70BA1}" destId="{F0B16FF2-F618-40F0-AC2E-0A036E73272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BEAE83B-776D-4865-A98B-B2ACC9474620}" type="doc">
      <dgm:prSet loTypeId="urn:microsoft.com/office/officeart/2005/8/layout/process2" loCatId="process" qsTypeId="urn:microsoft.com/office/officeart/2005/8/quickstyle/simple1" qsCatId="simple" csTypeId="urn:microsoft.com/office/officeart/2005/8/colors/accent1_2" csCatId="accent1" phldr="1"/>
      <dgm:spPr/>
    </dgm:pt>
    <dgm:pt modelId="{C360923F-873D-4FBA-AB0E-2922DAE925DE}">
      <dgm:prSet phldrT="[Text]" custT="1"/>
      <dgm:spPr/>
      <dgm:t>
        <a:bodyPr/>
        <a:lstStyle/>
        <a:p>
          <a:r>
            <a:rPr lang="en-US" sz="1400" dirty="0"/>
            <a:t>More than 25+ Integration Channels</a:t>
          </a:r>
        </a:p>
      </dgm:t>
    </dgm:pt>
    <dgm:pt modelId="{483AB152-604C-4C1F-A474-41B289AE8C30}" type="parTrans" cxnId="{E2970C6D-8E8C-41E6-93A2-F4FB60C58DA5}">
      <dgm:prSet/>
      <dgm:spPr/>
      <dgm:t>
        <a:bodyPr/>
        <a:lstStyle/>
        <a:p>
          <a:endParaRPr lang="en-US" sz="1400"/>
        </a:p>
      </dgm:t>
    </dgm:pt>
    <dgm:pt modelId="{0EA86FCB-5A20-4B32-B814-83F73C5C7257}" type="sibTrans" cxnId="{E2970C6D-8E8C-41E6-93A2-F4FB60C58DA5}">
      <dgm:prSet custT="1"/>
      <dgm:spPr/>
      <dgm:t>
        <a:bodyPr/>
        <a:lstStyle/>
        <a:p>
          <a:endParaRPr lang="en-US" sz="1400"/>
        </a:p>
      </dgm:t>
    </dgm:pt>
    <dgm:pt modelId="{C3E8F5AA-C558-4890-B367-1518AAE0D42D}">
      <dgm:prSet phldrT="[Text]" custT="1"/>
      <dgm:spPr/>
      <dgm:t>
        <a:bodyPr/>
        <a:lstStyle/>
        <a:p>
          <a:r>
            <a:rPr lang="en-US" sz="1400" dirty="0"/>
            <a:t>50 % Reduction in Integration Time</a:t>
          </a:r>
        </a:p>
      </dgm:t>
    </dgm:pt>
    <dgm:pt modelId="{CF30EEBA-9EE6-4287-9850-3562518CC9B5}" type="parTrans" cxnId="{81D42E4F-EB69-4099-9FF7-832C5EB52F33}">
      <dgm:prSet/>
      <dgm:spPr/>
      <dgm:t>
        <a:bodyPr/>
        <a:lstStyle/>
        <a:p>
          <a:endParaRPr lang="en-US" sz="1400"/>
        </a:p>
      </dgm:t>
    </dgm:pt>
    <dgm:pt modelId="{22500658-7DBC-44DF-97C3-97F582927998}" type="sibTrans" cxnId="{81D42E4F-EB69-4099-9FF7-832C5EB52F33}">
      <dgm:prSet custT="1"/>
      <dgm:spPr/>
      <dgm:t>
        <a:bodyPr/>
        <a:lstStyle/>
        <a:p>
          <a:endParaRPr lang="en-US" sz="1400"/>
        </a:p>
      </dgm:t>
    </dgm:pt>
    <dgm:pt modelId="{EACAAB5F-E835-40C4-9376-0FC53961F864}">
      <dgm:prSet phldrT="[Text]" custT="1"/>
      <dgm:spPr/>
      <dgm:t>
        <a:bodyPr/>
        <a:lstStyle/>
        <a:p>
          <a:r>
            <a:rPr lang="en-US" sz="1400" dirty="0"/>
            <a:t>&gt; 50% Cost Saving with Caching</a:t>
          </a:r>
        </a:p>
      </dgm:t>
    </dgm:pt>
    <dgm:pt modelId="{A347E49F-6DA1-4FBA-A697-C45CEE38B64C}" type="parTrans" cxnId="{C0EFAD03-AB30-42D5-846A-B2DD05345690}">
      <dgm:prSet/>
      <dgm:spPr/>
      <dgm:t>
        <a:bodyPr/>
        <a:lstStyle/>
        <a:p>
          <a:endParaRPr lang="en-US" sz="1400"/>
        </a:p>
      </dgm:t>
    </dgm:pt>
    <dgm:pt modelId="{CDD71514-F89D-41C5-B050-EA5D397244C5}" type="sibTrans" cxnId="{C0EFAD03-AB30-42D5-846A-B2DD05345690}">
      <dgm:prSet/>
      <dgm:spPr/>
      <dgm:t>
        <a:bodyPr/>
        <a:lstStyle/>
        <a:p>
          <a:endParaRPr lang="en-US" sz="1400"/>
        </a:p>
      </dgm:t>
    </dgm:pt>
    <dgm:pt modelId="{4CDB7B80-AD1B-44BE-922B-A26D5D85A891}">
      <dgm:prSet custT="1"/>
      <dgm:spPr/>
      <dgm:t>
        <a:bodyPr/>
        <a:lstStyle/>
        <a:p>
          <a:r>
            <a:rPr lang="en-US" sz="1400" dirty="0"/>
            <a:t>Automated Dealer Onboarding for Ecom Platform Resulted in 170 dealers onboarding in just 1 month</a:t>
          </a:r>
        </a:p>
      </dgm:t>
    </dgm:pt>
    <dgm:pt modelId="{0E34311F-7153-422C-95DC-58AC640726B5}" type="parTrans" cxnId="{B41D80A5-DB20-4FE2-AD4F-626CAD47F9C3}">
      <dgm:prSet/>
      <dgm:spPr/>
      <dgm:t>
        <a:bodyPr/>
        <a:lstStyle/>
        <a:p>
          <a:endParaRPr lang="en-US"/>
        </a:p>
      </dgm:t>
    </dgm:pt>
    <dgm:pt modelId="{C75FEB86-B851-46F9-BB1F-CE281D77E88E}" type="sibTrans" cxnId="{B41D80A5-DB20-4FE2-AD4F-626CAD47F9C3}">
      <dgm:prSet/>
      <dgm:spPr/>
      <dgm:t>
        <a:bodyPr/>
        <a:lstStyle/>
        <a:p>
          <a:endParaRPr lang="en-US"/>
        </a:p>
      </dgm:t>
    </dgm:pt>
    <dgm:pt modelId="{75CD13E4-2A90-4C72-AFEB-EB48FA0A2C9B}">
      <dgm:prSet custT="1"/>
      <dgm:spPr/>
      <dgm:t>
        <a:bodyPr/>
        <a:lstStyle/>
        <a:p>
          <a:r>
            <a:rPr lang="en-US" sz="1400" dirty="0"/>
            <a:t>35% improvement in operational efficiency</a:t>
          </a:r>
        </a:p>
      </dgm:t>
    </dgm:pt>
    <dgm:pt modelId="{94372846-7BD4-45E5-BFA6-F52A4E436787}" type="parTrans" cxnId="{7273BE93-895C-464C-B449-80FEDB358526}">
      <dgm:prSet/>
      <dgm:spPr/>
      <dgm:t>
        <a:bodyPr/>
        <a:lstStyle/>
        <a:p>
          <a:endParaRPr lang="en-US"/>
        </a:p>
      </dgm:t>
    </dgm:pt>
    <dgm:pt modelId="{9E8C2F88-D805-4AB9-9938-699FD3D07CA0}" type="sibTrans" cxnId="{7273BE93-895C-464C-B449-80FEDB358526}">
      <dgm:prSet/>
      <dgm:spPr/>
      <dgm:t>
        <a:bodyPr/>
        <a:lstStyle/>
        <a:p>
          <a:endParaRPr lang="en-US"/>
        </a:p>
      </dgm:t>
    </dgm:pt>
    <dgm:pt modelId="{97250312-70EB-4CFC-A7E8-D07B07A090CE}" type="pres">
      <dgm:prSet presAssocID="{0BEAE83B-776D-4865-A98B-B2ACC9474620}" presName="linearFlow" presStyleCnt="0">
        <dgm:presLayoutVars>
          <dgm:resizeHandles val="exact"/>
        </dgm:presLayoutVars>
      </dgm:prSet>
      <dgm:spPr/>
    </dgm:pt>
    <dgm:pt modelId="{9D2F7D5F-A314-4EF9-8A65-B102D1B5D3C1}" type="pres">
      <dgm:prSet presAssocID="{C360923F-873D-4FBA-AB0E-2922DAE925DE}" presName="node" presStyleLbl="node1" presStyleIdx="0" presStyleCnt="5" custScaleX="149598">
        <dgm:presLayoutVars>
          <dgm:bulletEnabled val="1"/>
        </dgm:presLayoutVars>
      </dgm:prSet>
      <dgm:spPr/>
    </dgm:pt>
    <dgm:pt modelId="{BAB1C10C-440C-4179-B65F-9665465CC64A}" type="pres">
      <dgm:prSet presAssocID="{0EA86FCB-5A20-4B32-B814-83F73C5C7257}" presName="sibTrans" presStyleLbl="sibTrans2D1" presStyleIdx="0" presStyleCnt="4"/>
      <dgm:spPr/>
    </dgm:pt>
    <dgm:pt modelId="{294CB1E2-74C5-4D2F-B096-905B87F03B11}" type="pres">
      <dgm:prSet presAssocID="{0EA86FCB-5A20-4B32-B814-83F73C5C7257}" presName="connectorText" presStyleLbl="sibTrans2D1" presStyleIdx="0" presStyleCnt="4"/>
      <dgm:spPr/>
    </dgm:pt>
    <dgm:pt modelId="{921B2FD3-52CE-49A7-B361-AF6710F22E33}" type="pres">
      <dgm:prSet presAssocID="{C3E8F5AA-C558-4890-B367-1518AAE0D42D}" presName="node" presStyleLbl="node1" presStyleIdx="1" presStyleCnt="5" custScaleX="151312">
        <dgm:presLayoutVars>
          <dgm:bulletEnabled val="1"/>
        </dgm:presLayoutVars>
      </dgm:prSet>
      <dgm:spPr/>
    </dgm:pt>
    <dgm:pt modelId="{63A970FA-8B7F-462D-82FD-01DECAA6A8A3}" type="pres">
      <dgm:prSet presAssocID="{22500658-7DBC-44DF-97C3-97F582927998}" presName="sibTrans" presStyleLbl="sibTrans2D1" presStyleIdx="1" presStyleCnt="4"/>
      <dgm:spPr/>
    </dgm:pt>
    <dgm:pt modelId="{46DA7C55-B40C-44E8-BAF2-E6B19CC846AE}" type="pres">
      <dgm:prSet presAssocID="{22500658-7DBC-44DF-97C3-97F582927998}" presName="connectorText" presStyleLbl="sibTrans2D1" presStyleIdx="1" presStyleCnt="4"/>
      <dgm:spPr/>
    </dgm:pt>
    <dgm:pt modelId="{2EC05D68-1344-44E2-BF9C-6867691DDEC8}" type="pres">
      <dgm:prSet presAssocID="{75CD13E4-2A90-4C72-AFEB-EB48FA0A2C9B}" presName="node" presStyleLbl="node1" presStyleIdx="2" presStyleCnt="5" custScaleX="149024">
        <dgm:presLayoutVars>
          <dgm:bulletEnabled val="1"/>
        </dgm:presLayoutVars>
      </dgm:prSet>
      <dgm:spPr/>
    </dgm:pt>
    <dgm:pt modelId="{F96656C0-C1F7-4094-922B-8939B14F16E9}" type="pres">
      <dgm:prSet presAssocID="{9E8C2F88-D805-4AB9-9938-699FD3D07CA0}" presName="sibTrans" presStyleLbl="sibTrans2D1" presStyleIdx="2" presStyleCnt="4"/>
      <dgm:spPr/>
    </dgm:pt>
    <dgm:pt modelId="{25ACD158-D512-4B5C-9A9F-F4FC424600CF}" type="pres">
      <dgm:prSet presAssocID="{9E8C2F88-D805-4AB9-9938-699FD3D07CA0}" presName="connectorText" presStyleLbl="sibTrans2D1" presStyleIdx="2" presStyleCnt="4"/>
      <dgm:spPr/>
    </dgm:pt>
    <dgm:pt modelId="{6AFB96F0-BCF2-47E4-B016-B8F68DDCB84A}" type="pres">
      <dgm:prSet presAssocID="{EACAAB5F-E835-40C4-9376-0FC53961F864}" presName="node" presStyleLbl="node1" presStyleIdx="3" presStyleCnt="5" custScaleX="149930">
        <dgm:presLayoutVars>
          <dgm:bulletEnabled val="1"/>
        </dgm:presLayoutVars>
      </dgm:prSet>
      <dgm:spPr/>
    </dgm:pt>
    <dgm:pt modelId="{FB4F655D-C0C5-4B49-BB65-044DDABC3FB3}" type="pres">
      <dgm:prSet presAssocID="{CDD71514-F89D-41C5-B050-EA5D397244C5}" presName="sibTrans" presStyleLbl="sibTrans2D1" presStyleIdx="3" presStyleCnt="4"/>
      <dgm:spPr/>
    </dgm:pt>
    <dgm:pt modelId="{65E57391-A8ED-47E2-9F97-C1ACB9A9CDAA}" type="pres">
      <dgm:prSet presAssocID="{CDD71514-F89D-41C5-B050-EA5D397244C5}" presName="connectorText" presStyleLbl="sibTrans2D1" presStyleIdx="3" presStyleCnt="4"/>
      <dgm:spPr/>
    </dgm:pt>
    <dgm:pt modelId="{965E844E-F612-4454-9AD9-5D9EDFA4E089}" type="pres">
      <dgm:prSet presAssocID="{4CDB7B80-AD1B-44BE-922B-A26D5D85A891}" presName="node" presStyleLbl="node1" presStyleIdx="4" presStyleCnt="5" custScaleX="153007">
        <dgm:presLayoutVars>
          <dgm:bulletEnabled val="1"/>
        </dgm:presLayoutVars>
      </dgm:prSet>
      <dgm:spPr/>
    </dgm:pt>
  </dgm:ptLst>
  <dgm:cxnLst>
    <dgm:cxn modelId="{C0EFAD03-AB30-42D5-846A-B2DD05345690}" srcId="{0BEAE83B-776D-4865-A98B-B2ACC9474620}" destId="{EACAAB5F-E835-40C4-9376-0FC53961F864}" srcOrd="3" destOrd="0" parTransId="{A347E49F-6DA1-4FBA-A697-C45CEE38B64C}" sibTransId="{CDD71514-F89D-41C5-B050-EA5D397244C5}"/>
    <dgm:cxn modelId="{357CB91F-0C6F-404E-8E11-B680202021A9}" type="presOf" srcId="{22500658-7DBC-44DF-97C3-97F582927998}" destId="{63A970FA-8B7F-462D-82FD-01DECAA6A8A3}" srcOrd="0" destOrd="0" presId="urn:microsoft.com/office/officeart/2005/8/layout/process2"/>
    <dgm:cxn modelId="{073EAC24-FA84-4447-9D91-AC892D302536}" type="presOf" srcId="{CDD71514-F89D-41C5-B050-EA5D397244C5}" destId="{65E57391-A8ED-47E2-9F97-C1ACB9A9CDAA}" srcOrd="1" destOrd="0" presId="urn:microsoft.com/office/officeart/2005/8/layout/process2"/>
    <dgm:cxn modelId="{AAA11435-A935-4A34-854D-C9E5A4544502}" type="presOf" srcId="{C3E8F5AA-C558-4890-B367-1518AAE0D42D}" destId="{921B2FD3-52CE-49A7-B361-AF6710F22E33}" srcOrd="0" destOrd="0" presId="urn:microsoft.com/office/officeart/2005/8/layout/process2"/>
    <dgm:cxn modelId="{D5C1BA3B-743B-44B0-8F07-099CBEFE811F}" type="presOf" srcId="{75CD13E4-2A90-4C72-AFEB-EB48FA0A2C9B}" destId="{2EC05D68-1344-44E2-BF9C-6867691DDEC8}" srcOrd="0" destOrd="0" presId="urn:microsoft.com/office/officeart/2005/8/layout/process2"/>
    <dgm:cxn modelId="{2E17ED62-3EF6-4711-AC60-774806F879A5}" type="presOf" srcId="{22500658-7DBC-44DF-97C3-97F582927998}" destId="{46DA7C55-B40C-44E8-BAF2-E6B19CC846AE}" srcOrd="1" destOrd="0" presId="urn:microsoft.com/office/officeart/2005/8/layout/process2"/>
    <dgm:cxn modelId="{FF521145-72ED-4946-960F-2761D2BA84B3}" type="presOf" srcId="{C360923F-873D-4FBA-AB0E-2922DAE925DE}" destId="{9D2F7D5F-A314-4EF9-8A65-B102D1B5D3C1}" srcOrd="0" destOrd="0" presId="urn:microsoft.com/office/officeart/2005/8/layout/process2"/>
    <dgm:cxn modelId="{E2970C6D-8E8C-41E6-93A2-F4FB60C58DA5}" srcId="{0BEAE83B-776D-4865-A98B-B2ACC9474620}" destId="{C360923F-873D-4FBA-AB0E-2922DAE925DE}" srcOrd="0" destOrd="0" parTransId="{483AB152-604C-4C1F-A474-41B289AE8C30}" sibTransId="{0EA86FCB-5A20-4B32-B814-83F73C5C7257}"/>
    <dgm:cxn modelId="{81D42E4F-EB69-4099-9FF7-832C5EB52F33}" srcId="{0BEAE83B-776D-4865-A98B-B2ACC9474620}" destId="{C3E8F5AA-C558-4890-B367-1518AAE0D42D}" srcOrd="1" destOrd="0" parTransId="{CF30EEBA-9EE6-4287-9850-3562518CC9B5}" sibTransId="{22500658-7DBC-44DF-97C3-97F582927998}"/>
    <dgm:cxn modelId="{759D177B-967B-4968-B185-8DC24CCBFAAF}" type="presOf" srcId="{0EA86FCB-5A20-4B32-B814-83F73C5C7257}" destId="{BAB1C10C-440C-4179-B65F-9665465CC64A}" srcOrd="0" destOrd="0" presId="urn:microsoft.com/office/officeart/2005/8/layout/process2"/>
    <dgm:cxn modelId="{7273BE93-895C-464C-B449-80FEDB358526}" srcId="{0BEAE83B-776D-4865-A98B-B2ACC9474620}" destId="{75CD13E4-2A90-4C72-AFEB-EB48FA0A2C9B}" srcOrd="2" destOrd="0" parTransId="{94372846-7BD4-45E5-BFA6-F52A4E436787}" sibTransId="{9E8C2F88-D805-4AB9-9938-699FD3D07CA0}"/>
    <dgm:cxn modelId="{FEA882A4-45F5-4106-8324-7A032203E4B4}" type="presOf" srcId="{9E8C2F88-D805-4AB9-9938-699FD3D07CA0}" destId="{25ACD158-D512-4B5C-9A9F-F4FC424600CF}" srcOrd="1" destOrd="0" presId="urn:microsoft.com/office/officeart/2005/8/layout/process2"/>
    <dgm:cxn modelId="{B41D80A5-DB20-4FE2-AD4F-626CAD47F9C3}" srcId="{0BEAE83B-776D-4865-A98B-B2ACC9474620}" destId="{4CDB7B80-AD1B-44BE-922B-A26D5D85A891}" srcOrd="4" destOrd="0" parTransId="{0E34311F-7153-422C-95DC-58AC640726B5}" sibTransId="{C75FEB86-B851-46F9-BB1F-CE281D77E88E}"/>
    <dgm:cxn modelId="{4CCF0CCA-4AE9-4BE6-B68A-94A2EF1D4A9F}" type="presOf" srcId="{CDD71514-F89D-41C5-B050-EA5D397244C5}" destId="{FB4F655D-C0C5-4B49-BB65-044DDABC3FB3}" srcOrd="0" destOrd="0" presId="urn:microsoft.com/office/officeart/2005/8/layout/process2"/>
    <dgm:cxn modelId="{B9EE28D1-2CD8-45A9-BA7B-80F32D69F3B4}" type="presOf" srcId="{0BEAE83B-776D-4865-A98B-B2ACC9474620}" destId="{97250312-70EB-4CFC-A7E8-D07B07A090CE}" srcOrd="0" destOrd="0" presId="urn:microsoft.com/office/officeart/2005/8/layout/process2"/>
    <dgm:cxn modelId="{35A437D5-0B15-4974-9C0B-0E3D2FD70680}" type="presOf" srcId="{9E8C2F88-D805-4AB9-9938-699FD3D07CA0}" destId="{F96656C0-C1F7-4094-922B-8939B14F16E9}" srcOrd="0" destOrd="0" presId="urn:microsoft.com/office/officeart/2005/8/layout/process2"/>
    <dgm:cxn modelId="{6CEDD4E2-A19E-4729-97A0-8F15F4378141}" type="presOf" srcId="{EACAAB5F-E835-40C4-9376-0FC53961F864}" destId="{6AFB96F0-BCF2-47E4-B016-B8F68DDCB84A}" srcOrd="0" destOrd="0" presId="urn:microsoft.com/office/officeart/2005/8/layout/process2"/>
    <dgm:cxn modelId="{1BDA6AE5-BB76-4945-9EBF-7A6F749B38FE}" type="presOf" srcId="{4CDB7B80-AD1B-44BE-922B-A26D5D85A891}" destId="{965E844E-F612-4454-9AD9-5D9EDFA4E089}" srcOrd="0" destOrd="0" presId="urn:microsoft.com/office/officeart/2005/8/layout/process2"/>
    <dgm:cxn modelId="{E29AD7FB-ECAB-41B5-A1AC-E631F44036FD}" type="presOf" srcId="{0EA86FCB-5A20-4B32-B814-83F73C5C7257}" destId="{294CB1E2-74C5-4D2F-B096-905B87F03B11}" srcOrd="1" destOrd="0" presId="urn:microsoft.com/office/officeart/2005/8/layout/process2"/>
    <dgm:cxn modelId="{61D9D2A6-716C-40BA-9D0C-19974C9C5B27}" type="presParOf" srcId="{97250312-70EB-4CFC-A7E8-D07B07A090CE}" destId="{9D2F7D5F-A314-4EF9-8A65-B102D1B5D3C1}" srcOrd="0" destOrd="0" presId="urn:microsoft.com/office/officeart/2005/8/layout/process2"/>
    <dgm:cxn modelId="{2EB22959-4D8E-4174-9E05-76BBF3821736}" type="presParOf" srcId="{97250312-70EB-4CFC-A7E8-D07B07A090CE}" destId="{BAB1C10C-440C-4179-B65F-9665465CC64A}" srcOrd="1" destOrd="0" presId="urn:microsoft.com/office/officeart/2005/8/layout/process2"/>
    <dgm:cxn modelId="{72FBE2F2-24FC-492E-85CE-7F710E9AB42A}" type="presParOf" srcId="{BAB1C10C-440C-4179-B65F-9665465CC64A}" destId="{294CB1E2-74C5-4D2F-B096-905B87F03B11}" srcOrd="0" destOrd="0" presId="urn:microsoft.com/office/officeart/2005/8/layout/process2"/>
    <dgm:cxn modelId="{C18A3032-2851-4B30-8F20-9E86939E0350}" type="presParOf" srcId="{97250312-70EB-4CFC-A7E8-D07B07A090CE}" destId="{921B2FD3-52CE-49A7-B361-AF6710F22E33}" srcOrd="2" destOrd="0" presId="urn:microsoft.com/office/officeart/2005/8/layout/process2"/>
    <dgm:cxn modelId="{FE375B4B-119A-4596-A761-E235A240A594}" type="presParOf" srcId="{97250312-70EB-4CFC-A7E8-D07B07A090CE}" destId="{63A970FA-8B7F-462D-82FD-01DECAA6A8A3}" srcOrd="3" destOrd="0" presId="urn:microsoft.com/office/officeart/2005/8/layout/process2"/>
    <dgm:cxn modelId="{FC8A88FA-CE23-4C8E-AD1E-24D48E4D207B}" type="presParOf" srcId="{63A970FA-8B7F-462D-82FD-01DECAA6A8A3}" destId="{46DA7C55-B40C-44E8-BAF2-E6B19CC846AE}" srcOrd="0" destOrd="0" presId="urn:microsoft.com/office/officeart/2005/8/layout/process2"/>
    <dgm:cxn modelId="{DFCDDA88-7490-42D6-83D7-0C42AB185488}" type="presParOf" srcId="{97250312-70EB-4CFC-A7E8-D07B07A090CE}" destId="{2EC05D68-1344-44E2-BF9C-6867691DDEC8}" srcOrd="4" destOrd="0" presId="urn:microsoft.com/office/officeart/2005/8/layout/process2"/>
    <dgm:cxn modelId="{0A586375-D17E-4711-A4EB-51800E9EFEAF}" type="presParOf" srcId="{97250312-70EB-4CFC-A7E8-D07B07A090CE}" destId="{F96656C0-C1F7-4094-922B-8939B14F16E9}" srcOrd="5" destOrd="0" presId="urn:microsoft.com/office/officeart/2005/8/layout/process2"/>
    <dgm:cxn modelId="{D96770CB-B655-4E30-BF29-8E8B1419CE71}" type="presParOf" srcId="{F96656C0-C1F7-4094-922B-8939B14F16E9}" destId="{25ACD158-D512-4B5C-9A9F-F4FC424600CF}" srcOrd="0" destOrd="0" presId="urn:microsoft.com/office/officeart/2005/8/layout/process2"/>
    <dgm:cxn modelId="{71C6792A-4F27-4072-BC90-E25B3350F416}" type="presParOf" srcId="{97250312-70EB-4CFC-A7E8-D07B07A090CE}" destId="{6AFB96F0-BCF2-47E4-B016-B8F68DDCB84A}" srcOrd="6" destOrd="0" presId="urn:microsoft.com/office/officeart/2005/8/layout/process2"/>
    <dgm:cxn modelId="{A0E3CCF2-D8E3-4222-8D85-F9CA3647F778}" type="presParOf" srcId="{97250312-70EB-4CFC-A7E8-D07B07A090CE}" destId="{FB4F655D-C0C5-4B49-BB65-044DDABC3FB3}" srcOrd="7" destOrd="0" presId="urn:microsoft.com/office/officeart/2005/8/layout/process2"/>
    <dgm:cxn modelId="{14CF9726-39AD-402B-9F8E-78A2DC7B9A89}" type="presParOf" srcId="{FB4F655D-C0C5-4B49-BB65-044DDABC3FB3}" destId="{65E57391-A8ED-47E2-9F97-C1ACB9A9CDAA}" srcOrd="0" destOrd="0" presId="urn:microsoft.com/office/officeart/2005/8/layout/process2"/>
    <dgm:cxn modelId="{5D3CB2A4-E013-444E-98CF-8BBBCE055713}" type="presParOf" srcId="{97250312-70EB-4CFC-A7E8-D07B07A090CE}" destId="{965E844E-F612-4454-9AD9-5D9EDFA4E089}" srcOrd="8"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01614F5-6CAF-4C3F-BDBD-AF1F75AC246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US"/>
        </a:p>
      </dgm:t>
    </dgm:pt>
    <dgm:pt modelId="{7BFE28E5-D430-4BAA-81FD-181F1321A650}">
      <dgm:prSet phldrT="[Text]" custT="1"/>
      <dgm:spPr/>
      <dgm:t>
        <a:bodyPr/>
        <a:lstStyle/>
        <a:p>
          <a:r>
            <a:rPr lang="en-US" sz="1300" dirty="0"/>
            <a:t>Growth Over Past 2 Years</a:t>
          </a:r>
        </a:p>
      </dgm:t>
    </dgm:pt>
    <dgm:pt modelId="{6E524446-FBB3-41AB-815E-E29826E685E8}" type="parTrans" cxnId="{34E32825-13C2-40FD-9449-C601BA082C8E}">
      <dgm:prSet/>
      <dgm:spPr/>
      <dgm:t>
        <a:bodyPr/>
        <a:lstStyle/>
        <a:p>
          <a:endParaRPr lang="en-US"/>
        </a:p>
      </dgm:t>
    </dgm:pt>
    <dgm:pt modelId="{19E3C82A-42B9-4DC1-B611-FF4574468145}" type="sibTrans" cxnId="{34E32825-13C2-40FD-9449-C601BA082C8E}">
      <dgm:prSet/>
      <dgm:spPr/>
      <dgm:t>
        <a:bodyPr/>
        <a:lstStyle/>
        <a:p>
          <a:endParaRPr lang="en-US"/>
        </a:p>
      </dgm:t>
    </dgm:pt>
    <dgm:pt modelId="{D7038313-1EDE-41CD-A8A1-7DDE0399F4F6}">
      <dgm:prSet phldrT="[Text]" custT="1"/>
      <dgm:spPr/>
      <dgm:t>
        <a:bodyPr/>
        <a:lstStyle/>
        <a:p>
          <a:pPr>
            <a:buFont typeface="Arial" panose="020B0604020202020204" pitchFamily="34" charset="0"/>
            <a:buChar char="•"/>
          </a:pPr>
          <a:r>
            <a:rPr lang="en-US" sz="1050" b="1" dirty="0"/>
            <a:t> 2X API development</a:t>
          </a:r>
          <a:endParaRPr lang="en-US" sz="1050" dirty="0"/>
        </a:p>
      </dgm:t>
    </dgm:pt>
    <dgm:pt modelId="{F0644ADB-7D13-4296-95EA-8BBDEEF8ED0C}" type="parTrans" cxnId="{79E97668-D639-44BD-B7C2-6C95BE140FBF}">
      <dgm:prSet/>
      <dgm:spPr/>
      <dgm:t>
        <a:bodyPr/>
        <a:lstStyle/>
        <a:p>
          <a:endParaRPr lang="en-US"/>
        </a:p>
      </dgm:t>
    </dgm:pt>
    <dgm:pt modelId="{DD767645-5B26-4CA7-B4F8-E1C02581D554}" type="sibTrans" cxnId="{79E97668-D639-44BD-B7C2-6C95BE140FBF}">
      <dgm:prSet/>
      <dgm:spPr/>
      <dgm:t>
        <a:bodyPr/>
        <a:lstStyle/>
        <a:p>
          <a:endParaRPr lang="en-US"/>
        </a:p>
      </dgm:t>
    </dgm:pt>
    <dgm:pt modelId="{EA1FEBE6-A404-4A43-AC91-96230E94A9CB}">
      <dgm:prSet phldrT="[Text]" custT="1"/>
      <dgm:spPr/>
      <dgm:t>
        <a:bodyPr/>
        <a:lstStyle/>
        <a:p>
          <a:pPr>
            <a:buFont typeface="Arial" panose="020B0604020202020204" pitchFamily="34" charset="0"/>
            <a:buChar char="•"/>
          </a:pPr>
          <a:r>
            <a:rPr lang="en-US" sz="1050" b="1" dirty="0"/>
            <a:t> Surge in Platform Traffic</a:t>
          </a:r>
          <a:endParaRPr lang="en-US" sz="1050" dirty="0"/>
        </a:p>
      </dgm:t>
    </dgm:pt>
    <dgm:pt modelId="{38D7C6D0-82C2-4D4E-8304-D781287754C1}" type="parTrans" cxnId="{3D01A558-B2C0-4EBD-AE9D-311E0BD75701}">
      <dgm:prSet/>
      <dgm:spPr/>
      <dgm:t>
        <a:bodyPr/>
        <a:lstStyle/>
        <a:p>
          <a:endParaRPr lang="en-US"/>
        </a:p>
      </dgm:t>
    </dgm:pt>
    <dgm:pt modelId="{DA5ED5AD-204E-4508-B572-82985DEE5780}" type="sibTrans" cxnId="{3D01A558-B2C0-4EBD-AE9D-311E0BD75701}">
      <dgm:prSet/>
      <dgm:spPr/>
      <dgm:t>
        <a:bodyPr/>
        <a:lstStyle/>
        <a:p>
          <a:endParaRPr lang="en-US"/>
        </a:p>
      </dgm:t>
    </dgm:pt>
    <dgm:pt modelId="{ED11B50D-C6D1-430F-B270-56A7BFBAB53D}">
      <dgm:prSet phldrT="[Text]" custT="1"/>
      <dgm:spPr/>
      <dgm:t>
        <a:bodyPr/>
        <a:lstStyle/>
        <a:p>
          <a:r>
            <a:rPr lang="en-US" sz="1300" dirty="0"/>
            <a:t>Smart Optimization via Monitoring</a:t>
          </a:r>
        </a:p>
      </dgm:t>
    </dgm:pt>
    <dgm:pt modelId="{C7C10724-A3A1-4F5F-9C2B-8F433F0DEF61}" type="parTrans" cxnId="{B7B20418-6564-44E6-A539-78F82217071A}">
      <dgm:prSet/>
      <dgm:spPr/>
      <dgm:t>
        <a:bodyPr/>
        <a:lstStyle/>
        <a:p>
          <a:endParaRPr lang="en-US"/>
        </a:p>
      </dgm:t>
    </dgm:pt>
    <dgm:pt modelId="{77602CC4-B7F0-4A1B-8730-004E696B7684}" type="sibTrans" cxnId="{B7B20418-6564-44E6-A539-78F82217071A}">
      <dgm:prSet/>
      <dgm:spPr/>
      <dgm:t>
        <a:bodyPr/>
        <a:lstStyle/>
        <a:p>
          <a:endParaRPr lang="en-US"/>
        </a:p>
      </dgm:t>
    </dgm:pt>
    <dgm:pt modelId="{CCA7B0CF-3045-4AA2-A72A-333C1FC9C150}">
      <dgm:prSet phldrT="[Text]" custT="1"/>
      <dgm:spPr/>
      <dgm:t>
        <a:bodyPr/>
        <a:lstStyle/>
        <a:p>
          <a:pPr>
            <a:buFont typeface="Arial" panose="020B0604020202020204" pitchFamily="34" charset="0"/>
            <a:buChar char="•"/>
          </a:pPr>
          <a:r>
            <a:rPr lang="en-US" sz="1050" b="1" dirty="0"/>
            <a:t> Real-time performance insights</a:t>
          </a:r>
          <a:endParaRPr lang="en-US" sz="1050" dirty="0"/>
        </a:p>
      </dgm:t>
    </dgm:pt>
    <dgm:pt modelId="{BE0356BB-003E-4322-89D7-E6E44201BE74}" type="parTrans" cxnId="{2A779249-85B6-4380-97D4-D1BEB97FEAAC}">
      <dgm:prSet/>
      <dgm:spPr/>
      <dgm:t>
        <a:bodyPr/>
        <a:lstStyle/>
        <a:p>
          <a:endParaRPr lang="en-US"/>
        </a:p>
      </dgm:t>
    </dgm:pt>
    <dgm:pt modelId="{7728499F-B382-4578-B5D5-E8891F0AD21A}" type="sibTrans" cxnId="{2A779249-85B6-4380-97D4-D1BEB97FEAAC}">
      <dgm:prSet/>
      <dgm:spPr/>
      <dgm:t>
        <a:bodyPr/>
        <a:lstStyle/>
        <a:p>
          <a:endParaRPr lang="en-US"/>
        </a:p>
      </dgm:t>
    </dgm:pt>
    <dgm:pt modelId="{11FD3BB0-810C-4FC3-BEB0-46205DE766B7}">
      <dgm:prSet phldrT="[Text]" custT="1"/>
      <dgm:spPr/>
      <dgm:t>
        <a:bodyPr/>
        <a:lstStyle/>
        <a:p>
          <a:pPr>
            <a:buFont typeface="Arial" panose="020B0604020202020204" pitchFamily="34" charset="0"/>
            <a:buChar char="•"/>
          </a:pPr>
          <a:r>
            <a:rPr lang="en-US" sz="1050" b="1" dirty="0"/>
            <a:t> Proactive </a:t>
          </a:r>
          <a:r>
            <a:rPr lang="en-US" sz="1050" b="1" dirty="0" err="1"/>
            <a:t>VCore</a:t>
          </a:r>
          <a:r>
            <a:rPr lang="en-US" sz="1050" b="1" dirty="0"/>
            <a:t> tuning</a:t>
          </a:r>
          <a:endParaRPr lang="en-US" sz="1050" dirty="0"/>
        </a:p>
      </dgm:t>
    </dgm:pt>
    <dgm:pt modelId="{CE52708A-E75F-4239-9A2E-1CFC47EF6FD6}" type="parTrans" cxnId="{7B77E660-B4A9-4399-8217-8691B39ED7B6}">
      <dgm:prSet/>
      <dgm:spPr/>
      <dgm:t>
        <a:bodyPr/>
        <a:lstStyle/>
        <a:p>
          <a:endParaRPr lang="en-US"/>
        </a:p>
      </dgm:t>
    </dgm:pt>
    <dgm:pt modelId="{02F78AFD-DB24-4436-A23F-100C5007E752}" type="sibTrans" cxnId="{7B77E660-B4A9-4399-8217-8691B39ED7B6}">
      <dgm:prSet/>
      <dgm:spPr/>
      <dgm:t>
        <a:bodyPr/>
        <a:lstStyle/>
        <a:p>
          <a:endParaRPr lang="en-US"/>
        </a:p>
      </dgm:t>
    </dgm:pt>
    <dgm:pt modelId="{5AB7D0D2-F2DA-40C2-B6F6-499B0B93C4BA}">
      <dgm:prSet phldrT="[Text]" custT="1"/>
      <dgm:spPr/>
      <dgm:t>
        <a:bodyPr/>
        <a:lstStyle/>
        <a:p>
          <a:r>
            <a:rPr lang="en-US" sz="1300" dirty="0"/>
            <a:t>Cost Control Achieved</a:t>
          </a:r>
        </a:p>
      </dgm:t>
    </dgm:pt>
    <dgm:pt modelId="{ABFD233C-6387-4B3A-A6FF-A79AE0D31989}" type="parTrans" cxnId="{5666FD91-9C9C-441C-AAE0-2BE788F09FC3}">
      <dgm:prSet/>
      <dgm:spPr/>
      <dgm:t>
        <a:bodyPr/>
        <a:lstStyle/>
        <a:p>
          <a:endParaRPr lang="en-US"/>
        </a:p>
      </dgm:t>
    </dgm:pt>
    <dgm:pt modelId="{59669EBC-7BCE-46B1-A8DE-5C95F2571941}" type="sibTrans" cxnId="{5666FD91-9C9C-441C-AAE0-2BE788F09FC3}">
      <dgm:prSet/>
      <dgm:spPr/>
      <dgm:t>
        <a:bodyPr/>
        <a:lstStyle/>
        <a:p>
          <a:endParaRPr lang="en-US"/>
        </a:p>
      </dgm:t>
    </dgm:pt>
    <dgm:pt modelId="{4EF208AB-B316-4AAE-B439-F5222E38B97C}">
      <dgm:prSet phldrT="[Text]" custT="1"/>
      <dgm:spPr/>
      <dgm:t>
        <a:bodyPr/>
        <a:lstStyle/>
        <a:p>
          <a:pPr>
            <a:buFont typeface="Arial" panose="020B0604020202020204" pitchFamily="34" charset="0"/>
            <a:buChar char="•"/>
          </a:pPr>
          <a:r>
            <a:rPr lang="en-US" sz="1050" b="1" dirty="0"/>
            <a:t> </a:t>
          </a:r>
          <a:r>
            <a:rPr lang="en-US" sz="1050" b="1" dirty="0" err="1"/>
            <a:t>VCore</a:t>
          </a:r>
          <a:r>
            <a:rPr lang="en-US" sz="1050" b="1" dirty="0"/>
            <a:t> Usage Never Exceeded 6 </a:t>
          </a:r>
          <a:r>
            <a:rPr lang="en-US" sz="1050" b="1" dirty="0" err="1"/>
            <a:t>VCore</a:t>
          </a:r>
          <a:r>
            <a:rPr lang="en-US" sz="1050" b="1" dirty="0"/>
            <a:t> limit</a:t>
          </a:r>
          <a:endParaRPr lang="en-US" sz="1050" dirty="0"/>
        </a:p>
      </dgm:t>
    </dgm:pt>
    <dgm:pt modelId="{C986B91C-AE77-42EE-8D1F-6C001AA4B7C0}" type="parTrans" cxnId="{B3C5720E-2E7E-4F27-8D8B-14F6B8BE8E71}">
      <dgm:prSet/>
      <dgm:spPr/>
      <dgm:t>
        <a:bodyPr/>
        <a:lstStyle/>
        <a:p>
          <a:endParaRPr lang="en-US"/>
        </a:p>
      </dgm:t>
    </dgm:pt>
    <dgm:pt modelId="{C49202EC-AA83-47CE-B510-817835B52950}" type="sibTrans" cxnId="{B3C5720E-2E7E-4F27-8D8B-14F6B8BE8E71}">
      <dgm:prSet/>
      <dgm:spPr/>
      <dgm:t>
        <a:bodyPr/>
        <a:lstStyle/>
        <a:p>
          <a:endParaRPr lang="en-US"/>
        </a:p>
      </dgm:t>
    </dgm:pt>
    <dgm:pt modelId="{AFC7C341-9968-439C-8203-B7207534CE84}">
      <dgm:prSet phldrT="[Text]" custT="1"/>
      <dgm:spPr/>
      <dgm:t>
        <a:bodyPr/>
        <a:lstStyle/>
        <a:p>
          <a:pPr>
            <a:buFont typeface="Arial" panose="020B0604020202020204" pitchFamily="34" charset="0"/>
            <a:buChar char="•"/>
          </a:pPr>
          <a:r>
            <a:rPr lang="en-US" sz="1050" b="1" dirty="0"/>
            <a:t> Extra infrastructure costs of ~13 Lacs/</a:t>
          </a:r>
          <a:r>
            <a:rPr lang="en-US" sz="1050" b="1" dirty="0" err="1"/>
            <a:t>Vcore</a:t>
          </a:r>
          <a:r>
            <a:rPr lang="en-US" sz="1050" b="1" dirty="0"/>
            <a:t> saved</a:t>
          </a:r>
          <a:endParaRPr lang="en-US" sz="1050" dirty="0"/>
        </a:p>
      </dgm:t>
    </dgm:pt>
    <dgm:pt modelId="{89FF346D-F30F-4230-AF9E-82FBE78B09C0}" type="parTrans" cxnId="{FCC4D05B-C6A1-4C90-95A7-CB5E12D97828}">
      <dgm:prSet/>
      <dgm:spPr/>
      <dgm:t>
        <a:bodyPr/>
        <a:lstStyle/>
        <a:p>
          <a:endParaRPr lang="en-US"/>
        </a:p>
      </dgm:t>
    </dgm:pt>
    <dgm:pt modelId="{C57AD293-9F45-4629-A39E-8BE83518F894}" type="sibTrans" cxnId="{FCC4D05B-C6A1-4C90-95A7-CB5E12D97828}">
      <dgm:prSet/>
      <dgm:spPr/>
      <dgm:t>
        <a:bodyPr/>
        <a:lstStyle/>
        <a:p>
          <a:endParaRPr lang="en-US"/>
        </a:p>
      </dgm:t>
    </dgm:pt>
    <dgm:pt modelId="{BA59BF10-BE9A-4CF2-BBD6-F8AA3F3EE0E5}">
      <dgm:prSet custT="1"/>
      <dgm:spPr/>
      <dgm:t>
        <a:bodyPr/>
        <a:lstStyle/>
        <a:p>
          <a:r>
            <a:rPr lang="en-US" sz="1400" dirty="0"/>
            <a:t>Key KPIS Achieved</a:t>
          </a:r>
        </a:p>
      </dgm:t>
    </dgm:pt>
    <dgm:pt modelId="{92A801C1-CEFE-4F89-B3C6-60E5A851F304}" type="parTrans" cxnId="{D5FD993E-36C8-4C3E-91B1-4968D3BB3E16}">
      <dgm:prSet/>
      <dgm:spPr/>
      <dgm:t>
        <a:bodyPr/>
        <a:lstStyle/>
        <a:p>
          <a:endParaRPr lang="en-US"/>
        </a:p>
      </dgm:t>
    </dgm:pt>
    <dgm:pt modelId="{B6DED435-1374-4D35-8FB7-B5CE4E433EBF}" type="sibTrans" cxnId="{D5FD993E-36C8-4C3E-91B1-4968D3BB3E16}">
      <dgm:prSet/>
      <dgm:spPr/>
      <dgm:t>
        <a:bodyPr/>
        <a:lstStyle/>
        <a:p>
          <a:endParaRPr lang="en-US"/>
        </a:p>
      </dgm:t>
    </dgm:pt>
    <dgm:pt modelId="{6C4F3D1C-85C5-41B9-B974-12E713261B67}">
      <dgm:prSet custT="1"/>
      <dgm:spPr/>
      <dgm:t>
        <a:bodyPr/>
        <a:lstStyle/>
        <a:p>
          <a:pPr algn="l">
            <a:buFont typeface="Arial" panose="020B0604020202020204" pitchFamily="34" charset="0"/>
            <a:buChar char="•"/>
          </a:pPr>
          <a:r>
            <a:rPr lang="en-US" sz="1050" b="1" dirty="0"/>
            <a:t> API Response Time within 2 Sec.</a:t>
          </a:r>
        </a:p>
      </dgm:t>
    </dgm:pt>
    <dgm:pt modelId="{E6481726-B226-4356-8A69-BB3A3CB62B93}" type="parTrans" cxnId="{C37F522E-F0E2-4FB0-96E6-6AA7AF5E937E}">
      <dgm:prSet/>
      <dgm:spPr/>
      <dgm:t>
        <a:bodyPr/>
        <a:lstStyle/>
        <a:p>
          <a:endParaRPr lang="en-US"/>
        </a:p>
      </dgm:t>
    </dgm:pt>
    <dgm:pt modelId="{774FDDF5-249F-406E-8772-FF6F56EE07C0}" type="sibTrans" cxnId="{C37F522E-F0E2-4FB0-96E6-6AA7AF5E937E}">
      <dgm:prSet/>
      <dgm:spPr/>
      <dgm:t>
        <a:bodyPr/>
        <a:lstStyle/>
        <a:p>
          <a:endParaRPr lang="en-US"/>
        </a:p>
      </dgm:t>
    </dgm:pt>
    <dgm:pt modelId="{E38A9CE3-D125-4477-84CA-E34382130BE8}">
      <dgm:prSet custT="1"/>
      <dgm:spPr/>
      <dgm:t>
        <a:bodyPr/>
        <a:lstStyle/>
        <a:p>
          <a:pPr algn="l">
            <a:buFont typeface="Arial" panose="020B0604020202020204" pitchFamily="34" charset="0"/>
            <a:buChar char="•"/>
          </a:pPr>
          <a:r>
            <a:rPr lang="en-US" sz="1050" b="1" dirty="0"/>
            <a:t> Under 30 % CPU Utilization</a:t>
          </a:r>
        </a:p>
      </dgm:t>
    </dgm:pt>
    <dgm:pt modelId="{B8CAD994-78E9-4522-A8B6-6F299A6796F5}" type="parTrans" cxnId="{48368E94-3B14-406C-B03E-F1A054477B9E}">
      <dgm:prSet/>
      <dgm:spPr/>
      <dgm:t>
        <a:bodyPr/>
        <a:lstStyle/>
        <a:p>
          <a:endParaRPr lang="en-US"/>
        </a:p>
      </dgm:t>
    </dgm:pt>
    <dgm:pt modelId="{74695E85-122F-49B2-9CE1-690D86C32DB5}" type="sibTrans" cxnId="{48368E94-3B14-406C-B03E-F1A054477B9E}">
      <dgm:prSet/>
      <dgm:spPr/>
      <dgm:t>
        <a:bodyPr/>
        <a:lstStyle/>
        <a:p>
          <a:endParaRPr lang="en-US"/>
        </a:p>
      </dgm:t>
    </dgm:pt>
    <dgm:pt modelId="{345F3F30-821F-4725-A7C5-69C581F2D46D}">
      <dgm:prSet custT="1"/>
      <dgm:spPr/>
      <dgm:t>
        <a:bodyPr/>
        <a:lstStyle/>
        <a:p>
          <a:pPr algn="l">
            <a:buFont typeface="Arial" panose="020B0604020202020204" pitchFamily="34" charset="0"/>
            <a:buChar char="•"/>
          </a:pPr>
          <a:endParaRPr lang="en-US" sz="1050" dirty="0"/>
        </a:p>
        <a:p>
          <a:pPr algn="l">
            <a:buFont typeface="Arial" panose="020B0604020202020204" pitchFamily="34" charset="0"/>
            <a:buChar char="•"/>
          </a:pPr>
          <a:endParaRPr lang="en-US" sz="1050" dirty="0"/>
        </a:p>
      </dgm:t>
    </dgm:pt>
    <dgm:pt modelId="{9E112CC7-BB22-41B3-8CF5-163BFBC43DBE}" type="parTrans" cxnId="{DB96E26B-EDE7-4164-B76F-7B55C258785D}">
      <dgm:prSet/>
      <dgm:spPr/>
      <dgm:t>
        <a:bodyPr/>
        <a:lstStyle/>
        <a:p>
          <a:endParaRPr lang="en-US"/>
        </a:p>
      </dgm:t>
    </dgm:pt>
    <dgm:pt modelId="{CA5A964C-52D9-426B-9075-477AB142664C}" type="sibTrans" cxnId="{DB96E26B-EDE7-4164-B76F-7B55C258785D}">
      <dgm:prSet/>
      <dgm:spPr/>
      <dgm:t>
        <a:bodyPr/>
        <a:lstStyle/>
        <a:p>
          <a:endParaRPr lang="en-US"/>
        </a:p>
      </dgm:t>
    </dgm:pt>
    <dgm:pt modelId="{515B8548-BBC1-4C7D-8225-E6D00DB81070}">
      <dgm:prSet custT="1"/>
      <dgm:spPr/>
      <dgm:t>
        <a:bodyPr/>
        <a:lstStyle/>
        <a:p>
          <a:pPr algn="l">
            <a:buFont typeface="Arial" panose="020B0604020202020204" pitchFamily="34" charset="0"/>
            <a:buChar char="•"/>
          </a:pPr>
          <a:r>
            <a:rPr lang="en-US" sz="1050" b="1" dirty="0"/>
            <a:t> Less Than 0.5 % error rate</a:t>
          </a:r>
        </a:p>
      </dgm:t>
    </dgm:pt>
    <dgm:pt modelId="{18F98902-197A-47E2-A75D-B09E0315730F}" type="parTrans" cxnId="{81D7FBBF-8CC4-424F-813B-7E50D6D639F1}">
      <dgm:prSet/>
      <dgm:spPr/>
      <dgm:t>
        <a:bodyPr/>
        <a:lstStyle/>
        <a:p>
          <a:endParaRPr lang="en-US"/>
        </a:p>
      </dgm:t>
    </dgm:pt>
    <dgm:pt modelId="{2B16A22D-B5C0-4DFC-9B4C-51A1AACDAD76}" type="sibTrans" cxnId="{81D7FBBF-8CC4-424F-813B-7E50D6D639F1}">
      <dgm:prSet/>
      <dgm:spPr/>
      <dgm:t>
        <a:bodyPr/>
        <a:lstStyle/>
        <a:p>
          <a:endParaRPr lang="en-US"/>
        </a:p>
      </dgm:t>
    </dgm:pt>
    <dgm:pt modelId="{0041B9F9-3C08-4366-B4AB-C861256050F9}">
      <dgm:prSet custT="1"/>
      <dgm:spPr/>
      <dgm:t>
        <a:bodyPr/>
        <a:lstStyle/>
        <a:p>
          <a:pPr algn="l">
            <a:buFont typeface="Arial" panose="020B0604020202020204" pitchFamily="34" charset="0"/>
            <a:buChar char="•"/>
          </a:pPr>
          <a:endParaRPr lang="en-US" sz="1050" b="1" dirty="0"/>
        </a:p>
      </dgm:t>
    </dgm:pt>
    <dgm:pt modelId="{B1E41DD2-B519-4EB2-A8A2-3828D28CCCE9}" type="parTrans" cxnId="{94AEA795-D6BE-4CEA-BF57-86871C17CF8E}">
      <dgm:prSet/>
      <dgm:spPr/>
      <dgm:t>
        <a:bodyPr/>
        <a:lstStyle/>
        <a:p>
          <a:endParaRPr lang="en-US"/>
        </a:p>
      </dgm:t>
    </dgm:pt>
    <dgm:pt modelId="{A413BC2F-6344-44C4-8091-071E553F332F}" type="sibTrans" cxnId="{94AEA795-D6BE-4CEA-BF57-86871C17CF8E}">
      <dgm:prSet/>
      <dgm:spPr/>
      <dgm:t>
        <a:bodyPr/>
        <a:lstStyle/>
        <a:p>
          <a:endParaRPr lang="en-US"/>
        </a:p>
      </dgm:t>
    </dgm:pt>
    <dgm:pt modelId="{904A5C98-4E57-46C4-97CF-95F7F6453916}">
      <dgm:prSet custT="1"/>
      <dgm:spPr/>
      <dgm:t>
        <a:bodyPr/>
        <a:lstStyle/>
        <a:p>
          <a:pPr algn="l">
            <a:buFont typeface="Arial" panose="020B0604020202020204" pitchFamily="34" charset="0"/>
            <a:buChar char="•"/>
          </a:pPr>
          <a:endParaRPr lang="en-US" sz="1050" b="1" dirty="0"/>
        </a:p>
      </dgm:t>
    </dgm:pt>
    <dgm:pt modelId="{6D990FD8-E6EB-4EA0-BBB1-2D8C13B7CA5A}" type="parTrans" cxnId="{4D9746F1-B43D-40CC-AAE6-99D3FEA6631E}">
      <dgm:prSet/>
      <dgm:spPr/>
      <dgm:t>
        <a:bodyPr/>
        <a:lstStyle/>
        <a:p>
          <a:endParaRPr lang="en-US"/>
        </a:p>
      </dgm:t>
    </dgm:pt>
    <dgm:pt modelId="{D7CB4A53-7B1E-4367-B8FF-A31463AFFA07}" type="sibTrans" cxnId="{4D9746F1-B43D-40CC-AAE6-99D3FEA6631E}">
      <dgm:prSet/>
      <dgm:spPr/>
      <dgm:t>
        <a:bodyPr/>
        <a:lstStyle/>
        <a:p>
          <a:endParaRPr lang="en-US"/>
        </a:p>
      </dgm:t>
    </dgm:pt>
    <dgm:pt modelId="{540E9861-3594-41EB-A710-060542F54A1B}" type="pres">
      <dgm:prSet presAssocID="{F01614F5-6CAF-4C3F-BDBD-AF1F75AC2468}" presName="theList" presStyleCnt="0">
        <dgm:presLayoutVars>
          <dgm:dir/>
          <dgm:animLvl val="lvl"/>
          <dgm:resizeHandles val="exact"/>
        </dgm:presLayoutVars>
      </dgm:prSet>
      <dgm:spPr/>
    </dgm:pt>
    <dgm:pt modelId="{4472CFE2-B8A3-4F14-9033-6A416FA55D9C}" type="pres">
      <dgm:prSet presAssocID="{7BFE28E5-D430-4BAA-81FD-181F1321A650}" presName="compNode" presStyleCnt="0"/>
      <dgm:spPr/>
    </dgm:pt>
    <dgm:pt modelId="{55B36E96-E116-4886-B243-B071ECCA0B3F}" type="pres">
      <dgm:prSet presAssocID="{7BFE28E5-D430-4BAA-81FD-181F1321A650}" presName="noGeometry" presStyleCnt="0"/>
      <dgm:spPr/>
    </dgm:pt>
    <dgm:pt modelId="{BDFF0795-5B3C-47C5-9446-2474197DCDBC}" type="pres">
      <dgm:prSet presAssocID="{7BFE28E5-D430-4BAA-81FD-181F1321A650}" presName="childTextVisible" presStyleLbl="bgAccFollowNode1" presStyleIdx="0" presStyleCnt="4">
        <dgm:presLayoutVars>
          <dgm:bulletEnabled val="1"/>
        </dgm:presLayoutVars>
      </dgm:prSet>
      <dgm:spPr/>
    </dgm:pt>
    <dgm:pt modelId="{979857BA-3296-4E32-B397-2F8DF75BA71D}" type="pres">
      <dgm:prSet presAssocID="{7BFE28E5-D430-4BAA-81FD-181F1321A650}" presName="childTextHidden" presStyleLbl="bgAccFollowNode1" presStyleIdx="0" presStyleCnt="4"/>
      <dgm:spPr/>
    </dgm:pt>
    <dgm:pt modelId="{3840CB77-5354-405F-B56E-80A27BBE480D}" type="pres">
      <dgm:prSet presAssocID="{7BFE28E5-D430-4BAA-81FD-181F1321A650}" presName="parentText" presStyleLbl="node1" presStyleIdx="0" presStyleCnt="4">
        <dgm:presLayoutVars>
          <dgm:chMax val="1"/>
          <dgm:bulletEnabled val="1"/>
        </dgm:presLayoutVars>
      </dgm:prSet>
      <dgm:spPr/>
    </dgm:pt>
    <dgm:pt modelId="{3F27A8F0-8105-4DD7-80F4-A51E08F2AF48}" type="pres">
      <dgm:prSet presAssocID="{7BFE28E5-D430-4BAA-81FD-181F1321A650}" presName="aSpace" presStyleCnt="0"/>
      <dgm:spPr/>
    </dgm:pt>
    <dgm:pt modelId="{1FCAEEAB-5161-41B0-AF12-3A319AE3EC6A}" type="pres">
      <dgm:prSet presAssocID="{ED11B50D-C6D1-430F-B270-56A7BFBAB53D}" presName="compNode" presStyleCnt="0"/>
      <dgm:spPr/>
    </dgm:pt>
    <dgm:pt modelId="{B18DBCEF-2A0F-4376-9C0A-C904EC166A74}" type="pres">
      <dgm:prSet presAssocID="{ED11B50D-C6D1-430F-B270-56A7BFBAB53D}" presName="noGeometry" presStyleCnt="0"/>
      <dgm:spPr/>
    </dgm:pt>
    <dgm:pt modelId="{AA7D7D1A-05D6-408E-B904-34B49FDCE6D0}" type="pres">
      <dgm:prSet presAssocID="{ED11B50D-C6D1-430F-B270-56A7BFBAB53D}" presName="childTextVisible" presStyleLbl="bgAccFollowNode1" presStyleIdx="1" presStyleCnt="4">
        <dgm:presLayoutVars>
          <dgm:bulletEnabled val="1"/>
        </dgm:presLayoutVars>
      </dgm:prSet>
      <dgm:spPr/>
    </dgm:pt>
    <dgm:pt modelId="{B0AD3AD0-EAF2-4BB4-A0F5-E82236129828}" type="pres">
      <dgm:prSet presAssocID="{ED11B50D-C6D1-430F-B270-56A7BFBAB53D}" presName="childTextHidden" presStyleLbl="bgAccFollowNode1" presStyleIdx="1" presStyleCnt="4"/>
      <dgm:spPr/>
    </dgm:pt>
    <dgm:pt modelId="{4A525C01-1F2E-4F5A-AF3B-84CAF6EFA157}" type="pres">
      <dgm:prSet presAssocID="{ED11B50D-C6D1-430F-B270-56A7BFBAB53D}" presName="parentText" presStyleLbl="node1" presStyleIdx="1" presStyleCnt="4" custScaleX="108538">
        <dgm:presLayoutVars>
          <dgm:chMax val="1"/>
          <dgm:bulletEnabled val="1"/>
        </dgm:presLayoutVars>
      </dgm:prSet>
      <dgm:spPr/>
    </dgm:pt>
    <dgm:pt modelId="{79FFF772-1B84-429F-B566-0E2F6CAD0B22}" type="pres">
      <dgm:prSet presAssocID="{ED11B50D-C6D1-430F-B270-56A7BFBAB53D}" presName="aSpace" presStyleCnt="0"/>
      <dgm:spPr/>
    </dgm:pt>
    <dgm:pt modelId="{39D0A915-9B28-415E-A9E9-E3B750A56800}" type="pres">
      <dgm:prSet presAssocID="{5AB7D0D2-F2DA-40C2-B6F6-499B0B93C4BA}" presName="compNode" presStyleCnt="0"/>
      <dgm:spPr/>
    </dgm:pt>
    <dgm:pt modelId="{61DA3EF0-226F-4E0B-8417-35034B4698F6}" type="pres">
      <dgm:prSet presAssocID="{5AB7D0D2-F2DA-40C2-B6F6-499B0B93C4BA}" presName="noGeometry" presStyleCnt="0"/>
      <dgm:spPr/>
    </dgm:pt>
    <dgm:pt modelId="{78CC702F-73B6-4359-B396-CA8656FCB7B4}" type="pres">
      <dgm:prSet presAssocID="{5AB7D0D2-F2DA-40C2-B6F6-499B0B93C4BA}" presName="childTextVisible" presStyleLbl="bgAccFollowNode1" presStyleIdx="2" presStyleCnt="4">
        <dgm:presLayoutVars>
          <dgm:bulletEnabled val="1"/>
        </dgm:presLayoutVars>
      </dgm:prSet>
      <dgm:spPr/>
    </dgm:pt>
    <dgm:pt modelId="{3692A36E-F604-43B6-BC8A-D798F0F0B2A3}" type="pres">
      <dgm:prSet presAssocID="{5AB7D0D2-F2DA-40C2-B6F6-499B0B93C4BA}" presName="childTextHidden" presStyleLbl="bgAccFollowNode1" presStyleIdx="2" presStyleCnt="4"/>
      <dgm:spPr/>
    </dgm:pt>
    <dgm:pt modelId="{EFD410EC-4D7D-404B-B2FC-D26206CBCD82}" type="pres">
      <dgm:prSet presAssocID="{5AB7D0D2-F2DA-40C2-B6F6-499B0B93C4BA}" presName="parentText" presStyleLbl="node1" presStyleIdx="2" presStyleCnt="4">
        <dgm:presLayoutVars>
          <dgm:chMax val="1"/>
          <dgm:bulletEnabled val="1"/>
        </dgm:presLayoutVars>
      </dgm:prSet>
      <dgm:spPr/>
    </dgm:pt>
    <dgm:pt modelId="{00F04CE3-B712-48BD-B23B-A4FC9E008E99}" type="pres">
      <dgm:prSet presAssocID="{5AB7D0D2-F2DA-40C2-B6F6-499B0B93C4BA}" presName="aSpace" presStyleCnt="0"/>
      <dgm:spPr/>
    </dgm:pt>
    <dgm:pt modelId="{00286BB5-32E9-4B0E-B217-E8CC9119AC3F}" type="pres">
      <dgm:prSet presAssocID="{BA59BF10-BE9A-4CF2-BBD6-F8AA3F3EE0E5}" presName="compNode" presStyleCnt="0"/>
      <dgm:spPr/>
    </dgm:pt>
    <dgm:pt modelId="{FC47EB97-FD2F-457A-B4E1-C4C81DB3B9AB}" type="pres">
      <dgm:prSet presAssocID="{BA59BF10-BE9A-4CF2-BBD6-F8AA3F3EE0E5}" presName="noGeometry" presStyleCnt="0"/>
      <dgm:spPr/>
    </dgm:pt>
    <dgm:pt modelId="{E045810D-432A-444D-90B1-E320EB8B3DCD}" type="pres">
      <dgm:prSet presAssocID="{BA59BF10-BE9A-4CF2-BBD6-F8AA3F3EE0E5}" presName="childTextVisible" presStyleLbl="bgAccFollowNode1" presStyleIdx="3" presStyleCnt="4">
        <dgm:presLayoutVars>
          <dgm:bulletEnabled val="1"/>
        </dgm:presLayoutVars>
      </dgm:prSet>
      <dgm:spPr/>
    </dgm:pt>
    <dgm:pt modelId="{7AF8C9E6-C3C9-4555-BFDA-33B19B288A7B}" type="pres">
      <dgm:prSet presAssocID="{BA59BF10-BE9A-4CF2-BBD6-F8AA3F3EE0E5}" presName="childTextHidden" presStyleLbl="bgAccFollowNode1" presStyleIdx="3" presStyleCnt="4"/>
      <dgm:spPr/>
    </dgm:pt>
    <dgm:pt modelId="{B737C57E-52A5-4C54-8165-29F8233A9C45}" type="pres">
      <dgm:prSet presAssocID="{BA59BF10-BE9A-4CF2-BBD6-F8AA3F3EE0E5}" presName="parentText" presStyleLbl="node1" presStyleIdx="3" presStyleCnt="4">
        <dgm:presLayoutVars>
          <dgm:chMax val="1"/>
          <dgm:bulletEnabled val="1"/>
        </dgm:presLayoutVars>
      </dgm:prSet>
      <dgm:spPr/>
    </dgm:pt>
  </dgm:ptLst>
  <dgm:cxnLst>
    <dgm:cxn modelId="{6997C900-7612-497A-9990-F0E5EE4EF473}" type="presOf" srcId="{345F3F30-821F-4725-A7C5-69C581F2D46D}" destId="{E045810D-432A-444D-90B1-E320EB8B3DCD}" srcOrd="0" destOrd="5" presId="urn:microsoft.com/office/officeart/2005/8/layout/hProcess6"/>
    <dgm:cxn modelId="{6596CA02-9E3A-45F4-8950-BAB0D3F4E95D}" type="presOf" srcId="{ED11B50D-C6D1-430F-B270-56A7BFBAB53D}" destId="{4A525C01-1F2E-4F5A-AF3B-84CAF6EFA157}" srcOrd="0" destOrd="0" presId="urn:microsoft.com/office/officeart/2005/8/layout/hProcess6"/>
    <dgm:cxn modelId="{EB032008-8E61-4859-9F10-8345361AF8AF}" type="presOf" srcId="{4EF208AB-B316-4AAE-B439-F5222E38B97C}" destId="{78CC702F-73B6-4359-B396-CA8656FCB7B4}" srcOrd="0" destOrd="0" presId="urn:microsoft.com/office/officeart/2005/8/layout/hProcess6"/>
    <dgm:cxn modelId="{B3C5720E-2E7E-4F27-8D8B-14F6B8BE8E71}" srcId="{5AB7D0D2-F2DA-40C2-B6F6-499B0B93C4BA}" destId="{4EF208AB-B316-4AAE-B439-F5222E38B97C}" srcOrd="0" destOrd="0" parTransId="{C986B91C-AE77-42EE-8D1F-6C001AA4B7C0}" sibTransId="{C49202EC-AA83-47CE-B510-817835B52950}"/>
    <dgm:cxn modelId="{B7B20418-6564-44E6-A539-78F82217071A}" srcId="{F01614F5-6CAF-4C3F-BDBD-AF1F75AC2468}" destId="{ED11B50D-C6D1-430F-B270-56A7BFBAB53D}" srcOrd="1" destOrd="0" parTransId="{C7C10724-A3A1-4F5F-9C2B-8F433F0DEF61}" sibTransId="{77602CC4-B7F0-4A1B-8730-004E696B7684}"/>
    <dgm:cxn modelId="{AF6A7219-C259-45C8-8458-7B546D04D22E}" type="presOf" srcId="{345F3F30-821F-4725-A7C5-69C581F2D46D}" destId="{7AF8C9E6-C3C9-4555-BFDA-33B19B288A7B}" srcOrd="1" destOrd="5" presId="urn:microsoft.com/office/officeart/2005/8/layout/hProcess6"/>
    <dgm:cxn modelId="{AD681B20-1190-40CF-B1D5-70D03DA3F71D}" type="presOf" srcId="{0041B9F9-3C08-4366-B4AB-C861256050F9}" destId="{E045810D-432A-444D-90B1-E320EB8B3DCD}" srcOrd="0" destOrd="0" presId="urn:microsoft.com/office/officeart/2005/8/layout/hProcess6"/>
    <dgm:cxn modelId="{9FD12320-4C0E-4F00-8C0B-C6DEB88E620B}" type="presOf" srcId="{515B8548-BBC1-4C7D-8225-E6D00DB81070}" destId="{E045810D-432A-444D-90B1-E320EB8B3DCD}" srcOrd="0" destOrd="4" presId="urn:microsoft.com/office/officeart/2005/8/layout/hProcess6"/>
    <dgm:cxn modelId="{B144E921-48E8-4857-8ACF-9D8A06A903B4}" type="presOf" srcId="{CCA7B0CF-3045-4AA2-A72A-333C1FC9C150}" destId="{B0AD3AD0-EAF2-4BB4-A0F5-E82236129828}" srcOrd="1" destOrd="0" presId="urn:microsoft.com/office/officeart/2005/8/layout/hProcess6"/>
    <dgm:cxn modelId="{34E32825-13C2-40FD-9449-C601BA082C8E}" srcId="{F01614F5-6CAF-4C3F-BDBD-AF1F75AC2468}" destId="{7BFE28E5-D430-4BAA-81FD-181F1321A650}" srcOrd="0" destOrd="0" parTransId="{6E524446-FBB3-41AB-815E-E29826E685E8}" sibTransId="{19E3C82A-42B9-4DC1-B611-FF4574468145}"/>
    <dgm:cxn modelId="{C37F522E-F0E2-4FB0-96E6-6AA7AF5E937E}" srcId="{BA59BF10-BE9A-4CF2-BBD6-F8AA3F3EE0E5}" destId="{6C4F3D1C-85C5-41B9-B974-12E713261B67}" srcOrd="2" destOrd="0" parTransId="{E6481726-B226-4356-8A69-BB3A3CB62B93}" sibTransId="{774FDDF5-249F-406E-8772-FF6F56EE07C0}"/>
    <dgm:cxn modelId="{9FC92839-A7E6-4E20-90D0-D9BF27B94499}" type="presOf" srcId="{AFC7C341-9968-439C-8203-B7207534CE84}" destId="{3692A36E-F604-43B6-BC8A-D798F0F0B2A3}" srcOrd="1" destOrd="1" presId="urn:microsoft.com/office/officeart/2005/8/layout/hProcess6"/>
    <dgm:cxn modelId="{13B7443B-8D88-48D2-B4A1-1BF271D33F1E}" type="presOf" srcId="{BA59BF10-BE9A-4CF2-BBD6-F8AA3F3EE0E5}" destId="{B737C57E-52A5-4C54-8165-29F8233A9C45}" srcOrd="0" destOrd="0" presId="urn:microsoft.com/office/officeart/2005/8/layout/hProcess6"/>
    <dgm:cxn modelId="{EDFD3D3E-D7AF-4DB7-982F-71666A0DAA9C}" type="presOf" srcId="{904A5C98-4E57-46C4-97CF-95F7F6453916}" destId="{E045810D-432A-444D-90B1-E320EB8B3DCD}" srcOrd="0" destOrd="1" presId="urn:microsoft.com/office/officeart/2005/8/layout/hProcess6"/>
    <dgm:cxn modelId="{D5FD993E-36C8-4C3E-91B1-4968D3BB3E16}" srcId="{F01614F5-6CAF-4C3F-BDBD-AF1F75AC2468}" destId="{BA59BF10-BE9A-4CF2-BBD6-F8AA3F3EE0E5}" srcOrd="3" destOrd="0" parTransId="{92A801C1-CEFE-4F89-B3C6-60E5A851F304}" sibTransId="{B6DED435-1374-4D35-8FB7-B5CE4E433EBF}"/>
    <dgm:cxn modelId="{FCC4D05B-C6A1-4C90-95A7-CB5E12D97828}" srcId="{5AB7D0D2-F2DA-40C2-B6F6-499B0B93C4BA}" destId="{AFC7C341-9968-439C-8203-B7207534CE84}" srcOrd="1" destOrd="0" parTransId="{89FF346D-F30F-4230-AF9E-82FBE78B09C0}" sibTransId="{C57AD293-9F45-4629-A39E-8BE83518F894}"/>
    <dgm:cxn modelId="{EA1DC65C-3058-4F93-9916-ECB408AE78A1}" type="presOf" srcId="{11FD3BB0-810C-4FC3-BEB0-46205DE766B7}" destId="{AA7D7D1A-05D6-408E-B904-34B49FDCE6D0}" srcOrd="0" destOrd="1" presId="urn:microsoft.com/office/officeart/2005/8/layout/hProcess6"/>
    <dgm:cxn modelId="{D38B365D-F01B-447D-BE04-EA4D36649B7C}" type="presOf" srcId="{904A5C98-4E57-46C4-97CF-95F7F6453916}" destId="{7AF8C9E6-C3C9-4555-BFDA-33B19B288A7B}" srcOrd="1" destOrd="1" presId="urn:microsoft.com/office/officeart/2005/8/layout/hProcess6"/>
    <dgm:cxn modelId="{AF39E75F-BEFA-48E9-B3A2-B0F3D65E9600}" type="presOf" srcId="{F01614F5-6CAF-4C3F-BDBD-AF1F75AC2468}" destId="{540E9861-3594-41EB-A710-060542F54A1B}" srcOrd="0" destOrd="0" presId="urn:microsoft.com/office/officeart/2005/8/layout/hProcess6"/>
    <dgm:cxn modelId="{7B77E660-B4A9-4399-8217-8691B39ED7B6}" srcId="{ED11B50D-C6D1-430F-B270-56A7BFBAB53D}" destId="{11FD3BB0-810C-4FC3-BEB0-46205DE766B7}" srcOrd="1" destOrd="0" parTransId="{CE52708A-E75F-4239-9A2E-1CFC47EF6FD6}" sibTransId="{02F78AFD-DB24-4436-A23F-100C5007E752}"/>
    <dgm:cxn modelId="{D55DC165-016B-4DE1-869A-B4B5CB4ADCF4}" type="presOf" srcId="{4EF208AB-B316-4AAE-B439-F5222E38B97C}" destId="{3692A36E-F604-43B6-BC8A-D798F0F0B2A3}" srcOrd="1" destOrd="0" presId="urn:microsoft.com/office/officeart/2005/8/layout/hProcess6"/>
    <dgm:cxn modelId="{79E97668-D639-44BD-B7C2-6C95BE140FBF}" srcId="{7BFE28E5-D430-4BAA-81FD-181F1321A650}" destId="{D7038313-1EDE-41CD-A8A1-7DDE0399F4F6}" srcOrd="0" destOrd="0" parTransId="{F0644ADB-7D13-4296-95EA-8BBDEEF8ED0C}" sibTransId="{DD767645-5B26-4CA7-B4F8-E1C02581D554}"/>
    <dgm:cxn modelId="{2A779249-85B6-4380-97D4-D1BEB97FEAAC}" srcId="{ED11B50D-C6D1-430F-B270-56A7BFBAB53D}" destId="{CCA7B0CF-3045-4AA2-A72A-333C1FC9C150}" srcOrd="0" destOrd="0" parTransId="{BE0356BB-003E-4322-89D7-E6E44201BE74}" sibTransId="{7728499F-B382-4578-B5D5-E8891F0AD21A}"/>
    <dgm:cxn modelId="{EA69D84A-4094-4D6F-B944-19CF9FAD4EFA}" type="presOf" srcId="{6C4F3D1C-85C5-41B9-B974-12E713261B67}" destId="{7AF8C9E6-C3C9-4555-BFDA-33B19B288A7B}" srcOrd="1" destOrd="2" presId="urn:microsoft.com/office/officeart/2005/8/layout/hProcess6"/>
    <dgm:cxn modelId="{DB96E26B-EDE7-4164-B76F-7B55C258785D}" srcId="{BA59BF10-BE9A-4CF2-BBD6-F8AA3F3EE0E5}" destId="{345F3F30-821F-4725-A7C5-69C581F2D46D}" srcOrd="5" destOrd="0" parTransId="{9E112CC7-BB22-41B3-8CF5-163BFBC43DBE}" sibTransId="{CA5A964C-52D9-426B-9075-477AB142664C}"/>
    <dgm:cxn modelId="{EC39D74E-AC80-4D3B-BCA4-BB5637573876}" type="presOf" srcId="{E38A9CE3-D125-4477-84CA-E34382130BE8}" destId="{E045810D-432A-444D-90B1-E320EB8B3DCD}" srcOrd="0" destOrd="3" presId="urn:microsoft.com/office/officeart/2005/8/layout/hProcess6"/>
    <dgm:cxn modelId="{767F1858-57A5-4106-A5B6-09E84EA25924}" type="presOf" srcId="{EA1FEBE6-A404-4A43-AC91-96230E94A9CB}" destId="{BDFF0795-5B3C-47C5-9446-2474197DCDBC}" srcOrd="0" destOrd="1" presId="urn:microsoft.com/office/officeart/2005/8/layout/hProcess6"/>
    <dgm:cxn modelId="{3D01A558-B2C0-4EBD-AE9D-311E0BD75701}" srcId="{7BFE28E5-D430-4BAA-81FD-181F1321A650}" destId="{EA1FEBE6-A404-4A43-AC91-96230E94A9CB}" srcOrd="1" destOrd="0" parTransId="{38D7C6D0-82C2-4D4E-8304-D781287754C1}" sibTransId="{DA5ED5AD-204E-4508-B572-82985DEE5780}"/>
    <dgm:cxn modelId="{68E0EF7C-E7F3-4FA0-BAEA-E1CB82F40AAA}" type="presOf" srcId="{D7038313-1EDE-41CD-A8A1-7DDE0399F4F6}" destId="{BDFF0795-5B3C-47C5-9446-2474197DCDBC}" srcOrd="0" destOrd="0" presId="urn:microsoft.com/office/officeart/2005/8/layout/hProcess6"/>
    <dgm:cxn modelId="{FB0A7B81-82C0-47CF-AB99-1269AFC3537A}" type="presOf" srcId="{D7038313-1EDE-41CD-A8A1-7DDE0399F4F6}" destId="{979857BA-3296-4E32-B397-2F8DF75BA71D}" srcOrd="1" destOrd="0" presId="urn:microsoft.com/office/officeart/2005/8/layout/hProcess6"/>
    <dgm:cxn modelId="{F6629B86-725E-4052-B737-DC15A01C8A0E}" type="presOf" srcId="{515B8548-BBC1-4C7D-8225-E6D00DB81070}" destId="{7AF8C9E6-C3C9-4555-BFDA-33B19B288A7B}" srcOrd="1" destOrd="4" presId="urn:microsoft.com/office/officeart/2005/8/layout/hProcess6"/>
    <dgm:cxn modelId="{7E37098A-F6C3-46FA-A17F-11EEF60EA5B9}" type="presOf" srcId="{E38A9CE3-D125-4477-84CA-E34382130BE8}" destId="{7AF8C9E6-C3C9-4555-BFDA-33B19B288A7B}" srcOrd="1" destOrd="3" presId="urn:microsoft.com/office/officeart/2005/8/layout/hProcess6"/>
    <dgm:cxn modelId="{5666FD91-9C9C-441C-AAE0-2BE788F09FC3}" srcId="{F01614F5-6CAF-4C3F-BDBD-AF1F75AC2468}" destId="{5AB7D0D2-F2DA-40C2-B6F6-499B0B93C4BA}" srcOrd="2" destOrd="0" parTransId="{ABFD233C-6387-4B3A-A6FF-A79AE0D31989}" sibTransId="{59669EBC-7BCE-46B1-A8DE-5C95F2571941}"/>
    <dgm:cxn modelId="{48368E94-3B14-406C-B03E-F1A054477B9E}" srcId="{BA59BF10-BE9A-4CF2-BBD6-F8AA3F3EE0E5}" destId="{E38A9CE3-D125-4477-84CA-E34382130BE8}" srcOrd="3" destOrd="0" parTransId="{B8CAD994-78E9-4522-A8B6-6F299A6796F5}" sibTransId="{74695E85-122F-49B2-9CE1-690D86C32DB5}"/>
    <dgm:cxn modelId="{94AEA795-D6BE-4CEA-BF57-86871C17CF8E}" srcId="{BA59BF10-BE9A-4CF2-BBD6-F8AA3F3EE0E5}" destId="{0041B9F9-3C08-4366-B4AB-C861256050F9}" srcOrd="0" destOrd="0" parTransId="{B1E41DD2-B519-4EB2-A8A2-3828D28CCCE9}" sibTransId="{A413BC2F-6344-44C4-8091-071E553F332F}"/>
    <dgm:cxn modelId="{361F8797-5D7A-4042-9FD3-58182D921464}" type="presOf" srcId="{CCA7B0CF-3045-4AA2-A72A-333C1FC9C150}" destId="{AA7D7D1A-05D6-408E-B904-34B49FDCE6D0}" srcOrd="0" destOrd="0" presId="urn:microsoft.com/office/officeart/2005/8/layout/hProcess6"/>
    <dgm:cxn modelId="{538FD998-20FF-407B-A6AC-3387583322B3}" type="presOf" srcId="{7BFE28E5-D430-4BAA-81FD-181F1321A650}" destId="{3840CB77-5354-405F-B56E-80A27BBE480D}" srcOrd="0" destOrd="0" presId="urn:microsoft.com/office/officeart/2005/8/layout/hProcess6"/>
    <dgm:cxn modelId="{DB4638A4-A25F-4104-A9B6-B99A0B2B1310}" type="presOf" srcId="{11FD3BB0-810C-4FC3-BEB0-46205DE766B7}" destId="{B0AD3AD0-EAF2-4BB4-A0F5-E82236129828}" srcOrd="1" destOrd="1" presId="urn:microsoft.com/office/officeart/2005/8/layout/hProcess6"/>
    <dgm:cxn modelId="{D511A0B5-F3F3-4D4B-BE89-BBE4172C7B42}" type="presOf" srcId="{0041B9F9-3C08-4366-B4AB-C861256050F9}" destId="{7AF8C9E6-C3C9-4555-BFDA-33B19B288A7B}" srcOrd="1" destOrd="0" presId="urn:microsoft.com/office/officeart/2005/8/layout/hProcess6"/>
    <dgm:cxn modelId="{E842E3BB-6A2E-49B0-8415-98720C1F2C5C}" type="presOf" srcId="{5AB7D0D2-F2DA-40C2-B6F6-499B0B93C4BA}" destId="{EFD410EC-4D7D-404B-B2FC-D26206CBCD82}" srcOrd="0" destOrd="0" presId="urn:microsoft.com/office/officeart/2005/8/layout/hProcess6"/>
    <dgm:cxn modelId="{6AA9F8BC-B053-4B4B-B4F8-A609B912129B}" type="presOf" srcId="{6C4F3D1C-85C5-41B9-B974-12E713261B67}" destId="{E045810D-432A-444D-90B1-E320EB8B3DCD}" srcOrd="0" destOrd="2" presId="urn:microsoft.com/office/officeart/2005/8/layout/hProcess6"/>
    <dgm:cxn modelId="{81D7FBBF-8CC4-424F-813B-7E50D6D639F1}" srcId="{BA59BF10-BE9A-4CF2-BBD6-F8AA3F3EE0E5}" destId="{515B8548-BBC1-4C7D-8225-E6D00DB81070}" srcOrd="4" destOrd="0" parTransId="{18F98902-197A-47E2-A75D-B09E0315730F}" sibTransId="{2B16A22D-B5C0-4DFC-9B4C-51A1AACDAD76}"/>
    <dgm:cxn modelId="{5DE4ECC0-8016-45F8-BED7-C4D77D27D52B}" type="presOf" srcId="{EA1FEBE6-A404-4A43-AC91-96230E94A9CB}" destId="{979857BA-3296-4E32-B397-2F8DF75BA71D}" srcOrd="1" destOrd="1" presId="urn:microsoft.com/office/officeart/2005/8/layout/hProcess6"/>
    <dgm:cxn modelId="{7B5566E8-AB76-4FCC-A2C8-C4F82E769265}" type="presOf" srcId="{AFC7C341-9968-439C-8203-B7207534CE84}" destId="{78CC702F-73B6-4359-B396-CA8656FCB7B4}" srcOrd="0" destOrd="1" presId="urn:microsoft.com/office/officeart/2005/8/layout/hProcess6"/>
    <dgm:cxn modelId="{4D9746F1-B43D-40CC-AAE6-99D3FEA6631E}" srcId="{BA59BF10-BE9A-4CF2-BBD6-F8AA3F3EE0E5}" destId="{904A5C98-4E57-46C4-97CF-95F7F6453916}" srcOrd="1" destOrd="0" parTransId="{6D990FD8-E6EB-4EA0-BBB1-2D8C13B7CA5A}" sibTransId="{D7CB4A53-7B1E-4367-B8FF-A31463AFFA07}"/>
    <dgm:cxn modelId="{21416700-8B76-453C-8D2A-97FF37CF08F0}" type="presParOf" srcId="{540E9861-3594-41EB-A710-060542F54A1B}" destId="{4472CFE2-B8A3-4F14-9033-6A416FA55D9C}" srcOrd="0" destOrd="0" presId="urn:microsoft.com/office/officeart/2005/8/layout/hProcess6"/>
    <dgm:cxn modelId="{4820F11F-A6E2-47A5-9928-125938262401}" type="presParOf" srcId="{4472CFE2-B8A3-4F14-9033-6A416FA55D9C}" destId="{55B36E96-E116-4886-B243-B071ECCA0B3F}" srcOrd="0" destOrd="0" presId="urn:microsoft.com/office/officeart/2005/8/layout/hProcess6"/>
    <dgm:cxn modelId="{7BAB3C10-F8C1-4D81-8ACA-AD7A3D1BB29A}" type="presParOf" srcId="{4472CFE2-B8A3-4F14-9033-6A416FA55D9C}" destId="{BDFF0795-5B3C-47C5-9446-2474197DCDBC}" srcOrd="1" destOrd="0" presId="urn:microsoft.com/office/officeart/2005/8/layout/hProcess6"/>
    <dgm:cxn modelId="{56621532-F359-4436-8E47-1D3D09C4E0FD}" type="presParOf" srcId="{4472CFE2-B8A3-4F14-9033-6A416FA55D9C}" destId="{979857BA-3296-4E32-B397-2F8DF75BA71D}" srcOrd="2" destOrd="0" presId="urn:microsoft.com/office/officeart/2005/8/layout/hProcess6"/>
    <dgm:cxn modelId="{215E7D9F-A976-4A23-9355-9AF3D10203D3}" type="presParOf" srcId="{4472CFE2-B8A3-4F14-9033-6A416FA55D9C}" destId="{3840CB77-5354-405F-B56E-80A27BBE480D}" srcOrd="3" destOrd="0" presId="urn:microsoft.com/office/officeart/2005/8/layout/hProcess6"/>
    <dgm:cxn modelId="{EDF5C502-8853-4488-88D9-B1667343A944}" type="presParOf" srcId="{540E9861-3594-41EB-A710-060542F54A1B}" destId="{3F27A8F0-8105-4DD7-80F4-A51E08F2AF48}" srcOrd="1" destOrd="0" presId="urn:microsoft.com/office/officeart/2005/8/layout/hProcess6"/>
    <dgm:cxn modelId="{A0472075-502C-434F-B04C-2DDC517A3F41}" type="presParOf" srcId="{540E9861-3594-41EB-A710-060542F54A1B}" destId="{1FCAEEAB-5161-41B0-AF12-3A319AE3EC6A}" srcOrd="2" destOrd="0" presId="urn:microsoft.com/office/officeart/2005/8/layout/hProcess6"/>
    <dgm:cxn modelId="{11BEE9F3-F937-42EA-AEC4-CABD65647476}" type="presParOf" srcId="{1FCAEEAB-5161-41B0-AF12-3A319AE3EC6A}" destId="{B18DBCEF-2A0F-4376-9C0A-C904EC166A74}" srcOrd="0" destOrd="0" presId="urn:microsoft.com/office/officeart/2005/8/layout/hProcess6"/>
    <dgm:cxn modelId="{A893977D-E3D7-4CCE-887D-2B89E580B912}" type="presParOf" srcId="{1FCAEEAB-5161-41B0-AF12-3A319AE3EC6A}" destId="{AA7D7D1A-05D6-408E-B904-34B49FDCE6D0}" srcOrd="1" destOrd="0" presId="urn:microsoft.com/office/officeart/2005/8/layout/hProcess6"/>
    <dgm:cxn modelId="{3AB086A5-72D0-4D14-A135-FC393EEACE26}" type="presParOf" srcId="{1FCAEEAB-5161-41B0-AF12-3A319AE3EC6A}" destId="{B0AD3AD0-EAF2-4BB4-A0F5-E82236129828}" srcOrd="2" destOrd="0" presId="urn:microsoft.com/office/officeart/2005/8/layout/hProcess6"/>
    <dgm:cxn modelId="{90346C7E-B7B3-46E8-A454-27E0EECF4D6C}" type="presParOf" srcId="{1FCAEEAB-5161-41B0-AF12-3A319AE3EC6A}" destId="{4A525C01-1F2E-4F5A-AF3B-84CAF6EFA157}" srcOrd="3" destOrd="0" presId="urn:microsoft.com/office/officeart/2005/8/layout/hProcess6"/>
    <dgm:cxn modelId="{E60BC7D4-B2DE-4A13-9B11-DC002C125A05}" type="presParOf" srcId="{540E9861-3594-41EB-A710-060542F54A1B}" destId="{79FFF772-1B84-429F-B566-0E2F6CAD0B22}" srcOrd="3" destOrd="0" presId="urn:microsoft.com/office/officeart/2005/8/layout/hProcess6"/>
    <dgm:cxn modelId="{B99B5209-32D2-47A4-ADA5-6E913F8E627F}" type="presParOf" srcId="{540E9861-3594-41EB-A710-060542F54A1B}" destId="{39D0A915-9B28-415E-A9E9-E3B750A56800}" srcOrd="4" destOrd="0" presId="urn:microsoft.com/office/officeart/2005/8/layout/hProcess6"/>
    <dgm:cxn modelId="{12F1E607-0938-4663-B84C-0E3DF3435936}" type="presParOf" srcId="{39D0A915-9B28-415E-A9E9-E3B750A56800}" destId="{61DA3EF0-226F-4E0B-8417-35034B4698F6}" srcOrd="0" destOrd="0" presId="urn:microsoft.com/office/officeart/2005/8/layout/hProcess6"/>
    <dgm:cxn modelId="{A0180D50-0AD6-4BEE-B4DD-C97099129C8F}" type="presParOf" srcId="{39D0A915-9B28-415E-A9E9-E3B750A56800}" destId="{78CC702F-73B6-4359-B396-CA8656FCB7B4}" srcOrd="1" destOrd="0" presId="urn:microsoft.com/office/officeart/2005/8/layout/hProcess6"/>
    <dgm:cxn modelId="{216C9912-8BF3-4A20-B711-21FEB4E6153A}" type="presParOf" srcId="{39D0A915-9B28-415E-A9E9-E3B750A56800}" destId="{3692A36E-F604-43B6-BC8A-D798F0F0B2A3}" srcOrd="2" destOrd="0" presId="urn:microsoft.com/office/officeart/2005/8/layout/hProcess6"/>
    <dgm:cxn modelId="{7EFF5F15-570F-4956-B6CD-E710B767CB1A}" type="presParOf" srcId="{39D0A915-9B28-415E-A9E9-E3B750A56800}" destId="{EFD410EC-4D7D-404B-B2FC-D26206CBCD82}" srcOrd="3" destOrd="0" presId="urn:microsoft.com/office/officeart/2005/8/layout/hProcess6"/>
    <dgm:cxn modelId="{522CCFF6-463C-48AC-A59D-BE1943CBBD0F}" type="presParOf" srcId="{540E9861-3594-41EB-A710-060542F54A1B}" destId="{00F04CE3-B712-48BD-B23B-A4FC9E008E99}" srcOrd="5" destOrd="0" presId="urn:microsoft.com/office/officeart/2005/8/layout/hProcess6"/>
    <dgm:cxn modelId="{B04F82C5-E9E9-4002-B8BA-FB42B98112FE}" type="presParOf" srcId="{540E9861-3594-41EB-A710-060542F54A1B}" destId="{00286BB5-32E9-4B0E-B217-E8CC9119AC3F}" srcOrd="6" destOrd="0" presId="urn:microsoft.com/office/officeart/2005/8/layout/hProcess6"/>
    <dgm:cxn modelId="{53CD626C-2CBB-4564-866D-DFD9D6437C26}" type="presParOf" srcId="{00286BB5-32E9-4B0E-B217-E8CC9119AC3F}" destId="{FC47EB97-FD2F-457A-B4E1-C4C81DB3B9AB}" srcOrd="0" destOrd="0" presId="urn:microsoft.com/office/officeart/2005/8/layout/hProcess6"/>
    <dgm:cxn modelId="{E29F91B1-26D7-45C2-853E-A97CFA8619AF}" type="presParOf" srcId="{00286BB5-32E9-4B0E-B217-E8CC9119AC3F}" destId="{E045810D-432A-444D-90B1-E320EB8B3DCD}" srcOrd="1" destOrd="0" presId="urn:microsoft.com/office/officeart/2005/8/layout/hProcess6"/>
    <dgm:cxn modelId="{63559893-7DCF-4408-A1DE-CE802EE3A83E}" type="presParOf" srcId="{00286BB5-32E9-4B0E-B217-E8CC9119AC3F}" destId="{7AF8C9E6-C3C9-4555-BFDA-33B19B288A7B}" srcOrd="2" destOrd="0" presId="urn:microsoft.com/office/officeart/2005/8/layout/hProcess6"/>
    <dgm:cxn modelId="{5D538E31-006E-4484-A51F-709320F334F3}" type="presParOf" srcId="{00286BB5-32E9-4B0E-B217-E8CC9119AC3F}" destId="{B737C57E-52A5-4C54-8165-29F8233A9C45}" srcOrd="3" destOrd="0" presId="urn:microsoft.com/office/officeart/2005/8/layout/hProcess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1197745-D624-4F18-B031-2809E956C024}" type="doc">
      <dgm:prSet loTypeId="urn:microsoft.com/office/officeart/2005/8/layout/chevron1" loCatId="process" qsTypeId="urn:microsoft.com/office/officeart/2005/8/quickstyle/simple5" qsCatId="simple" csTypeId="urn:microsoft.com/office/officeart/2005/8/colors/accent1_2" csCatId="accent1" phldr="1"/>
      <dgm:spPr/>
    </dgm:pt>
    <dgm:pt modelId="{3694FB0B-4B1F-448D-975F-D907495C1BA5}">
      <dgm:prSet phldrT="[Text]"/>
      <dgm:spPr/>
      <dgm:t>
        <a:bodyPr/>
        <a:lstStyle/>
        <a:p>
          <a:r>
            <a:rPr lang="en-US" dirty="0"/>
            <a:t>Faster Response Time In </a:t>
          </a:r>
          <a:r>
            <a:rPr lang="en-US" b="1" dirty="0"/>
            <a:t>milliseconds</a:t>
          </a:r>
          <a:r>
            <a:rPr lang="en-US" dirty="0"/>
            <a:t> </a:t>
          </a:r>
        </a:p>
      </dgm:t>
    </dgm:pt>
    <dgm:pt modelId="{D69DD932-7A32-4C38-BD32-4E327D37861F}" type="parTrans" cxnId="{E7BA5C27-E2B8-4729-A271-925A8228AB8A}">
      <dgm:prSet/>
      <dgm:spPr/>
      <dgm:t>
        <a:bodyPr/>
        <a:lstStyle/>
        <a:p>
          <a:endParaRPr lang="en-US"/>
        </a:p>
      </dgm:t>
    </dgm:pt>
    <dgm:pt modelId="{9ABAA982-0AC5-4485-98FB-48DBD07F12E2}" type="sibTrans" cxnId="{E7BA5C27-E2B8-4729-A271-925A8228AB8A}">
      <dgm:prSet/>
      <dgm:spPr/>
      <dgm:t>
        <a:bodyPr/>
        <a:lstStyle/>
        <a:p>
          <a:endParaRPr lang="en-US"/>
        </a:p>
      </dgm:t>
    </dgm:pt>
    <dgm:pt modelId="{471D8DEF-F881-43FC-96AB-1A4122C0D631}">
      <dgm:prSet phldrT="[Text]"/>
      <dgm:spPr/>
      <dgm:t>
        <a:bodyPr/>
        <a:lstStyle/>
        <a:p>
          <a:r>
            <a:rPr lang="en-US" dirty="0"/>
            <a:t>Reduced Backend Load and Cost</a:t>
          </a:r>
        </a:p>
      </dgm:t>
    </dgm:pt>
    <dgm:pt modelId="{5070C5DB-2BFA-4EFD-9035-00CBA09B825A}" type="parTrans" cxnId="{284D882C-B478-48B8-A598-7F3E6349FEFA}">
      <dgm:prSet/>
      <dgm:spPr/>
      <dgm:t>
        <a:bodyPr/>
        <a:lstStyle/>
        <a:p>
          <a:endParaRPr lang="en-US"/>
        </a:p>
      </dgm:t>
    </dgm:pt>
    <dgm:pt modelId="{BFB6DC88-9C57-4270-858E-545AACF5B593}" type="sibTrans" cxnId="{284D882C-B478-48B8-A598-7F3E6349FEFA}">
      <dgm:prSet/>
      <dgm:spPr/>
      <dgm:t>
        <a:bodyPr/>
        <a:lstStyle/>
        <a:p>
          <a:endParaRPr lang="en-US"/>
        </a:p>
      </dgm:t>
    </dgm:pt>
    <dgm:pt modelId="{7BD55D62-84FB-48D0-B342-17FB7E7983AD}">
      <dgm:prSet phldrT="[Text]"/>
      <dgm:spPr/>
      <dgm:t>
        <a:bodyPr/>
        <a:lstStyle/>
        <a:p>
          <a:r>
            <a:rPr lang="en-US" dirty="0"/>
            <a:t>More Than </a:t>
          </a:r>
          <a:r>
            <a:rPr lang="en-US" b="1" dirty="0"/>
            <a:t>60% Requests </a:t>
          </a:r>
          <a:r>
            <a:rPr lang="en-US" dirty="0"/>
            <a:t>served by cache</a:t>
          </a:r>
        </a:p>
      </dgm:t>
    </dgm:pt>
    <dgm:pt modelId="{A738B37F-4EFA-4A99-AD3F-AEF1EFD1277D}" type="parTrans" cxnId="{2C2EE0CA-2861-412F-BA38-A6D196441DC9}">
      <dgm:prSet/>
      <dgm:spPr/>
      <dgm:t>
        <a:bodyPr/>
        <a:lstStyle/>
        <a:p>
          <a:endParaRPr lang="en-US"/>
        </a:p>
      </dgm:t>
    </dgm:pt>
    <dgm:pt modelId="{E544A1CE-F691-4C48-91F6-2FEA35090364}" type="sibTrans" cxnId="{2C2EE0CA-2861-412F-BA38-A6D196441DC9}">
      <dgm:prSet/>
      <dgm:spPr/>
      <dgm:t>
        <a:bodyPr/>
        <a:lstStyle/>
        <a:p>
          <a:endParaRPr lang="en-US"/>
        </a:p>
      </dgm:t>
    </dgm:pt>
    <dgm:pt modelId="{F058066B-18E0-4937-AA19-2EB1132582CA}">
      <dgm:prSet/>
      <dgm:spPr/>
      <dgm:t>
        <a:bodyPr/>
        <a:lstStyle/>
        <a:p>
          <a:r>
            <a:rPr lang="en-US" dirty="0"/>
            <a:t>Yearly saving More than Rs </a:t>
          </a:r>
          <a:r>
            <a:rPr lang="en-US" b="1" dirty="0"/>
            <a:t>1.4 CR</a:t>
          </a:r>
        </a:p>
      </dgm:t>
    </dgm:pt>
    <dgm:pt modelId="{A0745916-3B1B-40CE-A586-BC289C0A159C}" type="parTrans" cxnId="{E4F6C803-ACDC-4620-B407-8145684C2ED8}">
      <dgm:prSet/>
      <dgm:spPr/>
      <dgm:t>
        <a:bodyPr/>
        <a:lstStyle/>
        <a:p>
          <a:endParaRPr lang="en-US"/>
        </a:p>
      </dgm:t>
    </dgm:pt>
    <dgm:pt modelId="{6593217B-B9CB-4EA2-B0B7-E25F8E6F2B0B}" type="sibTrans" cxnId="{E4F6C803-ACDC-4620-B407-8145684C2ED8}">
      <dgm:prSet/>
      <dgm:spPr/>
      <dgm:t>
        <a:bodyPr/>
        <a:lstStyle/>
        <a:p>
          <a:endParaRPr lang="en-US"/>
        </a:p>
      </dgm:t>
    </dgm:pt>
    <dgm:pt modelId="{C5A2E309-B2FB-4BFA-81C6-B2E8B22ABD2A}" type="pres">
      <dgm:prSet presAssocID="{C1197745-D624-4F18-B031-2809E956C024}" presName="Name0" presStyleCnt="0">
        <dgm:presLayoutVars>
          <dgm:dir/>
          <dgm:animLvl val="lvl"/>
          <dgm:resizeHandles val="exact"/>
        </dgm:presLayoutVars>
      </dgm:prSet>
      <dgm:spPr/>
    </dgm:pt>
    <dgm:pt modelId="{521E22D6-D93C-4A15-AFCF-5596804AEBF4}" type="pres">
      <dgm:prSet presAssocID="{3694FB0B-4B1F-448D-975F-D907495C1BA5}" presName="parTxOnly" presStyleLbl="node1" presStyleIdx="0" presStyleCnt="4">
        <dgm:presLayoutVars>
          <dgm:chMax val="0"/>
          <dgm:chPref val="0"/>
          <dgm:bulletEnabled val="1"/>
        </dgm:presLayoutVars>
      </dgm:prSet>
      <dgm:spPr/>
    </dgm:pt>
    <dgm:pt modelId="{45114DAC-E63C-4CB4-8BD2-B8134BA74C5E}" type="pres">
      <dgm:prSet presAssocID="{9ABAA982-0AC5-4485-98FB-48DBD07F12E2}" presName="parTxOnlySpace" presStyleCnt="0"/>
      <dgm:spPr/>
    </dgm:pt>
    <dgm:pt modelId="{A3A0281E-0BE5-4F62-8BF5-CC66D405895A}" type="pres">
      <dgm:prSet presAssocID="{471D8DEF-F881-43FC-96AB-1A4122C0D631}" presName="parTxOnly" presStyleLbl="node1" presStyleIdx="1" presStyleCnt="4">
        <dgm:presLayoutVars>
          <dgm:chMax val="0"/>
          <dgm:chPref val="0"/>
          <dgm:bulletEnabled val="1"/>
        </dgm:presLayoutVars>
      </dgm:prSet>
      <dgm:spPr/>
    </dgm:pt>
    <dgm:pt modelId="{0539460D-AE8B-4723-B2B2-E167F29206D6}" type="pres">
      <dgm:prSet presAssocID="{BFB6DC88-9C57-4270-858E-545AACF5B593}" presName="parTxOnlySpace" presStyleCnt="0"/>
      <dgm:spPr/>
    </dgm:pt>
    <dgm:pt modelId="{34136723-CB6C-433B-A03D-5380663A29AE}" type="pres">
      <dgm:prSet presAssocID="{7BD55D62-84FB-48D0-B342-17FB7E7983AD}" presName="parTxOnly" presStyleLbl="node1" presStyleIdx="2" presStyleCnt="4">
        <dgm:presLayoutVars>
          <dgm:chMax val="0"/>
          <dgm:chPref val="0"/>
          <dgm:bulletEnabled val="1"/>
        </dgm:presLayoutVars>
      </dgm:prSet>
      <dgm:spPr/>
    </dgm:pt>
    <dgm:pt modelId="{7568CA63-2FD0-462E-93EF-8C1B4C53B991}" type="pres">
      <dgm:prSet presAssocID="{E544A1CE-F691-4C48-91F6-2FEA35090364}" presName="parTxOnlySpace" presStyleCnt="0"/>
      <dgm:spPr/>
    </dgm:pt>
    <dgm:pt modelId="{E190249D-0541-43BE-8D5F-E3E6FB46673D}" type="pres">
      <dgm:prSet presAssocID="{F058066B-18E0-4937-AA19-2EB1132582CA}" presName="parTxOnly" presStyleLbl="node1" presStyleIdx="3" presStyleCnt="4">
        <dgm:presLayoutVars>
          <dgm:chMax val="0"/>
          <dgm:chPref val="0"/>
          <dgm:bulletEnabled val="1"/>
        </dgm:presLayoutVars>
      </dgm:prSet>
      <dgm:spPr/>
    </dgm:pt>
  </dgm:ptLst>
  <dgm:cxnLst>
    <dgm:cxn modelId="{E4F6C803-ACDC-4620-B407-8145684C2ED8}" srcId="{C1197745-D624-4F18-B031-2809E956C024}" destId="{F058066B-18E0-4937-AA19-2EB1132582CA}" srcOrd="3" destOrd="0" parTransId="{A0745916-3B1B-40CE-A586-BC289C0A159C}" sibTransId="{6593217B-B9CB-4EA2-B0B7-E25F8E6F2B0B}"/>
    <dgm:cxn modelId="{82EFD119-35D7-4503-AE9E-3DDE6C660C9B}" type="presOf" srcId="{471D8DEF-F881-43FC-96AB-1A4122C0D631}" destId="{A3A0281E-0BE5-4F62-8BF5-CC66D405895A}" srcOrd="0" destOrd="0" presId="urn:microsoft.com/office/officeart/2005/8/layout/chevron1"/>
    <dgm:cxn modelId="{E7BA5C27-E2B8-4729-A271-925A8228AB8A}" srcId="{C1197745-D624-4F18-B031-2809E956C024}" destId="{3694FB0B-4B1F-448D-975F-D907495C1BA5}" srcOrd="0" destOrd="0" parTransId="{D69DD932-7A32-4C38-BD32-4E327D37861F}" sibTransId="{9ABAA982-0AC5-4485-98FB-48DBD07F12E2}"/>
    <dgm:cxn modelId="{284D882C-B478-48B8-A598-7F3E6349FEFA}" srcId="{C1197745-D624-4F18-B031-2809E956C024}" destId="{471D8DEF-F881-43FC-96AB-1A4122C0D631}" srcOrd="1" destOrd="0" parTransId="{5070C5DB-2BFA-4EFD-9035-00CBA09B825A}" sibTransId="{BFB6DC88-9C57-4270-858E-545AACF5B593}"/>
    <dgm:cxn modelId="{BD6CBF41-1A2D-4132-84FA-59D924CD089B}" type="presOf" srcId="{F058066B-18E0-4937-AA19-2EB1132582CA}" destId="{E190249D-0541-43BE-8D5F-E3E6FB46673D}" srcOrd="0" destOrd="0" presId="urn:microsoft.com/office/officeart/2005/8/layout/chevron1"/>
    <dgm:cxn modelId="{50B87687-A28D-4C9E-8BC0-476D50D20787}" type="presOf" srcId="{7BD55D62-84FB-48D0-B342-17FB7E7983AD}" destId="{34136723-CB6C-433B-A03D-5380663A29AE}" srcOrd="0" destOrd="0" presId="urn:microsoft.com/office/officeart/2005/8/layout/chevron1"/>
    <dgm:cxn modelId="{2C2EE0CA-2861-412F-BA38-A6D196441DC9}" srcId="{C1197745-D624-4F18-B031-2809E956C024}" destId="{7BD55D62-84FB-48D0-B342-17FB7E7983AD}" srcOrd="2" destOrd="0" parTransId="{A738B37F-4EFA-4A99-AD3F-AEF1EFD1277D}" sibTransId="{E544A1CE-F691-4C48-91F6-2FEA35090364}"/>
    <dgm:cxn modelId="{FC0FE8E9-C7DE-4981-844D-DF73433CF312}" type="presOf" srcId="{C1197745-D624-4F18-B031-2809E956C024}" destId="{C5A2E309-B2FB-4BFA-81C6-B2E8B22ABD2A}" srcOrd="0" destOrd="0" presId="urn:microsoft.com/office/officeart/2005/8/layout/chevron1"/>
    <dgm:cxn modelId="{8AD8B5F5-7CC0-4C1A-A3F0-33EB1D534635}" type="presOf" srcId="{3694FB0B-4B1F-448D-975F-D907495C1BA5}" destId="{521E22D6-D93C-4A15-AFCF-5596804AEBF4}" srcOrd="0" destOrd="0" presId="urn:microsoft.com/office/officeart/2005/8/layout/chevron1"/>
    <dgm:cxn modelId="{19C2CCFD-156E-4A5A-99A1-EF209A0A4FEE}" type="presParOf" srcId="{C5A2E309-B2FB-4BFA-81C6-B2E8B22ABD2A}" destId="{521E22D6-D93C-4A15-AFCF-5596804AEBF4}" srcOrd="0" destOrd="0" presId="urn:microsoft.com/office/officeart/2005/8/layout/chevron1"/>
    <dgm:cxn modelId="{B646A8DF-BD87-42FF-8666-0A3D5E01F3CB}" type="presParOf" srcId="{C5A2E309-B2FB-4BFA-81C6-B2E8B22ABD2A}" destId="{45114DAC-E63C-4CB4-8BD2-B8134BA74C5E}" srcOrd="1" destOrd="0" presId="urn:microsoft.com/office/officeart/2005/8/layout/chevron1"/>
    <dgm:cxn modelId="{7AF8067A-22F5-44F7-B5DC-722BA0D70F42}" type="presParOf" srcId="{C5A2E309-B2FB-4BFA-81C6-B2E8B22ABD2A}" destId="{A3A0281E-0BE5-4F62-8BF5-CC66D405895A}" srcOrd="2" destOrd="0" presId="urn:microsoft.com/office/officeart/2005/8/layout/chevron1"/>
    <dgm:cxn modelId="{B428524D-1B28-492D-9D05-4301F69AA784}" type="presParOf" srcId="{C5A2E309-B2FB-4BFA-81C6-B2E8B22ABD2A}" destId="{0539460D-AE8B-4723-B2B2-E167F29206D6}" srcOrd="3" destOrd="0" presId="urn:microsoft.com/office/officeart/2005/8/layout/chevron1"/>
    <dgm:cxn modelId="{A667384C-F1EA-4279-B748-782FBEF57DFE}" type="presParOf" srcId="{C5A2E309-B2FB-4BFA-81C6-B2E8B22ABD2A}" destId="{34136723-CB6C-433B-A03D-5380663A29AE}" srcOrd="4" destOrd="0" presId="urn:microsoft.com/office/officeart/2005/8/layout/chevron1"/>
    <dgm:cxn modelId="{337605C7-DE5C-41C5-8C6C-A9FB58069EE2}" type="presParOf" srcId="{C5A2E309-B2FB-4BFA-81C6-B2E8B22ABD2A}" destId="{7568CA63-2FD0-462E-93EF-8C1B4C53B991}" srcOrd="5" destOrd="0" presId="urn:microsoft.com/office/officeart/2005/8/layout/chevron1"/>
    <dgm:cxn modelId="{69EB81EC-C07C-4A82-B676-FD90C3B68132}" type="presParOf" srcId="{C5A2E309-B2FB-4BFA-81C6-B2E8B22ABD2A}" destId="{E190249D-0541-43BE-8D5F-E3E6FB46673D}" srcOrd="6"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D57BFE-4E7E-4422-BBC0-02947B72B727}">
      <dsp:nvSpPr>
        <dsp:cNvPr id="0" name=""/>
        <dsp:cNvSpPr/>
      </dsp:nvSpPr>
      <dsp:spPr>
        <a:xfrm rot="16200000">
          <a:off x="9420" y="-5623"/>
          <a:ext cx="1489131" cy="1500377"/>
        </a:xfrm>
        <a:prstGeom prst="flowChartManualOperati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0" tIns="0" rIns="106629" bIns="0" numCol="1" spcCol="1270" anchor="ctr" anchorCtr="0">
          <a:noAutofit/>
        </a:bodyPr>
        <a:lstStyle/>
        <a:p>
          <a:pPr marL="0" lvl="0" indent="0" algn="ctr" defTabSz="755650">
            <a:lnSpc>
              <a:spcPct val="90000"/>
            </a:lnSpc>
            <a:spcBef>
              <a:spcPct val="0"/>
            </a:spcBef>
            <a:spcAft>
              <a:spcPct val="35000"/>
            </a:spcAft>
            <a:buNone/>
          </a:pPr>
          <a:r>
            <a:rPr lang="en-US" sz="1700" b="1" kern="1200">
              <a:latin typeface="Abadi" panose="020B0604020104020204" pitchFamily="34" charset="0"/>
            </a:rPr>
            <a:t>Lack of Real-Time Data Integration </a:t>
          </a:r>
          <a:endParaRPr lang="en-IN" sz="1700" kern="1200">
            <a:latin typeface="Abadi" panose="020B0604020104020204" pitchFamily="34" charset="0"/>
          </a:endParaRPr>
        </a:p>
      </dsp:txBody>
      <dsp:txXfrm rot="5400000">
        <a:off x="3797" y="297826"/>
        <a:ext cx="1500377" cy="893479"/>
      </dsp:txXfrm>
    </dsp:sp>
    <dsp:sp modelId="{77A57BCF-9D33-4EA6-9C4A-DCEA3538002F}">
      <dsp:nvSpPr>
        <dsp:cNvPr id="0" name=""/>
        <dsp:cNvSpPr/>
      </dsp:nvSpPr>
      <dsp:spPr>
        <a:xfrm rot="16200000">
          <a:off x="1622326" y="-5623"/>
          <a:ext cx="1489131" cy="1500377"/>
        </a:xfrm>
        <a:prstGeom prst="flowChartManualOperati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0" tIns="0" rIns="106629" bIns="0" numCol="1" spcCol="1270" anchor="ctr" anchorCtr="0">
          <a:noAutofit/>
        </a:bodyPr>
        <a:lstStyle/>
        <a:p>
          <a:pPr marL="0" lvl="0" indent="0" algn="ctr" defTabSz="755650">
            <a:lnSpc>
              <a:spcPct val="90000"/>
            </a:lnSpc>
            <a:spcBef>
              <a:spcPct val="0"/>
            </a:spcBef>
            <a:spcAft>
              <a:spcPct val="35000"/>
            </a:spcAft>
            <a:buNone/>
          </a:pPr>
          <a:r>
            <a:rPr lang="en-IN" sz="1700" b="1" kern="1200">
              <a:latin typeface="Abadi" panose="020B0604020104020204" pitchFamily="34" charset="0"/>
            </a:rPr>
            <a:t>Disconnected Systems</a:t>
          </a:r>
          <a:endParaRPr lang="en-IN" sz="1700" kern="1200">
            <a:latin typeface="Abadi" panose="020B0604020104020204" pitchFamily="34" charset="0"/>
          </a:endParaRPr>
        </a:p>
      </dsp:txBody>
      <dsp:txXfrm rot="5400000">
        <a:off x="1616703" y="297826"/>
        <a:ext cx="1500377" cy="893479"/>
      </dsp:txXfrm>
    </dsp:sp>
    <dsp:sp modelId="{58B5E644-5891-4B05-BDB8-8E08A4073EA6}">
      <dsp:nvSpPr>
        <dsp:cNvPr id="0" name=""/>
        <dsp:cNvSpPr/>
      </dsp:nvSpPr>
      <dsp:spPr>
        <a:xfrm rot="16200000">
          <a:off x="3235232" y="-5623"/>
          <a:ext cx="1489131" cy="1500377"/>
        </a:xfrm>
        <a:prstGeom prst="flowChartManualOperati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0" tIns="0" rIns="106629" bIns="0" numCol="1" spcCol="1270" anchor="ctr" anchorCtr="0">
          <a:noAutofit/>
        </a:bodyPr>
        <a:lstStyle/>
        <a:p>
          <a:pPr marL="0" lvl="0" indent="0" algn="ctr" defTabSz="755650">
            <a:lnSpc>
              <a:spcPct val="90000"/>
            </a:lnSpc>
            <a:spcBef>
              <a:spcPct val="0"/>
            </a:spcBef>
            <a:spcAft>
              <a:spcPct val="35000"/>
            </a:spcAft>
            <a:buNone/>
          </a:pPr>
          <a:r>
            <a:rPr lang="en-IN" sz="1700" b="1" kern="1200">
              <a:latin typeface="Abadi" panose="020B0604020104020204" pitchFamily="34" charset="0"/>
            </a:rPr>
            <a:t>Rigid Point-to-Point Connectivity</a:t>
          </a:r>
        </a:p>
      </dsp:txBody>
      <dsp:txXfrm rot="5400000">
        <a:off x="3229609" y="297826"/>
        <a:ext cx="1500377" cy="893479"/>
      </dsp:txXfrm>
    </dsp:sp>
    <dsp:sp modelId="{E3B972CD-E4DA-4155-A774-7CA64BFB065D}">
      <dsp:nvSpPr>
        <dsp:cNvPr id="0" name=""/>
        <dsp:cNvSpPr/>
      </dsp:nvSpPr>
      <dsp:spPr>
        <a:xfrm rot="16200000">
          <a:off x="4848138" y="-5623"/>
          <a:ext cx="1489131" cy="1500377"/>
        </a:xfrm>
        <a:prstGeom prst="flowChartManualOperati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0" tIns="0" rIns="106629" bIns="0" numCol="1" spcCol="1270" anchor="ctr" anchorCtr="0">
          <a:noAutofit/>
        </a:bodyPr>
        <a:lstStyle/>
        <a:p>
          <a:pPr marL="0" lvl="0" indent="0" algn="ctr" defTabSz="755650">
            <a:lnSpc>
              <a:spcPct val="90000"/>
            </a:lnSpc>
            <a:spcBef>
              <a:spcPct val="0"/>
            </a:spcBef>
            <a:spcAft>
              <a:spcPct val="35000"/>
            </a:spcAft>
            <a:buNone/>
          </a:pPr>
          <a:r>
            <a:rPr lang="en-IN" sz="1700" b="1" kern="1200">
              <a:latin typeface="Abadi" panose="020B0604020104020204" pitchFamily="34" charset="0"/>
            </a:rPr>
            <a:t>High  Maintenance Efforts</a:t>
          </a:r>
          <a:endParaRPr lang="en-IN" sz="1700" kern="1200">
            <a:latin typeface="Abadi" panose="020B0604020104020204" pitchFamily="34" charset="0"/>
          </a:endParaRPr>
        </a:p>
      </dsp:txBody>
      <dsp:txXfrm rot="5400000">
        <a:off x="4842515" y="297826"/>
        <a:ext cx="1500377" cy="893479"/>
      </dsp:txXfrm>
    </dsp:sp>
    <dsp:sp modelId="{D528E876-97EE-4566-94C0-568670E035D2}">
      <dsp:nvSpPr>
        <dsp:cNvPr id="0" name=""/>
        <dsp:cNvSpPr/>
      </dsp:nvSpPr>
      <dsp:spPr>
        <a:xfrm rot="16200000">
          <a:off x="6461044" y="-5623"/>
          <a:ext cx="1489131" cy="1500377"/>
        </a:xfrm>
        <a:prstGeom prst="flowChartManualOperati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0" tIns="0" rIns="106629" bIns="0" numCol="1" spcCol="1270" anchor="ctr" anchorCtr="0">
          <a:noAutofit/>
        </a:bodyPr>
        <a:lstStyle/>
        <a:p>
          <a:pPr marL="0" lvl="0" indent="0" algn="ctr" defTabSz="755650">
            <a:lnSpc>
              <a:spcPct val="90000"/>
            </a:lnSpc>
            <a:spcBef>
              <a:spcPct val="0"/>
            </a:spcBef>
            <a:spcAft>
              <a:spcPct val="35000"/>
            </a:spcAft>
            <a:buNone/>
          </a:pPr>
          <a:r>
            <a:rPr lang="en-IN" sz="1700" b="1" kern="1200">
              <a:latin typeface="Abadi" panose="020B0604020104020204" pitchFamily="34" charset="0"/>
            </a:rPr>
            <a:t>Poor Visibility &amp; Monitoring</a:t>
          </a:r>
        </a:p>
      </dsp:txBody>
      <dsp:txXfrm rot="5400000">
        <a:off x="6455421" y="297826"/>
        <a:ext cx="1500377" cy="893479"/>
      </dsp:txXfrm>
    </dsp:sp>
    <dsp:sp modelId="{960C1C66-7236-4E50-AFCA-1DE3A852E656}">
      <dsp:nvSpPr>
        <dsp:cNvPr id="0" name=""/>
        <dsp:cNvSpPr/>
      </dsp:nvSpPr>
      <dsp:spPr>
        <a:xfrm rot="16200000">
          <a:off x="8073950" y="-5623"/>
          <a:ext cx="1489131" cy="1500377"/>
        </a:xfrm>
        <a:prstGeom prst="flowChartManualOperati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0" tIns="0" rIns="106629" bIns="0" numCol="1" spcCol="1270" anchor="ctr" anchorCtr="0">
          <a:noAutofit/>
        </a:bodyPr>
        <a:lstStyle/>
        <a:p>
          <a:pPr marL="0" lvl="0" indent="0" algn="ctr" defTabSz="755650">
            <a:lnSpc>
              <a:spcPct val="90000"/>
            </a:lnSpc>
            <a:spcBef>
              <a:spcPct val="0"/>
            </a:spcBef>
            <a:spcAft>
              <a:spcPct val="35000"/>
            </a:spcAft>
            <a:buNone/>
          </a:pPr>
          <a:r>
            <a:rPr lang="en-IN" sz="1700" b="1" kern="1200">
              <a:latin typeface="Abadi" panose="020B0604020104020204" pitchFamily="34" charset="0"/>
            </a:rPr>
            <a:t>Slow Time to Market</a:t>
          </a:r>
          <a:endParaRPr lang="en-IN" sz="1700" kern="1200">
            <a:latin typeface="Abadi" panose="020B0604020104020204" pitchFamily="34" charset="0"/>
          </a:endParaRPr>
        </a:p>
      </dsp:txBody>
      <dsp:txXfrm rot="5400000">
        <a:off x="8068327" y="297826"/>
        <a:ext cx="1500377" cy="8934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AD5E86-E426-4029-B3CE-0ACB19526103}">
      <dsp:nvSpPr>
        <dsp:cNvPr id="0" name=""/>
        <dsp:cNvSpPr/>
      </dsp:nvSpPr>
      <dsp:spPr>
        <a:xfrm>
          <a:off x="541224" y="419765"/>
          <a:ext cx="688912" cy="688912"/>
        </a:xfrm>
        <a:prstGeom prst="ellipse">
          <a:avLst/>
        </a:prstGeom>
        <a:solidFill>
          <a:srgbClr val="F0E7FF"/>
        </a:solidFill>
        <a:ln>
          <a:noFill/>
        </a:ln>
        <a:effectLst/>
      </dsp:spPr>
      <dsp:style>
        <a:lnRef idx="0">
          <a:scrgbClr r="0" g="0" b="0"/>
        </a:lnRef>
        <a:fillRef idx="1">
          <a:scrgbClr r="0" g="0" b="0"/>
        </a:fillRef>
        <a:effectRef idx="0">
          <a:scrgbClr r="0" g="0" b="0"/>
        </a:effectRef>
        <a:fontRef idx="minor"/>
      </dsp:style>
    </dsp:sp>
    <dsp:sp modelId="{8360FC46-6E6F-4A89-B556-5041EC054650}">
      <dsp:nvSpPr>
        <dsp:cNvPr id="0" name=""/>
        <dsp:cNvSpPr/>
      </dsp:nvSpPr>
      <dsp:spPr>
        <a:xfrm>
          <a:off x="685895" y="564436"/>
          <a:ext cx="399569" cy="399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D9EFEE-877D-4989-B0E6-43E68051A273}">
      <dsp:nvSpPr>
        <dsp:cNvPr id="0" name=""/>
        <dsp:cNvSpPr/>
      </dsp:nvSpPr>
      <dsp:spPr>
        <a:xfrm>
          <a:off x="1377761" y="419765"/>
          <a:ext cx="1623866" cy="688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b="1" kern="1200" dirty="0">
              <a:latin typeface="Graphik" panose="020B0503030202060203" pitchFamily="34" charset="0"/>
            </a:rPr>
            <a:t>Improved Communication </a:t>
          </a:r>
          <a:r>
            <a:rPr lang="en-US" sz="1000" kern="1200" dirty="0">
              <a:latin typeface="Graphik" panose="020B0503030202060203" pitchFamily="34" charset="0"/>
            </a:rPr>
            <a:t>: Improving the communications between the system.</a:t>
          </a:r>
        </a:p>
      </dsp:txBody>
      <dsp:txXfrm>
        <a:off x="1377761" y="419765"/>
        <a:ext cx="1623866" cy="688912"/>
      </dsp:txXfrm>
    </dsp:sp>
    <dsp:sp modelId="{42ED91D1-A7F0-4444-BB66-B8E932A8504E}">
      <dsp:nvSpPr>
        <dsp:cNvPr id="0" name=""/>
        <dsp:cNvSpPr/>
      </dsp:nvSpPr>
      <dsp:spPr>
        <a:xfrm>
          <a:off x="3284573" y="419765"/>
          <a:ext cx="688912" cy="688912"/>
        </a:xfrm>
        <a:prstGeom prst="ellipse">
          <a:avLst/>
        </a:prstGeom>
        <a:solidFill>
          <a:srgbClr val="F0E7FF"/>
        </a:solidFill>
        <a:ln>
          <a:noFill/>
        </a:ln>
        <a:effectLst/>
      </dsp:spPr>
      <dsp:style>
        <a:lnRef idx="0">
          <a:scrgbClr r="0" g="0" b="0"/>
        </a:lnRef>
        <a:fillRef idx="1">
          <a:scrgbClr r="0" g="0" b="0"/>
        </a:fillRef>
        <a:effectRef idx="0">
          <a:scrgbClr r="0" g="0" b="0"/>
        </a:effectRef>
        <a:fontRef idx="minor"/>
      </dsp:style>
    </dsp:sp>
    <dsp:sp modelId="{E1613071-3009-4899-82C3-BE862743EAA3}">
      <dsp:nvSpPr>
        <dsp:cNvPr id="0" name=""/>
        <dsp:cNvSpPr/>
      </dsp:nvSpPr>
      <dsp:spPr>
        <a:xfrm>
          <a:off x="3429245" y="564436"/>
          <a:ext cx="399569" cy="399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BF2328-2B29-4C6D-8D5A-FB5563679C96}">
      <dsp:nvSpPr>
        <dsp:cNvPr id="0" name=""/>
        <dsp:cNvSpPr/>
      </dsp:nvSpPr>
      <dsp:spPr>
        <a:xfrm>
          <a:off x="4121110" y="419765"/>
          <a:ext cx="1623866" cy="688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b="1" kern="1200" dirty="0">
              <a:latin typeface="Graphik" panose="020B0503030202060203" pitchFamily="34" charset="0"/>
            </a:rPr>
            <a:t>Flexibility</a:t>
          </a:r>
          <a:r>
            <a:rPr lang="en-US" sz="1000" kern="1200" dirty="0">
              <a:latin typeface="Graphik" panose="020B0503030202060203" pitchFamily="34" charset="0"/>
            </a:rPr>
            <a:t> : MuleSoft Layer gives flexibility to integrate with wide variety of system including legacy systems, </a:t>
          </a:r>
          <a:r>
            <a:rPr lang="en-US" sz="1000" kern="1200" dirty="0">
              <a:solidFill>
                <a:prstClr val="black">
                  <a:hueOff val="0"/>
                  <a:satOff val="0"/>
                  <a:lumOff val="0"/>
                  <a:alphaOff val="0"/>
                </a:prstClr>
              </a:solidFill>
              <a:latin typeface="Graphik" panose="020B0503030202060203" pitchFamily="34" charset="0"/>
              <a:ea typeface="+mn-ea"/>
              <a:cs typeface="+mn-cs"/>
            </a:rPr>
            <a:t>cloud</a:t>
          </a:r>
          <a:r>
            <a:rPr lang="en-US" sz="1000" kern="1200" dirty="0">
              <a:latin typeface="Graphik" panose="020B0503030202060203" pitchFamily="34" charset="0"/>
            </a:rPr>
            <a:t> applications and APIs.</a:t>
          </a:r>
        </a:p>
      </dsp:txBody>
      <dsp:txXfrm>
        <a:off x="4121110" y="419765"/>
        <a:ext cx="1623866" cy="688912"/>
      </dsp:txXfrm>
    </dsp:sp>
    <dsp:sp modelId="{A94DA048-B3F3-4CE2-AF27-243AD843F0B9}">
      <dsp:nvSpPr>
        <dsp:cNvPr id="0" name=""/>
        <dsp:cNvSpPr/>
      </dsp:nvSpPr>
      <dsp:spPr>
        <a:xfrm>
          <a:off x="6027923" y="419765"/>
          <a:ext cx="688912" cy="688912"/>
        </a:xfrm>
        <a:prstGeom prst="ellipse">
          <a:avLst/>
        </a:prstGeom>
        <a:solidFill>
          <a:srgbClr val="F0E7FF"/>
        </a:solidFill>
        <a:ln>
          <a:noFill/>
        </a:ln>
        <a:effectLst/>
      </dsp:spPr>
      <dsp:style>
        <a:lnRef idx="0">
          <a:scrgbClr r="0" g="0" b="0"/>
        </a:lnRef>
        <a:fillRef idx="1">
          <a:scrgbClr r="0" g="0" b="0"/>
        </a:fillRef>
        <a:effectRef idx="0">
          <a:scrgbClr r="0" g="0" b="0"/>
        </a:effectRef>
        <a:fontRef idx="minor"/>
      </dsp:style>
    </dsp:sp>
    <dsp:sp modelId="{82D69FC3-68CC-4693-9265-F08BB62B4B26}">
      <dsp:nvSpPr>
        <dsp:cNvPr id="0" name=""/>
        <dsp:cNvSpPr/>
      </dsp:nvSpPr>
      <dsp:spPr>
        <a:xfrm>
          <a:off x="6172594" y="564436"/>
          <a:ext cx="399569" cy="3995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E735AA-7DBA-45FB-8FBC-A66B6B2DA390}">
      <dsp:nvSpPr>
        <dsp:cNvPr id="0" name=""/>
        <dsp:cNvSpPr/>
      </dsp:nvSpPr>
      <dsp:spPr>
        <a:xfrm>
          <a:off x="6864460" y="419765"/>
          <a:ext cx="1623866" cy="688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b="1" kern="1200" dirty="0">
              <a:latin typeface="Graphik" panose="020B0503030202060203" pitchFamily="34" charset="0"/>
            </a:rPr>
            <a:t>Scalability</a:t>
          </a:r>
          <a:r>
            <a:rPr lang="en-US" sz="1000" kern="1200" dirty="0">
              <a:latin typeface="Graphik" panose="020B0503030202060203" pitchFamily="34" charset="0"/>
            </a:rPr>
            <a:t>:  with the help of MuleSoft integration layer can handle large volume of data and transaction as it can be scaled.</a:t>
          </a:r>
        </a:p>
      </dsp:txBody>
      <dsp:txXfrm>
        <a:off x="6864460" y="419765"/>
        <a:ext cx="1623866" cy="688912"/>
      </dsp:txXfrm>
    </dsp:sp>
    <dsp:sp modelId="{6BA3667B-914A-4500-8A40-F285C3CBE99B}">
      <dsp:nvSpPr>
        <dsp:cNvPr id="0" name=""/>
        <dsp:cNvSpPr/>
      </dsp:nvSpPr>
      <dsp:spPr>
        <a:xfrm>
          <a:off x="8771272" y="419765"/>
          <a:ext cx="688912" cy="688912"/>
        </a:xfrm>
        <a:prstGeom prst="ellipse">
          <a:avLst/>
        </a:prstGeom>
        <a:solidFill>
          <a:srgbClr val="F0E7FF"/>
        </a:solidFill>
        <a:ln>
          <a:noFill/>
        </a:ln>
        <a:effectLst/>
      </dsp:spPr>
      <dsp:style>
        <a:lnRef idx="0">
          <a:scrgbClr r="0" g="0" b="0"/>
        </a:lnRef>
        <a:fillRef idx="1">
          <a:scrgbClr r="0" g="0" b="0"/>
        </a:fillRef>
        <a:effectRef idx="0">
          <a:scrgbClr r="0" g="0" b="0"/>
        </a:effectRef>
        <a:fontRef idx="minor"/>
      </dsp:style>
    </dsp:sp>
    <dsp:sp modelId="{44EA3F78-924B-4C14-80B9-1AD3B78975F4}">
      <dsp:nvSpPr>
        <dsp:cNvPr id="0" name=""/>
        <dsp:cNvSpPr/>
      </dsp:nvSpPr>
      <dsp:spPr>
        <a:xfrm>
          <a:off x="8915944" y="564436"/>
          <a:ext cx="399569" cy="3995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1F14DD-E6AB-4F25-A64E-6668E5BA8836}">
      <dsp:nvSpPr>
        <dsp:cNvPr id="0" name=""/>
        <dsp:cNvSpPr/>
      </dsp:nvSpPr>
      <dsp:spPr>
        <a:xfrm>
          <a:off x="9607809" y="419765"/>
          <a:ext cx="1623866" cy="688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b="1" kern="1200" dirty="0">
              <a:latin typeface="Graphik" panose="020B0503030202060203" pitchFamily="34" charset="0"/>
            </a:rPr>
            <a:t>Security</a:t>
          </a:r>
          <a:r>
            <a:rPr lang="en-US" sz="1000" kern="1200" dirty="0">
              <a:latin typeface="Graphik" panose="020B0503030202060203" pitchFamily="34" charset="0"/>
            </a:rPr>
            <a:t> : Having added security on services like Oauth, Client secret , encryption and access control.</a:t>
          </a:r>
        </a:p>
      </dsp:txBody>
      <dsp:txXfrm>
        <a:off x="9607809" y="419765"/>
        <a:ext cx="1623866" cy="688912"/>
      </dsp:txXfrm>
    </dsp:sp>
    <dsp:sp modelId="{FA5B44C8-1477-4C3E-B762-A4396A99E29A}">
      <dsp:nvSpPr>
        <dsp:cNvPr id="0" name=""/>
        <dsp:cNvSpPr/>
      </dsp:nvSpPr>
      <dsp:spPr>
        <a:xfrm>
          <a:off x="541224" y="1562835"/>
          <a:ext cx="688912" cy="688912"/>
        </a:xfrm>
        <a:prstGeom prst="ellipse">
          <a:avLst/>
        </a:prstGeom>
        <a:solidFill>
          <a:srgbClr val="F0E7FF"/>
        </a:solidFill>
        <a:ln>
          <a:noFill/>
        </a:ln>
        <a:effectLst/>
      </dsp:spPr>
      <dsp:style>
        <a:lnRef idx="0">
          <a:scrgbClr r="0" g="0" b="0"/>
        </a:lnRef>
        <a:fillRef idx="1">
          <a:scrgbClr r="0" g="0" b="0"/>
        </a:fillRef>
        <a:effectRef idx="0">
          <a:scrgbClr r="0" g="0" b="0"/>
        </a:effectRef>
        <a:fontRef idx="minor"/>
      </dsp:style>
    </dsp:sp>
    <dsp:sp modelId="{BFE433C1-D974-408A-90B5-5231AAEB9B5D}">
      <dsp:nvSpPr>
        <dsp:cNvPr id="0" name=""/>
        <dsp:cNvSpPr/>
      </dsp:nvSpPr>
      <dsp:spPr>
        <a:xfrm>
          <a:off x="685895" y="1707506"/>
          <a:ext cx="399569" cy="3995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8144FB-4EDC-4FF1-BB71-B4DAF9A9ED19}">
      <dsp:nvSpPr>
        <dsp:cNvPr id="0" name=""/>
        <dsp:cNvSpPr/>
      </dsp:nvSpPr>
      <dsp:spPr>
        <a:xfrm>
          <a:off x="1377761" y="1562835"/>
          <a:ext cx="1623866" cy="688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b="1" kern="1200" dirty="0">
              <a:latin typeface="Graphik" panose="020B0503030202060203" pitchFamily="34" charset="0"/>
            </a:rPr>
            <a:t>Speed</a:t>
          </a:r>
          <a:r>
            <a:rPr lang="en-US" sz="1000" kern="1200" dirty="0">
              <a:latin typeface="Graphik" panose="020B0503030202060203" pitchFamily="34" charset="0"/>
            </a:rPr>
            <a:t> : MuleSoft Integration layer designed as fast and support caching, there are certain APIs for aggregators where we will have caching which will help retrieval faster.</a:t>
          </a:r>
        </a:p>
      </dsp:txBody>
      <dsp:txXfrm>
        <a:off x="1377761" y="1562835"/>
        <a:ext cx="1623866" cy="688912"/>
      </dsp:txXfrm>
    </dsp:sp>
    <dsp:sp modelId="{2E65F255-A157-4670-A87E-990603D2B432}">
      <dsp:nvSpPr>
        <dsp:cNvPr id="0" name=""/>
        <dsp:cNvSpPr/>
      </dsp:nvSpPr>
      <dsp:spPr>
        <a:xfrm>
          <a:off x="3284573" y="1562835"/>
          <a:ext cx="688912" cy="688912"/>
        </a:xfrm>
        <a:prstGeom prst="ellipse">
          <a:avLst/>
        </a:prstGeom>
        <a:solidFill>
          <a:srgbClr val="F0E7FF"/>
        </a:solidFill>
        <a:ln>
          <a:noFill/>
        </a:ln>
        <a:effectLst/>
      </dsp:spPr>
      <dsp:style>
        <a:lnRef idx="0">
          <a:scrgbClr r="0" g="0" b="0"/>
        </a:lnRef>
        <a:fillRef idx="1">
          <a:scrgbClr r="0" g="0" b="0"/>
        </a:fillRef>
        <a:effectRef idx="0">
          <a:scrgbClr r="0" g="0" b="0"/>
        </a:effectRef>
        <a:fontRef idx="minor"/>
      </dsp:style>
    </dsp:sp>
    <dsp:sp modelId="{B5B63725-EEEE-42B6-9B60-E3589F9F2DFC}">
      <dsp:nvSpPr>
        <dsp:cNvPr id="0" name=""/>
        <dsp:cNvSpPr/>
      </dsp:nvSpPr>
      <dsp:spPr>
        <a:xfrm>
          <a:off x="3429245" y="1707506"/>
          <a:ext cx="399569" cy="39956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9BB57D-905C-4796-9600-3DF486E37B61}">
      <dsp:nvSpPr>
        <dsp:cNvPr id="0" name=""/>
        <dsp:cNvSpPr/>
      </dsp:nvSpPr>
      <dsp:spPr>
        <a:xfrm>
          <a:off x="4121110" y="1562835"/>
          <a:ext cx="1623866" cy="688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b="1" kern="1200" dirty="0">
              <a:latin typeface="Graphik" panose="020B0503030202060203" pitchFamily="34" charset="0"/>
            </a:rPr>
            <a:t>Agility</a:t>
          </a:r>
          <a:r>
            <a:rPr lang="en-US" sz="1000" kern="1200" dirty="0">
              <a:latin typeface="Graphik" panose="020B0503030202060203" pitchFamily="34" charset="0"/>
            </a:rPr>
            <a:t> : With our API layers we can quickly adapt to changing business needs and integrate new systems and applications this gives agility to be competitive.</a:t>
          </a:r>
        </a:p>
      </dsp:txBody>
      <dsp:txXfrm>
        <a:off x="4121110" y="1562835"/>
        <a:ext cx="1623866" cy="688912"/>
      </dsp:txXfrm>
    </dsp:sp>
    <dsp:sp modelId="{2DD1D58C-AF5C-4DD7-B87B-A3F834D26D83}">
      <dsp:nvSpPr>
        <dsp:cNvPr id="0" name=""/>
        <dsp:cNvSpPr/>
      </dsp:nvSpPr>
      <dsp:spPr>
        <a:xfrm>
          <a:off x="6027923" y="1562835"/>
          <a:ext cx="688912" cy="688912"/>
        </a:xfrm>
        <a:prstGeom prst="ellipse">
          <a:avLst/>
        </a:prstGeom>
        <a:solidFill>
          <a:srgbClr val="F0E7FF"/>
        </a:solidFill>
        <a:ln>
          <a:noFill/>
        </a:ln>
        <a:effectLst/>
      </dsp:spPr>
      <dsp:style>
        <a:lnRef idx="0">
          <a:scrgbClr r="0" g="0" b="0"/>
        </a:lnRef>
        <a:fillRef idx="1">
          <a:scrgbClr r="0" g="0" b="0"/>
        </a:fillRef>
        <a:effectRef idx="0">
          <a:scrgbClr r="0" g="0" b="0"/>
        </a:effectRef>
        <a:fontRef idx="minor"/>
      </dsp:style>
    </dsp:sp>
    <dsp:sp modelId="{2F678FF3-E149-408F-98BC-2014C85D5988}">
      <dsp:nvSpPr>
        <dsp:cNvPr id="0" name=""/>
        <dsp:cNvSpPr/>
      </dsp:nvSpPr>
      <dsp:spPr>
        <a:xfrm>
          <a:off x="6172594" y="1707506"/>
          <a:ext cx="399569" cy="399569"/>
        </a:xfrm>
        <a:prstGeom prst="rect">
          <a:avLst/>
        </a:prstGeom>
        <a:blipFill>
          <a:blip xmlns:r="http://schemas.openxmlformats.org/officeDocument/2006/relationships" r:embed="rId13">
            <a:extLst>
              <a:ext uri="{96DAC541-7B7A-43D3-8B79-37D633B846F1}">
                <asvg:svgBlip xmlns:asvg="http://schemas.microsoft.com/office/drawing/2016/SVG/main" r:embed="rId14"/>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15B417-4648-4AF2-AD28-F5FAC3B67A58}">
      <dsp:nvSpPr>
        <dsp:cNvPr id="0" name=""/>
        <dsp:cNvSpPr/>
      </dsp:nvSpPr>
      <dsp:spPr>
        <a:xfrm>
          <a:off x="6864460" y="1562835"/>
          <a:ext cx="1623866" cy="688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b="1" kern="1200" dirty="0">
              <a:latin typeface="Graphik" panose="020B0503030202060203" pitchFamily="34" charset="0"/>
            </a:rPr>
            <a:t>Analytics</a:t>
          </a:r>
          <a:r>
            <a:rPr lang="en-US" sz="1000" kern="1200" dirty="0">
              <a:latin typeface="Graphik" panose="020B0503030202060203" pitchFamily="34" charset="0"/>
            </a:rPr>
            <a:t> :Any point analytics enables to gain insight on their API usage, performance and operational data. </a:t>
          </a:r>
        </a:p>
      </dsp:txBody>
      <dsp:txXfrm>
        <a:off x="6864460" y="1562835"/>
        <a:ext cx="1623866" cy="688912"/>
      </dsp:txXfrm>
    </dsp:sp>
    <dsp:sp modelId="{C6822832-FD26-42EF-B4BB-D31715872D24}">
      <dsp:nvSpPr>
        <dsp:cNvPr id="0" name=""/>
        <dsp:cNvSpPr/>
      </dsp:nvSpPr>
      <dsp:spPr>
        <a:xfrm>
          <a:off x="8771272" y="1571976"/>
          <a:ext cx="688912" cy="688912"/>
        </a:xfrm>
        <a:prstGeom prst="ellipse">
          <a:avLst/>
        </a:prstGeom>
        <a:solidFill>
          <a:srgbClr val="F0E7FF"/>
        </a:solidFill>
        <a:ln>
          <a:noFill/>
        </a:ln>
        <a:effectLst/>
      </dsp:spPr>
      <dsp:style>
        <a:lnRef idx="0">
          <a:scrgbClr r="0" g="0" b="0"/>
        </a:lnRef>
        <a:fillRef idx="1">
          <a:scrgbClr r="0" g="0" b="0"/>
        </a:fillRef>
        <a:effectRef idx="0">
          <a:scrgbClr r="0" g="0" b="0"/>
        </a:effectRef>
        <a:fontRef idx="minor"/>
      </dsp:style>
    </dsp:sp>
    <dsp:sp modelId="{E8F2E123-9FD9-4B92-BAB7-B5D3F616BDA1}">
      <dsp:nvSpPr>
        <dsp:cNvPr id="0" name=""/>
        <dsp:cNvSpPr/>
      </dsp:nvSpPr>
      <dsp:spPr>
        <a:xfrm>
          <a:off x="8915944" y="1707506"/>
          <a:ext cx="399569" cy="399569"/>
        </a:xfrm>
        <a:prstGeom prst="rect">
          <a:avLst/>
        </a:prstGeom>
        <a:blipFill>
          <a:blip xmlns:r="http://schemas.openxmlformats.org/officeDocument/2006/relationships" r:embed="rId15">
            <a:extLst>
              <a:ext uri="{96DAC541-7B7A-43D3-8B79-37D633B846F1}">
                <asvg:svgBlip xmlns:asvg="http://schemas.microsoft.com/office/drawing/2016/SVG/main" r:embed="rId1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1DADE0-5074-4F3B-92F7-29433CEFE54C}">
      <dsp:nvSpPr>
        <dsp:cNvPr id="0" name=""/>
        <dsp:cNvSpPr/>
      </dsp:nvSpPr>
      <dsp:spPr>
        <a:xfrm>
          <a:off x="9607809" y="1562835"/>
          <a:ext cx="1623866" cy="688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latin typeface="Graphik" panose="020B0503030202060203" pitchFamily="34" charset="0"/>
            </a:rPr>
            <a:t>Reusability</a:t>
          </a:r>
          <a:r>
            <a:rPr lang="en-US" sz="1100" kern="1200" dirty="0">
              <a:latin typeface="Graphik" panose="020B0503030202060203" pitchFamily="34" charset="0"/>
            </a:rPr>
            <a:t> : </a:t>
          </a:r>
          <a:r>
            <a:rPr lang="en-US" sz="1000" kern="1200" dirty="0">
              <a:latin typeface="Graphik" panose="020B0503030202060203" pitchFamily="34" charset="0"/>
            </a:rPr>
            <a:t>APIs can be reused across multiple projects, reducing duplication and effort.</a:t>
          </a:r>
        </a:p>
      </dsp:txBody>
      <dsp:txXfrm>
        <a:off x="9607809" y="1562835"/>
        <a:ext cx="1623866" cy="6889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D1EADD-009A-49E7-B7B6-EF1E56D4D285}">
      <dsp:nvSpPr>
        <dsp:cNvPr id="0" name=""/>
        <dsp:cNvSpPr/>
      </dsp:nvSpPr>
      <dsp:spPr>
        <a:xfrm>
          <a:off x="-5441883" y="-583488"/>
          <a:ext cx="6479641" cy="6479641"/>
        </a:xfrm>
        <a:prstGeom prst="blockArc">
          <a:avLst>
            <a:gd name="adj1" fmla="val 18900000"/>
            <a:gd name="adj2" fmla="val 2700000"/>
            <a:gd name="adj3" fmla="val 333"/>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32BFD2-230F-4488-A689-DC121B4C0E55}">
      <dsp:nvSpPr>
        <dsp:cNvPr id="0" name=""/>
        <dsp:cNvSpPr/>
      </dsp:nvSpPr>
      <dsp:spPr>
        <a:xfrm>
          <a:off x="543286" y="619802"/>
          <a:ext cx="3240196" cy="740451"/>
        </a:xfrm>
        <a:prstGeom prst="rect">
          <a:avLst/>
        </a:prstGeom>
        <a:solidFill>
          <a:srgbClr val="B674F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7733" tIns="33020" rIns="33020" bIns="33020" numCol="1" spcCol="1270" anchor="ctr" anchorCtr="0">
          <a:noAutofit/>
        </a:bodyPr>
        <a:lstStyle/>
        <a:p>
          <a:pPr marL="0" lvl="0" indent="0" algn="l" defTabSz="577850">
            <a:lnSpc>
              <a:spcPct val="90000"/>
            </a:lnSpc>
            <a:spcBef>
              <a:spcPct val="0"/>
            </a:spcBef>
            <a:spcAft>
              <a:spcPct val="35000"/>
            </a:spcAft>
            <a:buNone/>
          </a:pPr>
          <a:endParaRPr lang="en-US" sz="1300" kern="1200" dirty="0"/>
        </a:p>
        <a:p>
          <a:pPr marL="0" lvl="0" indent="0" algn="l" defTabSz="577850">
            <a:lnSpc>
              <a:spcPct val="90000"/>
            </a:lnSpc>
            <a:spcBef>
              <a:spcPct val="0"/>
            </a:spcBef>
            <a:spcAft>
              <a:spcPct val="35000"/>
            </a:spcAft>
            <a:buNone/>
          </a:pPr>
          <a:r>
            <a:rPr lang="en-US" sz="1300" kern="1200"/>
            <a:t>Monthly Traffic </a:t>
          </a:r>
          <a:r>
            <a:rPr lang="en-US" sz="1400" kern="1200"/>
            <a:t>to System</a:t>
          </a:r>
        </a:p>
        <a:p>
          <a:pPr marL="0" lvl="0" indent="0" algn="l" defTabSz="577850">
            <a:lnSpc>
              <a:spcPct val="90000"/>
            </a:lnSpc>
            <a:spcBef>
              <a:spcPct val="0"/>
            </a:spcBef>
            <a:spcAft>
              <a:spcPct val="35000"/>
            </a:spcAft>
            <a:buNone/>
          </a:pPr>
          <a:endParaRPr lang="en-US" sz="1300" kern="1200" dirty="0"/>
        </a:p>
      </dsp:txBody>
      <dsp:txXfrm>
        <a:off x="543286" y="619802"/>
        <a:ext cx="3240196" cy="740451"/>
      </dsp:txXfrm>
    </dsp:sp>
    <dsp:sp modelId="{CD24B2C2-FDE3-4916-9992-E6C6EFCB2DF9}">
      <dsp:nvSpPr>
        <dsp:cNvPr id="0" name=""/>
        <dsp:cNvSpPr/>
      </dsp:nvSpPr>
      <dsp:spPr>
        <a:xfrm>
          <a:off x="80504" y="527245"/>
          <a:ext cx="925564" cy="92556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433A48-DB0D-4053-8FF4-E806C364264B}">
      <dsp:nvSpPr>
        <dsp:cNvPr id="0" name=""/>
        <dsp:cNvSpPr/>
      </dsp:nvSpPr>
      <dsp:spPr>
        <a:xfrm>
          <a:off x="967803" y="1730671"/>
          <a:ext cx="2815678" cy="740451"/>
        </a:xfrm>
        <a:prstGeom prst="rect">
          <a:avLst/>
        </a:prstGeom>
        <a:solidFill>
          <a:srgbClr val="B674F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7733" tIns="35560" rIns="35560" bIns="35560" numCol="1" spcCol="1270" anchor="ctr" anchorCtr="0">
          <a:noAutofit/>
        </a:bodyPr>
        <a:lstStyle/>
        <a:p>
          <a:pPr marL="0" lvl="0" indent="0" algn="l" defTabSz="622300">
            <a:lnSpc>
              <a:spcPct val="90000"/>
            </a:lnSpc>
            <a:spcBef>
              <a:spcPct val="0"/>
            </a:spcBef>
            <a:spcAft>
              <a:spcPct val="35000"/>
            </a:spcAft>
            <a:buNone/>
          </a:pPr>
          <a:r>
            <a:rPr lang="en-US" sz="1400" kern="1200" dirty="0"/>
            <a:t>Bookings</a:t>
          </a:r>
          <a:r>
            <a:rPr lang="en-US" sz="1400" kern="1200" baseline="0" dirty="0"/>
            <a:t> Done Per Month </a:t>
          </a:r>
          <a:endParaRPr lang="en-US" sz="1400" kern="1200" dirty="0"/>
        </a:p>
      </dsp:txBody>
      <dsp:txXfrm>
        <a:off x="967803" y="1730671"/>
        <a:ext cx="2815678" cy="740451"/>
      </dsp:txXfrm>
    </dsp:sp>
    <dsp:sp modelId="{CAB39692-05A3-437E-B56A-2664BAB0A84A}">
      <dsp:nvSpPr>
        <dsp:cNvPr id="0" name=""/>
        <dsp:cNvSpPr/>
      </dsp:nvSpPr>
      <dsp:spPr>
        <a:xfrm>
          <a:off x="505021" y="1638115"/>
          <a:ext cx="925564" cy="92556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E243EA5-70AA-42CE-955C-F818CA2FB8A1}">
      <dsp:nvSpPr>
        <dsp:cNvPr id="0" name=""/>
        <dsp:cNvSpPr/>
      </dsp:nvSpPr>
      <dsp:spPr>
        <a:xfrm>
          <a:off x="967803" y="2841541"/>
          <a:ext cx="2815678" cy="740451"/>
        </a:xfrm>
        <a:prstGeom prst="rect">
          <a:avLst/>
        </a:prstGeom>
        <a:solidFill>
          <a:srgbClr val="B674F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7733" tIns="35560" rIns="35560" bIns="35560" numCol="1" spcCol="1270" anchor="ctr" anchorCtr="0">
          <a:noAutofit/>
        </a:bodyPr>
        <a:lstStyle/>
        <a:p>
          <a:pPr marL="0" lvl="0" indent="0" algn="l" defTabSz="622300">
            <a:lnSpc>
              <a:spcPct val="90000"/>
            </a:lnSpc>
            <a:spcBef>
              <a:spcPct val="0"/>
            </a:spcBef>
            <a:spcAft>
              <a:spcPct val="35000"/>
            </a:spcAft>
            <a:buNone/>
          </a:pPr>
          <a:r>
            <a:rPr lang="en-US" sz="1400" kern="1200" dirty="0"/>
            <a:t>Bookings From Ecom platform Like Amazon &amp; Flipkart Per Month</a:t>
          </a:r>
        </a:p>
      </dsp:txBody>
      <dsp:txXfrm>
        <a:off x="967803" y="2841541"/>
        <a:ext cx="2815678" cy="740451"/>
      </dsp:txXfrm>
    </dsp:sp>
    <dsp:sp modelId="{9368F4C6-F79A-4F93-BDE6-BAB8BA450F67}">
      <dsp:nvSpPr>
        <dsp:cNvPr id="0" name=""/>
        <dsp:cNvSpPr/>
      </dsp:nvSpPr>
      <dsp:spPr>
        <a:xfrm>
          <a:off x="505021" y="2748984"/>
          <a:ext cx="925564" cy="92556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3DF9A04-A141-4DAD-9B2B-F277E8D21617}">
      <dsp:nvSpPr>
        <dsp:cNvPr id="0" name=""/>
        <dsp:cNvSpPr/>
      </dsp:nvSpPr>
      <dsp:spPr>
        <a:xfrm>
          <a:off x="543286" y="3952410"/>
          <a:ext cx="3240196" cy="740451"/>
        </a:xfrm>
        <a:prstGeom prst="rect">
          <a:avLst/>
        </a:prstGeom>
        <a:solidFill>
          <a:srgbClr val="B674F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7733" tIns="35560" rIns="35560" bIns="35560" numCol="1" spcCol="1270" anchor="ctr" anchorCtr="0">
          <a:noAutofit/>
        </a:bodyPr>
        <a:lstStyle/>
        <a:p>
          <a:pPr marL="0" lvl="0" indent="0" algn="l" defTabSz="622300">
            <a:lnSpc>
              <a:spcPct val="90000"/>
            </a:lnSpc>
            <a:spcBef>
              <a:spcPct val="0"/>
            </a:spcBef>
            <a:spcAft>
              <a:spcPct val="35000"/>
            </a:spcAft>
            <a:buNone/>
          </a:pPr>
          <a:r>
            <a:rPr lang="en-US" sz="1400" kern="1200"/>
            <a:t>Total Cache Hits in a month</a:t>
          </a:r>
          <a:endParaRPr lang="en-US" sz="1400" kern="1200" dirty="0"/>
        </a:p>
      </dsp:txBody>
      <dsp:txXfrm>
        <a:off x="543286" y="3952410"/>
        <a:ext cx="3240196" cy="740451"/>
      </dsp:txXfrm>
    </dsp:sp>
    <dsp:sp modelId="{F0B16FF2-F618-40F0-AC2E-0A036E732723}">
      <dsp:nvSpPr>
        <dsp:cNvPr id="0" name=""/>
        <dsp:cNvSpPr/>
      </dsp:nvSpPr>
      <dsp:spPr>
        <a:xfrm>
          <a:off x="80504" y="3859854"/>
          <a:ext cx="925564" cy="92556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2F7D5F-A314-4EF9-8A65-B102D1B5D3C1}">
      <dsp:nvSpPr>
        <dsp:cNvPr id="0" name=""/>
        <dsp:cNvSpPr/>
      </dsp:nvSpPr>
      <dsp:spPr>
        <a:xfrm>
          <a:off x="2001002" y="2462"/>
          <a:ext cx="3445274" cy="5757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More than 25+ Integration Channels</a:t>
          </a:r>
        </a:p>
      </dsp:txBody>
      <dsp:txXfrm>
        <a:off x="2017865" y="19325"/>
        <a:ext cx="3411548" cy="542029"/>
      </dsp:txXfrm>
    </dsp:sp>
    <dsp:sp modelId="{BAB1C10C-440C-4179-B65F-9665465CC64A}">
      <dsp:nvSpPr>
        <dsp:cNvPr id="0" name=""/>
        <dsp:cNvSpPr/>
      </dsp:nvSpPr>
      <dsp:spPr>
        <a:xfrm rot="5400000">
          <a:off x="3615685" y="592611"/>
          <a:ext cx="215908" cy="2590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3645913" y="614201"/>
        <a:ext cx="155453" cy="151136"/>
      </dsp:txXfrm>
    </dsp:sp>
    <dsp:sp modelId="{921B2FD3-52CE-49A7-B361-AF6710F22E33}">
      <dsp:nvSpPr>
        <dsp:cNvPr id="0" name=""/>
        <dsp:cNvSpPr/>
      </dsp:nvSpPr>
      <dsp:spPr>
        <a:xfrm>
          <a:off x="1981265" y="866095"/>
          <a:ext cx="3484748" cy="5757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50 % Reduction in Integration Time</a:t>
          </a:r>
        </a:p>
      </dsp:txBody>
      <dsp:txXfrm>
        <a:off x="1998128" y="882958"/>
        <a:ext cx="3451022" cy="542029"/>
      </dsp:txXfrm>
    </dsp:sp>
    <dsp:sp modelId="{63A970FA-8B7F-462D-82FD-01DECAA6A8A3}">
      <dsp:nvSpPr>
        <dsp:cNvPr id="0" name=""/>
        <dsp:cNvSpPr/>
      </dsp:nvSpPr>
      <dsp:spPr>
        <a:xfrm rot="5400000">
          <a:off x="3615685" y="1456244"/>
          <a:ext cx="215908" cy="2590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3645913" y="1477834"/>
        <a:ext cx="155453" cy="151136"/>
      </dsp:txXfrm>
    </dsp:sp>
    <dsp:sp modelId="{2EC05D68-1344-44E2-BF9C-6867691DDEC8}">
      <dsp:nvSpPr>
        <dsp:cNvPr id="0" name=""/>
        <dsp:cNvSpPr/>
      </dsp:nvSpPr>
      <dsp:spPr>
        <a:xfrm>
          <a:off x="2007612" y="1729728"/>
          <a:ext cx="3432055" cy="5757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35% improvement in operational efficiency</a:t>
          </a:r>
        </a:p>
      </dsp:txBody>
      <dsp:txXfrm>
        <a:off x="2024475" y="1746591"/>
        <a:ext cx="3398329" cy="542029"/>
      </dsp:txXfrm>
    </dsp:sp>
    <dsp:sp modelId="{F96656C0-C1F7-4094-922B-8939B14F16E9}">
      <dsp:nvSpPr>
        <dsp:cNvPr id="0" name=""/>
        <dsp:cNvSpPr/>
      </dsp:nvSpPr>
      <dsp:spPr>
        <a:xfrm rot="5400000">
          <a:off x="3615685" y="2319878"/>
          <a:ext cx="215908" cy="2590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3645913" y="2341468"/>
        <a:ext cx="155453" cy="151136"/>
      </dsp:txXfrm>
    </dsp:sp>
    <dsp:sp modelId="{6AFB96F0-BCF2-47E4-B016-B8F68DDCB84A}">
      <dsp:nvSpPr>
        <dsp:cNvPr id="0" name=""/>
        <dsp:cNvSpPr/>
      </dsp:nvSpPr>
      <dsp:spPr>
        <a:xfrm>
          <a:off x="1997179" y="2593361"/>
          <a:ext cx="3452920" cy="5757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&gt; 50% Cost Saving with Caching</a:t>
          </a:r>
        </a:p>
      </dsp:txBody>
      <dsp:txXfrm>
        <a:off x="2014042" y="2610224"/>
        <a:ext cx="3419194" cy="542029"/>
      </dsp:txXfrm>
    </dsp:sp>
    <dsp:sp modelId="{FB4F655D-C0C5-4B49-BB65-044DDABC3FB3}">
      <dsp:nvSpPr>
        <dsp:cNvPr id="0" name=""/>
        <dsp:cNvSpPr/>
      </dsp:nvSpPr>
      <dsp:spPr>
        <a:xfrm rot="5400000">
          <a:off x="3615685" y="3183511"/>
          <a:ext cx="215908" cy="2590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3645913" y="3205101"/>
        <a:ext cx="155453" cy="151136"/>
      </dsp:txXfrm>
    </dsp:sp>
    <dsp:sp modelId="{965E844E-F612-4454-9AD9-5D9EDFA4E089}">
      <dsp:nvSpPr>
        <dsp:cNvPr id="0" name=""/>
        <dsp:cNvSpPr/>
      </dsp:nvSpPr>
      <dsp:spPr>
        <a:xfrm>
          <a:off x="1961747" y="3456995"/>
          <a:ext cx="3523784" cy="5757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Automated Dealer Onboarding for Ecom Platform Resulted in 170 dealers onboarding in just 1 month</a:t>
          </a:r>
        </a:p>
      </dsp:txBody>
      <dsp:txXfrm>
        <a:off x="1978610" y="3473858"/>
        <a:ext cx="3490058" cy="54202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FF0795-5B3C-47C5-9446-2474197DCDBC}">
      <dsp:nvSpPr>
        <dsp:cNvPr id="0" name=""/>
        <dsp:cNvSpPr/>
      </dsp:nvSpPr>
      <dsp:spPr>
        <a:xfrm>
          <a:off x="577162" y="38298"/>
          <a:ext cx="2285773" cy="1998054"/>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6985" rIns="13970" bIns="6985" numCol="1" spcCol="1270" anchor="ctr" anchorCtr="0">
          <a:noAutofit/>
        </a:bodyPr>
        <a:lstStyle/>
        <a:p>
          <a:pPr marL="57150" lvl="1" indent="-57150" algn="l" defTabSz="466725">
            <a:lnSpc>
              <a:spcPct val="90000"/>
            </a:lnSpc>
            <a:spcBef>
              <a:spcPct val="0"/>
            </a:spcBef>
            <a:spcAft>
              <a:spcPct val="15000"/>
            </a:spcAft>
            <a:buFont typeface="Arial" panose="020B0604020202020204" pitchFamily="34" charset="0"/>
            <a:buChar char="•"/>
          </a:pPr>
          <a:r>
            <a:rPr lang="en-US" sz="1050" b="1" kern="1200" dirty="0"/>
            <a:t> 2X API development</a:t>
          </a:r>
          <a:endParaRPr lang="en-US" sz="1050" kern="1200" dirty="0"/>
        </a:p>
        <a:p>
          <a:pPr marL="57150" lvl="1" indent="-57150" algn="l" defTabSz="466725">
            <a:lnSpc>
              <a:spcPct val="90000"/>
            </a:lnSpc>
            <a:spcBef>
              <a:spcPct val="0"/>
            </a:spcBef>
            <a:spcAft>
              <a:spcPct val="15000"/>
            </a:spcAft>
            <a:buFont typeface="Arial" panose="020B0604020202020204" pitchFamily="34" charset="0"/>
            <a:buChar char="•"/>
          </a:pPr>
          <a:r>
            <a:rPr lang="en-US" sz="1050" b="1" kern="1200" dirty="0"/>
            <a:t> Surge in Platform Traffic</a:t>
          </a:r>
          <a:endParaRPr lang="en-US" sz="1050" kern="1200" dirty="0"/>
        </a:p>
      </dsp:txBody>
      <dsp:txXfrm>
        <a:off x="1148606" y="338006"/>
        <a:ext cx="1114315" cy="1398638"/>
      </dsp:txXfrm>
    </dsp:sp>
    <dsp:sp modelId="{3840CB77-5354-405F-B56E-80A27BBE480D}">
      <dsp:nvSpPr>
        <dsp:cNvPr id="0" name=""/>
        <dsp:cNvSpPr/>
      </dsp:nvSpPr>
      <dsp:spPr>
        <a:xfrm>
          <a:off x="5719" y="465882"/>
          <a:ext cx="1142886" cy="11428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Growth Over Past 2 Years</a:t>
          </a:r>
        </a:p>
      </dsp:txBody>
      <dsp:txXfrm>
        <a:off x="173091" y="633254"/>
        <a:ext cx="808142" cy="808142"/>
      </dsp:txXfrm>
    </dsp:sp>
    <dsp:sp modelId="{AA7D7D1A-05D6-408E-B904-34B49FDCE6D0}">
      <dsp:nvSpPr>
        <dsp:cNvPr id="0" name=""/>
        <dsp:cNvSpPr/>
      </dsp:nvSpPr>
      <dsp:spPr>
        <a:xfrm>
          <a:off x="3626031" y="38298"/>
          <a:ext cx="2285773" cy="1998054"/>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6985" rIns="13970" bIns="6985" numCol="1" spcCol="1270" anchor="ctr" anchorCtr="0">
          <a:noAutofit/>
        </a:bodyPr>
        <a:lstStyle/>
        <a:p>
          <a:pPr marL="57150" lvl="1" indent="-57150" algn="l" defTabSz="466725">
            <a:lnSpc>
              <a:spcPct val="90000"/>
            </a:lnSpc>
            <a:spcBef>
              <a:spcPct val="0"/>
            </a:spcBef>
            <a:spcAft>
              <a:spcPct val="15000"/>
            </a:spcAft>
            <a:buFont typeface="Arial" panose="020B0604020202020204" pitchFamily="34" charset="0"/>
            <a:buChar char="•"/>
          </a:pPr>
          <a:r>
            <a:rPr lang="en-US" sz="1050" b="1" kern="1200" dirty="0"/>
            <a:t> Real-time performance insights</a:t>
          </a:r>
          <a:endParaRPr lang="en-US" sz="1050" kern="1200" dirty="0"/>
        </a:p>
        <a:p>
          <a:pPr marL="57150" lvl="1" indent="-57150" algn="l" defTabSz="466725">
            <a:lnSpc>
              <a:spcPct val="90000"/>
            </a:lnSpc>
            <a:spcBef>
              <a:spcPct val="0"/>
            </a:spcBef>
            <a:spcAft>
              <a:spcPct val="15000"/>
            </a:spcAft>
            <a:buFont typeface="Arial" panose="020B0604020202020204" pitchFamily="34" charset="0"/>
            <a:buChar char="•"/>
          </a:pPr>
          <a:r>
            <a:rPr lang="en-US" sz="1050" b="1" kern="1200" dirty="0"/>
            <a:t> Proactive </a:t>
          </a:r>
          <a:r>
            <a:rPr lang="en-US" sz="1050" b="1" kern="1200" dirty="0" err="1"/>
            <a:t>VCore</a:t>
          </a:r>
          <a:r>
            <a:rPr lang="en-US" sz="1050" b="1" kern="1200" dirty="0"/>
            <a:t> tuning</a:t>
          </a:r>
          <a:endParaRPr lang="en-US" sz="1050" kern="1200" dirty="0"/>
        </a:p>
      </dsp:txBody>
      <dsp:txXfrm>
        <a:off x="4197474" y="338006"/>
        <a:ext cx="1114315" cy="1398638"/>
      </dsp:txXfrm>
    </dsp:sp>
    <dsp:sp modelId="{4A525C01-1F2E-4F5A-AF3B-84CAF6EFA157}">
      <dsp:nvSpPr>
        <dsp:cNvPr id="0" name=""/>
        <dsp:cNvSpPr/>
      </dsp:nvSpPr>
      <dsp:spPr>
        <a:xfrm>
          <a:off x="3005797" y="465882"/>
          <a:ext cx="1240466" cy="11428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Smart Optimization via Monitoring</a:t>
          </a:r>
        </a:p>
      </dsp:txBody>
      <dsp:txXfrm>
        <a:off x="3187459" y="633254"/>
        <a:ext cx="877142" cy="808142"/>
      </dsp:txXfrm>
    </dsp:sp>
    <dsp:sp modelId="{78CC702F-73B6-4359-B396-CA8656FCB7B4}">
      <dsp:nvSpPr>
        <dsp:cNvPr id="0" name=""/>
        <dsp:cNvSpPr/>
      </dsp:nvSpPr>
      <dsp:spPr>
        <a:xfrm>
          <a:off x="6626109" y="38298"/>
          <a:ext cx="2285773" cy="1998054"/>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6985" rIns="13970" bIns="6985" numCol="1" spcCol="1270" anchor="ctr" anchorCtr="0">
          <a:noAutofit/>
        </a:bodyPr>
        <a:lstStyle/>
        <a:p>
          <a:pPr marL="57150" lvl="1" indent="-57150" algn="l" defTabSz="466725">
            <a:lnSpc>
              <a:spcPct val="90000"/>
            </a:lnSpc>
            <a:spcBef>
              <a:spcPct val="0"/>
            </a:spcBef>
            <a:spcAft>
              <a:spcPct val="15000"/>
            </a:spcAft>
            <a:buFont typeface="Arial" panose="020B0604020202020204" pitchFamily="34" charset="0"/>
            <a:buChar char="•"/>
          </a:pPr>
          <a:r>
            <a:rPr lang="en-US" sz="1050" b="1" kern="1200" dirty="0"/>
            <a:t> </a:t>
          </a:r>
          <a:r>
            <a:rPr lang="en-US" sz="1050" b="1" kern="1200" dirty="0" err="1"/>
            <a:t>VCore</a:t>
          </a:r>
          <a:r>
            <a:rPr lang="en-US" sz="1050" b="1" kern="1200" dirty="0"/>
            <a:t> Usage Never Exceeded 6 </a:t>
          </a:r>
          <a:r>
            <a:rPr lang="en-US" sz="1050" b="1" kern="1200" dirty="0" err="1"/>
            <a:t>VCore</a:t>
          </a:r>
          <a:r>
            <a:rPr lang="en-US" sz="1050" b="1" kern="1200" dirty="0"/>
            <a:t> limit</a:t>
          </a:r>
          <a:endParaRPr lang="en-US" sz="1050" kern="1200" dirty="0"/>
        </a:p>
        <a:p>
          <a:pPr marL="57150" lvl="1" indent="-57150" algn="l" defTabSz="466725">
            <a:lnSpc>
              <a:spcPct val="90000"/>
            </a:lnSpc>
            <a:spcBef>
              <a:spcPct val="0"/>
            </a:spcBef>
            <a:spcAft>
              <a:spcPct val="15000"/>
            </a:spcAft>
            <a:buFont typeface="Arial" panose="020B0604020202020204" pitchFamily="34" charset="0"/>
            <a:buChar char="•"/>
          </a:pPr>
          <a:r>
            <a:rPr lang="en-US" sz="1050" b="1" kern="1200" dirty="0"/>
            <a:t> Extra infrastructure costs of ~13 Lacs/</a:t>
          </a:r>
          <a:r>
            <a:rPr lang="en-US" sz="1050" b="1" kern="1200" dirty="0" err="1"/>
            <a:t>Vcore</a:t>
          </a:r>
          <a:r>
            <a:rPr lang="en-US" sz="1050" b="1" kern="1200" dirty="0"/>
            <a:t> saved</a:t>
          </a:r>
          <a:endParaRPr lang="en-US" sz="1050" kern="1200" dirty="0"/>
        </a:p>
      </dsp:txBody>
      <dsp:txXfrm>
        <a:off x="7197552" y="338006"/>
        <a:ext cx="1114315" cy="1398638"/>
      </dsp:txXfrm>
    </dsp:sp>
    <dsp:sp modelId="{EFD410EC-4D7D-404B-B2FC-D26206CBCD82}">
      <dsp:nvSpPr>
        <dsp:cNvPr id="0" name=""/>
        <dsp:cNvSpPr/>
      </dsp:nvSpPr>
      <dsp:spPr>
        <a:xfrm>
          <a:off x="6054665" y="465882"/>
          <a:ext cx="1142886" cy="11428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Cost Control Achieved</a:t>
          </a:r>
        </a:p>
      </dsp:txBody>
      <dsp:txXfrm>
        <a:off x="6222037" y="633254"/>
        <a:ext cx="808142" cy="808142"/>
      </dsp:txXfrm>
    </dsp:sp>
    <dsp:sp modelId="{E045810D-432A-444D-90B1-E320EB8B3DCD}">
      <dsp:nvSpPr>
        <dsp:cNvPr id="0" name=""/>
        <dsp:cNvSpPr/>
      </dsp:nvSpPr>
      <dsp:spPr>
        <a:xfrm>
          <a:off x="9626187" y="38298"/>
          <a:ext cx="2285773" cy="1998054"/>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6985" rIns="13970" bIns="6985" numCol="1" spcCol="1270" anchor="ctr" anchorCtr="0">
          <a:noAutofit/>
        </a:bodyPr>
        <a:lstStyle/>
        <a:p>
          <a:pPr marL="57150" lvl="1" indent="-57150" algn="l" defTabSz="466725">
            <a:lnSpc>
              <a:spcPct val="90000"/>
            </a:lnSpc>
            <a:spcBef>
              <a:spcPct val="0"/>
            </a:spcBef>
            <a:spcAft>
              <a:spcPct val="15000"/>
            </a:spcAft>
            <a:buFont typeface="Arial" panose="020B0604020202020204" pitchFamily="34" charset="0"/>
            <a:buChar char="•"/>
          </a:pPr>
          <a:endParaRPr lang="en-US" sz="1050" b="1" kern="1200" dirty="0"/>
        </a:p>
        <a:p>
          <a:pPr marL="57150" lvl="1" indent="-57150" algn="l" defTabSz="466725">
            <a:lnSpc>
              <a:spcPct val="90000"/>
            </a:lnSpc>
            <a:spcBef>
              <a:spcPct val="0"/>
            </a:spcBef>
            <a:spcAft>
              <a:spcPct val="15000"/>
            </a:spcAft>
            <a:buFont typeface="Arial" panose="020B0604020202020204" pitchFamily="34" charset="0"/>
            <a:buChar char="•"/>
          </a:pPr>
          <a:endParaRPr lang="en-US" sz="1050" b="1" kern="1200" dirty="0"/>
        </a:p>
        <a:p>
          <a:pPr marL="57150" lvl="1" indent="-57150" algn="l" defTabSz="466725">
            <a:lnSpc>
              <a:spcPct val="90000"/>
            </a:lnSpc>
            <a:spcBef>
              <a:spcPct val="0"/>
            </a:spcBef>
            <a:spcAft>
              <a:spcPct val="15000"/>
            </a:spcAft>
            <a:buFont typeface="Arial" panose="020B0604020202020204" pitchFamily="34" charset="0"/>
            <a:buChar char="•"/>
          </a:pPr>
          <a:r>
            <a:rPr lang="en-US" sz="1050" b="1" kern="1200" dirty="0"/>
            <a:t> API Response Time within 2 Sec.</a:t>
          </a:r>
        </a:p>
        <a:p>
          <a:pPr marL="57150" lvl="1" indent="-57150" algn="l" defTabSz="466725">
            <a:lnSpc>
              <a:spcPct val="90000"/>
            </a:lnSpc>
            <a:spcBef>
              <a:spcPct val="0"/>
            </a:spcBef>
            <a:spcAft>
              <a:spcPct val="15000"/>
            </a:spcAft>
            <a:buFont typeface="Arial" panose="020B0604020202020204" pitchFamily="34" charset="0"/>
            <a:buChar char="•"/>
          </a:pPr>
          <a:r>
            <a:rPr lang="en-US" sz="1050" b="1" kern="1200" dirty="0"/>
            <a:t> Under 30 % CPU Utilization</a:t>
          </a:r>
        </a:p>
        <a:p>
          <a:pPr marL="57150" lvl="1" indent="-57150" algn="l" defTabSz="466725">
            <a:lnSpc>
              <a:spcPct val="90000"/>
            </a:lnSpc>
            <a:spcBef>
              <a:spcPct val="0"/>
            </a:spcBef>
            <a:spcAft>
              <a:spcPct val="15000"/>
            </a:spcAft>
            <a:buFont typeface="Arial" panose="020B0604020202020204" pitchFamily="34" charset="0"/>
            <a:buChar char="•"/>
          </a:pPr>
          <a:r>
            <a:rPr lang="en-US" sz="1050" b="1" kern="1200" dirty="0"/>
            <a:t> Less Than 0.5 % error rate</a:t>
          </a:r>
        </a:p>
        <a:p>
          <a:pPr marL="57150" lvl="1" indent="-57150" algn="l" defTabSz="466725">
            <a:lnSpc>
              <a:spcPct val="90000"/>
            </a:lnSpc>
            <a:spcBef>
              <a:spcPct val="0"/>
            </a:spcBef>
            <a:spcAft>
              <a:spcPct val="15000"/>
            </a:spcAft>
            <a:buFont typeface="Arial" panose="020B0604020202020204" pitchFamily="34" charset="0"/>
            <a:buChar char="•"/>
          </a:pPr>
          <a:endParaRPr lang="en-US" sz="1050" kern="1200" dirty="0"/>
        </a:p>
        <a:p>
          <a:pPr marL="57150" lvl="1" indent="-57150" algn="l" defTabSz="466725">
            <a:lnSpc>
              <a:spcPct val="90000"/>
            </a:lnSpc>
            <a:spcBef>
              <a:spcPct val="0"/>
            </a:spcBef>
            <a:spcAft>
              <a:spcPct val="15000"/>
            </a:spcAft>
            <a:buFont typeface="Arial" panose="020B0604020202020204" pitchFamily="34" charset="0"/>
            <a:buChar char="•"/>
          </a:pPr>
          <a:endParaRPr lang="en-US" sz="1050" kern="1200" dirty="0"/>
        </a:p>
      </dsp:txBody>
      <dsp:txXfrm>
        <a:off x="10197631" y="338006"/>
        <a:ext cx="1114315" cy="1398638"/>
      </dsp:txXfrm>
    </dsp:sp>
    <dsp:sp modelId="{B737C57E-52A5-4C54-8165-29F8233A9C45}">
      <dsp:nvSpPr>
        <dsp:cNvPr id="0" name=""/>
        <dsp:cNvSpPr/>
      </dsp:nvSpPr>
      <dsp:spPr>
        <a:xfrm>
          <a:off x="9054744" y="465882"/>
          <a:ext cx="1142886" cy="11428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Key KPIS Achieved</a:t>
          </a:r>
        </a:p>
      </dsp:txBody>
      <dsp:txXfrm>
        <a:off x="9222116" y="633254"/>
        <a:ext cx="808142" cy="80814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1E22D6-D93C-4A15-AFCF-5596804AEBF4}">
      <dsp:nvSpPr>
        <dsp:cNvPr id="0" name=""/>
        <dsp:cNvSpPr/>
      </dsp:nvSpPr>
      <dsp:spPr>
        <a:xfrm>
          <a:off x="3555" y="1439118"/>
          <a:ext cx="2069483" cy="827793"/>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t>Faster Response Time In </a:t>
          </a:r>
          <a:r>
            <a:rPr lang="en-US" sz="1400" b="1" kern="1200" dirty="0"/>
            <a:t>milliseconds</a:t>
          </a:r>
          <a:r>
            <a:rPr lang="en-US" sz="1400" kern="1200" dirty="0"/>
            <a:t> </a:t>
          </a:r>
        </a:p>
      </dsp:txBody>
      <dsp:txXfrm>
        <a:off x="417452" y="1439118"/>
        <a:ext cx="1241690" cy="827793"/>
      </dsp:txXfrm>
    </dsp:sp>
    <dsp:sp modelId="{A3A0281E-0BE5-4F62-8BF5-CC66D405895A}">
      <dsp:nvSpPr>
        <dsp:cNvPr id="0" name=""/>
        <dsp:cNvSpPr/>
      </dsp:nvSpPr>
      <dsp:spPr>
        <a:xfrm>
          <a:off x="1866090" y="1439118"/>
          <a:ext cx="2069483" cy="827793"/>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t>Reduced Backend Load and Cost</a:t>
          </a:r>
        </a:p>
      </dsp:txBody>
      <dsp:txXfrm>
        <a:off x="2279987" y="1439118"/>
        <a:ext cx="1241690" cy="827793"/>
      </dsp:txXfrm>
    </dsp:sp>
    <dsp:sp modelId="{34136723-CB6C-433B-A03D-5380663A29AE}">
      <dsp:nvSpPr>
        <dsp:cNvPr id="0" name=""/>
        <dsp:cNvSpPr/>
      </dsp:nvSpPr>
      <dsp:spPr>
        <a:xfrm>
          <a:off x="3728624" y="1439118"/>
          <a:ext cx="2069483" cy="827793"/>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t>More Than </a:t>
          </a:r>
          <a:r>
            <a:rPr lang="en-US" sz="1400" b="1" kern="1200" dirty="0"/>
            <a:t>60% Requests </a:t>
          </a:r>
          <a:r>
            <a:rPr lang="en-US" sz="1400" kern="1200" dirty="0"/>
            <a:t>served by cache</a:t>
          </a:r>
        </a:p>
      </dsp:txBody>
      <dsp:txXfrm>
        <a:off x="4142521" y="1439118"/>
        <a:ext cx="1241690" cy="827793"/>
      </dsp:txXfrm>
    </dsp:sp>
    <dsp:sp modelId="{E190249D-0541-43BE-8D5F-E3E6FB46673D}">
      <dsp:nvSpPr>
        <dsp:cNvPr id="0" name=""/>
        <dsp:cNvSpPr/>
      </dsp:nvSpPr>
      <dsp:spPr>
        <a:xfrm>
          <a:off x="5591159" y="1439118"/>
          <a:ext cx="2069483" cy="827793"/>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t>Yearly saving More than Rs </a:t>
          </a:r>
          <a:r>
            <a:rPr lang="en-US" sz="1400" b="1" kern="1200" dirty="0"/>
            <a:t>1.4 CR</a:t>
          </a:r>
        </a:p>
      </dsp:txBody>
      <dsp:txXfrm>
        <a:off x="6005056" y="1439118"/>
        <a:ext cx="1241690" cy="827793"/>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A3428B-9B5F-47D8-BDBC-C27153431944}" type="datetimeFigureOut">
              <a:rPr lang="en-IN" smtClean="0"/>
              <a:t>26-08-2025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BF1C78-44B7-445E-9525-C481F68CD80B}" type="slidenum">
              <a:rPr lang="en-IN" smtClean="0"/>
              <a:t>‹#›</a:t>
            </a:fld>
            <a:endParaRPr lang="en-IN"/>
          </a:p>
        </p:txBody>
      </p:sp>
    </p:spTree>
    <p:extLst>
      <p:ext uri="{BB962C8B-B14F-4D97-AF65-F5344CB8AC3E}">
        <p14:creationId xmlns:p14="http://schemas.microsoft.com/office/powerpoint/2010/main" val="920319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4BF1C78-44B7-445E-9525-C481F68CD80B}" type="slidenum">
              <a:rPr lang="en-IN" smtClean="0"/>
              <a:t>3</a:t>
            </a:fld>
            <a:endParaRPr lang="en-IN"/>
          </a:p>
        </p:txBody>
      </p:sp>
    </p:spTree>
    <p:extLst>
      <p:ext uri="{BB962C8B-B14F-4D97-AF65-F5344CB8AC3E}">
        <p14:creationId xmlns:p14="http://schemas.microsoft.com/office/powerpoint/2010/main" val="2304558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97B00-3998-EEA6-EF6C-859385BEB5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BC91A-640E-2633-734C-A243682131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E95B9-584E-FE08-43D1-CBB69C15520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FBA05B0-5AE0-14E0-0C46-067C2B17F080}"/>
              </a:ext>
            </a:extLst>
          </p:cNvPr>
          <p:cNvSpPr>
            <a:spLocks noGrp="1"/>
          </p:cNvSpPr>
          <p:nvPr>
            <p:ph type="sldNum" sz="quarter" idx="5"/>
          </p:nvPr>
        </p:nvSpPr>
        <p:spPr/>
        <p:txBody>
          <a:bodyPr/>
          <a:lstStyle/>
          <a:p>
            <a:fld id="{B4BF1C78-44B7-445E-9525-C481F68CD80B}" type="slidenum">
              <a:rPr lang="en-IN" smtClean="0"/>
              <a:t>4</a:t>
            </a:fld>
            <a:endParaRPr lang="en-IN"/>
          </a:p>
        </p:txBody>
      </p:sp>
    </p:spTree>
    <p:extLst>
      <p:ext uri="{BB962C8B-B14F-4D97-AF65-F5344CB8AC3E}">
        <p14:creationId xmlns:p14="http://schemas.microsoft.com/office/powerpoint/2010/main" val="3466667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28074-41A2-3630-C8D7-68AB69814E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436CF9-4085-57DF-B7D1-FAFECDC09C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E5ED6F5-B8C6-2E42-5DA5-0B7D76942094}"/>
              </a:ext>
            </a:extLst>
          </p:cNvPr>
          <p:cNvSpPr>
            <a:spLocks noGrp="1"/>
          </p:cNvSpPr>
          <p:nvPr>
            <p:ph type="dt" sz="half" idx="10"/>
          </p:nvPr>
        </p:nvSpPr>
        <p:spPr/>
        <p:txBody>
          <a:bodyPr/>
          <a:lstStyle/>
          <a:p>
            <a:fld id="{B7617827-60E3-48F6-8743-528F3C4CB30D}" type="datetimeFigureOut">
              <a:rPr lang="en-IN" smtClean="0"/>
              <a:t>26-08-2025</a:t>
            </a:fld>
            <a:endParaRPr lang="en-IN"/>
          </a:p>
        </p:txBody>
      </p:sp>
      <p:sp>
        <p:nvSpPr>
          <p:cNvPr id="5" name="Footer Placeholder 4">
            <a:extLst>
              <a:ext uri="{FF2B5EF4-FFF2-40B4-BE49-F238E27FC236}">
                <a16:creationId xmlns:a16="http://schemas.microsoft.com/office/drawing/2014/main" id="{52562BB9-5E32-AA2E-2260-9D892AB58E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8114C8-9CFD-AAB5-7D1F-BF68262B7FB5}"/>
              </a:ext>
            </a:extLst>
          </p:cNvPr>
          <p:cNvSpPr>
            <a:spLocks noGrp="1"/>
          </p:cNvSpPr>
          <p:nvPr>
            <p:ph type="sldNum" sz="quarter" idx="12"/>
          </p:nvPr>
        </p:nvSpPr>
        <p:spPr/>
        <p:txBody>
          <a:bodyPr/>
          <a:lstStyle/>
          <a:p>
            <a:fld id="{4265A035-8500-425D-9B58-8F483EA4A32C}" type="slidenum">
              <a:rPr lang="en-IN" smtClean="0"/>
              <a:t>‹#›</a:t>
            </a:fld>
            <a:endParaRPr lang="en-IN"/>
          </a:p>
        </p:txBody>
      </p:sp>
    </p:spTree>
    <p:extLst>
      <p:ext uri="{BB962C8B-B14F-4D97-AF65-F5344CB8AC3E}">
        <p14:creationId xmlns:p14="http://schemas.microsoft.com/office/powerpoint/2010/main" val="2804630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1EBC0-2F30-DE43-E184-5A7946FA98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529C8C-28E8-6795-848D-508B2A8434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BFFC78-00E4-4B6B-54D0-328F6971E4C5}"/>
              </a:ext>
            </a:extLst>
          </p:cNvPr>
          <p:cNvSpPr>
            <a:spLocks noGrp="1"/>
          </p:cNvSpPr>
          <p:nvPr>
            <p:ph type="dt" sz="half" idx="10"/>
          </p:nvPr>
        </p:nvSpPr>
        <p:spPr/>
        <p:txBody>
          <a:bodyPr/>
          <a:lstStyle/>
          <a:p>
            <a:fld id="{B7617827-60E3-48F6-8743-528F3C4CB30D}" type="datetimeFigureOut">
              <a:rPr lang="en-IN" smtClean="0"/>
              <a:t>26-08-2025</a:t>
            </a:fld>
            <a:endParaRPr lang="en-IN"/>
          </a:p>
        </p:txBody>
      </p:sp>
      <p:sp>
        <p:nvSpPr>
          <p:cNvPr id="5" name="Footer Placeholder 4">
            <a:extLst>
              <a:ext uri="{FF2B5EF4-FFF2-40B4-BE49-F238E27FC236}">
                <a16:creationId xmlns:a16="http://schemas.microsoft.com/office/drawing/2014/main" id="{710755BC-E702-6E61-7988-1D37553814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529C2B-6A5D-BC89-B838-8341B230AE30}"/>
              </a:ext>
            </a:extLst>
          </p:cNvPr>
          <p:cNvSpPr>
            <a:spLocks noGrp="1"/>
          </p:cNvSpPr>
          <p:nvPr>
            <p:ph type="sldNum" sz="quarter" idx="12"/>
          </p:nvPr>
        </p:nvSpPr>
        <p:spPr/>
        <p:txBody>
          <a:bodyPr/>
          <a:lstStyle/>
          <a:p>
            <a:fld id="{4265A035-8500-425D-9B58-8F483EA4A32C}" type="slidenum">
              <a:rPr lang="en-IN" smtClean="0"/>
              <a:t>‹#›</a:t>
            </a:fld>
            <a:endParaRPr lang="en-IN"/>
          </a:p>
        </p:txBody>
      </p:sp>
    </p:spTree>
    <p:extLst>
      <p:ext uri="{BB962C8B-B14F-4D97-AF65-F5344CB8AC3E}">
        <p14:creationId xmlns:p14="http://schemas.microsoft.com/office/powerpoint/2010/main" val="137112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001F0-AE92-86CA-D98A-1865D83A36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20BDEF-5A88-D204-8F2C-5EDB4792A7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51C0E3-8361-F513-2FC2-4D2A5AF9D45A}"/>
              </a:ext>
            </a:extLst>
          </p:cNvPr>
          <p:cNvSpPr>
            <a:spLocks noGrp="1"/>
          </p:cNvSpPr>
          <p:nvPr>
            <p:ph type="dt" sz="half" idx="10"/>
          </p:nvPr>
        </p:nvSpPr>
        <p:spPr/>
        <p:txBody>
          <a:bodyPr/>
          <a:lstStyle/>
          <a:p>
            <a:fld id="{B7617827-60E3-48F6-8743-528F3C4CB30D}" type="datetimeFigureOut">
              <a:rPr lang="en-IN" smtClean="0"/>
              <a:t>26-08-2025</a:t>
            </a:fld>
            <a:endParaRPr lang="en-IN"/>
          </a:p>
        </p:txBody>
      </p:sp>
      <p:sp>
        <p:nvSpPr>
          <p:cNvPr id="5" name="Footer Placeholder 4">
            <a:extLst>
              <a:ext uri="{FF2B5EF4-FFF2-40B4-BE49-F238E27FC236}">
                <a16:creationId xmlns:a16="http://schemas.microsoft.com/office/drawing/2014/main" id="{6041AABB-62EC-2463-4C12-8FA1CB3407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65E162-73CE-3D57-D18A-BEAFF26A6A45}"/>
              </a:ext>
            </a:extLst>
          </p:cNvPr>
          <p:cNvSpPr>
            <a:spLocks noGrp="1"/>
          </p:cNvSpPr>
          <p:nvPr>
            <p:ph type="sldNum" sz="quarter" idx="12"/>
          </p:nvPr>
        </p:nvSpPr>
        <p:spPr/>
        <p:txBody>
          <a:bodyPr/>
          <a:lstStyle/>
          <a:p>
            <a:fld id="{4265A035-8500-425D-9B58-8F483EA4A32C}" type="slidenum">
              <a:rPr lang="en-IN" smtClean="0"/>
              <a:t>‹#›</a:t>
            </a:fld>
            <a:endParaRPr lang="en-IN"/>
          </a:p>
        </p:txBody>
      </p:sp>
    </p:spTree>
    <p:extLst>
      <p:ext uri="{BB962C8B-B14F-4D97-AF65-F5344CB8AC3E}">
        <p14:creationId xmlns:p14="http://schemas.microsoft.com/office/powerpoint/2010/main" val="3991251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7E508-1605-95C6-BD3D-FB52404B91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203567-5BD7-16FF-C2CA-3C08FAE1F4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14EFABC-757F-A4EC-0B0B-97E9A11D85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5CDAEC5-EE17-D8EB-B762-626BF4D00EB4}"/>
              </a:ext>
            </a:extLst>
          </p:cNvPr>
          <p:cNvSpPr>
            <a:spLocks noGrp="1"/>
          </p:cNvSpPr>
          <p:nvPr>
            <p:ph type="dt" sz="half" idx="10"/>
          </p:nvPr>
        </p:nvSpPr>
        <p:spPr/>
        <p:txBody>
          <a:bodyPr/>
          <a:lstStyle/>
          <a:p>
            <a:fld id="{B7617827-60E3-48F6-8743-528F3C4CB30D}" type="datetimeFigureOut">
              <a:rPr lang="en-IN" smtClean="0"/>
              <a:t>26-08-2025</a:t>
            </a:fld>
            <a:endParaRPr lang="en-IN"/>
          </a:p>
        </p:txBody>
      </p:sp>
      <p:sp>
        <p:nvSpPr>
          <p:cNvPr id="6" name="Footer Placeholder 5">
            <a:extLst>
              <a:ext uri="{FF2B5EF4-FFF2-40B4-BE49-F238E27FC236}">
                <a16:creationId xmlns:a16="http://schemas.microsoft.com/office/drawing/2014/main" id="{1387758B-62AA-2074-798E-C9ABF46C7E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5C280A-766C-F018-6208-BFFBD015E39E}"/>
              </a:ext>
            </a:extLst>
          </p:cNvPr>
          <p:cNvSpPr>
            <a:spLocks noGrp="1"/>
          </p:cNvSpPr>
          <p:nvPr>
            <p:ph type="sldNum" sz="quarter" idx="12"/>
          </p:nvPr>
        </p:nvSpPr>
        <p:spPr/>
        <p:txBody>
          <a:bodyPr/>
          <a:lstStyle/>
          <a:p>
            <a:fld id="{4265A035-8500-425D-9B58-8F483EA4A32C}" type="slidenum">
              <a:rPr lang="en-IN" smtClean="0"/>
              <a:t>‹#›</a:t>
            </a:fld>
            <a:endParaRPr lang="en-IN"/>
          </a:p>
        </p:txBody>
      </p:sp>
    </p:spTree>
    <p:extLst>
      <p:ext uri="{BB962C8B-B14F-4D97-AF65-F5344CB8AC3E}">
        <p14:creationId xmlns:p14="http://schemas.microsoft.com/office/powerpoint/2010/main" val="3947283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2BF03-4B7C-5B6D-CFD4-5BBFC27A553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5D67B8-753D-4E84-1065-C94D623503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DE3A5C-2833-4A55-5D39-B7F44E2455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2AC915-09CD-F24F-8DF7-88CBD70087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ACE023-1FEF-49F8-247F-08B68B06E6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ACDB93D-3A86-6801-3171-E35332EED75F}"/>
              </a:ext>
            </a:extLst>
          </p:cNvPr>
          <p:cNvSpPr>
            <a:spLocks noGrp="1"/>
          </p:cNvSpPr>
          <p:nvPr>
            <p:ph type="dt" sz="half" idx="10"/>
          </p:nvPr>
        </p:nvSpPr>
        <p:spPr/>
        <p:txBody>
          <a:bodyPr/>
          <a:lstStyle/>
          <a:p>
            <a:fld id="{B7617827-60E3-48F6-8743-528F3C4CB30D}" type="datetimeFigureOut">
              <a:rPr lang="en-IN" smtClean="0"/>
              <a:t>26-08-2025</a:t>
            </a:fld>
            <a:endParaRPr lang="en-IN"/>
          </a:p>
        </p:txBody>
      </p:sp>
      <p:sp>
        <p:nvSpPr>
          <p:cNvPr id="8" name="Footer Placeholder 7">
            <a:extLst>
              <a:ext uri="{FF2B5EF4-FFF2-40B4-BE49-F238E27FC236}">
                <a16:creationId xmlns:a16="http://schemas.microsoft.com/office/drawing/2014/main" id="{97F34C29-75E8-56B2-6AD1-3CC86C4551D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D7AABD-3C7A-8F76-2CD7-62E8B68BC9F8}"/>
              </a:ext>
            </a:extLst>
          </p:cNvPr>
          <p:cNvSpPr>
            <a:spLocks noGrp="1"/>
          </p:cNvSpPr>
          <p:nvPr>
            <p:ph type="sldNum" sz="quarter" idx="12"/>
          </p:nvPr>
        </p:nvSpPr>
        <p:spPr/>
        <p:txBody>
          <a:bodyPr/>
          <a:lstStyle/>
          <a:p>
            <a:fld id="{4265A035-8500-425D-9B58-8F483EA4A32C}" type="slidenum">
              <a:rPr lang="en-IN" smtClean="0"/>
              <a:t>‹#›</a:t>
            </a:fld>
            <a:endParaRPr lang="en-IN"/>
          </a:p>
        </p:txBody>
      </p:sp>
    </p:spTree>
    <p:extLst>
      <p:ext uri="{BB962C8B-B14F-4D97-AF65-F5344CB8AC3E}">
        <p14:creationId xmlns:p14="http://schemas.microsoft.com/office/powerpoint/2010/main" val="3400176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D14B2-B904-3C10-C6D8-DED2D1D02F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E6F3C4-7871-344C-3075-346BE9AFA06A}"/>
              </a:ext>
            </a:extLst>
          </p:cNvPr>
          <p:cNvSpPr>
            <a:spLocks noGrp="1"/>
          </p:cNvSpPr>
          <p:nvPr>
            <p:ph type="dt" sz="half" idx="10"/>
          </p:nvPr>
        </p:nvSpPr>
        <p:spPr/>
        <p:txBody>
          <a:bodyPr/>
          <a:lstStyle/>
          <a:p>
            <a:fld id="{B7617827-60E3-48F6-8743-528F3C4CB30D}" type="datetimeFigureOut">
              <a:rPr lang="en-IN" smtClean="0"/>
              <a:t>26-08-2025</a:t>
            </a:fld>
            <a:endParaRPr lang="en-IN"/>
          </a:p>
        </p:txBody>
      </p:sp>
      <p:sp>
        <p:nvSpPr>
          <p:cNvPr id="4" name="Footer Placeholder 3">
            <a:extLst>
              <a:ext uri="{FF2B5EF4-FFF2-40B4-BE49-F238E27FC236}">
                <a16:creationId xmlns:a16="http://schemas.microsoft.com/office/drawing/2014/main" id="{742C67EB-7E7C-D390-F3E4-9124A1CC99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CA8E51C-8C8B-F869-B858-B75B17AFAF6F}"/>
              </a:ext>
            </a:extLst>
          </p:cNvPr>
          <p:cNvSpPr>
            <a:spLocks noGrp="1"/>
          </p:cNvSpPr>
          <p:nvPr>
            <p:ph type="sldNum" sz="quarter" idx="12"/>
          </p:nvPr>
        </p:nvSpPr>
        <p:spPr/>
        <p:txBody>
          <a:bodyPr/>
          <a:lstStyle/>
          <a:p>
            <a:fld id="{4265A035-8500-425D-9B58-8F483EA4A32C}" type="slidenum">
              <a:rPr lang="en-IN" smtClean="0"/>
              <a:t>‹#›</a:t>
            </a:fld>
            <a:endParaRPr lang="en-IN"/>
          </a:p>
        </p:txBody>
      </p:sp>
    </p:spTree>
    <p:extLst>
      <p:ext uri="{BB962C8B-B14F-4D97-AF65-F5344CB8AC3E}">
        <p14:creationId xmlns:p14="http://schemas.microsoft.com/office/powerpoint/2010/main" val="328361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F05EDA-EC97-2194-C65B-ECA8A3ADE1E3}"/>
              </a:ext>
            </a:extLst>
          </p:cNvPr>
          <p:cNvSpPr>
            <a:spLocks noGrp="1"/>
          </p:cNvSpPr>
          <p:nvPr>
            <p:ph type="dt" sz="half" idx="10"/>
          </p:nvPr>
        </p:nvSpPr>
        <p:spPr/>
        <p:txBody>
          <a:bodyPr/>
          <a:lstStyle/>
          <a:p>
            <a:fld id="{B7617827-60E3-48F6-8743-528F3C4CB30D}" type="datetimeFigureOut">
              <a:rPr lang="en-IN" smtClean="0"/>
              <a:t>26-08-2025</a:t>
            </a:fld>
            <a:endParaRPr lang="en-IN"/>
          </a:p>
        </p:txBody>
      </p:sp>
      <p:sp>
        <p:nvSpPr>
          <p:cNvPr id="3" name="Footer Placeholder 2">
            <a:extLst>
              <a:ext uri="{FF2B5EF4-FFF2-40B4-BE49-F238E27FC236}">
                <a16:creationId xmlns:a16="http://schemas.microsoft.com/office/drawing/2014/main" id="{0C15140F-B655-76F9-E2E0-F2B6BF41A2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F970F6-D8DA-F29D-C61D-1209E4622F68}"/>
              </a:ext>
            </a:extLst>
          </p:cNvPr>
          <p:cNvSpPr>
            <a:spLocks noGrp="1"/>
          </p:cNvSpPr>
          <p:nvPr>
            <p:ph type="sldNum" sz="quarter" idx="12"/>
          </p:nvPr>
        </p:nvSpPr>
        <p:spPr/>
        <p:txBody>
          <a:bodyPr/>
          <a:lstStyle/>
          <a:p>
            <a:fld id="{4265A035-8500-425D-9B58-8F483EA4A32C}" type="slidenum">
              <a:rPr lang="en-IN" smtClean="0"/>
              <a:t>‹#›</a:t>
            </a:fld>
            <a:endParaRPr lang="en-IN"/>
          </a:p>
        </p:txBody>
      </p:sp>
    </p:spTree>
    <p:extLst>
      <p:ext uri="{BB962C8B-B14F-4D97-AF65-F5344CB8AC3E}">
        <p14:creationId xmlns:p14="http://schemas.microsoft.com/office/powerpoint/2010/main" val="3147408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93C84-7349-E7D4-6E3A-7820288E90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B06541-5F0A-5313-5B6A-726ECFD430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E3A133B-BCC0-4588-2674-145FB27093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C0F4BC-1AA2-2220-B131-88BA64667C8E}"/>
              </a:ext>
            </a:extLst>
          </p:cNvPr>
          <p:cNvSpPr>
            <a:spLocks noGrp="1"/>
          </p:cNvSpPr>
          <p:nvPr>
            <p:ph type="dt" sz="half" idx="10"/>
          </p:nvPr>
        </p:nvSpPr>
        <p:spPr/>
        <p:txBody>
          <a:bodyPr/>
          <a:lstStyle/>
          <a:p>
            <a:fld id="{B7617827-60E3-48F6-8743-528F3C4CB30D}" type="datetimeFigureOut">
              <a:rPr lang="en-IN" smtClean="0"/>
              <a:t>26-08-2025</a:t>
            </a:fld>
            <a:endParaRPr lang="en-IN"/>
          </a:p>
        </p:txBody>
      </p:sp>
      <p:sp>
        <p:nvSpPr>
          <p:cNvPr id="6" name="Footer Placeholder 5">
            <a:extLst>
              <a:ext uri="{FF2B5EF4-FFF2-40B4-BE49-F238E27FC236}">
                <a16:creationId xmlns:a16="http://schemas.microsoft.com/office/drawing/2014/main" id="{E51B0330-4AB6-E937-CA85-346873B499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A27DFB-F702-EDAB-F9CB-650D85F0A5FC}"/>
              </a:ext>
            </a:extLst>
          </p:cNvPr>
          <p:cNvSpPr>
            <a:spLocks noGrp="1"/>
          </p:cNvSpPr>
          <p:nvPr>
            <p:ph type="sldNum" sz="quarter" idx="12"/>
          </p:nvPr>
        </p:nvSpPr>
        <p:spPr/>
        <p:txBody>
          <a:bodyPr/>
          <a:lstStyle/>
          <a:p>
            <a:fld id="{4265A035-8500-425D-9B58-8F483EA4A32C}" type="slidenum">
              <a:rPr lang="en-IN" smtClean="0"/>
              <a:t>‹#›</a:t>
            </a:fld>
            <a:endParaRPr lang="en-IN"/>
          </a:p>
        </p:txBody>
      </p:sp>
    </p:spTree>
    <p:extLst>
      <p:ext uri="{BB962C8B-B14F-4D97-AF65-F5344CB8AC3E}">
        <p14:creationId xmlns:p14="http://schemas.microsoft.com/office/powerpoint/2010/main" val="224931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76F25-89ED-D888-0147-A3D4A0A33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EA40F19-0116-80C3-F691-133EFC7FF6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DC6710-3C1B-9A64-FC70-377E0844C7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479066-D41A-9461-366F-D091E2867CD6}"/>
              </a:ext>
            </a:extLst>
          </p:cNvPr>
          <p:cNvSpPr>
            <a:spLocks noGrp="1"/>
          </p:cNvSpPr>
          <p:nvPr>
            <p:ph type="dt" sz="half" idx="10"/>
          </p:nvPr>
        </p:nvSpPr>
        <p:spPr/>
        <p:txBody>
          <a:bodyPr/>
          <a:lstStyle/>
          <a:p>
            <a:fld id="{B7617827-60E3-48F6-8743-528F3C4CB30D}" type="datetimeFigureOut">
              <a:rPr lang="en-IN" smtClean="0"/>
              <a:t>26-08-2025</a:t>
            </a:fld>
            <a:endParaRPr lang="en-IN"/>
          </a:p>
        </p:txBody>
      </p:sp>
      <p:sp>
        <p:nvSpPr>
          <p:cNvPr id="6" name="Footer Placeholder 5">
            <a:extLst>
              <a:ext uri="{FF2B5EF4-FFF2-40B4-BE49-F238E27FC236}">
                <a16:creationId xmlns:a16="http://schemas.microsoft.com/office/drawing/2014/main" id="{FFB59599-B536-CC80-6918-55B27F3316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23CAB8-EF01-D5DA-CB62-552EA394F671}"/>
              </a:ext>
            </a:extLst>
          </p:cNvPr>
          <p:cNvSpPr>
            <a:spLocks noGrp="1"/>
          </p:cNvSpPr>
          <p:nvPr>
            <p:ph type="sldNum" sz="quarter" idx="12"/>
          </p:nvPr>
        </p:nvSpPr>
        <p:spPr/>
        <p:txBody>
          <a:bodyPr/>
          <a:lstStyle/>
          <a:p>
            <a:fld id="{4265A035-8500-425D-9B58-8F483EA4A32C}" type="slidenum">
              <a:rPr lang="en-IN" smtClean="0"/>
              <a:t>‹#›</a:t>
            </a:fld>
            <a:endParaRPr lang="en-IN"/>
          </a:p>
        </p:txBody>
      </p:sp>
    </p:spTree>
    <p:extLst>
      <p:ext uri="{BB962C8B-B14F-4D97-AF65-F5344CB8AC3E}">
        <p14:creationId xmlns:p14="http://schemas.microsoft.com/office/powerpoint/2010/main" val="515496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E51BE-B0A3-9B20-F99D-3DA14C0DD2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C7C2B5-1E59-C0A4-A4DF-81F376A8A1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067F9-4846-2B51-12AA-8FF52A600E0D}"/>
              </a:ext>
            </a:extLst>
          </p:cNvPr>
          <p:cNvSpPr>
            <a:spLocks noGrp="1"/>
          </p:cNvSpPr>
          <p:nvPr>
            <p:ph type="dt" sz="half" idx="10"/>
          </p:nvPr>
        </p:nvSpPr>
        <p:spPr/>
        <p:txBody>
          <a:bodyPr/>
          <a:lstStyle/>
          <a:p>
            <a:fld id="{B7617827-60E3-48F6-8743-528F3C4CB30D}" type="datetimeFigureOut">
              <a:rPr lang="en-IN" smtClean="0"/>
              <a:t>26-08-2025</a:t>
            </a:fld>
            <a:endParaRPr lang="en-IN"/>
          </a:p>
        </p:txBody>
      </p:sp>
      <p:sp>
        <p:nvSpPr>
          <p:cNvPr id="5" name="Footer Placeholder 4">
            <a:extLst>
              <a:ext uri="{FF2B5EF4-FFF2-40B4-BE49-F238E27FC236}">
                <a16:creationId xmlns:a16="http://schemas.microsoft.com/office/drawing/2014/main" id="{D012397F-A83F-192A-7419-6654B4C329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9E4343-1F5B-4D73-E5E8-FCB552A9F4B5}"/>
              </a:ext>
            </a:extLst>
          </p:cNvPr>
          <p:cNvSpPr>
            <a:spLocks noGrp="1"/>
          </p:cNvSpPr>
          <p:nvPr>
            <p:ph type="sldNum" sz="quarter" idx="12"/>
          </p:nvPr>
        </p:nvSpPr>
        <p:spPr/>
        <p:txBody>
          <a:bodyPr/>
          <a:lstStyle/>
          <a:p>
            <a:fld id="{4265A035-8500-425D-9B58-8F483EA4A32C}" type="slidenum">
              <a:rPr lang="en-IN" smtClean="0"/>
              <a:t>‹#›</a:t>
            </a:fld>
            <a:endParaRPr lang="en-IN"/>
          </a:p>
        </p:txBody>
      </p:sp>
    </p:spTree>
    <p:extLst>
      <p:ext uri="{BB962C8B-B14F-4D97-AF65-F5344CB8AC3E}">
        <p14:creationId xmlns:p14="http://schemas.microsoft.com/office/powerpoint/2010/main" val="480188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F0DB52-FD7A-67A0-3F26-9AC6873736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0FFB08-1548-E794-663F-195CC51D4B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53F7BB-BEF1-4D74-4FDC-3E4C3685139F}"/>
              </a:ext>
            </a:extLst>
          </p:cNvPr>
          <p:cNvSpPr>
            <a:spLocks noGrp="1"/>
          </p:cNvSpPr>
          <p:nvPr>
            <p:ph type="dt" sz="half" idx="10"/>
          </p:nvPr>
        </p:nvSpPr>
        <p:spPr/>
        <p:txBody>
          <a:bodyPr/>
          <a:lstStyle/>
          <a:p>
            <a:fld id="{B7617827-60E3-48F6-8743-528F3C4CB30D}" type="datetimeFigureOut">
              <a:rPr lang="en-IN" smtClean="0"/>
              <a:t>26-08-2025</a:t>
            </a:fld>
            <a:endParaRPr lang="en-IN"/>
          </a:p>
        </p:txBody>
      </p:sp>
      <p:sp>
        <p:nvSpPr>
          <p:cNvPr id="5" name="Footer Placeholder 4">
            <a:extLst>
              <a:ext uri="{FF2B5EF4-FFF2-40B4-BE49-F238E27FC236}">
                <a16:creationId xmlns:a16="http://schemas.microsoft.com/office/drawing/2014/main" id="{378265D6-BFB0-3AF2-CE33-99D8709FEB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53B5C2-61A9-C2EB-C9AD-B3DE04DDA133}"/>
              </a:ext>
            </a:extLst>
          </p:cNvPr>
          <p:cNvSpPr>
            <a:spLocks noGrp="1"/>
          </p:cNvSpPr>
          <p:nvPr>
            <p:ph type="sldNum" sz="quarter" idx="12"/>
          </p:nvPr>
        </p:nvSpPr>
        <p:spPr/>
        <p:txBody>
          <a:bodyPr/>
          <a:lstStyle/>
          <a:p>
            <a:fld id="{4265A035-8500-425D-9B58-8F483EA4A32C}" type="slidenum">
              <a:rPr lang="en-IN" smtClean="0"/>
              <a:t>‹#›</a:t>
            </a:fld>
            <a:endParaRPr lang="en-IN"/>
          </a:p>
        </p:txBody>
      </p:sp>
    </p:spTree>
    <p:extLst>
      <p:ext uri="{BB962C8B-B14F-4D97-AF65-F5344CB8AC3E}">
        <p14:creationId xmlns:p14="http://schemas.microsoft.com/office/powerpoint/2010/main" val="1172780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9582371-F666-B849-B3AA-03F221A78D3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61DEEB44-0C90-4041-8672-31A7F3555245}"/>
              </a:ext>
            </a:extLst>
          </p:cNvPr>
          <p:cNvSpPr txBox="1">
            <a:spLocks/>
          </p:cNvSpPr>
          <p:nvPr userDrawn="1"/>
        </p:nvSpPr>
        <p:spPr>
          <a:xfrm>
            <a:off x="4288734" y="1214664"/>
            <a:ext cx="7729331" cy="21113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000" kern="1200">
                <a:solidFill>
                  <a:schemeClr val="tx1"/>
                </a:solidFill>
                <a:latin typeface="Helvetica" pitchFamily="2" charset="0"/>
                <a:ea typeface="+mj-ea"/>
                <a:cs typeface="+mj-cs"/>
              </a:defRPr>
            </a:lvl1pPr>
          </a:lstStyle>
          <a:p>
            <a:pPr algn="l" defTabSz="914400" rtl="0" eaLnBrk="1" latinLnBrk="0" hangingPunct="1">
              <a:lnSpc>
                <a:spcPct val="90000"/>
              </a:lnSpc>
              <a:spcBef>
                <a:spcPct val="0"/>
              </a:spcBef>
              <a:buNone/>
            </a:pPr>
            <a:endParaRPr lang="en-US" sz="3000" kern="1200">
              <a:solidFill>
                <a:schemeClr val="bg1"/>
              </a:solidFill>
              <a:latin typeface="Helvetica" pitchFamily="2" charset="0"/>
              <a:ea typeface="+mj-ea"/>
              <a:cs typeface="+mj-cs"/>
            </a:endParaRPr>
          </a:p>
        </p:txBody>
      </p:sp>
      <p:sp>
        <p:nvSpPr>
          <p:cNvPr id="9" name="Text Placeholder 2">
            <a:extLst>
              <a:ext uri="{FF2B5EF4-FFF2-40B4-BE49-F238E27FC236}">
                <a16:creationId xmlns:a16="http://schemas.microsoft.com/office/drawing/2014/main" id="{7BAC7FD0-FA68-B248-9D63-C1A6781BB533}"/>
              </a:ext>
            </a:extLst>
          </p:cNvPr>
          <p:cNvSpPr>
            <a:spLocks noGrp="1"/>
          </p:cNvSpPr>
          <p:nvPr>
            <p:ph type="body" idx="13"/>
          </p:nvPr>
        </p:nvSpPr>
        <p:spPr>
          <a:xfrm>
            <a:off x="4288734" y="3344295"/>
            <a:ext cx="7736956" cy="1500187"/>
          </a:xfrm>
        </p:spPr>
        <p:txBody>
          <a:bodyPr>
            <a:normAutofit/>
          </a:bodyPr>
          <a:lstStyle>
            <a:lvl1pPr marL="0" indent="0" algn="l" defTabSz="685800" rtl="0" eaLnBrk="1" latinLnBrk="0" hangingPunct="1">
              <a:lnSpc>
                <a:spcPct val="90000"/>
              </a:lnSpc>
              <a:spcBef>
                <a:spcPts val="750"/>
              </a:spcBef>
              <a:buFont typeface="Arial" panose="020B0604020202020204" pitchFamily="34" charset="0"/>
              <a:buNone/>
              <a:defRPr lang="en-US" sz="2000" kern="1200" dirty="0">
                <a:solidFill>
                  <a:schemeClr val="bg1"/>
                </a:solidFill>
                <a:latin typeface="Helvetica" pitchFamily="2"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10" name="Title 1">
            <a:extLst>
              <a:ext uri="{FF2B5EF4-FFF2-40B4-BE49-F238E27FC236}">
                <a16:creationId xmlns:a16="http://schemas.microsoft.com/office/drawing/2014/main" id="{6EB11C95-322B-D547-B3D1-C6B4B53DB5F9}"/>
              </a:ext>
            </a:extLst>
          </p:cNvPr>
          <p:cNvSpPr>
            <a:spLocks noGrp="1"/>
          </p:cNvSpPr>
          <p:nvPr>
            <p:ph type="ctrTitle"/>
          </p:nvPr>
        </p:nvSpPr>
        <p:spPr>
          <a:xfrm>
            <a:off x="4302289" y="938438"/>
            <a:ext cx="7715776" cy="2387600"/>
          </a:xfrm>
        </p:spPr>
        <p:txBody>
          <a:bodyPr anchor="b">
            <a:normAutofit/>
          </a:bodyPr>
          <a:lstStyle>
            <a:lvl1pPr algn="l">
              <a:defRPr lang="en-US" sz="3000" kern="1200" dirty="0">
                <a:solidFill>
                  <a:schemeClr val="bg1"/>
                </a:solidFill>
                <a:latin typeface="Helvetica" pitchFamily="2" charset="0"/>
                <a:ea typeface="+mj-ea"/>
                <a:cs typeface="+mj-cs"/>
              </a:defRPr>
            </a:lvl1pPr>
          </a:lstStyle>
          <a:p>
            <a:endParaRPr lang="en-US"/>
          </a:p>
        </p:txBody>
      </p:sp>
    </p:spTree>
    <p:extLst>
      <p:ext uri="{BB962C8B-B14F-4D97-AF65-F5344CB8AC3E}">
        <p14:creationId xmlns:p14="http://schemas.microsoft.com/office/powerpoint/2010/main" val="2663807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9A7350-5FE5-4208-ABEC-8EEEDF083E6A}" type="datetime1">
              <a:rPr lang="en-US" smtClean="0"/>
              <a:t>8/26/2025</a:t>
            </a:fld>
            <a:endParaRPr lang="en-US"/>
          </a:p>
        </p:txBody>
      </p:sp>
      <p:sp>
        <p:nvSpPr>
          <p:cNvPr id="5" name="Footer Placeholder 4"/>
          <p:cNvSpPr>
            <a:spLocks noGrp="1"/>
          </p:cNvSpPr>
          <p:nvPr>
            <p:ph type="ftr" sz="quarter" idx="11"/>
          </p:nvPr>
        </p:nvSpPr>
        <p:spPr/>
        <p:txBody>
          <a:bodyPr/>
          <a:lstStyle/>
          <a:p>
            <a:r>
              <a:rPr lang="en-US"/>
              <a:t>Urbanite Enquiry</a:t>
            </a:r>
          </a:p>
        </p:txBody>
      </p:sp>
      <p:sp>
        <p:nvSpPr>
          <p:cNvPr id="6" name="Slide Number Placeholder 5"/>
          <p:cNvSpPr>
            <a:spLocks noGrp="1"/>
          </p:cNvSpPr>
          <p:nvPr>
            <p:ph type="sldNum" sz="quarter" idx="12"/>
          </p:nvPr>
        </p:nvSpPr>
        <p:spPr/>
        <p:txBody>
          <a:bodyPr/>
          <a:lstStyle/>
          <a:p>
            <a:fld id="{2742E19B-BBB1-2246-AAA4-0D48B8609D3A}" type="slidenum">
              <a:rPr lang="en-US" smtClean="0"/>
              <a:t>‹#›</a:t>
            </a:fld>
            <a:endParaRPr lang="en-US"/>
          </a:p>
        </p:txBody>
      </p:sp>
      <p:pic>
        <p:nvPicPr>
          <p:cNvPr id="7" name="Picture 6">
            <a:extLst>
              <a:ext uri="{FF2B5EF4-FFF2-40B4-BE49-F238E27FC236}">
                <a16:creationId xmlns:a16="http://schemas.microsoft.com/office/drawing/2014/main" id="{99F75E69-E80F-0246-AD16-E625D66376F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356427" y="1188483"/>
            <a:ext cx="11454573" cy="5167869"/>
          </a:xfrm>
        </p:spPr>
        <p:txBody>
          <a:bodyPr>
            <a:normAutofit/>
          </a:bodyPr>
          <a:lstStyle>
            <a:lvl1pPr>
              <a:defRPr sz="2400">
                <a:latin typeface="Helvetica" panose="020B0604020202020204" pitchFamily="34" charset="0"/>
                <a:cs typeface="Helvetica" panose="020B0604020202020204" pitchFamily="34" charset="0"/>
              </a:defRPr>
            </a:lvl1pPr>
            <a:lvl2pPr>
              <a:defRPr sz="2000">
                <a:latin typeface="Helvetica" panose="020B0604020202020204" pitchFamily="34" charset="0"/>
                <a:cs typeface="Helvetica" panose="020B0604020202020204" pitchFamily="34" charset="0"/>
              </a:defRPr>
            </a:lvl2pPr>
            <a:lvl3pPr>
              <a:defRPr sz="1800">
                <a:latin typeface="Helvetica" panose="020B0604020202020204" pitchFamily="34" charset="0"/>
                <a:cs typeface="Helvetica" panose="020B0604020202020204" pitchFamily="34" charset="0"/>
              </a:defRPr>
            </a:lvl3pPr>
            <a:lvl4pPr>
              <a:defRPr sz="1600">
                <a:latin typeface="Helvetica" panose="020B0604020202020204" pitchFamily="34" charset="0"/>
                <a:cs typeface="Helvetica" panose="020B0604020202020204" pitchFamily="34" charset="0"/>
              </a:defRPr>
            </a:lvl4pPr>
            <a:lvl5pPr>
              <a:defRPr sz="1600">
                <a:latin typeface="Helvetica" panose="020B0604020202020204" pitchFamily="34" charset="0"/>
                <a:cs typeface="Helvetica"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p:nvPr>
        </p:nvSpPr>
        <p:spPr>
          <a:xfrm>
            <a:off x="356428" y="92765"/>
            <a:ext cx="9130473" cy="822669"/>
          </a:xfrm>
        </p:spPr>
        <p:txBody>
          <a:bodyPr>
            <a:normAutofit/>
          </a:bodyPr>
          <a:lstStyle>
            <a:lvl1pPr>
              <a:defRPr sz="3200" b="1">
                <a:solidFill>
                  <a:schemeClr val="bg1"/>
                </a:solidFill>
                <a:latin typeface="Helvetica" panose="020B0604020202020204" pitchFamily="34" charset="0"/>
                <a:cs typeface="Helvetica"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463109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B5E341-303D-B771-EE22-3A4741D8AF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F583FE-1C20-8BE3-3565-B4E8571DE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FC435E-B68F-AE83-FD09-14EEB35405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617827-60E3-48F6-8743-528F3C4CB30D}" type="datetimeFigureOut">
              <a:rPr lang="en-IN" smtClean="0"/>
              <a:t>26-08-2025</a:t>
            </a:fld>
            <a:endParaRPr lang="en-IN"/>
          </a:p>
        </p:txBody>
      </p:sp>
      <p:sp>
        <p:nvSpPr>
          <p:cNvPr id="5" name="Footer Placeholder 4">
            <a:extLst>
              <a:ext uri="{FF2B5EF4-FFF2-40B4-BE49-F238E27FC236}">
                <a16:creationId xmlns:a16="http://schemas.microsoft.com/office/drawing/2014/main" id="{F873C66D-9345-7180-8433-AD275CADF8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600A2E6-1B4B-8259-795C-FFED1C17F5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65A035-8500-425D-9B58-8F483EA4A32C}" type="slidenum">
              <a:rPr lang="en-IN" smtClean="0"/>
              <a:t>‹#›</a:t>
            </a:fld>
            <a:endParaRPr lang="en-IN"/>
          </a:p>
        </p:txBody>
      </p:sp>
    </p:spTree>
    <p:extLst>
      <p:ext uri="{BB962C8B-B14F-4D97-AF65-F5344CB8AC3E}">
        <p14:creationId xmlns:p14="http://schemas.microsoft.com/office/powerpoint/2010/main" val="2410407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microsoft.com/office/2007/relationships/diagramDrawing" Target="../diagrams/drawing3.xml"/><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diagramColors" Target="../diagrams/colors3.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2.xml"/><Relationship Id="rId11" Type="http://schemas.openxmlformats.org/officeDocument/2006/relationships/diagramQuickStyle" Target="../diagrams/quickStyle3.xml"/><Relationship Id="rId5" Type="http://schemas.openxmlformats.org/officeDocument/2006/relationships/diagramQuickStyle" Target="../diagrams/quickStyle2.xml"/><Relationship Id="rId10" Type="http://schemas.openxmlformats.org/officeDocument/2006/relationships/diagramLayout" Target="../diagrams/layout3.xml"/><Relationship Id="rId4" Type="http://schemas.openxmlformats.org/officeDocument/2006/relationships/diagramLayout" Target="../diagrams/layout2.xml"/><Relationship Id="rId9"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image" Target="../media/image28.png"/><Relationship Id="rId7" Type="http://schemas.openxmlformats.org/officeDocument/2006/relationships/hyperlink" Target="https://mossegalapoma.cat/sostre-solar-tesla-macbook-pro-massa-cars/" TargetMode="External"/><Relationship Id="rId2" Type="http://schemas.openxmlformats.org/officeDocument/2006/relationships/image" Target="../media/image27.png"/><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jpeg"/><Relationship Id="rId4" Type="http://schemas.openxmlformats.org/officeDocument/2006/relationships/image" Target="../media/image29.png"/><Relationship Id="rId9" Type="http://schemas.openxmlformats.org/officeDocument/2006/relationships/hyperlink" Target="https://rajasandhu.com/" TargetMode="Externa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chart" Target="../charts/chart2.xml"/><Relationship Id="rId7" Type="http://schemas.openxmlformats.org/officeDocument/2006/relationships/diagramQuickStyle" Target="../diagrams/quickStyle6.xml"/><Relationship Id="rId2" Type="http://schemas.openxmlformats.org/officeDocument/2006/relationships/chart" Target="../charts/chart1.xml"/><Relationship Id="rId1" Type="http://schemas.openxmlformats.org/officeDocument/2006/relationships/slideLayout" Target="../slideLayouts/slideLayout13.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chart" Target="../charts/chart3.xml"/><Relationship Id="rId9" Type="http://schemas.microsoft.com/office/2007/relationships/diagramDrawing" Target="../diagrams/drawing6.xml"/></Relationships>
</file>

<file path=ppt/slides/_rels/slide11.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chart" Target="../charts/chart5.xml"/><Relationship Id="rId7" Type="http://schemas.openxmlformats.org/officeDocument/2006/relationships/diagramColors" Target="../diagrams/colors7.xml"/><Relationship Id="rId2" Type="http://schemas.openxmlformats.org/officeDocument/2006/relationships/chart" Target="../charts/chart4.xml"/><Relationship Id="rId1" Type="http://schemas.openxmlformats.org/officeDocument/2006/relationships/slideLayout" Target="../slideLayouts/slideLayout13.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A6153-A877-E99E-BC1B-AF66F83831C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5301CA-E840-C660-CB12-18BCD30C0F03}"/>
              </a:ext>
            </a:extLst>
          </p:cNvPr>
          <p:cNvSpPr>
            <a:spLocks noGrp="1"/>
          </p:cNvSpPr>
          <p:nvPr>
            <p:ph type="body" idx="13"/>
          </p:nvPr>
        </p:nvSpPr>
        <p:spPr>
          <a:xfrm>
            <a:off x="3116824" y="2043693"/>
            <a:ext cx="8399794" cy="2182869"/>
          </a:xfrm>
        </p:spPr>
        <p:txBody>
          <a:bodyPr>
            <a:noAutofit/>
          </a:bodyPr>
          <a:lstStyle/>
          <a:p>
            <a:r>
              <a:rPr lang="en-US" sz="6600" b="1" dirty="0">
                <a:latin typeface="AngsanaUPC" panose="02020603050405020304" pitchFamily="18" charset="-34"/>
                <a:cs typeface="AngsanaUPC" panose="02020603050405020304" pitchFamily="18" charset="-34"/>
              </a:rPr>
              <a:t> Enabling Digital Transformation </a:t>
            </a:r>
            <a:br>
              <a:rPr lang="en-US" sz="6600" b="1" dirty="0">
                <a:latin typeface="AngsanaUPC" panose="02020603050405020304" pitchFamily="18" charset="-34"/>
                <a:cs typeface="AngsanaUPC" panose="02020603050405020304" pitchFamily="18" charset="-34"/>
              </a:rPr>
            </a:br>
            <a:r>
              <a:rPr lang="en-US" sz="6600" b="1" dirty="0">
                <a:latin typeface="AngsanaUPC" panose="02020603050405020304" pitchFamily="18" charset="-34"/>
                <a:cs typeface="AngsanaUPC" panose="02020603050405020304" pitchFamily="18" charset="-34"/>
              </a:rPr>
              <a:t>                with MuleSoft</a:t>
            </a:r>
            <a:endParaRPr lang="en-IN" sz="6600" b="1" dirty="0"/>
          </a:p>
          <a:p>
            <a:endParaRPr lang="en-IN" sz="6600" b="1" dirty="0"/>
          </a:p>
        </p:txBody>
      </p:sp>
    </p:spTree>
    <p:extLst>
      <p:ext uri="{BB962C8B-B14F-4D97-AF65-F5344CB8AC3E}">
        <p14:creationId xmlns:p14="http://schemas.microsoft.com/office/powerpoint/2010/main" val="181836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Content Placeholder 1">
            <a:extLst>
              <a:ext uri="{FF2B5EF4-FFF2-40B4-BE49-F238E27FC236}">
                <a16:creationId xmlns:a16="http://schemas.microsoft.com/office/drawing/2014/main" id="{0B48EF68-3CEE-1FA3-DD21-71C1D4F7017D}"/>
              </a:ext>
            </a:extLst>
          </p:cNvPr>
          <p:cNvSpPr>
            <a:spLocks noGrp="1"/>
          </p:cNvSpPr>
          <p:nvPr>
            <p:ph idx="1"/>
          </p:nvPr>
        </p:nvSpPr>
        <p:spPr>
          <a:xfrm>
            <a:off x="7862391" y="649067"/>
            <a:ext cx="4263256" cy="4616563"/>
          </a:xfrm>
        </p:spPr>
        <p:txBody>
          <a:bodyPr>
            <a:noAutofit/>
          </a:bodyPr>
          <a:lstStyle/>
          <a:p>
            <a:pPr marL="0" indent="0">
              <a:buNone/>
            </a:pPr>
            <a:r>
              <a:rPr lang="en-US" sz="3000" dirty="0">
                <a:latin typeface="AngsanaUPC" panose="02020603050405020304" pitchFamily="18" charset="-34"/>
                <a:cs typeface="AngsanaUPC" panose="02020603050405020304" pitchFamily="18" charset="-34"/>
              </a:rPr>
              <a:t> </a:t>
            </a:r>
          </a:p>
          <a:p>
            <a:pPr marL="0" indent="0">
              <a:buNone/>
            </a:pPr>
            <a:r>
              <a:rPr lang="en-IN" sz="3000" dirty="0">
                <a:latin typeface="AngsanaUPC" panose="02020603050405020304" pitchFamily="18" charset="-34"/>
                <a:cs typeface="AngsanaUPC" panose="02020603050405020304" pitchFamily="18" charset="-34"/>
              </a:rPr>
              <a:t>Problem Statement</a:t>
            </a:r>
          </a:p>
          <a:p>
            <a:pPr marL="0" indent="0">
              <a:buNone/>
            </a:pPr>
            <a:r>
              <a:rPr lang="en-IN" sz="3000" dirty="0">
                <a:latin typeface="AngsanaUPC" panose="02020603050405020304" pitchFamily="18" charset="-34"/>
                <a:cs typeface="AngsanaUPC" panose="02020603050405020304" pitchFamily="18" charset="-34"/>
              </a:rPr>
              <a:t>Solution</a:t>
            </a:r>
          </a:p>
          <a:p>
            <a:pPr marL="0" indent="0">
              <a:buNone/>
            </a:pPr>
            <a:r>
              <a:rPr lang="en-IN" sz="3000" dirty="0">
                <a:latin typeface="AngsanaUPC" panose="02020603050405020304" pitchFamily="18" charset="-34"/>
                <a:cs typeface="AngsanaUPC" panose="02020603050405020304" pitchFamily="18" charset="-34"/>
              </a:rPr>
              <a:t>Architecture Context </a:t>
            </a:r>
          </a:p>
          <a:p>
            <a:pPr marL="0" indent="0">
              <a:buNone/>
            </a:pPr>
            <a:r>
              <a:rPr lang="en-US" sz="3000" dirty="0">
                <a:latin typeface="AngsanaUPC" panose="02020603050405020304" pitchFamily="18" charset="-34"/>
                <a:cs typeface="AngsanaUPC" panose="02020603050405020304" pitchFamily="18" charset="-34"/>
              </a:rPr>
              <a:t>CI/CD Setup &amp; Environments</a:t>
            </a:r>
          </a:p>
          <a:p>
            <a:pPr marL="0" indent="0">
              <a:buNone/>
            </a:pPr>
            <a:r>
              <a:rPr lang="en-US" sz="3000" dirty="0">
                <a:latin typeface="AngsanaUPC" panose="02020603050405020304" pitchFamily="18" charset="-34"/>
                <a:cs typeface="AngsanaUPC" panose="02020603050405020304" pitchFamily="18" charset="-34"/>
              </a:rPr>
              <a:t>API Level Security</a:t>
            </a:r>
            <a:endParaRPr lang="en-IN" sz="3000" dirty="0">
              <a:latin typeface="AngsanaUPC" panose="02020603050405020304" pitchFamily="18" charset="-34"/>
              <a:cs typeface="AngsanaUPC" panose="02020603050405020304" pitchFamily="18" charset="-34"/>
            </a:endParaRPr>
          </a:p>
          <a:p>
            <a:pPr marL="0" indent="0">
              <a:buNone/>
            </a:pPr>
            <a:r>
              <a:rPr lang="en-IN" sz="3000" dirty="0">
                <a:latin typeface="AngsanaUPC" panose="02020603050405020304" pitchFamily="18" charset="-34"/>
                <a:cs typeface="AngsanaUPC" panose="02020603050405020304" pitchFamily="18" charset="-34"/>
              </a:rPr>
              <a:t>Key Metrics &amp; Business Outcome</a:t>
            </a:r>
          </a:p>
          <a:p>
            <a:pPr marL="0" indent="0">
              <a:buNone/>
            </a:pPr>
            <a:r>
              <a:rPr lang="en-IN" sz="3000" dirty="0">
                <a:latin typeface="AngsanaUPC" panose="02020603050405020304" pitchFamily="18" charset="-34"/>
                <a:cs typeface="AngsanaUPC" panose="02020603050405020304" pitchFamily="18" charset="-34"/>
              </a:rPr>
              <a:t>API Growth &amp; Usage</a:t>
            </a:r>
          </a:p>
          <a:p>
            <a:pPr marL="0" indent="0">
              <a:buNone/>
            </a:pPr>
            <a:r>
              <a:rPr lang="en-IN" sz="3000" dirty="0">
                <a:latin typeface="AngsanaUPC" panose="02020603050405020304" pitchFamily="18" charset="-34"/>
                <a:cs typeface="AngsanaUPC" panose="02020603050405020304" pitchFamily="18" charset="-34"/>
              </a:rPr>
              <a:t>Monitoring, Alerts &amp; Reports</a:t>
            </a:r>
          </a:p>
          <a:p>
            <a:pPr marL="0" indent="0">
              <a:buNone/>
            </a:pPr>
            <a:r>
              <a:rPr lang="en-IN" sz="3000" dirty="0">
                <a:latin typeface="AngsanaUPC" panose="02020603050405020304" pitchFamily="18" charset="-34"/>
                <a:cs typeface="AngsanaUPC" panose="02020603050405020304" pitchFamily="18" charset="-34"/>
              </a:rPr>
              <a:t>Future RoadMap</a:t>
            </a:r>
          </a:p>
          <a:p>
            <a:pPr marL="0" indent="0">
              <a:buNone/>
            </a:pPr>
            <a:endParaRPr lang="en-IN" sz="3000" dirty="0">
              <a:latin typeface="AngsanaUPC" panose="02020603050405020304" pitchFamily="18" charset="-34"/>
              <a:cs typeface="AngsanaUPC" panose="02020603050405020304" pitchFamily="18" charset="-34"/>
            </a:endParaRPr>
          </a:p>
          <a:p>
            <a:pPr marL="0" indent="0">
              <a:buNone/>
            </a:pPr>
            <a:endParaRPr lang="en-IN" sz="3000" dirty="0">
              <a:latin typeface="AngsanaUPC" panose="02020603050405020304" pitchFamily="18" charset="-34"/>
              <a:cs typeface="AngsanaUPC" panose="02020603050405020304" pitchFamily="18" charset="-34"/>
            </a:endParaRPr>
          </a:p>
          <a:p>
            <a:endParaRPr lang="en-IN" sz="3000" dirty="0">
              <a:latin typeface="AngsanaUPC" panose="02020603050405020304" pitchFamily="18" charset="-34"/>
              <a:cs typeface="AngsanaUPC" panose="02020603050405020304" pitchFamily="18" charset="-34"/>
            </a:endParaRPr>
          </a:p>
          <a:p>
            <a:pPr marL="0" indent="0">
              <a:buNone/>
            </a:pPr>
            <a:endParaRPr lang="en-US" sz="3000" dirty="0">
              <a:latin typeface="AngsanaUPC" panose="02020603050405020304" pitchFamily="18" charset="-34"/>
              <a:cs typeface="AngsanaUPC" panose="02020603050405020304" pitchFamily="18" charset="-34"/>
            </a:endParaRPr>
          </a:p>
        </p:txBody>
      </p:sp>
      <p:sp>
        <p:nvSpPr>
          <p:cNvPr id="44" name="Title 2">
            <a:extLst>
              <a:ext uri="{FF2B5EF4-FFF2-40B4-BE49-F238E27FC236}">
                <a16:creationId xmlns:a16="http://schemas.microsoft.com/office/drawing/2014/main" id="{8B3E37C6-C394-1AE5-885C-8A098F1ECE2B}"/>
              </a:ext>
            </a:extLst>
          </p:cNvPr>
          <p:cNvSpPr>
            <a:spLocks noGrp="1"/>
          </p:cNvSpPr>
          <p:nvPr>
            <p:ph type="title"/>
          </p:nvPr>
        </p:nvSpPr>
        <p:spPr>
          <a:xfrm>
            <a:off x="557764" y="0"/>
            <a:ext cx="9130473" cy="822669"/>
          </a:xfrm>
        </p:spPr>
        <p:txBody>
          <a:bodyPr>
            <a:normAutofit fontScale="90000"/>
          </a:bodyPr>
          <a:lstStyle/>
          <a:p>
            <a:pPr algn="ctr"/>
            <a:br>
              <a:rPr lang="en-US" sz="5300" dirty="0">
                <a:latin typeface="AngsanaUPC" panose="02020603050405020304" pitchFamily="18" charset="-34"/>
                <a:cs typeface="AngsanaUPC" panose="02020603050405020304" pitchFamily="18" charset="-34"/>
              </a:rPr>
            </a:br>
            <a:r>
              <a:rPr lang="en-US" sz="5300" dirty="0">
                <a:latin typeface="AngsanaUPC" panose="02020603050405020304" pitchFamily="18" charset="-34"/>
                <a:cs typeface="AngsanaUPC" panose="02020603050405020304" pitchFamily="18" charset="-34"/>
              </a:rPr>
              <a:t>AGENDA</a:t>
            </a:r>
            <a:br>
              <a:rPr lang="en-IN" dirty="0">
                <a:latin typeface="AngsanaUPC" panose="02020603050405020304" pitchFamily="18" charset="-34"/>
                <a:cs typeface="AngsanaUPC" panose="02020603050405020304" pitchFamily="18" charset="-34"/>
              </a:rPr>
            </a:br>
            <a:endParaRPr lang="en-US" dirty="0"/>
          </a:p>
        </p:txBody>
      </p:sp>
      <p:sp>
        <p:nvSpPr>
          <p:cNvPr id="4" name="Title 1">
            <a:extLst>
              <a:ext uri="{FF2B5EF4-FFF2-40B4-BE49-F238E27FC236}">
                <a16:creationId xmlns:a16="http://schemas.microsoft.com/office/drawing/2014/main" id="{C6843FF3-5406-1E24-AE0A-8627E9AC4D25}"/>
              </a:ext>
            </a:extLst>
          </p:cNvPr>
          <p:cNvSpPr txBox="1">
            <a:spLocks/>
          </p:cNvSpPr>
          <p:nvPr/>
        </p:nvSpPr>
        <p:spPr bwMode="auto">
          <a:xfrm>
            <a:off x="1314824" y="735106"/>
            <a:ext cx="10053763" cy="2928470"/>
          </a:xfrm>
          <a:prstGeom prst="rect">
            <a:avLst/>
          </a:prstGeom>
        </p:spPr>
        <p:txBody>
          <a:bodyPr vert="horz" lIns="91440" tIns="45720" rIns="91440" bIns="45720" rtlCol="0" anchor="b">
            <a:normAutofit/>
          </a:bodyPr>
          <a:lstStyle>
            <a:defPPr>
              <a:defRPr lang="en-US"/>
            </a:defPPr>
            <a:lvl1pPr algn="ctr">
              <a:defRPr sz="2000" b="1">
                <a:solidFill>
                  <a:srgbClr val="2D0DB3"/>
                </a:solidFill>
              </a:defRPr>
            </a:lvl1pPr>
          </a:lstStyle>
          <a:p>
            <a:pPr marL="0" marR="0" lvl="0" indent="0" algn="l" fontAlgn="auto">
              <a:lnSpc>
                <a:spcPct val="90000"/>
              </a:lnSpc>
              <a:spcBef>
                <a:spcPct val="0"/>
              </a:spcBef>
              <a:spcAft>
                <a:spcPts val="600"/>
              </a:spcAft>
              <a:buClrTx/>
              <a:buSzTx/>
              <a:tabLst/>
              <a:defRPr/>
            </a:pPr>
            <a:endParaRPr kumimoji="0" lang="en-US" altLang="en-US" sz="4800" i="1" u="none" strike="noStrike" kern="1200" normalizeH="0" baseline="0" noProof="0" dirty="0">
              <a:ln/>
              <a:solidFill>
                <a:srgbClr val="FFFFFF"/>
              </a:solidFill>
              <a:effectLst>
                <a:outerShdw blurRad="38100" dist="19050" dir="2700000" algn="tl" rotWithShape="0">
                  <a:schemeClr val="dk1">
                    <a:lumMod val="50000"/>
                    <a:alpha val="40000"/>
                  </a:schemeClr>
                </a:outerShdw>
              </a:effectLst>
              <a:uLnTx/>
              <a:uFillTx/>
              <a:latin typeface="+mj-lt"/>
              <a:ea typeface="+mj-ea"/>
              <a:cs typeface="+mj-cs"/>
            </a:endParaRPr>
          </a:p>
        </p:txBody>
      </p:sp>
      <p:sp>
        <p:nvSpPr>
          <p:cNvPr id="29" name="Flowchart: Connector 28">
            <a:extLst>
              <a:ext uri="{FF2B5EF4-FFF2-40B4-BE49-F238E27FC236}">
                <a16:creationId xmlns:a16="http://schemas.microsoft.com/office/drawing/2014/main" id="{C659B531-AC28-FBF2-9D1B-1B6F108DEA66}"/>
              </a:ext>
            </a:extLst>
          </p:cNvPr>
          <p:cNvSpPr/>
          <p:nvPr/>
        </p:nvSpPr>
        <p:spPr>
          <a:xfrm>
            <a:off x="2116481" y="2480176"/>
            <a:ext cx="2365695" cy="2323750"/>
          </a:xfrm>
          <a:prstGeom prst="flowChartConnector">
            <a:avLst/>
          </a:prstGeom>
          <a:solidFill>
            <a:schemeClr val="bg1"/>
          </a:solidFill>
          <a:ln w="44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Graphic 29" descr="Check List">
            <a:extLst>
              <a:ext uri="{FF2B5EF4-FFF2-40B4-BE49-F238E27FC236}">
                <a16:creationId xmlns:a16="http://schemas.microsoft.com/office/drawing/2014/main" id="{A433E162-070F-55D6-ADF8-BFE3323BED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88494" y="2957349"/>
            <a:ext cx="1621667" cy="1391249"/>
          </a:xfrm>
          <a:prstGeom prst="rect">
            <a:avLst/>
          </a:prstGeom>
        </p:spPr>
      </p:pic>
      <p:sp>
        <p:nvSpPr>
          <p:cNvPr id="31" name="Flowchart: Connector 30">
            <a:extLst>
              <a:ext uri="{FF2B5EF4-FFF2-40B4-BE49-F238E27FC236}">
                <a16:creationId xmlns:a16="http://schemas.microsoft.com/office/drawing/2014/main" id="{9B255118-C906-757C-02A5-8A7531E88DEE}"/>
              </a:ext>
            </a:extLst>
          </p:cNvPr>
          <p:cNvSpPr/>
          <p:nvPr/>
        </p:nvSpPr>
        <p:spPr>
          <a:xfrm>
            <a:off x="7420495" y="1305537"/>
            <a:ext cx="281646" cy="263127"/>
          </a:xfrm>
          <a:prstGeom prst="flowChartConnector">
            <a:avLst/>
          </a:prstGeom>
          <a:solidFill>
            <a:schemeClr val="accent5">
              <a:lumMod val="75000"/>
            </a:schemeClr>
          </a:solidFill>
          <a:ln>
            <a:solidFill>
              <a:schemeClr val="accent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en-IN" dirty="0"/>
          </a:p>
        </p:txBody>
      </p:sp>
      <p:sp>
        <p:nvSpPr>
          <p:cNvPr id="39" name="Flowchart: Connector 38">
            <a:extLst>
              <a:ext uri="{FF2B5EF4-FFF2-40B4-BE49-F238E27FC236}">
                <a16:creationId xmlns:a16="http://schemas.microsoft.com/office/drawing/2014/main" id="{3C9F3FAB-22C3-4D3E-73A5-02FD7B4FBE5D}"/>
              </a:ext>
            </a:extLst>
          </p:cNvPr>
          <p:cNvSpPr/>
          <p:nvPr/>
        </p:nvSpPr>
        <p:spPr>
          <a:xfrm>
            <a:off x="7428180" y="1831456"/>
            <a:ext cx="281646" cy="263127"/>
          </a:xfrm>
          <a:prstGeom prst="flowChartConnector">
            <a:avLst/>
          </a:prstGeom>
          <a:solidFill>
            <a:schemeClr val="accent5">
              <a:lumMod val="60000"/>
              <a:lumOff val="40000"/>
            </a:schemeClr>
          </a:solidFill>
          <a:ln>
            <a:solidFill>
              <a:schemeClr val="accent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en-IN" dirty="0"/>
          </a:p>
        </p:txBody>
      </p:sp>
      <p:sp>
        <p:nvSpPr>
          <p:cNvPr id="41" name="Flowchart: Connector 40">
            <a:extLst>
              <a:ext uri="{FF2B5EF4-FFF2-40B4-BE49-F238E27FC236}">
                <a16:creationId xmlns:a16="http://schemas.microsoft.com/office/drawing/2014/main" id="{C541CB9B-8B5D-1695-FD10-0E1DB6C2DA02}"/>
              </a:ext>
            </a:extLst>
          </p:cNvPr>
          <p:cNvSpPr/>
          <p:nvPr/>
        </p:nvSpPr>
        <p:spPr>
          <a:xfrm>
            <a:off x="7404214" y="2434905"/>
            <a:ext cx="281646" cy="263127"/>
          </a:xfrm>
          <a:prstGeom prst="flowChartConnector">
            <a:avLst/>
          </a:prstGeom>
          <a:solidFill>
            <a:schemeClr val="accent5">
              <a:lumMod val="50000"/>
            </a:schemeClr>
          </a:solidFill>
          <a:ln>
            <a:solidFill>
              <a:schemeClr val="accent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en-IN" dirty="0"/>
          </a:p>
        </p:txBody>
      </p:sp>
      <p:sp>
        <p:nvSpPr>
          <p:cNvPr id="52" name="Flowchart: Connector 51">
            <a:extLst>
              <a:ext uri="{FF2B5EF4-FFF2-40B4-BE49-F238E27FC236}">
                <a16:creationId xmlns:a16="http://schemas.microsoft.com/office/drawing/2014/main" id="{487B2640-D9DF-6B32-D379-1AB7E24445DD}"/>
              </a:ext>
            </a:extLst>
          </p:cNvPr>
          <p:cNvSpPr/>
          <p:nvPr/>
        </p:nvSpPr>
        <p:spPr>
          <a:xfrm>
            <a:off x="7420495" y="2945829"/>
            <a:ext cx="281646" cy="263127"/>
          </a:xfrm>
          <a:prstGeom prst="flowChartConnector">
            <a:avLst/>
          </a:prstGeom>
          <a:solidFill>
            <a:schemeClr val="accent5">
              <a:lumMod val="60000"/>
              <a:lumOff val="40000"/>
            </a:schemeClr>
          </a:solidFill>
          <a:ln>
            <a:solidFill>
              <a:schemeClr val="accent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en-IN" dirty="0"/>
          </a:p>
        </p:txBody>
      </p:sp>
      <p:sp>
        <p:nvSpPr>
          <p:cNvPr id="53" name="Flowchart: Connector 52">
            <a:extLst>
              <a:ext uri="{FF2B5EF4-FFF2-40B4-BE49-F238E27FC236}">
                <a16:creationId xmlns:a16="http://schemas.microsoft.com/office/drawing/2014/main" id="{52B6D1EF-6105-AD6E-8EB9-744B991B0E95}"/>
              </a:ext>
            </a:extLst>
          </p:cNvPr>
          <p:cNvSpPr/>
          <p:nvPr/>
        </p:nvSpPr>
        <p:spPr>
          <a:xfrm>
            <a:off x="7404214" y="3511689"/>
            <a:ext cx="281646" cy="263127"/>
          </a:xfrm>
          <a:prstGeom prst="flowChartConnector">
            <a:avLst/>
          </a:prstGeom>
          <a:solidFill>
            <a:schemeClr val="accent5">
              <a:lumMod val="75000"/>
            </a:schemeClr>
          </a:solidFill>
          <a:ln>
            <a:solidFill>
              <a:schemeClr val="accent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en-IN" dirty="0"/>
          </a:p>
        </p:txBody>
      </p:sp>
      <p:sp>
        <p:nvSpPr>
          <p:cNvPr id="54" name="Flowchart: Connector 53">
            <a:extLst>
              <a:ext uri="{FF2B5EF4-FFF2-40B4-BE49-F238E27FC236}">
                <a16:creationId xmlns:a16="http://schemas.microsoft.com/office/drawing/2014/main" id="{5A16382B-AA23-66A2-3415-18B3299D726D}"/>
              </a:ext>
            </a:extLst>
          </p:cNvPr>
          <p:cNvSpPr/>
          <p:nvPr/>
        </p:nvSpPr>
        <p:spPr>
          <a:xfrm>
            <a:off x="7419785" y="4077549"/>
            <a:ext cx="281646" cy="263127"/>
          </a:xfrm>
          <a:prstGeom prst="flowChartConnector">
            <a:avLst/>
          </a:prstGeom>
          <a:solidFill>
            <a:schemeClr val="accent5">
              <a:lumMod val="60000"/>
              <a:lumOff val="40000"/>
            </a:schemeClr>
          </a:solidFill>
          <a:ln>
            <a:solidFill>
              <a:schemeClr val="accent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en-IN" dirty="0"/>
          </a:p>
        </p:txBody>
      </p:sp>
      <p:sp>
        <p:nvSpPr>
          <p:cNvPr id="55" name="Flowchart: Connector 54">
            <a:extLst>
              <a:ext uri="{FF2B5EF4-FFF2-40B4-BE49-F238E27FC236}">
                <a16:creationId xmlns:a16="http://schemas.microsoft.com/office/drawing/2014/main" id="{2F0DDCDE-87E7-B2CD-41C3-038B0DE250F8}"/>
              </a:ext>
            </a:extLst>
          </p:cNvPr>
          <p:cNvSpPr/>
          <p:nvPr/>
        </p:nvSpPr>
        <p:spPr>
          <a:xfrm>
            <a:off x="7419785" y="4540799"/>
            <a:ext cx="281646" cy="263127"/>
          </a:xfrm>
          <a:prstGeom prst="flowChartConnector">
            <a:avLst/>
          </a:prstGeom>
          <a:solidFill>
            <a:schemeClr val="accent5">
              <a:lumMod val="50000"/>
            </a:schemeClr>
          </a:solidFill>
          <a:ln>
            <a:solidFill>
              <a:schemeClr val="accent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en-IN" dirty="0"/>
          </a:p>
        </p:txBody>
      </p:sp>
      <p:cxnSp>
        <p:nvCxnSpPr>
          <p:cNvPr id="62" name="Straight Connector 61">
            <a:extLst>
              <a:ext uri="{FF2B5EF4-FFF2-40B4-BE49-F238E27FC236}">
                <a16:creationId xmlns:a16="http://schemas.microsoft.com/office/drawing/2014/main" id="{370A067D-FA73-CAF1-AD79-21C2FC2A7202}"/>
              </a:ext>
            </a:extLst>
          </p:cNvPr>
          <p:cNvCxnSpPr>
            <a:stCxn id="29" idx="0"/>
          </p:cNvCxnSpPr>
          <p:nvPr/>
        </p:nvCxnSpPr>
        <p:spPr>
          <a:xfrm flipH="1" flipV="1">
            <a:off x="3299327" y="1060315"/>
            <a:ext cx="2" cy="14198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Flowchart: Connector 63">
            <a:extLst>
              <a:ext uri="{FF2B5EF4-FFF2-40B4-BE49-F238E27FC236}">
                <a16:creationId xmlns:a16="http://schemas.microsoft.com/office/drawing/2014/main" id="{E1B3378B-A458-A4D8-68FD-6022DCC13FED}"/>
              </a:ext>
            </a:extLst>
          </p:cNvPr>
          <p:cNvSpPr/>
          <p:nvPr/>
        </p:nvSpPr>
        <p:spPr>
          <a:xfrm>
            <a:off x="3243910" y="2370713"/>
            <a:ext cx="110833" cy="115456"/>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Flowchart: Connector 1">
            <a:extLst>
              <a:ext uri="{FF2B5EF4-FFF2-40B4-BE49-F238E27FC236}">
                <a16:creationId xmlns:a16="http://schemas.microsoft.com/office/drawing/2014/main" id="{59EA73F7-4D6B-6D2D-6844-5021F84F1901}"/>
              </a:ext>
            </a:extLst>
          </p:cNvPr>
          <p:cNvSpPr/>
          <p:nvPr/>
        </p:nvSpPr>
        <p:spPr>
          <a:xfrm>
            <a:off x="7393038" y="5081409"/>
            <a:ext cx="281646" cy="263127"/>
          </a:xfrm>
          <a:prstGeom prst="flowChartConnector">
            <a:avLst/>
          </a:prstGeom>
          <a:solidFill>
            <a:schemeClr val="accent5">
              <a:lumMod val="75000"/>
            </a:schemeClr>
          </a:solidFill>
          <a:ln>
            <a:solidFill>
              <a:schemeClr val="accent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en-IN" dirty="0"/>
          </a:p>
        </p:txBody>
      </p:sp>
      <p:sp>
        <p:nvSpPr>
          <p:cNvPr id="3" name="Flowchart: Connector 2">
            <a:extLst>
              <a:ext uri="{FF2B5EF4-FFF2-40B4-BE49-F238E27FC236}">
                <a16:creationId xmlns:a16="http://schemas.microsoft.com/office/drawing/2014/main" id="{5FD4AAA3-AF8A-B9FD-5499-C43765740CC1}"/>
              </a:ext>
            </a:extLst>
          </p:cNvPr>
          <p:cNvSpPr/>
          <p:nvPr/>
        </p:nvSpPr>
        <p:spPr>
          <a:xfrm>
            <a:off x="7408609" y="5647269"/>
            <a:ext cx="281646" cy="263127"/>
          </a:xfrm>
          <a:prstGeom prst="flowChartConnector">
            <a:avLst/>
          </a:prstGeom>
          <a:solidFill>
            <a:schemeClr val="accent5">
              <a:lumMod val="60000"/>
              <a:lumOff val="40000"/>
            </a:schemeClr>
          </a:solidFill>
          <a:ln>
            <a:solidFill>
              <a:schemeClr val="accent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en-IN" dirty="0"/>
          </a:p>
        </p:txBody>
      </p:sp>
    </p:spTree>
    <p:extLst>
      <p:ext uri="{BB962C8B-B14F-4D97-AF65-F5344CB8AC3E}">
        <p14:creationId xmlns:p14="http://schemas.microsoft.com/office/powerpoint/2010/main" val="3887550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312C8-EE71-B514-D0D1-E16050446796}"/>
              </a:ext>
            </a:extLst>
          </p:cNvPr>
          <p:cNvSpPr>
            <a:spLocks noGrp="1"/>
          </p:cNvSpPr>
          <p:nvPr>
            <p:ph type="title"/>
          </p:nvPr>
        </p:nvSpPr>
        <p:spPr>
          <a:xfrm>
            <a:off x="356428" y="-194782"/>
            <a:ext cx="9130473" cy="1196480"/>
          </a:xfrm>
        </p:spPr>
        <p:txBody>
          <a:bodyPr>
            <a:noAutofit/>
          </a:bodyPr>
          <a:lstStyle/>
          <a:p>
            <a:r>
              <a:rPr lang="en-US"/>
              <a:t>Why Salesforce-</a:t>
            </a:r>
            <a:r>
              <a:rPr lang="en-US" err="1"/>
              <a:t>Mulesoft</a:t>
            </a:r>
            <a:r>
              <a:rPr lang="en-US"/>
              <a:t>?</a:t>
            </a:r>
            <a:endParaRPr lang="en-IN"/>
          </a:p>
        </p:txBody>
      </p:sp>
      <p:graphicFrame>
        <p:nvGraphicFramePr>
          <p:cNvPr id="33" name="Diagram 32">
            <a:extLst>
              <a:ext uri="{FF2B5EF4-FFF2-40B4-BE49-F238E27FC236}">
                <a16:creationId xmlns:a16="http://schemas.microsoft.com/office/drawing/2014/main" id="{9D8E8BFC-655A-3401-476E-29EF11AC02FA}"/>
              </a:ext>
            </a:extLst>
          </p:cNvPr>
          <p:cNvGraphicFramePr/>
          <p:nvPr>
            <p:extLst>
              <p:ext uri="{D42A27DB-BD31-4B8C-83A1-F6EECF244321}">
                <p14:modId xmlns:p14="http://schemas.microsoft.com/office/powerpoint/2010/main" val="3196656752"/>
              </p:ext>
            </p:extLst>
          </p:nvPr>
        </p:nvGraphicFramePr>
        <p:xfrm>
          <a:off x="1372866" y="4598799"/>
          <a:ext cx="9572502" cy="1489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FDF73419-6760-6BDA-9877-E1A73FAEEC85}"/>
              </a:ext>
            </a:extLst>
          </p:cNvPr>
          <p:cNvPicPr>
            <a:picLocks noChangeAspect="1"/>
          </p:cNvPicPr>
          <p:nvPr/>
        </p:nvPicPr>
        <p:blipFill>
          <a:blip r:embed="rId8"/>
          <a:stretch>
            <a:fillRect/>
          </a:stretch>
        </p:blipFill>
        <p:spPr>
          <a:xfrm>
            <a:off x="218254" y="1109272"/>
            <a:ext cx="7600434" cy="3489527"/>
          </a:xfrm>
          <a:prstGeom prst="rect">
            <a:avLst/>
          </a:prstGeom>
        </p:spPr>
      </p:pic>
      <p:sp>
        <p:nvSpPr>
          <p:cNvPr id="30" name="TextBox 9">
            <a:extLst>
              <a:ext uri="{FF2B5EF4-FFF2-40B4-BE49-F238E27FC236}">
                <a16:creationId xmlns:a16="http://schemas.microsoft.com/office/drawing/2014/main" id="{62586B5C-1C79-2BEB-BDAF-FB11AEA5DC93}"/>
              </a:ext>
            </a:extLst>
          </p:cNvPr>
          <p:cNvSpPr txBox="1"/>
          <p:nvPr/>
        </p:nvSpPr>
        <p:spPr>
          <a:xfrm>
            <a:off x="7823393" y="1826019"/>
            <a:ext cx="3764004" cy="230832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600" dirty="0"/>
              <a:t>Bajaj’s systems use point-to-point connections, causing instability, limited scalability, and security gaps.</a:t>
            </a:r>
            <a:endParaRPr lang="en-US" sz="1600" dirty="0">
              <a:ea typeface="Calibri"/>
              <a:cs typeface="Calibri"/>
            </a:endParaRPr>
          </a:p>
          <a:p>
            <a:pPr marL="285750" indent="-285750">
              <a:buFont typeface="Arial" panose="020B0604020202020204" pitchFamily="34" charset="0"/>
              <a:buChar char="•"/>
            </a:pPr>
            <a:r>
              <a:rPr lang="en-US" sz="1600" dirty="0"/>
              <a:t>No centralized integration layer impacts flexibility and efficiency.</a:t>
            </a:r>
            <a:endParaRPr lang="en-US" sz="1600" dirty="0">
              <a:ea typeface="Calibri"/>
              <a:cs typeface="Calibri"/>
            </a:endParaRPr>
          </a:p>
          <a:p>
            <a:pPr marL="285750" indent="-285750">
              <a:buFont typeface="Arial" panose="020B0604020202020204" pitchFamily="34" charset="0"/>
              <a:buChar char="•"/>
            </a:pPr>
            <a:r>
              <a:rPr lang="en-US" sz="1600" dirty="0"/>
              <a:t>E-commerce expansion needs a robust integration platform.</a:t>
            </a:r>
            <a:endParaRPr lang="en-US" sz="1600" dirty="0">
              <a:ea typeface="Calibri"/>
              <a:cs typeface="Calibri"/>
            </a:endParaRPr>
          </a:p>
          <a:p>
            <a:pPr marL="285750" indent="-285750">
              <a:buFont typeface="Arial" panose="020B0604020202020204" pitchFamily="34" charset="0"/>
              <a:buChar char="•"/>
            </a:pPr>
            <a:r>
              <a:rPr lang="en-US" sz="1600" dirty="0"/>
              <a:t>Current setup delays time-to-market.</a:t>
            </a:r>
            <a:endParaRPr lang="en-US" sz="1600" dirty="0">
              <a:ea typeface="Calibri"/>
              <a:cs typeface="Calibri"/>
            </a:endParaRPr>
          </a:p>
          <a:p>
            <a:pPr marL="285750" indent="-285750">
              <a:buFont typeface="Arial" panose="020B0604020202020204" pitchFamily="34" charset="0"/>
              <a:buChar char="•"/>
            </a:pPr>
            <a:r>
              <a:rPr lang="en-US" sz="1600" dirty="0"/>
              <a:t>Lacks API-led approach and reusability.</a:t>
            </a:r>
            <a:endParaRPr lang="en-US" sz="1600" dirty="0">
              <a:ea typeface="Calibri"/>
              <a:cs typeface="Calibri"/>
            </a:endParaRPr>
          </a:p>
        </p:txBody>
      </p:sp>
      <p:sp>
        <p:nvSpPr>
          <p:cNvPr id="8" name="TextBox 7">
            <a:extLst>
              <a:ext uri="{FF2B5EF4-FFF2-40B4-BE49-F238E27FC236}">
                <a16:creationId xmlns:a16="http://schemas.microsoft.com/office/drawing/2014/main" id="{B50E96D1-DFDF-1528-7852-5F75FDAA0B45}"/>
              </a:ext>
            </a:extLst>
          </p:cNvPr>
          <p:cNvSpPr txBox="1"/>
          <p:nvPr/>
        </p:nvSpPr>
        <p:spPr>
          <a:xfrm>
            <a:off x="7435121" y="1229193"/>
            <a:ext cx="3102964" cy="369332"/>
          </a:xfrm>
          <a:prstGeom prst="rect">
            <a:avLst/>
          </a:prstGeom>
          <a:noFill/>
        </p:spPr>
        <p:txBody>
          <a:bodyPr wrap="square" rtlCol="0">
            <a:spAutoFit/>
          </a:bodyPr>
          <a:lstStyle/>
          <a:p>
            <a:r>
              <a:rPr lang="en-US" b="1" dirty="0"/>
              <a:t>Problem Statement</a:t>
            </a:r>
            <a:endParaRPr lang="en-IN" b="1" dirty="0"/>
          </a:p>
        </p:txBody>
      </p:sp>
    </p:spTree>
    <p:extLst>
      <p:ext uri="{BB962C8B-B14F-4D97-AF65-F5344CB8AC3E}">
        <p14:creationId xmlns:p14="http://schemas.microsoft.com/office/powerpoint/2010/main" val="204945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FA9F8-E574-5035-A533-8932605B09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6A03D-B6E0-46BC-18E8-9B59BB1A6862}"/>
              </a:ext>
            </a:extLst>
          </p:cNvPr>
          <p:cNvSpPr>
            <a:spLocks noGrp="1"/>
          </p:cNvSpPr>
          <p:nvPr>
            <p:ph type="title"/>
          </p:nvPr>
        </p:nvSpPr>
        <p:spPr/>
        <p:txBody>
          <a:bodyPr>
            <a:noAutofit/>
          </a:bodyPr>
          <a:lstStyle/>
          <a:p>
            <a:r>
              <a:rPr lang="en-US" dirty="0"/>
              <a:t>Solution</a:t>
            </a:r>
            <a:endParaRPr lang="en-IN" dirty="0"/>
          </a:p>
        </p:txBody>
      </p:sp>
      <p:graphicFrame>
        <p:nvGraphicFramePr>
          <p:cNvPr id="26" name="Content Placeholder 25">
            <a:extLst>
              <a:ext uri="{FF2B5EF4-FFF2-40B4-BE49-F238E27FC236}">
                <a16:creationId xmlns:a16="http://schemas.microsoft.com/office/drawing/2014/main" id="{35794C99-1326-C7EF-3A03-B92112C931B3}"/>
              </a:ext>
            </a:extLst>
          </p:cNvPr>
          <p:cNvGraphicFramePr>
            <a:graphicFrameLocks noGrp="1"/>
          </p:cNvGraphicFramePr>
          <p:nvPr>
            <p:ph idx="1"/>
          </p:nvPr>
        </p:nvGraphicFramePr>
        <p:xfrm>
          <a:off x="507659" y="573546"/>
          <a:ext cx="11453812" cy="58041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81" name="Group 380">
            <a:extLst>
              <a:ext uri="{FF2B5EF4-FFF2-40B4-BE49-F238E27FC236}">
                <a16:creationId xmlns:a16="http://schemas.microsoft.com/office/drawing/2014/main" id="{7CD0EE31-8238-BEDD-A9B1-23D7D9C9430A}"/>
              </a:ext>
            </a:extLst>
          </p:cNvPr>
          <p:cNvGrpSpPr/>
          <p:nvPr/>
        </p:nvGrpSpPr>
        <p:grpSpPr>
          <a:xfrm>
            <a:off x="230529" y="1096433"/>
            <a:ext cx="11772899" cy="2588599"/>
            <a:chOff x="230529" y="1597336"/>
            <a:chExt cx="11527918" cy="2445819"/>
          </a:xfrm>
        </p:grpSpPr>
        <p:grpSp>
          <p:nvGrpSpPr>
            <p:cNvPr id="3" name="Group 2">
              <a:extLst>
                <a:ext uri="{FF2B5EF4-FFF2-40B4-BE49-F238E27FC236}">
                  <a16:creationId xmlns:a16="http://schemas.microsoft.com/office/drawing/2014/main" id="{C50D1162-A1A6-8652-3A90-A112AAC4D55F}"/>
                </a:ext>
              </a:extLst>
            </p:cNvPr>
            <p:cNvGrpSpPr/>
            <p:nvPr/>
          </p:nvGrpSpPr>
          <p:grpSpPr>
            <a:xfrm>
              <a:off x="230529" y="1597336"/>
              <a:ext cx="10118586" cy="2404999"/>
              <a:chOff x="0" y="1546681"/>
              <a:chExt cx="12282070" cy="5032212"/>
            </a:xfrm>
          </p:grpSpPr>
          <p:sp>
            <p:nvSpPr>
              <p:cNvPr id="4" name="Arrow: Right 3">
                <a:extLst>
                  <a:ext uri="{FF2B5EF4-FFF2-40B4-BE49-F238E27FC236}">
                    <a16:creationId xmlns:a16="http://schemas.microsoft.com/office/drawing/2014/main" id="{39099E37-7E79-22DC-7504-6AE64CB1356D}"/>
                  </a:ext>
                </a:extLst>
              </p:cNvPr>
              <p:cNvSpPr/>
              <p:nvPr/>
            </p:nvSpPr>
            <p:spPr>
              <a:xfrm>
                <a:off x="0" y="1621599"/>
                <a:ext cx="6851411" cy="4893501"/>
              </a:xfrm>
              <a:prstGeom prst="rightArrow">
                <a:avLst>
                  <a:gd name="adj1" fmla="val 100000"/>
                  <a:gd name="adj2" fmla="val 1650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Freeform 5">
                <a:extLst>
                  <a:ext uri="{FF2B5EF4-FFF2-40B4-BE49-F238E27FC236}">
                    <a16:creationId xmlns:a16="http://schemas.microsoft.com/office/drawing/2014/main" id="{B6B7528C-910B-1561-66CF-18116799752B}"/>
                  </a:ext>
                </a:extLst>
              </p:cNvPr>
              <p:cNvSpPr>
                <a:spLocks/>
              </p:cNvSpPr>
              <p:nvPr/>
            </p:nvSpPr>
            <p:spPr bwMode="auto">
              <a:xfrm>
                <a:off x="916105" y="2443287"/>
                <a:ext cx="5121771" cy="2132004"/>
              </a:xfrm>
              <a:custGeom>
                <a:avLst/>
                <a:gdLst>
                  <a:gd name="T0" fmla="*/ 358 w 358"/>
                  <a:gd name="T1" fmla="*/ 156 h 236"/>
                  <a:gd name="T2" fmla="*/ 350 w 358"/>
                  <a:gd name="T3" fmla="*/ 126 h 236"/>
                  <a:gd name="T4" fmla="*/ 301 w 358"/>
                  <a:gd name="T5" fmla="*/ 86 h 236"/>
                  <a:gd name="T6" fmla="*/ 242 w 358"/>
                  <a:gd name="T7" fmla="*/ 34 h 236"/>
                  <a:gd name="T8" fmla="*/ 205 w 358"/>
                  <a:gd name="T9" fmla="*/ 47 h 236"/>
                  <a:gd name="T10" fmla="*/ 128 w 358"/>
                  <a:gd name="T11" fmla="*/ 0 h 236"/>
                  <a:gd name="T12" fmla="*/ 42 w 358"/>
                  <a:gd name="T13" fmla="*/ 86 h 236"/>
                  <a:gd name="T14" fmla="*/ 45 w 358"/>
                  <a:gd name="T15" fmla="*/ 107 h 236"/>
                  <a:gd name="T16" fmla="*/ 1 w 358"/>
                  <a:gd name="T17" fmla="*/ 157 h 236"/>
                  <a:gd name="T18" fmla="*/ 0 w 358"/>
                  <a:gd name="T19" fmla="*/ 168 h 236"/>
                  <a:gd name="T20" fmla="*/ 0 w 358"/>
                  <a:gd name="T21" fmla="*/ 169 h 236"/>
                  <a:gd name="T22" fmla="*/ 0 w 358"/>
                  <a:gd name="T23" fmla="*/ 170 h 236"/>
                  <a:gd name="T24" fmla="*/ 66 w 358"/>
                  <a:gd name="T25" fmla="*/ 236 h 236"/>
                  <a:gd name="T26" fmla="*/ 282 w 358"/>
                  <a:gd name="T27" fmla="*/ 236 h 236"/>
                  <a:gd name="T28" fmla="*/ 282 w 358"/>
                  <a:gd name="T29" fmla="*/ 236 h 236"/>
                  <a:gd name="T30" fmla="*/ 282 w 358"/>
                  <a:gd name="T31" fmla="*/ 236 h 236"/>
                  <a:gd name="T32" fmla="*/ 358 w 358"/>
                  <a:gd name="T33" fmla="*/ 160 h 236"/>
                  <a:gd name="T34" fmla="*/ 358 w 358"/>
                  <a:gd name="T35" fmla="*/ 158 h 236"/>
                  <a:gd name="T36" fmla="*/ 358 w 358"/>
                  <a:gd name="T37" fmla="*/ 15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8" h="236">
                    <a:moveTo>
                      <a:pt x="358" y="156"/>
                    </a:moveTo>
                    <a:cubicBezTo>
                      <a:pt x="358" y="145"/>
                      <a:pt x="355" y="135"/>
                      <a:pt x="350" y="126"/>
                    </a:cubicBezTo>
                    <a:cubicBezTo>
                      <a:pt x="340" y="106"/>
                      <a:pt x="322" y="92"/>
                      <a:pt x="301" y="86"/>
                    </a:cubicBezTo>
                    <a:cubicBezTo>
                      <a:pt x="297" y="57"/>
                      <a:pt x="273" y="34"/>
                      <a:pt x="242" y="34"/>
                    </a:cubicBezTo>
                    <a:cubicBezTo>
                      <a:pt x="228" y="34"/>
                      <a:pt x="215" y="39"/>
                      <a:pt x="205" y="47"/>
                    </a:cubicBezTo>
                    <a:cubicBezTo>
                      <a:pt x="191" y="19"/>
                      <a:pt x="162" y="0"/>
                      <a:pt x="128" y="0"/>
                    </a:cubicBezTo>
                    <a:cubicBezTo>
                      <a:pt x="81" y="0"/>
                      <a:pt x="42" y="38"/>
                      <a:pt x="42" y="86"/>
                    </a:cubicBezTo>
                    <a:cubicBezTo>
                      <a:pt x="42" y="93"/>
                      <a:pt x="43" y="100"/>
                      <a:pt x="45" y="107"/>
                    </a:cubicBezTo>
                    <a:cubicBezTo>
                      <a:pt x="23" y="114"/>
                      <a:pt x="6" y="133"/>
                      <a:pt x="1" y="157"/>
                    </a:cubicBezTo>
                    <a:cubicBezTo>
                      <a:pt x="0" y="160"/>
                      <a:pt x="0" y="164"/>
                      <a:pt x="0" y="168"/>
                    </a:cubicBezTo>
                    <a:cubicBezTo>
                      <a:pt x="0" y="168"/>
                      <a:pt x="0" y="168"/>
                      <a:pt x="0" y="169"/>
                    </a:cubicBezTo>
                    <a:cubicBezTo>
                      <a:pt x="0" y="169"/>
                      <a:pt x="0" y="169"/>
                      <a:pt x="0" y="170"/>
                    </a:cubicBezTo>
                    <a:cubicBezTo>
                      <a:pt x="0" y="206"/>
                      <a:pt x="29" y="236"/>
                      <a:pt x="66" y="236"/>
                    </a:cubicBezTo>
                    <a:cubicBezTo>
                      <a:pt x="282" y="236"/>
                      <a:pt x="282" y="236"/>
                      <a:pt x="282" y="236"/>
                    </a:cubicBezTo>
                    <a:cubicBezTo>
                      <a:pt x="282" y="236"/>
                      <a:pt x="282" y="236"/>
                      <a:pt x="282" y="236"/>
                    </a:cubicBezTo>
                    <a:cubicBezTo>
                      <a:pt x="282" y="236"/>
                      <a:pt x="282" y="236"/>
                      <a:pt x="282" y="236"/>
                    </a:cubicBezTo>
                    <a:cubicBezTo>
                      <a:pt x="324" y="236"/>
                      <a:pt x="358" y="202"/>
                      <a:pt x="358" y="160"/>
                    </a:cubicBezTo>
                    <a:cubicBezTo>
                      <a:pt x="358" y="159"/>
                      <a:pt x="358" y="158"/>
                      <a:pt x="358" y="158"/>
                    </a:cubicBezTo>
                    <a:cubicBezTo>
                      <a:pt x="358" y="157"/>
                      <a:pt x="358" y="156"/>
                      <a:pt x="358" y="156"/>
                    </a:cubicBezTo>
                    <a:close/>
                  </a:path>
                </a:pathLst>
              </a:custGeom>
              <a:noFill/>
              <a:ln w="12700">
                <a:solidFill>
                  <a:schemeClr val="accent4"/>
                </a:solidFill>
                <a:prstDash val="dashDot"/>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82165E36-91BC-6ED1-A8E0-F271704AB944}"/>
                  </a:ext>
                </a:extLst>
              </p:cNvPr>
              <p:cNvSpPr/>
              <p:nvPr/>
            </p:nvSpPr>
            <p:spPr>
              <a:xfrm>
                <a:off x="477552" y="1621599"/>
                <a:ext cx="4555865" cy="5857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Arial Black"/>
                    <a:ea typeface="+mn-ea"/>
                    <a:cs typeface="+mn-cs"/>
                  </a:rPr>
                  <a:t>SPAGHETTI INTEGRATION</a:t>
                </a:r>
              </a:p>
              <a:p>
                <a:pPr marL="0" marR="0" lvl="0" indent="0" algn="l" defTabSz="914217" rtl="0" eaLnBrk="1" fontAlgn="auto" latinLnBrk="0" hangingPunct="1">
                  <a:lnSpc>
                    <a:spcPct val="100000"/>
                  </a:lnSpc>
                  <a:spcBef>
                    <a:spcPts val="0"/>
                  </a:spcBef>
                  <a:spcAft>
                    <a:spcPts val="240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a:ea typeface="+mn-ea"/>
                    <a:cs typeface="+mn-cs"/>
                  </a:rPr>
                  <a:t>This is not the desired state.</a:t>
                </a:r>
                <a:endParaRPr kumimoji="0" lang="en-GB" sz="1100" b="0" i="0" u="none" strike="noStrike" kern="0" cap="none" spc="0" normalizeH="0" baseline="0" noProof="0" dirty="0">
                  <a:ln>
                    <a:noFill/>
                  </a:ln>
                  <a:solidFill>
                    <a:prstClr val="black"/>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BDAD02A8-F87E-7EDC-9F22-16C98AE8370B}"/>
                  </a:ext>
                </a:extLst>
              </p:cNvPr>
              <p:cNvSpPr/>
              <p:nvPr/>
            </p:nvSpPr>
            <p:spPr>
              <a:xfrm>
                <a:off x="6967706" y="1546681"/>
                <a:ext cx="5314364" cy="5525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Arial Black"/>
                    <a:ea typeface="+mn-ea"/>
                    <a:cs typeface="+mn-cs"/>
                  </a:rPr>
                  <a:t>API-LED APPROACH</a:t>
                </a:r>
              </a:p>
              <a:p>
                <a:pPr marL="0" marR="0" lvl="0" indent="0" algn="l" defTabSz="914217" rtl="0" eaLnBrk="1" fontAlgn="auto" latinLnBrk="0" hangingPunct="1">
                  <a:lnSpc>
                    <a:spcPct val="100000"/>
                  </a:lnSpc>
                  <a:spcBef>
                    <a:spcPts val="0"/>
                  </a:spcBef>
                  <a:spcAft>
                    <a:spcPts val="240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a:ea typeface="+mn-ea"/>
                    <a:cs typeface="+mn-cs"/>
                  </a:rPr>
                  <a:t>Way forward for Bajaj Auto.</a:t>
                </a:r>
                <a:endParaRPr kumimoji="0" lang="en-GB" sz="1200" b="0" i="0" u="none" strike="noStrike" kern="0" cap="none" spc="0" normalizeH="0" baseline="0" noProof="0" dirty="0">
                  <a:ln>
                    <a:noFill/>
                  </a:ln>
                  <a:solidFill>
                    <a:prstClr val="black"/>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B06ED478-34A4-98B7-CEF2-4D2D6E0E0D74}"/>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016904" y="2952990"/>
                <a:ext cx="4877223" cy="2737341"/>
              </a:xfrm>
              <a:prstGeom prst="rect">
                <a:avLst/>
              </a:prstGeom>
              <a:solidFill>
                <a:schemeClr val="bg1">
                  <a:lumMod val="95000"/>
                </a:schemeClr>
              </a:solidFill>
            </p:spPr>
          </p:pic>
          <p:grpSp>
            <p:nvGrpSpPr>
              <p:cNvPr id="9" name="Group 207">
                <a:extLst>
                  <a:ext uri="{FF2B5EF4-FFF2-40B4-BE49-F238E27FC236}">
                    <a16:creationId xmlns:a16="http://schemas.microsoft.com/office/drawing/2014/main" id="{E4FC837A-41B4-F50E-99F0-0B4F09BCCE43}"/>
                  </a:ext>
                </a:extLst>
              </p:cNvPr>
              <p:cNvGrpSpPr>
                <a:grpSpLocks noChangeAspect="1"/>
              </p:cNvGrpSpPr>
              <p:nvPr/>
            </p:nvGrpSpPr>
            <p:grpSpPr bwMode="auto">
              <a:xfrm>
                <a:off x="5596548" y="3979665"/>
                <a:ext cx="316563" cy="250864"/>
                <a:chOff x="1370" y="3044"/>
                <a:chExt cx="424" cy="336"/>
              </a:xfrm>
              <a:solidFill>
                <a:schemeClr val="tx1"/>
              </a:solidFill>
            </p:grpSpPr>
            <p:sp>
              <p:nvSpPr>
                <p:cNvPr id="360" name="Freeform 208">
                  <a:extLst>
                    <a:ext uri="{FF2B5EF4-FFF2-40B4-BE49-F238E27FC236}">
                      <a16:creationId xmlns:a16="http://schemas.microsoft.com/office/drawing/2014/main" id="{5B4E6D5C-9111-4FDC-7906-0E2E67CCD988}"/>
                    </a:ext>
                  </a:extLst>
                </p:cNvPr>
                <p:cNvSpPr>
                  <a:spLocks/>
                </p:cNvSpPr>
                <p:nvPr/>
              </p:nvSpPr>
              <p:spPr bwMode="auto">
                <a:xfrm>
                  <a:off x="1627" y="3291"/>
                  <a:ext cx="160" cy="53"/>
                </a:xfrm>
                <a:custGeom>
                  <a:avLst/>
                  <a:gdLst>
                    <a:gd name="T0" fmla="*/ 87 w 108"/>
                    <a:gd name="T1" fmla="*/ 36 h 36"/>
                    <a:gd name="T2" fmla="*/ 6 w 108"/>
                    <a:gd name="T3" fmla="*/ 36 h 36"/>
                    <a:gd name="T4" fmla="*/ 0 w 108"/>
                    <a:gd name="T5" fmla="*/ 30 h 36"/>
                    <a:gd name="T6" fmla="*/ 6 w 108"/>
                    <a:gd name="T7" fmla="*/ 24 h 36"/>
                    <a:gd name="T8" fmla="*/ 87 w 108"/>
                    <a:gd name="T9" fmla="*/ 24 h 36"/>
                    <a:gd name="T10" fmla="*/ 96 w 108"/>
                    <a:gd name="T11" fmla="*/ 18 h 36"/>
                    <a:gd name="T12" fmla="*/ 87 w 108"/>
                    <a:gd name="T13" fmla="*/ 12 h 36"/>
                    <a:gd name="T14" fmla="*/ 42 w 108"/>
                    <a:gd name="T15" fmla="*/ 12 h 36"/>
                    <a:gd name="T16" fmla="*/ 36 w 108"/>
                    <a:gd name="T17" fmla="*/ 6 h 36"/>
                    <a:gd name="T18" fmla="*/ 42 w 108"/>
                    <a:gd name="T19" fmla="*/ 0 h 36"/>
                    <a:gd name="T20" fmla="*/ 87 w 108"/>
                    <a:gd name="T21" fmla="*/ 0 h 36"/>
                    <a:gd name="T22" fmla="*/ 108 w 108"/>
                    <a:gd name="T23" fmla="*/ 18 h 36"/>
                    <a:gd name="T24" fmla="*/ 87 w 108"/>
                    <a:gd name="T25"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8" h="36">
                      <a:moveTo>
                        <a:pt x="87" y="36"/>
                      </a:moveTo>
                      <a:cubicBezTo>
                        <a:pt x="6" y="36"/>
                        <a:pt x="6" y="36"/>
                        <a:pt x="6" y="36"/>
                      </a:cubicBezTo>
                      <a:cubicBezTo>
                        <a:pt x="2" y="36"/>
                        <a:pt x="0" y="33"/>
                        <a:pt x="0" y="30"/>
                      </a:cubicBezTo>
                      <a:cubicBezTo>
                        <a:pt x="0" y="26"/>
                        <a:pt x="2" y="24"/>
                        <a:pt x="6" y="24"/>
                      </a:cubicBezTo>
                      <a:cubicBezTo>
                        <a:pt x="87" y="24"/>
                        <a:pt x="87" y="24"/>
                        <a:pt x="87" y="24"/>
                      </a:cubicBezTo>
                      <a:cubicBezTo>
                        <a:pt x="93" y="24"/>
                        <a:pt x="96" y="21"/>
                        <a:pt x="96" y="18"/>
                      </a:cubicBezTo>
                      <a:cubicBezTo>
                        <a:pt x="96" y="15"/>
                        <a:pt x="93" y="12"/>
                        <a:pt x="87" y="12"/>
                      </a:cubicBezTo>
                      <a:cubicBezTo>
                        <a:pt x="42" y="12"/>
                        <a:pt x="42" y="12"/>
                        <a:pt x="42" y="12"/>
                      </a:cubicBezTo>
                      <a:cubicBezTo>
                        <a:pt x="38" y="12"/>
                        <a:pt x="36" y="9"/>
                        <a:pt x="36" y="6"/>
                      </a:cubicBezTo>
                      <a:cubicBezTo>
                        <a:pt x="36" y="2"/>
                        <a:pt x="38" y="0"/>
                        <a:pt x="42" y="0"/>
                      </a:cubicBezTo>
                      <a:cubicBezTo>
                        <a:pt x="87" y="0"/>
                        <a:pt x="87" y="0"/>
                        <a:pt x="87" y="0"/>
                      </a:cubicBezTo>
                      <a:cubicBezTo>
                        <a:pt x="100" y="0"/>
                        <a:pt x="108" y="9"/>
                        <a:pt x="108" y="18"/>
                      </a:cubicBezTo>
                      <a:cubicBezTo>
                        <a:pt x="108" y="27"/>
                        <a:pt x="100" y="36"/>
                        <a:pt x="87"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61" name="Freeform 209">
                  <a:extLst>
                    <a:ext uri="{FF2B5EF4-FFF2-40B4-BE49-F238E27FC236}">
                      <a16:creationId xmlns:a16="http://schemas.microsoft.com/office/drawing/2014/main" id="{40C3ACAC-D525-664D-FFEC-2718498244CB}"/>
                    </a:ext>
                  </a:extLst>
                </p:cNvPr>
                <p:cNvSpPr>
                  <a:spLocks/>
                </p:cNvSpPr>
                <p:nvPr/>
              </p:nvSpPr>
              <p:spPr bwMode="auto">
                <a:xfrm>
                  <a:off x="1370" y="3185"/>
                  <a:ext cx="337" cy="195"/>
                </a:xfrm>
                <a:custGeom>
                  <a:avLst/>
                  <a:gdLst>
                    <a:gd name="T0" fmla="*/ 201 w 228"/>
                    <a:gd name="T1" fmla="*/ 132 h 132"/>
                    <a:gd name="T2" fmla="*/ 165 w 228"/>
                    <a:gd name="T3" fmla="*/ 132 h 132"/>
                    <a:gd name="T4" fmla="*/ 111 w 228"/>
                    <a:gd name="T5" fmla="*/ 108 h 132"/>
                    <a:gd name="T6" fmla="*/ 6 w 228"/>
                    <a:gd name="T7" fmla="*/ 108 h 132"/>
                    <a:gd name="T8" fmla="*/ 0 w 228"/>
                    <a:gd name="T9" fmla="*/ 102 h 132"/>
                    <a:gd name="T10" fmla="*/ 0 w 228"/>
                    <a:gd name="T11" fmla="*/ 18 h 132"/>
                    <a:gd name="T12" fmla="*/ 6 w 228"/>
                    <a:gd name="T13" fmla="*/ 12 h 132"/>
                    <a:gd name="T14" fmla="*/ 112 w 228"/>
                    <a:gd name="T15" fmla="*/ 12 h 132"/>
                    <a:gd name="T16" fmla="*/ 165 w 228"/>
                    <a:gd name="T17" fmla="*/ 0 h 132"/>
                    <a:gd name="T18" fmla="*/ 204 w 228"/>
                    <a:gd name="T19" fmla="*/ 0 h 132"/>
                    <a:gd name="T20" fmla="*/ 210 w 228"/>
                    <a:gd name="T21" fmla="*/ 6 h 132"/>
                    <a:gd name="T22" fmla="*/ 204 w 228"/>
                    <a:gd name="T23" fmla="*/ 12 h 132"/>
                    <a:gd name="T24" fmla="*/ 165 w 228"/>
                    <a:gd name="T25" fmla="*/ 12 h 132"/>
                    <a:gd name="T26" fmla="*/ 117 w 228"/>
                    <a:gd name="T27" fmla="*/ 23 h 132"/>
                    <a:gd name="T28" fmla="*/ 114 w 228"/>
                    <a:gd name="T29" fmla="*/ 24 h 132"/>
                    <a:gd name="T30" fmla="*/ 12 w 228"/>
                    <a:gd name="T31" fmla="*/ 24 h 132"/>
                    <a:gd name="T32" fmla="*/ 12 w 228"/>
                    <a:gd name="T33" fmla="*/ 96 h 132"/>
                    <a:gd name="T34" fmla="*/ 114 w 228"/>
                    <a:gd name="T35" fmla="*/ 96 h 132"/>
                    <a:gd name="T36" fmla="*/ 118 w 228"/>
                    <a:gd name="T37" fmla="*/ 97 h 132"/>
                    <a:gd name="T38" fmla="*/ 165 w 228"/>
                    <a:gd name="T39" fmla="*/ 120 h 132"/>
                    <a:gd name="T40" fmla="*/ 201 w 228"/>
                    <a:gd name="T41" fmla="*/ 120 h 132"/>
                    <a:gd name="T42" fmla="*/ 216 w 228"/>
                    <a:gd name="T43" fmla="*/ 108 h 132"/>
                    <a:gd name="T44" fmla="*/ 216 w 228"/>
                    <a:gd name="T45" fmla="*/ 102 h 132"/>
                    <a:gd name="T46" fmla="*/ 222 w 228"/>
                    <a:gd name="T47" fmla="*/ 96 h 132"/>
                    <a:gd name="T48" fmla="*/ 228 w 228"/>
                    <a:gd name="T49" fmla="*/ 102 h 132"/>
                    <a:gd name="T50" fmla="*/ 228 w 228"/>
                    <a:gd name="T51" fmla="*/ 108 h 132"/>
                    <a:gd name="T52" fmla="*/ 201 w 228"/>
                    <a:gd name="T53"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132">
                      <a:moveTo>
                        <a:pt x="201" y="132"/>
                      </a:moveTo>
                      <a:cubicBezTo>
                        <a:pt x="165" y="132"/>
                        <a:pt x="165" y="132"/>
                        <a:pt x="165" y="132"/>
                      </a:cubicBezTo>
                      <a:cubicBezTo>
                        <a:pt x="142" y="132"/>
                        <a:pt x="118" y="113"/>
                        <a:pt x="111" y="108"/>
                      </a:cubicBezTo>
                      <a:cubicBezTo>
                        <a:pt x="6" y="108"/>
                        <a:pt x="6" y="108"/>
                        <a:pt x="6" y="108"/>
                      </a:cubicBezTo>
                      <a:cubicBezTo>
                        <a:pt x="2" y="108"/>
                        <a:pt x="0" y="105"/>
                        <a:pt x="0" y="102"/>
                      </a:cubicBezTo>
                      <a:cubicBezTo>
                        <a:pt x="0" y="18"/>
                        <a:pt x="0" y="18"/>
                        <a:pt x="0" y="18"/>
                      </a:cubicBezTo>
                      <a:cubicBezTo>
                        <a:pt x="0" y="14"/>
                        <a:pt x="2" y="12"/>
                        <a:pt x="6" y="12"/>
                      </a:cubicBezTo>
                      <a:cubicBezTo>
                        <a:pt x="112" y="12"/>
                        <a:pt x="112" y="12"/>
                        <a:pt x="112" y="12"/>
                      </a:cubicBezTo>
                      <a:cubicBezTo>
                        <a:pt x="117" y="9"/>
                        <a:pt x="135" y="0"/>
                        <a:pt x="165" y="0"/>
                      </a:cubicBezTo>
                      <a:cubicBezTo>
                        <a:pt x="204" y="0"/>
                        <a:pt x="204" y="0"/>
                        <a:pt x="204" y="0"/>
                      </a:cubicBezTo>
                      <a:cubicBezTo>
                        <a:pt x="207" y="0"/>
                        <a:pt x="210" y="2"/>
                        <a:pt x="210" y="6"/>
                      </a:cubicBezTo>
                      <a:cubicBezTo>
                        <a:pt x="210" y="9"/>
                        <a:pt x="207" y="12"/>
                        <a:pt x="204" y="12"/>
                      </a:cubicBezTo>
                      <a:cubicBezTo>
                        <a:pt x="165" y="12"/>
                        <a:pt x="165" y="12"/>
                        <a:pt x="165" y="12"/>
                      </a:cubicBezTo>
                      <a:cubicBezTo>
                        <a:pt x="134" y="12"/>
                        <a:pt x="117" y="23"/>
                        <a:pt x="117" y="23"/>
                      </a:cubicBezTo>
                      <a:cubicBezTo>
                        <a:pt x="116" y="23"/>
                        <a:pt x="115" y="24"/>
                        <a:pt x="114" y="24"/>
                      </a:cubicBezTo>
                      <a:cubicBezTo>
                        <a:pt x="12" y="24"/>
                        <a:pt x="12" y="24"/>
                        <a:pt x="12" y="24"/>
                      </a:cubicBezTo>
                      <a:cubicBezTo>
                        <a:pt x="12" y="96"/>
                        <a:pt x="12" y="96"/>
                        <a:pt x="12" y="96"/>
                      </a:cubicBezTo>
                      <a:cubicBezTo>
                        <a:pt x="114" y="96"/>
                        <a:pt x="114" y="96"/>
                        <a:pt x="114" y="96"/>
                      </a:cubicBezTo>
                      <a:cubicBezTo>
                        <a:pt x="115" y="96"/>
                        <a:pt x="116" y="96"/>
                        <a:pt x="118" y="97"/>
                      </a:cubicBezTo>
                      <a:cubicBezTo>
                        <a:pt x="118" y="97"/>
                        <a:pt x="143" y="120"/>
                        <a:pt x="165" y="120"/>
                      </a:cubicBezTo>
                      <a:cubicBezTo>
                        <a:pt x="201" y="120"/>
                        <a:pt x="201" y="120"/>
                        <a:pt x="201" y="120"/>
                      </a:cubicBezTo>
                      <a:cubicBezTo>
                        <a:pt x="207" y="120"/>
                        <a:pt x="216" y="114"/>
                        <a:pt x="216" y="108"/>
                      </a:cubicBezTo>
                      <a:cubicBezTo>
                        <a:pt x="216" y="102"/>
                        <a:pt x="216" y="102"/>
                        <a:pt x="216" y="102"/>
                      </a:cubicBezTo>
                      <a:cubicBezTo>
                        <a:pt x="216" y="98"/>
                        <a:pt x="218" y="96"/>
                        <a:pt x="222" y="96"/>
                      </a:cubicBezTo>
                      <a:cubicBezTo>
                        <a:pt x="225" y="96"/>
                        <a:pt x="228" y="98"/>
                        <a:pt x="228" y="102"/>
                      </a:cubicBezTo>
                      <a:cubicBezTo>
                        <a:pt x="228" y="108"/>
                        <a:pt x="228" y="108"/>
                        <a:pt x="228" y="108"/>
                      </a:cubicBezTo>
                      <a:cubicBezTo>
                        <a:pt x="228" y="121"/>
                        <a:pt x="213" y="132"/>
                        <a:pt x="201"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62" name="Freeform 210">
                  <a:extLst>
                    <a:ext uri="{FF2B5EF4-FFF2-40B4-BE49-F238E27FC236}">
                      <a16:creationId xmlns:a16="http://schemas.microsoft.com/office/drawing/2014/main" id="{2BF9ABF4-7DCA-B523-1E18-08E736FB8500}"/>
                    </a:ext>
                  </a:extLst>
                </p:cNvPr>
                <p:cNvSpPr>
                  <a:spLocks/>
                </p:cNvSpPr>
                <p:nvPr/>
              </p:nvSpPr>
              <p:spPr bwMode="auto">
                <a:xfrm>
                  <a:off x="1698" y="3256"/>
                  <a:ext cx="96" cy="53"/>
                </a:xfrm>
                <a:custGeom>
                  <a:avLst/>
                  <a:gdLst>
                    <a:gd name="T0" fmla="*/ 51 w 65"/>
                    <a:gd name="T1" fmla="*/ 36 h 36"/>
                    <a:gd name="T2" fmla="*/ 6 w 65"/>
                    <a:gd name="T3" fmla="*/ 36 h 36"/>
                    <a:gd name="T4" fmla="*/ 0 w 65"/>
                    <a:gd name="T5" fmla="*/ 30 h 36"/>
                    <a:gd name="T6" fmla="*/ 6 w 65"/>
                    <a:gd name="T7" fmla="*/ 24 h 36"/>
                    <a:gd name="T8" fmla="*/ 51 w 65"/>
                    <a:gd name="T9" fmla="*/ 24 h 36"/>
                    <a:gd name="T10" fmla="*/ 53 w 65"/>
                    <a:gd name="T11" fmla="*/ 18 h 36"/>
                    <a:gd name="T12" fmla="*/ 51 w 65"/>
                    <a:gd name="T13" fmla="*/ 12 h 36"/>
                    <a:gd name="T14" fmla="*/ 6 w 65"/>
                    <a:gd name="T15" fmla="*/ 12 h 36"/>
                    <a:gd name="T16" fmla="*/ 0 w 65"/>
                    <a:gd name="T17" fmla="*/ 6 h 36"/>
                    <a:gd name="T18" fmla="*/ 6 w 65"/>
                    <a:gd name="T19" fmla="*/ 0 h 36"/>
                    <a:gd name="T20" fmla="*/ 51 w 65"/>
                    <a:gd name="T21" fmla="*/ 0 h 36"/>
                    <a:gd name="T22" fmla="*/ 65 w 65"/>
                    <a:gd name="T23" fmla="*/ 18 h 36"/>
                    <a:gd name="T24" fmla="*/ 62 w 65"/>
                    <a:gd name="T25" fmla="*/ 29 h 36"/>
                    <a:gd name="T26" fmla="*/ 51 w 65"/>
                    <a:gd name="T27"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36">
                      <a:moveTo>
                        <a:pt x="51" y="36"/>
                      </a:moveTo>
                      <a:cubicBezTo>
                        <a:pt x="6" y="36"/>
                        <a:pt x="6" y="36"/>
                        <a:pt x="6" y="36"/>
                      </a:cubicBezTo>
                      <a:cubicBezTo>
                        <a:pt x="2" y="36"/>
                        <a:pt x="0" y="33"/>
                        <a:pt x="0" y="30"/>
                      </a:cubicBezTo>
                      <a:cubicBezTo>
                        <a:pt x="0" y="26"/>
                        <a:pt x="2" y="24"/>
                        <a:pt x="6" y="24"/>
                      </a:cubicBezTo>
                      <a:cubicBezTo>
                        <a:pt x="51" y="24"/>
                        <a:pt x="51" y="24"/>
                        <a:pt x="51" y="24"/>
                      </a:cubicBezTo>
                      <a:cubicBezTo>
                        <a:pt x="52" y="24"/>
                        <a:pt x="53" y="21"/>
                        <a:pt x="53" y="18"/>
                      </a:cubicBezTo>
                      <a:cubicBezTo>
                        <a:pt x="53" y="14"/>
                        <a:pt x="52" y="12"/>
                        <a:pt x="51" y="12"/>
                      </a:cubicBezTo>
                      <a:cubicBezTo>
                        <a:pt x="6" y="12"/>
                        <a:pt x="6" y="12"/>
                        <a:pt x="6" y="12"/>
                      </a:cubicBezTo>
                      <a:cubicBezTo>
                        <a:pt x="2" y="12"/>
                        <a:pt x="0" y="9"/>
                        <a:pt x="0" y="6"/>
                      </a:cubicBezTo>
                      <a:cubicBezTo>
                        <a:pt x="0" y="2"/>
                        <a:pt x="2" y="0"/>
                        <a:pt x="6" y="0"/>
                      </a:cubicBezTo>
                      <a:cubicBezTo>
                        <a:pt x="51" y="0"/>
                        <a:pt x="51" y="0"/>
                        <a:pt x="51" y="0"/>
                      </a:cubicBezTo>
                      <a:cubicBezTo>
                        <a:pt x="59" y="0"/>
                        <a:pt x="65" y="7"/>
                        <a:pt x="65" y="18"/>
                      </a:cubicBezTo>
                      <a:cubicBezTo>
                        <a:pt x="65" y="22"/>
                        <a:pt x="64" y="26"/>
                        <a:pt x="62" y="29"/>
                      </a:cubicBezTo>
                      <a:cubicBezTo>
                        <a:pt x="59" y="33"/>
                        <a:pt x="55" y="36"/>
                        <a:pt x="51"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63" name="Freeform 211">
                  <a:extLst>
                    <a:ext uri="{FF2B5EF4-FFF2-40B4-BE49-F238E27FC236}">
                      <a16:creationId xmlns:a16="http://schemas.microsoft.com/office/drawing/2014/main" id="{B23C1EDF-F679-65BB-5CF3-6C23BAF04FA3}"/>
                    </a:ext>
                  </a:extLst>
                </p:cNvPr>
                <p:cNvSpPr>
                  <a:spLocks/>
                </p:cNvSpPr>
                <p:nvPr/>
              </p:nvSpPr>
              <p:spPr bwMode="auto">
                <a:xfrm>
                  <a:off x="1680" y="3220"/>
                  <a:ext cx="96" cy="53"/>
                </a:xfrm>
                <a:custGeom>
                  <a:avLst/>
                  <a:gdLst>
                    <a:gd name="T0" fmla="*/ 51 w 65"/>
                    <a:gd name="T1" fmla="*/ 36 h 36"/>
                    <a:gd name="T2" fmla="*/ 6 w 65"/>
                    <a:gd name="T3" fmla="*/ 36 h 36"/>
                    <a:gd name="T4" fmla="*/ 0 w 65"/>
                    <a:gd name="T5" fmla="*/ 30 h 36"/>
                    <a:gd name="T6" fmla="*/ 6 w 65"/>
                    <a:gd name="T7" fmla="*/ 24 h 36"/>
                    <a:gd name="T8" fmla="*/ 51 w 65"/>
                    <a:gd name="T9" fmla="*/ 24 h 36"/>
                    <a:gd name="T10" fmla="*/ 52 w 65"/>
                    <a:gd name="T11" fmla="*/ 23 h 36"/>
                    <a:gd name="T12" fmla="*/ 53 w 65"/>
                    <a:gd name="T13" fmla="*/ 18 h 36"/>
                    <a:gd name="T14" fmla="*/ 51 w 65"/>
                    <a:gd name="T15" fmla="*/ 12 h 36"/>
                    <a:gd name="T16" fmla="*/ 6 w 65"/>
                    <a:gd name="T17" fmla="*/ 12 h 36"/>
                    <a:gd name="T18" fmla="*/ 0 w 65"/>
                    <a:gd name="T19" fmla="*/ 6 h 36"/>
                    <a:gd name="T20" fmla="*/ 6 w 65"/>
                    <a:gd name="T21" fmla="*/ 0 h 36"/>
                    <a:gd name="T22" fmla="*/ 51 w 65"/>
                    <a:gd name="T23" fmla="*/ 0 h 36"/>
                    <a:gd name="T24" fmla="*/ 65 w 65"/>
                    <a:gd name="T25" fmla="*/ 18 h 36"/>
                    <a:gd name="T26" fmla="*/ 62 w 65"/>
                    <a:gd name="T27" fmla="*/ 29 h 36"/>
                    <a:gd name="T28" fmla="*/ 51 w 65"/>
                    <a:gd name="T29"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 h="36">
                      <a:moveTo>
                        <a:pt x="51" y="36"/>
                      </a:moveTo>
                      <a:cubicBezTo>
                        <a:pt x="6" y="36"/>
                        <a:pt x="6" y="36"/>
                        <a:pt x="6" y="36"/>
                      </a:cubicBezTo>
                      <a:cubicBezTo>
                        <a:pt x="2" y="36"/>
                        <a:pt x="0" y="33"/>
                        <a:pt x="0" y="30"/>
                      </a:cubicBezTo>
                      <a:cubicBezTo>
                        <a:pt x="0" y="26"/>
                        <a:pt x="2" y="24"/>
                        <a:pt x="6" y="24"/>
                      </a:cubicBezTo>
                      <a:cubicBezTo>
                        <a:pt x="51" y="24"/>
                        <a:pt x="51" y="24"/>
                        <a:pt x="51" y="24"/>
                      </a:cubicBezTo>
                      <a:cubicBezTo>
                        <a:pt x="51" y="24"/>
                        <a:pt x="52" y="24"/>
                        <a:pt x="52" y="23"/>
                      </a:cubicBezTo>
                      <a:cubicBezTo>
                        <a:pt x="53" y="22"/>
                        <a:pt x="53" y="20"/>
                        <a:pt x="53" y="18"/>
                      </a:cubicBezTo>
                      <a:cubicBezTo>
                        <a:pt x="53" y="15"/>
                        <a:pt x="52" y="12"/>
                        <a:pt x="51" y="12"/>
                      </a:cubicBezTo>
                      <a:cubicBezTo>
                        <a:pt x="6" y="12"/>
                        <a:pt x="6" y="12"/>
                        <a:pt x="6" y="12"/>
                      </a:cubicBezTo>
                      <a:cubicBezTo>
                        <a:pt x="2" y="12"/>
                        <a:pt x="0" y="9"/>
                        <a:pt x="0" y="6"/>
                      </a:cubicBezTo>
                      <a:cubicBezTo>
                        <a:pt x="0" y="2"/>
                        <a:pt x="2" y="0"/>
                        <a:pt x="6" y="0"/>
                      </a:cubicBezTo>
                      <a:cubicBezTo>
                        <a:pt x="51" y="0"/>
                        <a:pt x="51" y="0"/>
                        <a:pt x="51" y="0"/>
                      </a:cubicBezTo>
                      <a:cubicBezTo>
                        <a:pt x="59" y="0"/>
                        <a:pt x="65" y="7"/>
                        <a:pt x="65" y="18"/>
                      </a:cubicBezTo>
                      <a:cubicBezTo>
                        <a:pt x="65" y="22"/>
                        <a:pt x="64" y="26"/>
                        <a:pt x="62" y="29"/>
                      </a:cubicBezTo>
                      <a:cubicBezTo>
                        <a:pt x="59" y="33"/>
                        <a:pt x="55" y="36"/>
                        <a:pt x="51"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64" name="Freeform 212">
                  <a:extLst>
                    <a:ext uri="{FF2B5EF4-FFF2-40B4-BE49-F238E27FC236}">
                      <a16:creationId xmlns:a16="http://schemas.microsoft.com/office/drawing/2014/main" id="{142BF068-3FB3-CCFA-C4D4-2A8540D27CA2}"/>
                    </a:ext>
                  </a:extLst>
                </p:cNvPr>
                <p:cNvSpPr>
                  <a:spLocks/>
                </p:cNvSpPr>
                <p:nvPr/>
              </p:nvSpPr>
              <p:spPr bwMode="auto">
                <a:xfrm>
                  <a:off x="1627" y="3185"/>
                  <a:ext cx="124" cy="53"/>
                </a:xfrm>
                <a:custGeom>
                  <a:avLst/>
                  <a:gdLst>
                    <a:gd name="T0" fmla="*/ 63 w 84"/>
                    <a:gd name="T1" fmla="*/ 36 h 36"/>
                    <a:gd name="T2" fmla="*/ 30 w 84"/>
                    <a:gd name="T3" fmla="*/ 36 h 36"/>
                    <a:gd name="T4" fmla="*/ 24 w 84"/>
                    <a:gd name="T5" fmla="*/ 30 h 36"/>
                    <a:gd name="T6" fmla="*/ 30 w 84"/>
                    <a:gd name="T7" fmla="*/ 24 h 36"/>
                    <a:gd name="T8" fmla="*/ 63 w 84"/>
                    <a:gd name="T9" fmla="*/ 24 h 36"/>
                    <a:gd name="T10" fmla="*/ 72 w 84"/>
                    <a:gd name="T11" fmla="*/ 18 h 36"/>
                    <a:gd name="T12" fmla="*/ 63 w 84"/>
                    <a:gd name="T13" fmla="*/ 12 h 36"/>
                    <a:gd name="T14" fmla="*/ 6 w 84"/>
                    <a:gd name="T15" fmla="*/ 12 h 36"/>
                    <a:gd name="T16" fmla="*/ 0 w 84"/>
                    <a:gd name="T17" fmla="*/ 6 h 36"/>
                    <a:gd name="T18" fmla="*/ 6 w 84"/>
                    <a:gd name="T19" fmla="*/ 0 h 36"/>
                    <a:gd name="T20" fmla="*/ 63 w 84"/>
                    <a:gd name="T21" fmla="*/ 0 h 36"/>
                    <a:gd name="T22" fmla="*/ 78 w 84"/>
                    <a:gd name="T23" fmla="*/ 5 h 36"/>
                    <a:gd name="T24" fmla="*/ 84 w 84"/>
                    <a:gd name="T25" fmla="*/ 18 h 36"/>
                    <a:gd name="T26" fmla="*/ 63 w 84"/>
                    <a:gd name="T27"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36">
                      <a:moveTo>
                        <a:pt x="63" y="36"/>
                      </a:moveTo>
                      <a:cubicBezTo>
                        <a:pt x="30" y="36"/>
                        <a:pt x="30" y="36"/>
                        <a:pt x="30" y="36"/>
                      </a:cubicBezTo>
                      <a:cubicBezTo>
                        <a:pt x="26" y="36"/>
                        <a:pt x="24" y="33"/>
                        <a:pt x="24" y="30"/>
                      </a:cubicBezTo>
                      <a:cubicBezTo>
                        <a:pt x="24" y="26"/>
                        <a:pt x="26" y="24"/>
                        <a:pt x="30" y="24"/>
                      </a:cubicBezTo>
                      <a:cubicBezTo>
                        <a:pt x="63" y="24"/>
                        <a:pt x="63" y="24"/>
                        <a:pt x="63" y="24"/>
                      </a:cubicBezTo>
                      <a:cubicBezTo>
                        <a:pt x="69" y="24"/>
                        <a:pt x="72" y="21"/>
                        <a:pt x="72" y="18"/>
                      </a:cubicBezTo>
                      <a:cubicBezTo>
                        <a:pt x="72" y="15"/>
                        <a:pt x="69" y="12"/>
                        <a:pt x="63" y="12"/>
                      </a:cubicBezTo>
                      <a:cubicBezTo>
                        <a:pt x="6" y="12"/>
                        <a:pt x="6" y="12"/>
                        <a:pt x="6" y="12"/>
                      </a:cubicBezTo>
                      <a:cubicBezTo>
                        <a:pt x="2" y="12"/>
                        <a:pt x="0" y="9"/>
                        <a:pt x="0" y="6"/>
                      </a:cubicBezTo>
                      <a:cubicBezTo>
                        <a:pt x="0" y="2"/>
                        <a:pt x="2" y="0"/>
                        <a:pt x="6" y="0"/>
                      </a:cubicBezTo>
                      <a:cubicBezTo>
                        <a:pt x="63" y="0"/>
                        <a:pt x="63" y="0"/>
                        <a:pt x="63" y="0"/>
                      </a:cubicBezTo>
                      <a:cubicBezTo>
                        <a:pt x="69" y="0"/>
                        <a:pt x="74" y="2"/>
                        <a:pt x="78" y="5"/>
                      </a:cubicBezTo>
                      <a:cubicBezTo>
                        <a:pt x="81" y="8"/>
                        <a:pt x="84" y="13"/>
                        <a:pt x="84" y="18"/>
                      </a:cubicBezTo>
                      <a:cubicBezTo>
                        <a:pt x="84" y="27"/>
                        <a:pt x="76" y="36"/>
                        <a:pt x="63"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65" name="Freeform 213">
                  <a:extLst>
                    <a:ext uri="{FF2B5EF4-FFF2-40B4-BE49-F238E27FC236}">
                      <a16:creationId xmlns:a16="http://schemas.microsoft.com/office/drawing/2014/main" id="{083C0B41-7C2B-6FF7-8E8B-400709A258D1}"/>
                    </a:ext>
                  </a:extLst>
                </p:cNvPr>
                <p:cNvSpPr>
                  <a:spLocks noEditPoints="1"/>
                </p:cNvSpPr>
                <p:nvPr/>
              </p:nvSpPr>
              <p:spPr bwMode="auto">
                <a:xfrm>
                  <a:off x="1441" y="3238"/>
                  <a:ext cx="89" cy="71"/>
                </a:xfrm>
                <a:custGeom>
                  <a:avLst/>
                  <a:gdLst>
                    <a:gd name="T0" fmla="*/ 54 w 60"/>
                    <a:gd name="T1" fmla="*/ 48 h 48"/>
                    <a:gd name="T2" fmla="*/ 6 w 60"/>
                    <a:gd name="T3" fmla="*/ 48 h 48"/>
                    <a:gd name="T4" fmla="*/ 0 w 60"/>
                    <a:gd name="T5" fmla="*/ 42 h 48"/>
                    <a:gd name="T6" fmla="*/ 0 w 60"/>
                    <a:gd name="T7" fmla="*/ 6 h 48"/>
                    <a:gd name="T8" fmla="*/ 6 w 60"/>
                    <a:gd name="T9" fmla="*/ 0 h 48"/>
                    <a:gd name="T10" fmla="*/ 54 w 60"/>
                    <a:gd name="T11" fmla="*/ 0 h 48"/>
                    <a:gd name="T12" fmla="*/ 60 w 60"/>
                    <a:gd name="T13" fmla="*/ 6 h 48"/>
                    <a:gd name="T14" fmla="*/ 60 w 60"/>
                    <a:gd name="T15" fmla="*/ 42 h 48"/>
                    <a:gd name="T16" fmla="*/ 54 w 60"/>
                    <a:gd name="T17" fmla="*/ 48 h 48"/>
                    <a:gd name="T18" fmla="*/ 12 w 60"/>
                    <a:gd name="T19" fmla="*/ 36 h 48"/>
                    <a:gd name="T20" fmla="*/ 48 w 60"/>
                    <a:gd name="T21" fmla="*/ 36 h 48"/>
                    <a:gd name="T22" fmla="*/ 48 w 60"/>
                    <a:gd name="T23" fmla="*/ 12 h 48"/>
                    <a:gd name="T24" fmla="*/ 12 w 60"/>
                    <a:gd name="T25" fmla="*/ 12 h 48"/>
                    <a:gd name="T26" fmla="*/ 12 w 60"/>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48">
                      <a:moveTo>
                        <a:pt x="54" y="48"/>
                      </a:moveTo>
                      <a:cubicBezTo>
                        <a:pt x="6" y="48"/>
                        <a:pt x="6" y="48"/>
                        <a:pt x="6" y="48"/>
                      </a:cubicBezTo>
                      <a:cubicBezTo>
                        <a:pt x="2" y="48"/>
                        <a:pt x="0" y="45"/>
                        <a:pt x="0" y="42"/>
                      </a:cubicBezTo>
                      <a:cubicBezTo>
                        <a:pt x="0" y="6"/>
                        <a:pt x="0" y="6"/>
                        <a:pt x="0" y="6"/>
                      </a:cubicBezTo>
                      <a:cubicBezTo>
                        <a:pt x="0" y="2"/>
                        <a:pt x="2" y="0"/>
                        <a:pt x="6" y="0"/>
                      </a:cubicBezTo>
                      <a:cubicBezTo>
                        <a:pt x="54" y="0"/>
                        <a:pt x="54" y="0"/>
                        <a:pt x="54" y="0"/>
                      </a:cubicBezTo>
                      <a:cubicBezTo>
                        <a:pt x="57" y="0"/>
                        <a:pt x="60" y="2"/>
                        <a:pt x="60" y="6"/>
                      </a:cubicBezTo>
                      <a:cubicBezTo>
                        <a:pt x="60" y="42"/>
                        <a:pt x="60" y="42"/>
                        <a:pt x="60" y="42"/>
                      </a:cubicBezTo>
                      <a:cubicBezTo>
                        <a:pt x="60" y="45"/>
                        <a:pt x="57" y="48"/>
                        <a:pt x="54" y="48"/>
                      </a:cubicBezTo>
                      <a:close/>
                      <a:moveTo>
                        <a:pt x="12" y="36"/>
                      </a:moveTo>
                      <a:cubicBezTo>
                        <a:pt x="48" y="36"/>
                        <a:pt x="48" y="36"/>
                        <a:pt x="48" y="36"/>
                      </a:cubicBezTo>
                      <a:cubicBezTo>
                        <a:pt x="48" y="12"/>
                        <a:pt x="48" y="12"/>
                        <a:pt x="48"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66" name="Freeform 214">
                  <a:extLst>
                    <a:ext uri="{FF2B5EF4-FFF2-40B4-BE49-F238E27FC236}">
                      <a16:creationId xmlns:a16="http://schemas.microsoft.com/office/drawing/2014/main" id="{0C0E6656-037C-31AE-A562-86B399BB2F9C}"/>
                    </a:ext>
                  </a:extLst>
                </p:cNvPr>
                <p:cNvSpPr>
                  <a:spLocks/>
                </p:cNvSpPr>
                <p:nvPr/>
              </p:nvSpPr>
              <p:spPr bwMode="auto">
                <a:xfrm>
                  <a:off x="1494" y="3202"/>
                  <a:ext cx="18" cy="54"/>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2"/>
                        <a:pt x="2" y="0"/>
                        <a:pt x="6" y="0"/>
                      </a:cubicBezTo>
                      <a:cubicBezTo>
                        <a:pt x="9" y="0"/>
                        <a:pt x="12" y="2"/>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67" name="Freeform 215">
                  <a:extLst>
                    <a:ext uri="{FF2B5EF4-FFF2-40B4-BE49-F238E27FC236}">
                      <a16:creationId xmlns:a16="http://schemas.microsoft.com/office/drawing/2014/main" id="{42009B14-FFBF-8201-4186-2B2A447C777B}"/>
                    </a:ext>
                  </a:extLst>
                </p:cNvPr>
                <p:cNvSpPr>
                  <a:spLocks/>
                </p:cNvSpPr>
                <p:nvPr/>
              </p:nvSpPr>
              <p:spPr bwMode="auto">
                <a:xfrm>
                  <a:off x="1494" y="3291"/>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2"/>
                        <a:pt x="2" y="0"/>
                        <a:pt x="6" y="0"/>
                      </a:cubicBezTo>
                      <a:cubicBezTo>
                        <a:pt x="9" y="0"/>
                        <a:pt x="12" y="2"/>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68" name="Freeform 216">
                  <a:extLst>
                    <a:ext uri="{FF2B5EF4-FFF2-40B4-BE49-F238E27FC236}">
                      <a16:creationId xmlns:a16="http://schemas.microsoft.com/office/drawing/2014/main" id="{229CB68C-50C2-4444-B0DF-A97E8290594B}"/>
                    </a:ext>
                  </a:extLst>
                </p:cNvPr>
                <p:cNvSpPr>
                  <a:spLocks/>
                </p:cNvSpPr>
                <p:nvPr/>
              </p:nvSpPr>
              <p:spPr bwMode="auto">
                <a:xfrm>
                  <a:off x="1459" y="3202"/>
                  <a:ext cx="18" cy="54"/>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2"/>
                        <a:pt x="2" y="0"/>
                        <a:pt x="6" y="0"/>
                      </a:cubicBezTo>
                      <a:cubicBezTo>
                        <a:pt x="9" y="0"/>
                        <a:pt x="12" y="2"/>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69" name="Freeform 217">
                  <a:extLst>
                    <a:ext uri="{FF2B5EF4-FFF2-40B4-BE49-F238E27FC236}">
                      <a16:creationId xmlns:a16="http://schemas.microsoft.com/office/drawing/2014/main" id="{0A2946CC-0FC4-B9E0-C750-AB484E0BAA13}"/>
                    </a:ext>
                  </a:extLst>
                </p:cNvPr>
                <p:cNvSpPr>
                  <a:spLocks/>
                </p:cNvSpPr>
                <p:nvPr/>
              </p:nvSpPr>
              <p:spPr bwMode="auto">
                <a:xfrm>
                  <a:off x="1459" y="3291"/>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2"/>
                        <a:pt x="2" y="0"/>
                        <a:pt x="6" y="0"/>
                      </a:cubicBezTo>
                      <a:cubicBezTo>
                        <a:pt x="9" y="0"/>
                        <a:pt x="12" y="2"/>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70" name="Freeform 218">
                  <a:extLst>
                    <a:ext uri="{FF2B5EF4-FFF2-40B4-BE49-F238E27FC236}">
                      <a16:creationId xmlns:a16="http://schemas.microsoft.com/office/drawing/2014/main" id="{78AE4CB9-5468-ADC4-A315-1971C88DFEF3}"/>
                    </a:ext>
                  </a:extLst>
                </p:cNvPr>
                <p:cNvSpPr>
                  <a:spLocks/>
                </p:cNvSpPr>
                <p:nvPr/>
              </p:nvSpPr>
              <p:spPr bwMode="auto">
                <a:xfrm>
                  <a:off x="1400" y="3044"/>
                  <a:ext cx="187" cy="44"/>
                </a:xfrm>
                <a:custGeom>
                  <a:avLst/>
                  <a:gdLst>
                    <a:gd name="T0" fmla="*/ 120 w 127"/>
                    <a:gd name="T1" fmla="*/ 29 h 30"/>
                    <a:gd name="T2" fmla="*/ 117 w 127"/>
                    <a:gd name="T3" fmla="*/ 28 h 30"/>
                    <a:gd name="T4" fmla="*/ 64 w 127"/>
                    <a:gd name="T5" fmla="*/ 12 h 30"/>
                    <a:gd name="T6" fmla="*/ 10 w 127"/>
                    <a:gd name="T7" fmla="*/ 28 h 30"/>
                    <a:gd name="T8" fmla="*/ 2 w 127"/>
                    <a:gd name="T9" fmla="*/ 27 h 30"/>
                    <a:gd name="T10" fmla="*/ 4 w 127"/>
                    <a:gd name="T11" fmla="*/ 18 h 30"/>
                    <a:gd name="T12" fmla="*/ 64 w 127"/>
                    <a:gd name="T13" fmla="*/ 0 h 30"/>
                    <a:gd name="T14" fmla="*/ 123 w 127"/>
                    <a:gd name="T15" fmla="*/ 18 h 30"/>
                    <a:gd name="T16" fmla="*/ 125 w 127"/>
                    <a:gd name="T17" fmla="*/ 27 h 30"/>
                    <a:gd name="T18" fmla="*/ 120 w 127"/>
                    <a:gd name="T19" fmla="*/ 2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30">
                      <a:moveTo>
                        <a:pt x="120" y="29"/>
                      </a:moveTo>
                      <a:cubicBezTo>
                        <a:pt x="119" y="29"/>
                        <a:pt x="118" y="29"/>
                        <a:pt x="117" y="28"/>
                      </a:cubicBezTo>
                      <a:cubicBezTo>
                        <a:pt x="101" y="18"/>
                        <a:pt x="83" y="12"/>
                        <a:pt x="64" y="12"/>
                      </a:cubicBezTo>
                      <a:cubicBezTo>
                        <a:pt x="45" y="12"/>
                        <a:pt x="26" y="18"/>
                        <a:pt x="10" y="28"/>
                      </a:cubicBezTo>
                      <a:cubicBezTo>
                        <a:pt x="8" y="30"/>
                        <a:pt x="4" y="29"/>
                        <a:pt x="2" y="27"/>
                      </a:cubicBezTo>
                      <a:cubicBezTo>
                        <a:pt x="0" y="24"/>
                        <a:pt x="1" y="20"/>
                        <a:pt x="4" y="18"/>
                      </a:cubicBezTo>
                      <a:cubicBezTo>
                        <a:pt x="21" y="6"/>
                        <a:pt x="42" y="0"/>
                        <a:pt x="64" y="0"/>
                      </a:cubicBezTo>
                      <a:cubicBezTo>
                        <a:pt x="85" y="0"/>
                        <a:pt x="106" y="6"/>
                        <a:pt x="123" y="18"/>
                      </a:cubicBezTo>
                      <a:cubicBezTo>
                        <a:pt x="126" y="20"/>
                        <a:pt x="127" y="24"/>
                        <a:pt x="125" y="27"/>
                      </a:cubicBezTo>
                      <a:cubicBezTo>
                        <a:pt x="124" y="28"/>
                        <a:pt x="122" y="29"/>
                        <a:pt x="120"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71" name="Freeform 219">
                  <a:extLst>
                    <a:ext uri="{FF2B5EF4-FFF2-40B4-BE49-F238E27FC236}">
                      <a16:creationId xmlns:a16="http://schemas.microsoft.com/office/drawing/2014/main" id="{0BB7F380-98DB-B736-4917-6D37B66E3526}"/>
                    </a:ext>
                  </a:extLst>
                </p:cNvPr>
                <p:cNvSpPr>
                  <a:spLocks/>
                </p:cNvSpPr>
                <p:nvPr/>
              </p:nvSpPr>
              <p:spPr bwMode="auto">
                <a:xfrm>
                  <a:off x="1419" y="3080"/>
                  <a:ext cx="149" cy="38"/>
                </a:xfrm>
                <a:custGeom>
                  <a:avLst/>
                  <a:gdLst>
                    <a:gd name="T0" fmla="*/ 94 w 101"/>
                    <a:gd name="T1" fmla="*/ 25 h 26"/>
                    <a:gd name="T2" fmla="*/ 90 w 101"/>
                    <a:gd name="T3" fmla="*/ 24 h 26"/>
                    <a:gd name="T4" fmla="*/ 51 w 101"/>
                    <a:gd name="T5" fmla="*/ 12 h 26"/>
                    <a:gd name="T6" fmla="*/ 11 w 101"/>
                    <a:gd name="T7" fmla="*/ 24 h 26"/>
                    <a:gd name="T8" fmla="*/ 2 w 101"/>
                    <a:gd name="T9" fmla="*/ 23 h 26"/>
                    <a:gd name="T10" fmla="*/ 4 w 101"/>
                    <a:gd name="T11" fmla="*/ 14 h 26"/>
                    <a:gd name="T12" fmla="*/ 51 w 101"/>
                    <a:gd name="T13" fmla="*/ 0 h 26"/>
                    <a:gd name="T14" fmla="*/ 97 w 101"/>
                    <a:gd name="T15" fmla="*/ 14 h 26"/>
                    <a:gd name="T16" fmla="*/ 99 w 101"/>
                    <a:gd name="T17" fmla="*/ 23 h 26"/>
                    <a:gd name="T18" fmla="*/ 94 w 101"/>
                    <a:gd name="T19"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1" h="26">
                      <a:moveTo>
                        <a:pt x="94" y="25"/>
                      </a:moveTo>
                      <a:cubicBezTo>
                        <a:pt x="93" y="25"/>
                        <a:pt x="92" y="25"/>
                        <a:pt x="90" y="24"/>
                      </a:cubicBezTo>
                      <a:cubicBezTo>
                        <a:pt x="79" y="16"/>
                        <a:pt x="65" y="12"/>
                        <a:pt x="51" y="12"/>
                      </a:cubicBezTo>
                      <a:cubicBezTo>
                        <a:pt x="36" y="12"/>
                        <a:pt x="22" y="16"/>
                        <a:pt x="11" y="24"/>
                      </a:cubicBezTo>
                      <a:cubicBezTo>
                        <a:pt x="8" y="26"/>
                        <a:pt x="4" y="25"/>
                        <a:pt x="2" y="23"/>
                      </a:cubicBezTo>
                      <a:cubicBezTo>
                        <a:pt x="0" y="20"/>
                        <a:pt x="1" y="16"/>
                        <a:pt x="4" y="14"/>
                      </a:cubicBezTo>
                      <a:cubicBezTo>
                        <a:pt x="18" y="5"/>
                        <a:pt x="34" y="0"/>
                        <a:pt x="51" y="0"/>
                      </a:cubicBezTo>
                      <a:cubicBezTo>
                        <a:pt x="67" y="0"/>
                        <a:pt x="83" y="5"/>
                        <a:pt x="97" y="14"/>
                      </a:cubicBezTo>
                      <a:cubicBezTo>
                        <a:pt x="100" y="16"/>
                        <a:pt x="101" y="20"/>
                        <a:pt x="99" y="23"/>
                      </a:cubicBezTo>
                      <a:cubicBezTo>
                        <a:pt x="98" y="24"/>
                        <a:pt x="96" y="25"/>
                        <a:pt x="9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72" name="Freeform 220">
                  <a:extLst>
                    <a:ext uri="{FF2B5EF4-FFF2-40B4-BE49-F238E27FC236}">
                      <a16:creationId xmlns:a16="http://schemas.microsoft.com/office/drawing/2014/main" id="{78927DC0-7E2B-8C58-4F69-E44D80382FEC}"/>
                    </a:ext>
                  </a:extLst>
                </p:cNvPr>
                <p:cNvSpPr>
                  <a:spLocks/>
                </p:cNvSpPr>
                <p:nvPr/>
              </p:nvSpPr>
              <p:spPr bwMode="auto">
                <a:xfrm>
                  <a:off x="1440" y="3115"/>
                  <a:ext cx="108" cy="33"/>
                </a:xfrm>
                <a:custGeom>
                  <a:avLst/>
                  <a:gdLst>
                    <a:gd name="T0" fmla="*/ 67 w 73"/>
                    <a:gd name="T1" fmla="*/ 21 h 22"/>
                    <a:gd name="T2" fmla="*/ 63 w 73"/>
                    <a:gd name="T3" fmla="*/ 20 h 22"/>
                    <a:gd name="T4" fmla="*/ 37 w 73"/>
                    <a:gd name="T5" fmla="*/ 12 h 22"/>
                    <a:gd name="T6" fmla="*/ 10 w 73"/>
                    <a:gd name="T7" fmla="*/ 20 h 22"/>
                    <a:gd name="T8" fmla="*/ 2 w 73"/>
                    <a:gd name="T9" fmla="*/ 19 h 22"/>
                    <a:gd name="T10" fmla="*/ 3 w 73"/>
                    <a:gd name="T11" fmla="*/ 10 h 22"/>
                    <a:gd name="T12" fmla="*/ 37 w 73"/>
                    <a:gd name="T13" fmla="*/ 0 h 22"/>
                    <a:gd name="T14" fmla="*/ 70 w 73"/>
                    <a:gd name="T15" fmla="*/ 10 h 22"/>
                    <a:gd name="T16" fmla="*/ 72 w 73"/>
                    <a:gd name="T17" fmla="*/ 19 h 22"/>
                    <a:gd name="T18" fmla="*/ 67 w 73"/>
                    <a:gd name="T19" fmla="*/ 2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22">
                      <a:moveTo>
                        <a:pt x="67" y="21"/>
                      </a:moveTo>
                      <a:cubicBezTo>
                        <a:pt x="65" y="21"/>
                        <a:pt x="64" y="21"/>
                        <a:pt x="63" y="20"/>
                      </a:cubicBezTo>
                      <a:cubicBezTo>
                        <a:pt x="55" y="15"/>
                        <a:pt x="46" y="12"/>
                        <a:pt x="37" y="12"/>
                      </a:cubicBezTo>
                      <a:cubicBezTo>
                        <a:pt x="27" y="12"/>
                        <a:pt x="18" y="15"/>
                        <a:pt x="10" y="20"/>
                      </a:cubicBezTo>
                      <a:cubicBezTo>
                        <a:pt x="7" y="22"/>
                        <a:pt x="3" y="21"/>
                        <a:pt x="2" y="19"/>
                      </a:cubicBezTo>
                      <a:cubicBezTo>
                        <a:pt x="0" y="16"/>
                        <a:pt x="1" y="12"/>
                        <a:pt x="3" y="10"/>
                      </a:cubicBezTo>
                      <a:cubicBezTo>
                        <a:pt x="13" y="4"/>
                        <a:pt x="25" y="0"/>
                        <a:pt x="37" y="0"/>
                      </a:cubicBezTo>
                      <a:cubicBezTo>
                        <a:pt x="48" y="0"/>
                        <a:pt x="60" y="4"/>
                        <a:pt x="70" y="10"/>
                      </a:cubicBezTo>
                      <a:cubicBezTo>
                        <a:pt x="73" y="12"/>
                        <a:pt x="73" y="16"/>
                        <a:pt x="72" y="19"/>
                      </a:cubicBezTo>
                      <a:cubicBezTo>
                        <a:pt x="70" y="20"/>
                        <a:pt x="68" y="21"/>
                        <a:pt x="6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sp>
            <p:nvSpPr>
              <p:cNvPr id="11" name="TextBox 10">
                <a:extLst>
                  <a:ext uri="{FF2B5EF4-FFF2-40B4-BE49-F238E27FC236}">
                    <a16:creationId xmlns:a16="http://schemas.microsoft.com/office/drawing/2014/main" id="{8F8DAC6D-7739-8208-C0D9-DDE027515ADE}"/>
                  </a:ext>
                </a:extLst>
              </p:cNvPr>
              <p:cNvSpPr txBox="1"/>
              <p:nvPr/>
            </p:nvSpPr>
            <p:spPr>
              <a:xfrm>
                <a:off x="85625" y="4294511"/>
                <a:ext cx="783855" cy="2207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FCF4DE"/>
                  </a:buClr>
                  <a:buSzTx/>
                  <a:buFontTx/>
                  <a:buNone/>
                  <a:tabLst/>
                  <a:defRPr/>
                </a:pPr>
                <a:r>
                  <a:rPr kumimoji="0" lang="en-US" sz="900" b="1" i="0" u="none" strike="noStrike" kern="1200" cap="none" spc="0" normalizeH="0" baseline="0" noProof="0" dirty="0">
                    <a:ln>
                      <a:noFill/>
                    </a:ln>
                    <a:solidFill>
                      <a:srgbClr val="422110"/>
                    </a:solidFill>
                    <a:effectLst/>
                    <a:uLnTx/>
                    <a:uFillTx/>
                    <a:latin typeface="Arial" panose="020B0604020202020204"/>
                    <a:ea typeface="+mn-ea"/>
                    <a:cs typeface="+mn-cs"/>
                  </a:rPr>
                  <a:t>External</a:t>
                </a:r>
              </a:p>
            </p:txBody>
          </p:sp>
          <p:sp>
            <p:nvSpPr>
              <p:cNvPr id="12" name="TextBox 11">
                <a:extLst>
                  <a:ext uri="{FF2B5EF4-FFF2-40B4-BE49-F238E27FC236}">
                    <a16:creationId xmlns:a16="http://schemas.microsoft.com/office/drawing/2014/main" id="{A96294F2-3B87-E557-F252-377C91E7BEFE}"/>
                  </a:ext>
                </a:extLst>
              </p:cNvPr>
              <p:cNvSpPr txBox="1"/>
              <p:nvPr/>
            </p:nvSpPr>
            <p:spPr>
              <a:xfrm>
                <a:off x="124894" y="4714811"/>
                <a:ext cx="717614" cy="2207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FCF4DE"/>
                  </a:buClr>
                  <a:buSzTx/>
                  <a:buFontTx/>
                  <a:buNone/>
                  <a:tabLst/>
                  <a:defRPr/>
                </a:pPr>
                <a:r>
                  <a:rPr kumimoji="0" lang="en-US" sz="900" b="1" i="0" u="none" strike="noStrike" kern="1200" cap="none" spc="0" normalizeH="0" baseline="0" noProof="0" dirty="0">
                    <a:ln>
                      <a:noFill/>
                    </a:ln>
                    <a:solidFill>
                      <a:srgbClr val="422110"/>
                    </a:solidFill>
                    <a:effectLst/>
                    <a:uLnTx/>
                    <a:uFillTx/>
                    <a:latin typeface="Arial" panose="020B0604020202020204"/>
                    <a:ea typeface="+mn-ea"/>
                    <a:cs typeface="+mn-cs"/>
                  </a:rPr>
                  <a:t>Internal</a:t>
                </a:r>
              </a:p>
            </p:txBody>
          </p:sp>
          <p:cxnSp>
            <p:nvCxnSpPr>
              <p:cNvPr id="13" name="Straight Connector 12">
                <a:extLst>
                  <a:ext uri="{FF2B5EF4-FFF2-40B4-BE49-F238E27FC236}">
                    <a16:creationId xmlns:a16="http://schemas.microsoft.com/office/drawing/2014/main" id="{C47B8599-07B1-5160-8AAC-087BD79CD5D7}"/>
                  </a:ext>
                </a:extLst>
              </p:cNvPr>
              <p:cNvCxnSpPr>
                <a:cxnSpLocks/>
              </p:cNvCxnSpPr>
              <p:nvPr/>
            </p:nvCxnSpPr>
            <p:spPr>
              <a:xfrm>
                <a:off x="373381" y="4654800"/>
                <a:ext cx="5664495" cy="55364"/>
              </a:xfrm>
              <a:prstGeom prst="line">
                <a:avLst/>
              </a:prstGeom>
              <a:ln w="25400" cap="rnd">
                <a:solidFill>
                  <a:schemeClr val="tx2"/>
                </a:solidFill>
                <a:prstDash val="sysDot"/>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4" name="Rounded Rectangle 4">
                <a:extLst>
                  <a:ext uri="{FF2B5EF4-FFF2-40B4-BE49-F238E27FC236}">
                    <a16:creationId xmlns:a16="http://schemas.microsoft.com/office/drawing/2014/main" id="{06A60F0F-FFDD-16A1-1D51-56F74330F4ED}"/>
                  </a:ext>
                </a:extLst>
              </p:cNvPr>
              <p:cNvSpPr/>
              <p:nvPr/>
            </p:nvSpPr>
            <p:spPr>
              <a:xfrm>
                <a:off x="6967706" y="3317430"/>
                <a:ext cx="4769666" cy="5701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Black"/>
                    <a:ea typeface="+mn-ea"/>
                    <a:cs typeface="+mn-cs"/>
                  </a:rPr>
                  <a:t>Experience APIs</a:t>
                </a:r>
                <a:br>
                  <a:rPr kumimoji="0" lang="en-US" sz="900" b="1"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GB" sz="900" b="0" i="0" u="none" strike="noStrike" kern="1200" cap="none" spc="0" normalizeH="0" baseline="0" noProof="0" dirty="0">
                    <a:ln>
                      <a:noFill/>
                    </a:ln>
                    <a:solidFill>
                      <a:srgbClr val="FFFFFF"/>
                    </a:solidFill>
                    <a:effectLst/>
                    <a:uLnTx/>
                    <a:uFillTx/>
                    <a:latin typeface="Arial" panose="020B0604020202020204"/>
                    <a:ea typeface="+mn-ea"/>
                    <a:cs typeface="+mn-cs"/>
                  </a:rPr>
                  <a:t>purpose-built APIs for apps</a:t>
                </a:r>
                <a:endParaRPr kumimoji="0" lang="en-US" sz="9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15" name="Group 89">
                <a:extLst>
                  <a:ext uri="{FF2B5EF4-FFF2-40B4-BE49-F238E27FC236}">
                    <a16:creationId xmlns:a16="http://schemas.microsoft.com/office/drawing/2014/main" id="{B8794068-A180-A470-6802-ADB1209D8BFE}"/>
                  </a:ext>
                </a:extLst>
              </p:cNvPr>
              <p:cNvGrpSpPr>
                <a:grpSpLocks noChangeAspect="1"/>
              </p:cNvGrpSpPr>
              <p:nvPr/>
            </p:nvGrpSpPr>
            <p:grpSpPr bwMode="auto">
              <a:xfrm>
                <a:off x="10051142" y="2482359"/>
                <a:ext cx="397671" cy="379971"/>
                <a:chOff x="1375" y="1729"/>
                <a:chExt cx="427" cy="408"/>
              </a:xfrm>
              <a:solidFill>
                <a:schemeClr val="tx1"/>
              </a:solidFill>
            </p:grpSpPr>
            <p:sp>
              <p:nvSpPr>
                <p:cNvPr id="355" name="Freeform 90">
                  <a:extLst>
                    <a:ext uri="{FF2B5EF4-FFF2-40B4-BE49-F238E27FC236}">
                      <a16:creationId xmlns:a16="http://schemas.microsoft.com/office/drawing/2014/main" id="{61CD15D4-8F21-A4E1-04EA-1BD6F63F5F8C}"/>
                    </a:ext>
                  </a:extLst>
                </p:cNvPr>
                <p:cNvSpPr>
                  <a:spLocks noEditPoints="1"/>
                </p:cNvSpPr>
                <p:nvPr/>
              </p:nvSpPr>
              <p:spPr bwMode="auto">
                <a:xfrm>
                  <a:off x="1509" y="2013"/>
                  <a:ext cx="159" cy="53"/>
                </a:xfrm>
                <a:custGeom>
                  <a:avLst/>
                  <a:gdLst>
                    <a:gd name="T0" fmla="*/ 102 w 108"/>
                    <a:gd name="T1" fmla="*/ 36 h 36"/>
                    <a:gd name="T2" fmla="*/ 6 w 108"/>
                    <a:gd name="T3" fmla="*/ 36 h 36"/>
                    <a:gd name="T4" fmla="*/ 1 w 108"/>
                    <a:gd name="T5" fmla="*/ 34 h 36"/>
                    <a:gd name="T6" fmla="*/ 0 w 108"/>
                    <a:gd name="T7" fmla="*/ 29 h 36"/>
                    <a:gd name="T8" fmla="*/ 6 w 108"/>
                    <a:gd name="T9" fmla="*/ 5 h 36"/>
                    <a:gd name="T10" fmla="*/ 12 w 108"/>
                    <a:gd name="T11" fmla="*/ 0 h 36"/>
                    <a:gd name="T12" fmla="*/ 96 w 108"/>
                    <a:gd name="T13" fmla="*/ 0 h 36"/>
                    <a:gd name="T14" fmla="*/ 102 w 108"/>
                    <a:gd name="T15" fmla="*/ 5 h 36"/>
                    <a:gd name="T16" fmla="*/ 108 w 108"/>
                    <a:gd name="T17" fmla="*/ 29 h 36"/>
                    <a:gd name="T18" fmla="*/ 107 w 108"/>
                    <a:gd name="T19" fmla="*/ 34 h 36"/>
                    <a:gd name="T20" fmla="*/ 102 w 108"/>
                    <a:gd name="T21" fmla="*/ 36 h 36"/>
                    <a:gd name="T22" fmla="*/ 14 w 108"/>
                    <a:gd name="T23" fmla="*/ 24 h 36"/>
                    <a:gd name="T24" fmla="*/ 94 w 108"/>
                    <a:gd name="T25" fmla="*/ 24 h 36"/>
                    <a:gd name="T26" fmla="*/ 91 w 108"/>
                    <a:gd name="T27" fmla="*/ 12 h 36"/>
                    <a:gd name="T28" fmla="*/ 17 w 108"/>
                    <a:gd name="T29" fmla="*/ 12 h 36"/>
                    <a:gd name="T30" fmla="*/ 14 w 108"/>
                    <a:gd name="T31"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8" h="36">
                      <a:moveTo>
                        <a:pt x="102" y="36"/>
                      </a:moveTo>
                      <a:cubicBezTo>
                        <a:pt x="6" y="36"/>
                        <a:pt x="6" y="36"/>
                        <a:pt x="6" y="36"/>
                      </a:cubicBezTo>
                      <a:cubicBezTo>
                        <a:pt x="4" y="36"/>
                        <a:pt x="2" y="36"/>
                        <a:pt x="1" y="34"/>
                      </a:cubicBezTo>
                      <a:cubicBezTo>
                        <a:pt x="0" y="33"/>
                        <a:pt x="0" y="31"/>
                        <a:pt x="0" y="29"/>
                      </a:cubicBezTo>
                      <a:cubicBezTo>
                        <a:pt x="6" y="5"/>
                        <a:pt x="6" y="5"/>
                        <a:pt x="6" y="5"/>
                      </a:cubicBezTo>
                      <a:cubicBezTo>
                        <a:pt x="7" y="2"/>
                        <a:pt x="9" y="0"/>
                        <a:pt x="12" y="0"/>
                      </a:cubicBezTo>
                      <a:cubicBezTo>
                        <a:pt x="96" y="0"/>
                        <a:pt x="96" y="0"/>
                        <a:pt x="96" y="0"/>
                      </a:cubicBezTo>
                      <a:cubicBezTo>
                        <a:pt x="99" y="0"/>
                        <a:pt x="101" y="2"/>
                        <a:pt x="102" y="5"/>
                      </a:cubicBezTo>
                      <a:cubicBezTo>
                        <a:pt x="108" y="29"/>
                        <a:pt x="108" y="29"/>
                        <a:pt x="108" y="29"/>
                      </a:cubicBezTo>
                      <a:cubicBezTo>
                        <a:pt x="108" y="31"/>
                        <a:pt x="108" y="33"/>
                        <a:pt x="107" y="34"/>
                      </a:cubicBezTo>
                      <a:cubicBezTo>
                        <a:pt x="105" y="36"/>
                        <a:pt x="104" y="36"/>
                        <a:pt x="102" y="36"/>
                      </a:cubicBezTo>
                      <a:close/>
                      <a:moveTo>
                        <a:pt x="14" y="24"/>
                      </a:moveTo>
                      <a:cubicBezTo>
                        <a:pt x="94" y="24"/>
                        <a:pt x="94" y="24"/>
                        <a:pt x="94" y="24"/>
                      </a:cubicBezTo>
                      <a:cubicBezTo>
                        <a:pt x="91" y="12"/>
                        <a:pt x="91" y="12"/>
                        <a:pt x="91" y="12"/>
                      </a:cubicBezTo>
                      <a:cubicBezTo>
                        <a:pt x="17" y="12"/>
                        <a:pt x="17" y="12"/>
                        <a:pt x="17" y="12"/>
                      </a:cubicBezTo>
                      <a:lnTo>
                        <a:pt x="1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56" name="Freeform 91">
                  <a:extLst>
                    <a:ext uri="{FF2B5EF4-FFF2-40B4-BE49-F238E27FC236}">
                      <a16:creationId xmlns:a16="http://schemas.microsoft.com/office/drawing/2014/main" id="{AC2F5ABD-9B53-3C57-B77B-FD2F6B4219BE}"/>
                    </a:ext>
                  </a:extLst>
                </p:cNvPr>
                <p:cNvSpPr>
                  <a:spLocks noEditPoints="1"/>
                </p:cNvSpPr>
                <p:nvPr/>
              </p:nvSpPr>
              <p:spPr bwMode="auto">
                <a:xfrm>
                  <a:off x="1375" y="1729"/>
                  <a:ext cx="427" cy="408"/>
                </a:xfrm>
                <a:custGeom>
                  <a:avLst/>
                  <a:gdLst>
                    <a:gd name="T0" fmla="*/ 264 w 288"/>
                    <a:gd name="T1" fmla="*/ 276 h 276"/>
                    <a:gd name="T2" fmla="*/ 24 w 288"/>
                    <a:gd name="T3" fmla="*/ 276 h 276"/>
                    <a:gd name="T4" fmla="*/ 0 w 288"/>
                    <a:gd name="T5" fmla="*/ 252 h 276"/>
                    <a:gd name="T6" fmla="*/ 0 w 288"/>
                    <a:gd name="T7" fmla="*/ 246 h 276"/>
                    <a:gd name="T8" fmla="*/ 0 w 288"/>
                    <a:gd name="T9" fmla="*/ 245 h 276"/>
                    <a:gd name="T10" fmla="*/ 24 w 288"/>
                    <a:gd name="T11" fmla="*/ 162 h 276"/>
                    <a:gd name="T12" fmla="*/ 24 w 288"/>
                    <a:gd name="T13" fmla="*/ 24 h 276"/>
                    <a:gd name="T14" fmla="*/ 48 w 288"/>
                    <a:gd name="T15" fmla="*/ 0 h 276"/>
                    <a:gd name="T16" fmla="*/ 240 w 288"/>
                    <a:gd name="T17" fmla="*/ 0 h 276"/>
                    <a:gd name="T18" fmla="*/ 264 w 288"/>
                    <a:gd name="T19" fmla="*/ 24 h 276"/>
                    <a:gd name="T20" fmla="*/ 264 w 288"/>
                    <a:gd name="T21" fmla="*/ 156 h 276"/>
                    <a:gd name="T22" fmla="*/ 288 w 288"/>
                    <a:gd name="T23" fmla="*/ 245 h 276"/>
                    <a:gd name="T24" fmla="*/ 288 w 288"/>
                    <a:gd name="T25" fmla="*/ 246 h 276"/>
                    <a:gd name="T26" fmla="*/ 288 w 288"/>
                    <a:gd name="T27" fmla="*/ 252 h 276"/>
                    <a:gd name="T28" fmla="*/ 264 w 288"/>
                    <a:gd name="T29" fmla="*/ 276 h 276"/>
                    <a:gd name="T30" fmla="*/ 12 w 288"/>
                    <a:gd name="T31" fmla="*/ 247 h 276"/>
                    <a:gd name="T32" fmla="*/ 12 w 288"/>
                    <a:gd name="T33" fmla="*/ 252 h 276"/>
                    <a:gd name="T34" fmla="*/ 24 w 288"/>
                    <a:gd name="T35" fmla="*/ 264 h 276"/>
                    <a:gd name="T36" fmla="*/ 264 w 288"/>
                    <a:gd name="T37" fmla="*/ 264 h 276"/>
                    <a:gd name="T38" fmla="*/ 276 w 288"/>
                    <a:gd name="T39" fmla="*/ 252 h 276"/>
                    <a:gd name="T40" fmla="*/ 276 w 288"/>
                    <a:gd name="T41" fmla="*/ 247 h 276"/>
                    <a:gd name="T42" fmla="*/ 252 w 288"/>
                    <a:gd name="T43" fmla="*/ 158 h 276"/>
                    <a:gd name="T44" fmla="*/ 252 w 288"/>
                    <a:gd name="T45" fmla="*/ 156 h 276"/>
                    <a:gd name="T46" fmla="*/ 252 w 288"/>
                    <a:gd name="T47" fmla="*/ 24 h 276"/>
                    <a:gd name="T48" fmla="*/ 240 w 288"/>
                    <a:gd name="T49" fmla="*/ 12 h 276"/>
                    <a:gd name="T50" fmla="*/ 48 w 288"/>
                    <a:gd name="T51" fmla="*/ 12 h 276"/>
                    <a:gd name="T52" fmla="*/ 36 w 288"/>
                    <a:gd name="T53" fmla="*/ 24 h 276"/>
                    <a:gd name="T54" fmla="*/ 36 w 288"/>
                    <a:gd name="T55" fmla="*/ 162 h 276"/>
                    <a:gd name="T56" fmla="*/ 36 w 288"/>
                    <a:gd name="T57" fmla="*/ 164 h 276"/>
                    <a:gd name="T58" fmla="*/ 12 w 288"/>
                    <a:gd name="T59" fmla="*/ 247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8" h="276">
                      <a:moveTo>
                        <a:pt x="264" y="276"/>
                      </a:moveTo>
                      <a:cubicBezTo>
                        <a:pt x="24" y="276"/>
                        <a:pt x="24" y="276"/>
                        <a:pt x="24" y="276"/>
                      </a:cubicBezTo>
                      <a:cubicBezTo>
                        <a:pt x="11" y="276"/>
                        <a:pt x="0" y="266"/>
                        <a:pt x="0" y="252"/>
                      </a:cubicBezTo>
                      <a:cubicBezTo>
                        <a:pt x="0" y="246"/>
                        <a:pt x="0" y="246"/>
                        <a:pt x="0" y="246"/>
                      </a:cubicBezTo>
                      <a:cubicBezTo>
                        <a:pt x="0" y="246"/>
                        <a:pt x="0" y="245"/>
                        <a:pt x="0" y="245"/>
                      </a:cubicBezTo>
                      <a:cubicBezTo>
                        <a:pt x="24" y="162"/>
                        <a:pt x="24" y="162"/>
                        <a:pt x="24" y="162"/>
                      </a:cubicBezTo>
                      <a:cubicBezTo>
                        <a:pt x="24" y="24"/>
                        <a:pt x="24" y="24"/>
                        <a:pt x="24" y="24"/>
                      </a:cubicBezTo>
                      <a:cubicBezTo>
                        <a:pt x="24" y="11"/>
                        <a:pt x="35" y="0"/>
                        <a:pt x="48" y="0"/>
                      </a:cubicBezTo>
                      <a:cubicBezTo>
                        <a:pt x="240" y="0"/>
                        <a:pt x="240" y="0"/>
                        <a:pt x="240" y="0"/>
                      </a:cubicBezTo>
                      <a:cubicBezTo>
                        <a:pt x="253" y="0"/>
                        <a:pt x="264" y="11"/>
                        <a:pt x="264" y="24"/>
                      </a:cubicBezTo>
                      <a:cubicBezTo>
                        <a:pt x="264" y="156"/>
                        <a:pt x="264" y="156"/>
                        <a:pt x="264" y="156"/>
                      </a:cubicBezTo>
                      <a:cubicBezTo>
                        <a:pt x="288" y="245"/>
                        <a:pt x="288" y="245"/>
                        <a:pt x="288" y="245"/>
                      </a:cubicBezTo>
                      <a:cubicBezTo>
                        <a:pt x="288" y="245"/>
                        <a:pt x="288" y="246"/>
                        <a:pt x="288" y="246"/>
                      </a:cubicBezTo>
                      <a:cubicBezTo>
                        <a:pt x="288" y="252"/>
                        <a:pt x="288" y="252"/>
                        <a:pt x="288" y="252"/>
                      </a:cubicBezTo>
                      <a:cubicBezTo>
                        <a:pt x="288" y="266"/>
                        <a:pt x="277" y="276"/>
                        <a:pt x="264" y="276"/>
                      </a:cubicBezTo>
                      <a:close/>
                      <a:moveTo>
                        <a:pt x="12" y="247"/>
                      </a:moveTo>
                      <a:cubicBezTo>
                        <a:pt x="12" y="252"/>
                        <a:pt x="12" y="252"/>
                        <a:pt x="12" y="252"/>
                      </a:cubicBezTo>
                      <a:cubicBezTo>
                        <a:pt x="12" y="259"/>
                        <a:pt x="17" y="264"/>
                        <a:pt x="24" y="264"/>
                      </a:cubicBezTo>
                      <a:cubicBezTo>
                        <a:pt x="264" y="264"/>
                        <a:pt x="264" y="264"/>
                        <a:pt x="264" y="264"/>
                      </a:cubicBezTo>
                      <a:cubicBezTo>
                        <a:pt x="270" y="264"/>
                        <a:pt x="276" y="259"/>
                        <a:pt x="276" y="252"/>
                      </a:cubicBezTo>
                      <a:cubicBezTo>
                        <a:pt x="276" y="247"/>
                        <a:pt x="276" y="247"/>
                        <a:pt x="276" y="247"/>
                      </a:cubicBezTo>
                      <a:cubicBezTo>
                        <a:pt x="252" y="158"/>
                        <a:pt x="252" y="158"/>
                        <a:pt x="252" y="158"/>
                      </a:cubicBezTo>
                      <a:cubicBezTo>
                        <a:pt x="252" y="157"/>
                        <a:pt x="252" y="157"/>
                        <a:pt x="252" y="156"/>
                      </a:cubicBezTo>
                      <a:cubicBezTo>
                        <a:pt x="252" y="24"/>
                        <a:pt x="252" y="24"/>
                        <a:pt x="252" y="24"/>
                      </a:cubicBezTo>
                      <a:cubicBezTo>
                        <a:pt x="252" y="18"/>
                        <a:pt x="246" y="12"/>
                        <a:pt x="240" y="12"/>
                      </a:cubicBezTo>
                      <a:cubicBezTo>
                        <a:pt x="48" y="12"/>
                        <a:pt x="48" y="12"/>
                        <a:pt x="48" y="12"/>
                      </a:cubicBezTo>
                      <a:cubicBezTo>
                        <a:pt x="41" y="12"/>
                        <a:pt x="36" y="18"/>
                        <a:pt x="36" y="24"/>
                      </a:cubicBezTo>
                      <a:cubicBezTo>
                        <a:pt x="36" y="162"/>
                        <a:pt x="36" y="162"/>
                        <a:pt x="36" y="162"/>
                      </a:cubicBezTo>
                      <a:cubicBezTo>
                        <a:pt x="36" y="163"/>
                        <a:pt x="36" y="164"/>
                        <a:pt x="36" y="164"/>
                      </a:cubicBezTo>
                      <a:lnTo>
                        <a:pt x="12" y="2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57" name="Rectangle 92">
                  <a:extLst>
                    <a:ext uri="{FF2B5EF4-FFF2-40B4-BE49-F238E27FC236}">
                      <a16:creationId xmlns:a16="http://schemas.microsoft.com/office/drawing/2014/main" id="{5A3EE8E0-2CA0-35B6-7FB6-F43FC75DFBD2}"/>
                    </a:ext>
                  </a:extLst>
                </p:cNvPr>
                <p:cNvSpPr>
                  <a:spLocks noChangeArrowheads="1"/>
                </p:cNvSpPr>
                <p:nvPr/>
              </p:nvSpPr>
              <p:spPr bwMode="auto">
                <a:xfrm>
                  <a:off x="1420" y="1960"/>
                  <a:ext cx="33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58" name="Rectangle 93">
                  <a:extLst>
                    <a:ext uri="{FF2B5EF4-FFF2-40B4-BE49-F238E27FC236}">
                      <a16:creationId xmlns:a16="http://schemas.microsoft.com/office/drawing/2014/main" id="{FA4E1899-B5BE-9A45-D42B-99297F39459E}"/>
                    </a:ext>
                  </a:extLst>
                </p:cNvPr>
                <p:cNvSpPr>
                  <a:spLocks noChangeArrowheads="1"/>
                </p:cNvSpPr>
                <p:nvPr/>
              </p:nvSpPr>
              <p:spPr bwMode="auto">
                <a:xfrm>
                  <a:off x="1384" y="2084"/>
                  <a:ext cx="409"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59" name="Freeform 94">
                  <a:extLst>
                    <a:ext uri="{FF2B5EF4-FFF2-40B4-BE49-F238E27FC236}">
                      <a16:creationId xmlns:a16="http://schemas.microsoft.com/office/drawing/2014/main" id="{EF3EC326-28F6-691F-115E-B3EB33DB97D0}"/>
                    </a:ext>
                  </a:extLst>
                </p:cNvPr>
                <p:cNvSpPr>
                  <a:spLocks noEditPoints="1"/>
                </p:cNvSpPr>
                <p:nvPr/>
              </p:nvSpPr>
              <p:spPr bwMode="auto">
                <a:xfrm>
                  <a:off x="1446" y="1765"/>
                  <a:ext cx="285" cy="177"/>
                </a:xfrm>
                <a:custGeom>
                  <a:avLst/>
                  <a:gdLst>
                    <a:gd name="T0" fmla="*/ 186 w 192"/>
                    <a:gd name="T1" fmla="*/ 120 h 120"/>
                    <a:gd name="T2" fmla="*/ 6 w 192"/>
                    <a:gd name="T3" fmla="*/ 120 h 120"/>
                    <a:gd name="T4" fmla="*/ 0 w 192"/>
                    <a:gd name="T5" fmla="*/ 114 h 120"/>
                    <a:gd name="T6" fmla="*/ 0 w 192"/>
                    <a:gd name="T7" fmla="*/ 6 h 120"/>
                    <a:gd name="T8" fmla="*/ 6 w 192"/>
                    <a:gd name="T9" fmla="*/ 0 h 120"/>
                    <a:gd name="T10" fmla="*/ 186 w 192"/>
                    <a:gd name="T11" fmla="*/ 0 h 120"/>
                    <a:gd name="T12" fmla="*/ 192 w 192"/>
                    <a:gd name="T13" fmla="*/ 6 h 120"/>
                    <a:gd name="T14" fmla="*/ 192 w 192"/>
                    <a:gd name="T15" fmla="*/ 114 h 120"/>
                    <a:gd name="T16" fmla="*/ 186 w 192"/>
                    <a:gd name="T17" fmla="*/ 120 h 120"/>
                    <a:gd name="T18" fmla="*/ 12 w 192"/>
                    <a:gd name="T19" fmla="*/ 108 h 120"/>
                    <a:gd name="T20" fmla="*/ 180 w 192"/>
                    <a:gd name="T21" fmla="*/ 108 h 120"/>
                    <a:gd name="T22" fmla="*/ 180 w 192"/>
                    <a:gd name="T23" fmla="*/ 12 h 120"/>
                    <a:gd name="T24" fmla="*/ 12 w 192"/>
                    <a:gd name="T25" fmla="*/ 12 h 120"/>
                    <a:gd name="T26" fmla="*/ 12 w 192"/>
                    <a:gd name="T2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120">
                      <a:moveTo>
                        <a:pt x="186" y="120"/>
                      </a:moveTo>
                      <a:cubicBezTo>
                        <a:pt x="6" y="120"/>
                        <a:pt x="6" y="120"/>
                        <a:pt x="6" y="120"/>
                      </a:cubicBezTo>
                      <a:cubicBezTo>
                        <a:pt x="3" y="120"/>
                        <a:pt x="0" y="118"/>
                        <a:pt x="0" y="114"/>
                      </a:cubicBezTo>
                      <a:cubicBezTo>
                        <a:pt x="0" y="6"/>
                        <a:pt x="0" y="6"/>
                        <a:pt x="0" y="6"/>
                      </a:cubicBezTo>
                      <a:cubicBezTo>
                        <a:pt x="0" y="3"/>
                        <a:pt x="3" y="0"/>
                        <a:pt x="6" y="0"/>
                      </a:cubicBezTo>
                      <a:cubicBezTo>
                        <a:pt x="186" y="0"/>
                        <a:pt x="186" y="0"/>
                        <a:pt x="186" y="0"/>
                      </a:cubicBezTo>
                      <a:cubicBezTo>
                        <a:pt x="189" y="0"/>
                        <a:pt x="192" y="3"/>
                        <a:pt x="192" y="6"/>
                      </a:cubicBezTo>
                      <a:cubicBezTo>
                        <a:pt x="192" y="114"/>
                        <a:pt x="192" y="114"/>
                        <a:pt x="192" y="114"/>
                      </a:cubicBezTo>
                      <a:cubicBezTo>
                        <a:pt x="192" y="118"/>
                        <a:pt x="189" y="120"/>
                        <a:pt x="186" y="120"/>
                      </a:cubicBezTo>
                      <a:close/>
                      <a:moveTo>
                        <a:pt x="12" y="108"/>
                      </a:moveTo>
                      <a:cubicBezTo>
                        <a:pt x="180" y="108"/>
                        <a:pt x="180" y="108"/>
                        <a:pt x="180" y="108"/>
                      </a:cubicBezTo>
                      <a:cubicBezTo>
                        <a:pt x="180" y="12"/>
                        <a:pt x="180" y="12"/>
                        <a:pt x="180" y="12"/>
                      </a:cubicBezTo>
                      <a:cubicBezTo>
                        <a:pt x="12" y="12"/>
                        <a:pt x="12" y="12"/>
                        <a:pt x="12" y="12"/>
                      </a:cubicBezTo>
                      <a:lnTo>
                        <a:pt x="1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sp>
            <p:nvSpPr>
              <p:cNvPr id="16" name="Freeform 20">
                <a:extLst>
                  <a:ext uri="{FF2B5EF4-FFF2-40B4-BE49-F238E27FC236}">
                    <a16:creationId xmlns:a16="http://schemas.microsoft.com/office/drawing/2014/main" id="{FECC4742-BAEA-F571-44F2-9A11884E07F1}"/>
                  </a:ext>
                </a:extLst>
              </p:cNvPr>
              <p:cNvSpPr>
                <a:spLocks noChangeAspect="1" noEditPoints="1"/>
              </p:cNvSpPr>
              <p:nvPr/>
            </p:nvSpPr>
            <p:spPr bwMode="auto">
              <a:xfrm>
                <a:off x="3376585" y="2580564"/>
                <a:ext cx="179886" cy="326090"/>
              </a:xfrm>
              <a:custGeom>
                <a:avLst/>
                <a:gdLst>
                  <a:gd name="T0" fmla="*/ 102 w 159"/>
                  <a:gd name="T1" fmla="*/ 288 h 288"/>
                  <a:gd name="T2" fmla="*/ 42 w 159"/>
                  <a:gd name="T3" fmla="*/ 288 h 288"/>
                  <a:gd name="T4" fmla="*/ 36 w 159"/>
                  <a:gd name="T5" fmla="*/ 282 h 288"/>
                  <a:gd name="T6" fmla="*/ 36 w 159"/>
                  <a:gd name="T7" fmla="*/ 144 h 288"/>
                  <a:gd name="T8" fmla="*/ 6 w 159"/>
                  <a:gd name="T9" fmla="*/ 144 h 288"/>
                  <a:gd name="T10" fmla="*/ 0 w 159"/>
                  <a:gd name="T11" fmla="*/ 138 h 288"/>
                  <a:gd name="T12" fmla="*/ 0 w 159"/>
                  <a:gd name="T13" fmla="*/ 90 h 288"/>
                  <a:gd name="T14" fmla="*/ 6 w 159"/>
                  <a:gd name="T15" fmla="*/ 84 h 288"/>
                  <a:gd name="T16" fmla="*/ 36 w 159"/>
                  <a:gd name="T17" fmla="*/ 84 h 288"/>
                  <a:gd name="T18" fmla="*/ 36 w 159"/>
                  <a:gd name="T19" fmla="*/ 64 h 288"/>
                  <a:gd name="T20" fmla="*/ 98 w 159"/>
                  <a:gd name="T21" fmla="*/ 0 h 288"/>
                  <a:gd name="T22" fmla="*/ 150 w 159"/>
                  <a:gd name="T23" fmla="*/ 1 h 288"/>
                  <a:gd name="T24" fmla="*/ 156 w 159"/>
                  <a:gd name="T25" fmla="*/ 7 h 288"/>
                  <a:gd name="T26" fmla="*/ 156 w 159"/>
                  <a:gd name="T27" fmla="*/ 54 h 288"/>
                  <a:gd name="T28" fmla="*/ 150 w 159"/>
                  <a:gd name="T29" fmla="*/ 60 h 288"/>
                  <a:gd name="T30" fmla="*/ 114 w 159"/>
                  <a:gd name="T31" fmla="*/ 60 h 288"/>
                  <a:gd name="T32" fmla="*/ 108 w 159"/>
                  <a:gd name="T33" fmla="*/ 67 h 288"/>
                  <a:gd name="T34" fmla="*/ 108 w 159"/>
                  <a:gd name="T35" fmla="*/ 84 h 288"/>
                  <a:gd name="T36" fmla="*/ 153 w 159"/>
                  <a:gd name="T37" fmla="*/ 84 h 288"/>
                  <a:gd name="T38" fmla="*/ 158 w 159"/>
                  <a:gd name="T39" fmla="*/ 86 h 288"/>
                  <a:gd name="T40" fmla="*/ 159 w 159"/>
                  <a:gd name="T41" fmla="*/ 91 h 288"/>
                  <a:gd name="T42" fmla="*/ 154 w 159"/>
                  <a:gd name="T43" fmla="*/ 139 h 288"/>
                  <a:gd name="T44" fmla="*/ 148 w 159"/>
                  <a:gd name="T45" fmla="*/ 144 h 288"/>
                  <a:gd name="T46" fmla="*/ 108 w 159"/>
                  <a:gd name="T47" fmla="*/ 144 h 288"/>
                  <a:gd name="T48" fmla="*/ 108 w 159"/>
                  <a:gd name="T49" fmla="*/ 282 h 288"/>
                  <a:gd name="T50" fmla="*/ 102 w 159"/>
                  <a:gd name="T51" fmla="*/ 288 h 288"/>
                  <a:gd name="T52" fmla="*/ 48 w 159"/>
                  <a:gd name="T53" fmla="*/ 276 h 288"/>
                  <a:gd name="T54" fmla="*/ 96 w 159"/>
                  <a:gd name="T55" fmla="*/ 276 h 288"/>
                  <a:gd name="T56" fmla="*/ 96 w 159"/>
                  <a:gd name="T57" fmla="*/ 138 h 288"/>
                  <a:gd name="T58" fmla="*/ 102 w 159"/>
                  <a:gd name="T59" fmla="*/ 132 h 288"/>
                  <a:gd name="T60" fmla="*/ 143 w 159"/>
                  <a:gd name="T61" fmla="*/ 132 h 288"/>
                  <a:gd name="T62" fmla="*/ 147 w 159"/>
                  <a:gd name="T63" fmla="*/ 96 h 288"/>
                  <a:gd name="T64" fmla="*/ 102 w 159"/>
                  <a:gd name="T65" fmla="*/ 96 h 288"/>
                  <a:gd name="T66" fmla="*/ 96 w 159"/>
                  <a:gd name="T67" fmla="*/ 90 h 288"/>
                  <a:gd name="T68" fmla="*/ 96 w 159"/>
                  <a:gd name="T69" fmla="*/ 67 h 288"/>
                  <a:gd name="T70" fmla="*/ 114 w 159"/>
                  <a:gd name="T71" fmla="*/ 48 h 288"/>
                  <a:gd name="T72" fmla="*/ 144 w 159"/>
                  <a:gd name="T73" fmla="*/ 48 h 288"/>
                  <a:gd name="T74" fmla="*/ 144 w 159"/>
                  <a:gd name="T75" fmla="*/ 13 h 288"/>
                  <a:gd name="T76" fmla="*/ 98 w 159"/>
                  <a:gd name="T77" fmla="*/ 12 h 288"/>
                  <a:gd name="T78" fmla="*/ 48 w 159"/>
                  <a:gd name="T79" fmla="*/ 64 h 288"/>
                  <a:gd name="T80" fmla="*/ 48 w 159"/>
                  <a:gd name="T81" fmla="*/ 90 h 288"/>
                  <a:gd name="T82" fmla="*/ 42 w 159"/>
                  <a:gd name="T83" fmla="*/ 96 h 288"/>
                  <a:gd name="T84" fmla="*/ 12 w 159"/>
                  <a:gd name="T85" fmla="*/ 96 h 288"/>
                  <a:gd name="T86" fmla="*/ 12 w 159"/>
                  <a:gd name="T87" fmla="*/ 132 h 288"/>
                  <a:gd name="T88" fmla="*/ 42 w 159"/>
                  <a:gd name="T89" fmla="*/ 132 h 288"/>
                  <a:gd name="T90" fmla="*/ 48 w 159"/>
                  <a:gd name="T91" fmla="*/ 138 h 288"/>
                  <a:gd name="T92" fmla="*/ 48 w 159"/>
                  <a:gd name="T93"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9" h="288">
                    <a:moveTo>
                      <a:pt x="102" y="288"/>
                    </a:moveTo>
                    <a:cubicBezTo>
                      <a:pt x="42" y="288"/>
                      <a:pt x="42" y="288"/>
                      <a:pt x="42" y="288"/>
                    </a:cubicBezTo>
                    <a:cubicBezTo>
                      <a:pt x="39" y="288"/>
                      <a:pt x="36" y="285"/>
                      <a:pt x="36" y="282"/>
                    </a:cubicBezTo>
                    <a:cubicBezTo>
                      <a:pt x="36" y="144"/>
                      <a:pt x="36" y="144"/>
                      <a:pt x="36" y="144"/>
                    </a:cubicBezTo>
                    <a:cubicBezTo>
                      <a:pt x="6" y="144"/>
                      <a:pt x="6" y="144"/>
                      <a:pt x="6" y="144"/>
                    </a:cubicBezTo>
                    <a:cubicBezTo>
                      <a:pt x="3" y="144"/>
                      <a:pt x="0" y="141"/>
                      <a:pt x="0" y="138"/>
                    </a:cubicBezTo>
                    <a:cubicBezTo>
                      <a:pt x="0" y="90"/>
                      <a:pt x="0" y="90"/>
                      <a:pt x="0" y="90"/>
                    </a:cubicBezTo>
                    <a:cubicBezTo>
                      <a:pt x="0" y="87"/>
                      <a:pt x="3" y="84"/>
                      <a:pt x="6" y="84"/>
                    </a:cubicBezTo>
                    <a:cubicBezTo>
                      <a:pt x="36" y="84"/>
                      <a:pt x="36" y="84"/>
                      <a:pt x="36" y="84"/>
                    </a:cubicBezTo>
                    <a:cubicBezTo>
                      <a:pt x="36" y="64"/>
                      <a:pt x="36" y="64"/>
                      <a:pt x="36" y="64"/>
                    </a:cubicBezTo>
                    <a:cubicBezTo>
                      <a:pt x="36" y="49"/>
                      <a:pt x="41" y="0"/>
                      <a:pt x="98" y="0"/>
                    </a:cubicBezTo>
                    <a:cubicBezTo>
                      <a:pt x="150" y="1"/>
                      <a:pt x="150" y="1"/>
                      <a:pt x="150" y="1"/>
                    </a:cubicBezTo>
                    <a:cubicBezTo>
                      <a:pt x="153" y="1"/>
                      <a:pt x="156" y="3"/>
                      <a:pt x="156" y="7"/>
                    </a:cubicBezTo>
                    <a:cubicBezTo>
                      <a:pt x="156" y="54"/>
                      <a:pt x="156" y="54"/>
                      <a:pt x="156" y="54"/>
                    </a:cubicBezTo>
                    <a:cubicBezTo>
                      <a:pt x="156" y="57"/>
                      <a:pt x="153" y="60"/>
                      <a:pt x="150" y="60"/>
                    </a:cubicBezTo>
                    <a:cubicBezTo>
                      <a:pt x="114" y="60"/>
                      <a:pt x="114" y="60"/>
                      <a:pt x="114" y="60"/>
                    </a:cubicBezTo>
                    <a:cubicBezTo>
                      <a:pt x="109" y="60"/>
                      <a:pt x="108" y="64"/>
                      <a:pt x="108" y="67"/>
                    </a:cubicBezTo>
                    <a:cubicBezTo>
                      <a:pt x="108" y="84"/>
                      <a:pt x="108" y="84"/>
                      <a:pt x="108" y="84"/>
                    </a:cubicBezTo>
                    <a:cubicBezTo>
                      <a:pt x="153" y="84"/>
                      <a:pt x="153" y="84"/>
                      <a:pt x="153" y="84"/>
                    </a:cubicBezTo>
                    <a:cubicBezTo>
                      <a:pt x="155" y="84"/>
                      <a:pt x="157" y="85"/>
                      <a:pt x="158" y="86"/>
                    </a:cubicBezTo>
                    <a:cubicBezTo>
                      <a:pt x="159" y="87"/>
                      <a:pt x="159" y="89"/>
                      <a:pt x="159" y="91"/>
                    </a:cubicBezTo>
                    <a:cubicBezTo>
                      <a:pt x="154" y="139"/>
                      <a:pt x="154" y="139"/>
                      <a:pt x="154" y="139"/>
                    </a:cubicBezTo>
                    <a:cubicBezTo>
                      <a:pt x="154" y="142"/>
                      <a:pt x="151" y="144"/>
                      <a:pt x="148" y="144"/>
                    </a:cubicBezTo>
                    <a:cubicBezTo>
                      <a:pt x="108" y="144"/>
                      <a:pt x="108" y="144"/>
                      <a:pt x="108" y="144"/>
                    </a:cubicBezTo>
                    <a:cubicBezTo>
                      <a:pt x="108" y="282"/>
                      <a:pt x="108" y="282"/>
                      <a:pt x="108" y="282"/>
                    </a:cubicBezTo>
                    <a:cubicBezTo>
                      <a:pt x="108" y="285"/>
                      <a:pt x="105" y="288"/>
                      <a:pt x="102" y="288"/>
                    </a:cubicBezTo>
                    <a:close/>
                    <a:moveTo>
                      <a:pt x="48" y="276"/>
                    </a:moveTo>
                    <a:cubicBezTo>
                      <a:pt x="96" y="276"/>
                      <a:pt x="96" y="276"/>
                      <a:pt x="96" y="276"/>
                    </a:cubicBezTo>
                    <a:cubicBezTo>
                      <a:pt x="96" y="138"/>
                      <a:pt x="96" y="138"/>
                      <a:pt x="96" y="138"/>
                    </a:cubicBezTo>
                    <a:cubicBezTo>
                      <a:pt x="96" y="135"/>
                      <a:pt x="99" y="132"/>
                      <a:pt x="102" y="132"/>
                    </a:cubicBezTo>
                    <a:cubicBezTo>
                      <a:pt x="143" y="132"/>
                      <a:pt x="143" y="132"/>
                      <a:pt x="143" y="132"/>
                    </a:cubicBezTo>
                    <a:cubicBezTo>
                      <a:pt x="147" y="96"/>
                      <a:pt x="147" y="96"/>
                      <a:pt x="147" y="96"/>
                    </a:cubicBezTo>
                    <a:cubicBezTo>
                      <a:pt x="102" y="96"/>
                      <a:pt x="102" y="96"/>
                      <a:pt x="102" y="96"/>
                    </a:cubicBezTo>
                    <a:cubicBezTo>
                      <a:pt x="99" y="96"/>
                      <a:pt x="96" y="93"/>
                      <a:pt x="96" y="90"/>
                    </a:cubicBezTo>
                    <a:cubicBezTo>
                      <a:pt x="96" y="67"/>
                      <a:pt x="96" y="67"/>
                      <a:pt x="96" y="67"/>
                    </a:cubicBezTo>
                    <a:cubicBezTo>
                      <a:pt x="96" y="53"/>
                      <a:pt x="106" y="48"/>
                      <a:pt x="114" y="48"/>
                    </a:cubicBezTo>
                    <a:cubicBezTo>
                      <a:pt x="144" y="48"/>
                      <a:pt x="144" y="48"/>
                      <a:pt x="144" y="48"/>
                    </a:cubicBezTo>
                    <a:cubicBezTo>
                      <a:pt x="144" y="13"/>
                      <a:pt x="144" y="13"/>
                      <a:pt x="144" y="13"/>
                    </a:cubicBezTo>
                    <a:cubicBezTo>
                      <a:pt x="98" y="12"/>
                      <a:pt x="98" y="12"/>
                      <a:pt x="98" y="12"/>
                    </a:cubicBezTo>
                    <a:cubicBezTo>
                      <a:pt x="55" y="12"/>
                      <a:pt x="48" y="45"/>
                      <a:pt x="48" y="64"/>
                    </a:cubicBezTo>
                    <a:cubicBezTo>
                      <a:pt x="48" y="90"/>
                      <a:pt x="48" y="90"/>
                      <a:pt x="48" y="90"/>
                    </a:cubicBezTo>
                    <a:cubicBezTo>
                      <a:pt x="48" y="93"/>
                      <a:pt x="45" y="96"/>
                      <a:pt x="42" y="96"/>
                    </a:cubicBezTo>
                    <a:cubicBezTo>
                      <a:pt x="12" y="96"/>
                      <a:pt x="12" y="96"/>
                      <a:pt x="12" y="96"/>
                    </a:cubicBezTo>
                    <a:cubicBezTo>
                      <a:pt x="12" y="132"/>
                      <a:pt x="12" y="132"/>
                      <a:pt x="12" y="132"/>
                    </a:cubicBezTo>
                    <a:cubicBezTo>
                      <a:pt x="42" y="132"/>
                      <a:pt x="42" y="132"/>
                      <a:pt x="42" y="132"/>
                    </a:cubicBezTo>
                    <a:cubicBezTo>
                      <a:pt x="45" y="132"/>
                      <a:pt x="48" y="135"/>
                      <a:pt x="48" y="138"/>
                    </a:cubicBezTo>
                    <a:lnTo>
                      <a:pt x="48" y="27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nvGrpSpPr>
              <p:cNvPr id="17" name="Group 4">
                <a:extLst>
                  <a:ext uri="{FF2B5EF4-FFF2-40B4-BE49-F238E27FC236}">
                    <a16:creationId xmlns:a16="http://schemas.microsoft.com/office/drawing/2014/main" id="{896FDDBF-8A94-E582-A9D0-E87C80754CA2}"/>
                  </a:ext>
                </a:extLst>
              </p:cNvPr>
              <p:cNvGrpSpPr>
                <a:grpSpLocks noChangeAspect="1"/>
              </p:cNvGrpSpPr>
              <p:nvPr/>
            </p:nvGrpSpPr>
            <p:grpSpPr bwMode="auto">
              <a:xfrm>
                <a:off x="2028270" y="3202163"/>
                <a:ext cx="370946" cy="355271"/>
                <a:chOff x="348" y="448"/>
                <a:chExt cx="426" cy="408"/>
              </a:xfrm>
              <a:solidFill>
                <a:schemeClr val="tx1"/>
              </a:solidFill>
            </p:grpSpPr>
            <p:sp>
              <p:nvSpPr>
                <p:cNvPr id="348" name="Freeform 5">
                  <a:extLst>
                    <a:ext uri="{FF2B5EF4-FFF2-40B4-BE49-F238E27FC236}">
                      <a16:creationId xmlns:a16="http://schemas.microsoft.com/office/drawing/2014/main" id="{8A6F8177-BB39-8DCF-D306-D34D288F1E87}"/>
                    </a:ext>
                  </a:extLst>
                </p:cNvPr>
                <p:cNvSpPr>
                  <a:spLocks noEditPoints="1"/>
                </p:cNvSpPr>
                <p:nvPr/>
              </p:nvSpPr>
              <p:spPr bwMode="auto">
                <a:xfrm>
                  <a:off x="383" y="590"/>
                  <a:ext cx="267" cy="231"/>
                </a:xfrm>
                <a:custGeom>
                  <a:avLst/>
                  <a:gdLst>
                    <a:gd name="T0" fmla="*/ 108 w 180"/>
                    <a:gd name="T1" fmla="*/ 156 h 156"/>
                    <a:gd name="T2" fmla="*/ 72 w 180"/>
                    <a:gd name="T3" fmla="*/ 156 h 156"/>
                    <a:gd name="T4" fmla="*/ 0 w 180"/>
                    <a:gd name="T5" fmla="*/ 126 h 156"/>
                    <a:gd name="T6" fmla="*/ 0 w 180"/>
                    <a:gd name="T7" fmla="*/ 30 h 156"/>
                    <a:gd name="T8" fmla="*/ 72 w 180"/>
                    <a:gd name="T9" fmla="*/ 0 h 156"/>
                    <a:gd name="T10" fmla="*/ 108 w 180"/>
                    <a:gd name="T11" fmla="*/ 0 h 156"/>
                    <a:gd name="T12" fmla="*/ 180 w 180"/>
                    <a:gd name="T13" fmla="*/ 30 h 156"/>
                    <a:gd name="T14" fmla="*/ 180 w 180"/>
                    <a:gd name="T15" fmla="*/ 126 h 156"/>
                    <a:gd name="T16" fmla="*/ 108 w 180"/>
                    <a:gd name="T17" fmla="*/ 156 h 156"/>
                    <a:gd name="T18" fmla="*/ 72 w 180"/>
                    <a:gd name="T19" fmla="*/ 12 h 156"/>
                    <a:gd name="T20" fmla="*/ 12 w 180"/>
                    <a:gd name="T21" fmla="*/ 30 h 156"/>
                    <a:gd name="T22" fmla="*/ 12 w 180"/>
                    <a:gd name="T23" fmla="*/ 126 h 156"/>
                    <a:gd name="T24" fmla="*/ 72 w 180"/>
                    <a:gd name="T25" fmla="*/ 144 h 156"/>
                    <a:gd name="T26" fmla="*/ 108 w 180"/>
                    <a:gd name="T27" fmla="*/ 144 h 156"/>
                    <a:gd name="T28" fmla="*/ 168 w 180"/>
                    <a:gd name="T29" fmla="*/ 126 h 156"/>
                    <a:gd name="T30" fmla="*/ 168 w 180"/>
                    <a:gd name="T31" fmla="*/ 30 h 156"/>
                    <a:gd name="T32" fmla="*/ 108 w 180"/>
                    <a:gd name="T33" fmla="*/ 12 h 156"/>
                    <a:gd name="T34" fmla="*/ 72 w 180"/>
                    <a:gd name="T35"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0" h="156">
                      <a:moveTo>
                        <a:pt x="108" y="156"/>
                      </a:moveTo>
                      <a:cubicBezTo>
                        <a:pt x="72" y="156"/>
                        <a:pt x="72" y="156"/>
                        <a:pt x="72" y="156"/>
                      </a:cubicBezTo>
                      <a:cubicBezTo>
                        <a:pt x="54" y="156"/>
                        <a:pt x="0" y="156"/>
                        <a:pt x="0" y="126"/>
                      </a:cubicBezTo>
                      <a:cubicBezTo>
                        <a:pt x="0" y="30"/>
                        <a:pt x="0" y="30"/>
                        <a:pt x="0" y="30"/>
                      </a:cubicBezTo>
                      <a:cubicBezTo>
                        <a:pt x="0" y="0"/>
                        <a:pt x="54" y="0"/>
                        <a:pt x="72" y="0"/>
                      </a:cubicBezTo>
                      <a:cubicBezTo>
                        <a:pt x="108" y="0"/>
                        <a:pt x="108" y="0"/>
                        <a:pt x="108" y="0"/>
                      </a:cubicBezTo>
                      <a:cubicBezTo>
                        <a:pt x="126" y="0"/>
                        <a:pt x="180" y="0"/>
                        <a:pt x="180" y="30"/>
                      </a:cubicBezTo>
                      <a:cubicBezTo>
                        <a:pt x="180" y="126"/>
                        <a:pt x="180" y="126"/>
                        <a:pt x="180" y="126"/>
                      </a:cubicBezTo>
                      <a:cubicBezTo>
                        <a:pt x="180" y="156"/>
                        <a:pt x="126" y="156"/>
                        <a:pt x="108" y="156"/>
                      </a:cubicBezTo>
                      <a:close/>
                      <a:moveTo>
                        <a:pt x="72" y="12"/>
                      </a:moveTo>
                      <a:cubicBezTo>
                        <a:pt x="34" y="12"/>
                        <a:pt x="12" y="19"/>
                        <a:pt x="12" y="30"/>
                      </a:cubicBezTo>
                      <a:cubicBezTo>
                        <a:pt x="12" y="126"/>
                        <a:pt x="12" y="126"/>
                        <a:pt x="12" y="126"/>
                      </a:cubicBezTo>
                      <a:cubicBezTo>
                        <a:pt x="12" y="138"/>
                        <a:pt x="34" y="144"/>
                        <a:pt x="72" y="144"/>
                      </a:cubicBezTo>
                      <a:cubicBezTo>
                        <a:pt x="108" y="144"/>
                        <a:pt x="108" y="144"/>
                        <a:pt x="108" y="144"/>
                      </a:cubicBezTo>
                      <a:cubicBezTo>
                        <a:pt x="147" y="144"/>
                        <a:pt x="168" y="138"/>
                        <a:pt x="168" y="126"/>
                      </a:cubicBezTo>
                      <a:cubicBezTo>
                        <a:pt x="168" y="30"/>
                        <a:pt x="168" y="30"/>
                        <a:pt x="168" y="30"/>
                      </a:cubicBezTo>
                      <a:cubicBezTo>
                        <a:pt x="168" y="19"/>
                        <a:pt x="147" y="12"/>
                        <a:pt x="108" y="12"/>
                      </a:cubicBezTo>
                      <a:lnTo>
                        <a:pt x="7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349" name="Freeform 6">
                  <a:extLst>
                    <a:ext uri="{FF2B5EF4-FFF2-40B4-BE49-F238E27FC236}">
                      <a16:creationId xmlns:a16="http://schemas.microsoft.com/office/drawing/2014/main" id="{B092CF28-A707-DE82-7960-8A8AC4F041F7}"/>
                    </a:ext>
                  </a:extLst>
                </p:cNvPr>
                <p:cNvSpPr>
                  <a:spLocks/>
                </p:cNvSpPr>
                <p:nvPr/>
              </p:nvSpPr>
              <p:spPr bwMode="auto">
                <a:xfrm>
                  <a:off x="481" y="501"/>
                  <a:ext cx="161" cy="71"/>
                </a:xfrm>
                <a:custGeom>
                  <a:avLst/>
                  <a:gdLst>
                    <a:gd name="T0" fmla="*/ 103 w 109"/>
                    <a:gd name="T1" fmla="*/ 48 h 48"/>
                    <a:gd name="T2" fmla="*/ 97 w 109"/>
                    <a:gd name="T3" fmla="*/ 42 h 48"/>
                    <a:gd name="T4" fmla="*/ 97 w 109"/>
                    <a:gd name="T5" fmla="*/ 38 h 48"/>
                    <a:gd name="T6" fmla="*/ 54 w 109"/>
                    <a:gd name="T7" fmla="*/ 12 h 48"/>
                    <a:gd name="T8" fmla="*/ 12 w 109"/>
                    <a:gd name="T9" fmla="*/ 38 h 48"/>
                    <a:gd name="T10" fmla="*/ 12 w 109"/>
                    <a:gd name="T11" fmla="*/ 42 h 48"/>
                    <a:gd name="T12" fmla="*/ 6 w 109"/>
                    <a:gd name="T13" fmla="*/ 48 h 48"/>
                    <a:gd name="T14" fmla="*/ 0 w 109"/>
                    <a:gd name="T15" fmla="*/ 42 h 48"/>
                    <a:gd name="T16" fmla="*/ 0 w 109"/>
                    <a:gd name="T17" fmla="*/ 36 h 48"/>
                    <a:gd name="T18" fmla="*/ 0 w 109"/>
                    <a:gd name="T19" fmla="*/ 33 h 48"/>
                    <a:gd name="T20" fmla="*/ 54 w 109"/>
                    <a:gd name="T21" fmla="*/ 0 h 48"/>
                    <a:gd name="T22" fmla="*/ 108 w 109"/>
                    <a:gd name="T23" fmla="*/ 33 h 48"/>
                    <a:gd name="T24" fmla="*/ 109 w 109"/>
                    <a:gd name="T25" fmla="*/ 36 h 48"/>
                    <a:gd name="T26" fmla="*/ 109 w 109"/>
                    <a:gd name="T27" fmla="*/ 42 h 48"/>
                    <a:gd name="T28" fmla="*/ 103 w 109"/>
                    <a:gd name="T2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9" h="48">
                      <a:moveTo>
                        <a:pt x="103" y="48"/>
                      </a:moveTo>
                      <a:cubicBezTo>
                        <a:pt x="99" y="48"/>
                        <a:pt x="97" y="46"/>
                        <a:pt x="97" y="42"/>
                      </a:cubicBezTo>
                      <a:cubicBezTo>
                        <a:pt x="97" y="38"/>
                        <a:pt x="97" y="38"/>
                        <a:pt x="97" y="38"/>
                      </a:cubicBezTo>
                      <a:cubicBezTo>
                        <a:pt x="88" y="22"/>
                        <a:pt x="72" y="12"/>
                        <a:pt x="54" y="12"/>
                      </a:cubicBezTo>
                      <a:cubicBezTo>
                        <a:pt x="36" y="12"/>
                        <a:pt x="20" y="22"/>
                        <a:pt x="12" y="38"/>
                      </a:cubicBezTo>
                      <a:cubicBezTo>
                        <a:pt x="12" y="42"/>
                        <a:pt x="12" y="42"/>
                        <a:pt x="12" y="42"/>
                      </a:cubicBezTo>
                      <a:cubicBezTo>
                        <a:pt x="12" y="46"/>
                        <a:pt x="9" y="48"/>
                        <a:pt x="6" y="48"/>
                      </a:cubicBezTo>
                      <a:cubicBezTo>
                        <a:pt x="3" y="48"/>
                        <a:pt x="0" y="46"/>
                        <a:pt x="0" y="42"/>
                      </a:cubicBezTo>
                      <a:cubicBezTo>
                        <a:pt x="0" y="36"/>
                        <a:pt x="0" y="36"/>
                        <a:pt x="0" y="36"/>
                      </a:cubicBezTo>
                      <a:cubicBezTo>
                        <a:pt x="0" y="35"/>
                        <a:pt x="0" y="34"/>
                        <a:pt x="0" y="33"/>
                      </a:cubicBezTo>
                      <a:cubicBezTo>
                        <a:pt x="11" y="13"/>
                        <a:pt x="31" y="0"/>
                        <a:pt x="54" y="0"/>
                      </a:cubicBezTo>
                      <a:cubicBezTo>
                        <a:pt x="77" y="0"/>
                        <a:pt x="98" y="13"/>
                        <a:pt x="108" y="33"/>
                      </a:cubicBezTo>
                      <a:cubicBezTo>
                        <a:pt x="108" y="34"/>
                        <a:pt x="109" y="35"/>
                        <a:pt x="109" y="36"/>
                      </a:cubicBezTo>
                      <a:cubicBezTo>
                        <a:pt x="109" y="42"/>
                        <a:pt x="109" y="42"/>
                        <a:pt x="109" y="42"/>
                      </a:cubicBezTo>
                      <a:cubicBezTo>
                        <a:pt x="109" y="46"/>
                        <a:pt x="106" y="48"/>
                        <a:pt x="10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350" name="Freeform 7">
                  <a:extLst>
                    <a:ext uri="{FF2B5EF4-FFF2-40B4-BE49-F238E27FC236}">
                      <a16:creationId xmlns:a16="http://schemas.microsoft.com/office/drawing/2014/main" id="{29275137-295B-DB17-1171-D06C8E711B19}"/>
                    </a:ext>
                  </a:extLst>
                </p:cNvPr>
                <p:cNvSpPr>
                  <a:spLocks/>
                </p:cNvSpPr>
                <p:nvPr/>
              </p:nvSpPr>
              <p:spPr bwMode="auto">
                <a:xfrm>
                  <a:off x="588" y="448"/>
                  <a:ext cx="81" cy="80"/>
                </a:xfrm>
                <a:custGeom>
                  <a:avLst/>
                  <a:gdLst>
                    <a:gd name="T0" fmla="*/ 6 w 55"/>
                    <a:gd name="T1" fmla="*/ 54 h 54"/>
                    <a:gd name="T2" fmla="*/ 2 w 55"/>
                    <a:gd name="T3" fmla="*/ 52 h 54"/>
                    <a:gd name="T4" fmla="*/ 2 w 55"/>
                    <a:gd name="T5" fmla="*/ 44 h 54"/>
                    <a:gd name="T6" fmla="*/ 44 w 55"/>
                    <a:gd name="T7" fmla="*/ 2 h 54"/>
                    <a:gd name="T8" fmla="*/ 52 w 55"/>
                    <a:gd name="T9" fmla="*/ 2 h 54"/>
                    <a:gd name="T10" fmla="*/ 52 w 55"/>
                    <a:gd name="T11" fmla="*/ 10 h 54"/>
                    <a:gd name="T12" fmla="*/ 11 w 55"/>
                    <a:gd name="T13" fmla="*/ 52 h 54"/>
                    <a:gd name="T14" fmla="*/ 6 w 55"/>
                    <a:gd name="T15" fmla="*/ 54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54">
                      <a:moveTo>
                        <a:pt x="6" y="54"/>
                      </a:moveTo>
                      <a:cubicBezTo>
                        <a:pt x="5" y="54"/>
                        <a:pt x="3" y="53"/>
                        <a:pt x="2" y="52"/>
                      </a:cubicBezTo>
                      <a:cubicBezTo>
                        <a:pt x="0" y="50"/>
                        <a:pt x="0" y="46"/>
                        <a:pt x="2" y="44"/>
                      </a:cubicBezTo>
                      <a:cubicBezTo>
                        <a:pt x="44" y="2"/>
                        <a:pt x="44" y="2"/>
                        <a:pt x="44" y="2"/>
                      </a:cubicBezTo>
                      <a:cubicBezTo>
                        <a:pt x="46" y="0"/>
                        <a:pt x="50" y="0"/>
                        <a:pt x="52" y="2"/>
                      </a:cubicBezTo>
                      <a:cubicBezTo>
                        <a:pt x="55" y="4"/>
                        <a:pt x="55" y="8"/>
                        <a:pt x="52" y="10"/>
                      </a:cubicBezTo>
                      <a:cubicBezTo>
                        <a:pt x="11" y="52"/>
                        <a:pt x="11" y="52"/>
                        <a:pt x="11" y="52"/>
                      </a:cubicBezTo>
                      <a:cubicBezTo>
                        <a:pt x="10" y="53"/>
                        <a:pt x="8" y="54"/>
                        <a:pt x="6"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351" name="Freeform 8">
                  <a:extLst>
                    <a:ext uri="{FF2B5EF4-FFF2-40B4-BE49-F238E27FC236}">
                      <a16:creationId xmlns:a16="http://schemas.microsoft.com/office/drawing/2014/main" id="{0ACE8A26-33E2-C0E7-899A-6558FD4204DC}"/>
                    </a:ext>
                  </a:extLst>
                </p:cNvPr>
                <p:cNvSpPr>
                  <a:spLocks/>
                </p:cNvSpPr>
                <p:nvPr/>
              </p:nvSpPr>
              <p:spPr bwMode="auto">
                <a:xfrm>
                  <a:off x="454" y="448"/>
                  <a:ext cx="82" cy="80"/>
                </a:xfrm>
                <a:custGeom>
                  <a:avLst/>
                  <a:gdLst>
                    <a:gd name="T0" fmla="*/ 48 w 55"/>
                    <a:gd name="T1" fmla="*/ 54 h 54"/>
                    <a:gd name="T2" fmla="*/ 44 w 55"/>
                    <a:gd name="T3" fmla="*/ 52 h 54"/>
                    <a:gd name="T4" fmla="*/ 2 w 55"/>
                    <a:gd name="T5" fmla="*/ 10 h 54"/>
                    <a:gd name="T6" fmla="*/ 2 w 55"/>
                    <a:gd name="T7" fmla="*/ 2 h 54"/>
                    <a:gd name="T8" fmla="*/ 10 w 55"/>
                    <a:gd name="T9" fmla="*/ 2 h 54"/>
                    <a:gd name="T10" fmla="*/ 52 w 55"/>
                    <a:gd name="T11" fmla="*/ 44 h 54"/>
                    <a:gd name="T12" fmla="*/ 52 w 55"/>
                    <a:gd name="T13" fmla="*/ 52 h 54"/>
                    <a:gd name="T14" fmla="*/ 48 w 55"/>
                    <a:gd name="T15" fmla="*/ 54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54">
                      <a:moveTo>
                        <a:pt x="48" y="54"/>
                      </a:moveTo>
                      <a:cubicBezTo>
                        <a:pt x="46" y="54"/>
                        <a:pt x="45" y="53"/>
                        <a:pt x="44" y="52"/>
                      </a:cubicBezTo>
                      <a:cubicBezTo>
                        <a:pt x="2" y="10"/>
                        <a:pt x="2" y="10"/>
                        <a:pt x="2" y="10"/>
                      </a:cubicBezTo>
                      <a:cubicBezTo>
                        <a:pt x="0" y="8"/>
                        <a:pt x="0" y="4"/>
                        <a:pt x="2" y="2"/>
                      </a:cubicBezTo>
                      <a:cubicBezTo>
                        <a:pt x="4" y="0"/>
                        <a:pt x="8" y="0"/>
                        <a:pt x="10" y="2"/>
                      </a:cubicBezTo>
                      <a:cubicBezTo>
                        <a:pt x="52" y="44"/>
                        <a:pt x="52" y="44"/>
                        <a:pt x="52" y="44"/>
                      </a:cubicBezTo>
                      <a:cubicBezTo>
                        <a:pt x="55" y="46"/>
                        <a:pt x="55" y="50"/>
                        <a:pt x="52" y="52"/>
                      </a:cubicBezTo>
                      <a:cubicBezTo>
                        <a:pt x="51" y="53"/>
                        <a:pt x="50" y="54"/>
                        <a:pt x="4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352" name="Freeform 9">
                  <a:extLst>
                    <a:ext uri="{FF2B5EF4-FFF2-40B4-BE49-F238E27FC236}">
                      <a16:creationId xmlns:a16="http://schemas.microsoft.com/office/drawing/2014/main" id="{4325845D-A549-1B89-A924-243A363BAD13}"/>
                    </a:ext>
                  </a:extLst>
                </p:cNvPr>
                <p:cNvSpPr>
                  <a:spLocks noEditPoints="1"/>
                </p:cNvSpPr>
                <p:nvPr/>
              </p:nvSpPr>
              <p:spPr bwMode="auto">
                <a:xfrm>
                  <a:off x="348" y="554"/>
                  <a:ext cx="426" cy="302"/>
                </a:xfrm>
                <a:custGeom>
                  <a:avLst/>
                  <a:gdLst>
                    <a:gd name="T0" fmla="*/ 246 w 288"/>
                    <a:gd name="T1" fmla="*/ 204 h 204"/>
                    <a:gd name="T2" fmla="*/ 42 w 288"/>
                    <a:gd name="T3" fmla="*/ 204 h 204"/>
                    <a:gd name="T4" fmla="*/ 0 w 288"/>
                    <a:gd name="T5" fmla="*/ 162 h 204"/>
                    <a:gd name="T6" fmla="*/ 0 w 288"/>
                    <a:gd name="T7" fmla="*/ 42 h 204"/>
                    <a:gd name="T8" fmla="*/ 42 w 288"/>
                    <a:gd name="T9" fmla="*/ 0 h 204"/>
                    <a:gd name="T10" fmla="*/ 246 w 288"/>
                    <a:gd name="T11" fmla="*/ 0 h 204"/>
                    <a:gd name="T12" fmla="*/ 288 w 288"/>
                    <a:gd name="T13" fmla="*/ 42 h 204"/>
                    <a:gd name="T14" fmla="*/ 288 w 288"/>
                    <a:gd name="T15" fmla="*/ 162 h 204"/>
                    <a:gd name="T16" fmla="*/ 246 w 288"/>
                    <a:gd name="T17" fmla="*/ 204 h 204"/>
                    <a:gd name="T18" fmla="*/ 42 w 288"/>
                    <a:gd name="T19" fmla="*/ 12 h 204"/>
                    <a:gd name="T20" fmla="*/ 12 w 288"/>
                    <a:gd name="T21" fmla="*/ 42 h 204"/>
                    <a:gd name="T22" fmla="*/ 12 w 288"/>
                    <a:gd name="T23" fmla="*/ 162 h 204"/>
                    <a:gd name="T24" fmla="*/ 42 w 288"/>
                    <a:gd name="T25" fmla="*/ 192 h 204"/>
                    <a:gd name="T26" fmla="*/ 246 w 288"/>
                    <a:gd name="T27" fmla="*/ 192 h 204"/>
                    <a:gd name="T28" fmla="*/ 276 w 288"/>
                    <a:gd name="T29" fmla="*/ 162 h 204"/>
                    <a:gd name="T30" fmla="*/ 276 w 288"/>
                    <a:gd name="T31" fmla="*/ 42 h 204"/>
                    <a:gd name="T32" fmla="*/ 246 w 288"/>
                    <a:gd name="T33" fmla="*/ 12 h 204"/>
                    <a:gd name="T34" fmla="*/ 42 w 288"/>
                    <a:gd name="T35" fmla="*/ 1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8" h="204">
                      <a:moveTo>
                        <a:pt x="246" y="204"/>
                      </a:moveTo>
                      <a:cubicBezTo>
                        <a:pt x="42" y="204"/>
                        <a:pt x="42" y="204"/>
                        <a:pt x="42" y="204"/>
                      </a:cubicBezTo>
                      <a:cubicBezTo>
                        <a:pt x="19" y="204"/>
                        <a:pt x="0" y="185"/>
                        <a:pt x="0" y="162"/>
                      </a:cubicBezTo>
                      <a:cubicBezTo>
                        <a:pt x="0" y="42"/>
                        <a:pt x="0" y="42"/>
                        <a:pt x="0" y="42"/>
                      </a:cubicBezTo>
                      <a:cubicBezTo>
                        <a:pt x="0" y="19"/>
                        <a:pt x="19" y="0"/>
                        <a:pt x="42" y="0"/>
                      </a:cubicBezTo>
                      <a:cubicBezTo>
                        <a:pt x="246" y="0"/>
                        <a:pt x="246" y="0"/>
                        <a:pt x="246" y="0"/>
                      </a:cubicBezTo>
                      <a:cubicBezTo>
                        <a:pt x="269" y="0"/>
                        <a:pt x="288" y="19"/>
                        <a:pt x="288" y="42"/>
                      </a:cubicBezTo>
                      <a:cubicBezTo>
                        <a:pt x="288" y="162"/>
                        <a:pt x="288" y="162"/>
                        <a:pt x="288" y="162"/>
                      </a:cubicBezTo>
                      <a:cubicBezTo>
                        <a:pt x="288" y="185"/>
                        <a:pt x="269" y="204"/>
                        <a:pt x="246" y="204"/>
                      </a:cubicBezTo>
                      <a:close/>
                      <a:moveTo>
                        <a:pt x="42" y="12"/>
                      </a:moveTo>
                      <a:cubicBezTo>
                        <a:pt x="26" y="12"/>
                        <a:pt x="12" y="26"/>
                        <a:pt x="12" y="42"/>
                      </a:cubicBezTo>
                      <a:cubicBezTo>
                        <a:pt x="12" y="162"/>
                        <a:pt x="12" y="162"/>
                        <a:pt x="12" y="162"/>
                      </a:cubicBezTo>
                      <a:cubicBezTo>
                        <a:pt x="12" y="179"/>
                        <a:pt x="26" y="192"/>
                        <a:pt x="42" y="192"/>
                      </a:cubicBezTo>
                      <a:cubicBezTo>
                        <a:pt x="246" y="192"/>
                        <a:pt x="246" y="192"/>
                        <a:pt x="246" y="192"/>
                      </a:cubicBezTo>
                      <a:cubicBezTo>
                        <a:pt x="263" y="192"/>
                        <a:pt x="276" y="179"/>
                        <a:pt x="276" y="162"/>
                      </a:cubicBezTo>
                      <a:cubicBezTo>
                        <a:pt x="276" y="42"/>
                        <a:pt x="276" y="42"/>
                        <a:pt x="276" y="42"/>
                      </a:cubicBezTo>
                      <a:cubicBezTo>
                        <a:pt x="276" y="26"/>
                        <a:pt x="263" y="12"/>
                        <a:pt x="246" y="12"/>
                      </a:cubicBezTo>
                      <a:lnTo>
                        <a:pt x="4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353" name="Freeform 10">
                  <a:extLst>
                    <a:ext uri="{FF2B5EF4-FFF2-40B4-BE49-F238E27FC236}">
                      <a16:creationId xmlns:a16="http://schemas.microsoft.com/office/drawing/2014/main" id="{FC0B27A1-BB40-4A0F-EC91-398DCCCCD34C}"/>
                    </a:ext>
                  </a:extLst>
                </p:cNvPr>
                <p:cNvSpPr>
                  <a:spLocks noEditPoints="1"/>
                </p:cNvSpPr>
                <p:nvPr/>
              </p:nvSpPr>
              <p:spPr bwMode="auto">
                <a:xfrm>
                  <a:off x="668" y="608"/>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8" y="12"/>
                        <a:pt x="12" y="18"/>
                        <a:pt x="12" y="24"/>
                      </a:cubicBezTo>
                      <a:cubicBezTo>
                        <a:pt x="12" y="31"/>
                        <a:pt x="18"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354" name="Freeform 11">
                  <a:extLst>
                    <a:ext uri="{FF2B5EF4-FFF2-40B4-BE49-F238E27FC236}">
                      <a16:creationId xmlns:a16="http://schemas.microsoft.com/office/drawing/2014/main" id="{BB0097C9-F89B-53A5-6B74-331D42393034}"/>
                    </a:ext>
                  </a:extLst>
                </p:cNvPr>
                <p:cNvSpPr>
                  <a:spLocks noEditPoints="1"/>
                </p:cNvSpPr>
                <p:nvPr/>
              </p:nvSpPr>
              <p:spPr bwMode="auto">
                <a:xfrm>
                  <a:off x="668" y="696"/>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8" y="12"/>
                        <a:pt x="12" y="18"/>
                        <a:pt x="12" y="24"/>
                      </a:cubicBezTo>
                      <a:cubicBezTo>
                        <a:pt x="12" y="31"/>
                        <a:pt x="18"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grpSp>
          <p:grpSp>
            <p:nvGrpSpPr>
              <p:cNvPr id="18" name="Group 159">
                <a:extLst>
                  <a:ext uri="{FF2B5EF4-FFF2-40B4-BE49-F238E27FC236}">
                    <a16:creationId xmlns:a16="http://schemas.microsoft.com/office/drawing/2014/main" id="{E6692B98-AB0E-26D3-C6B3-765075658E98}"/>
                  </a:ext>
                </a:extLst>
              </p:cNvPr>
              <p:cNvGrpSpPr>
                <a:grpSpLocks noChangeAspect="1"/>
              </p:cNvGrpSpPr>
              <p:nvPr/>
            </p:nvGrpSpPr>
            <p:grpSpPr bwMode="auto">
              <a:xfrm>
                <a:off x="9154365" y="2472576"/>
                <a:ext cx="356833" cy="451070"/>
                <a:chOff x="3480" y="3000"/>
                <a:chExt cx="337" cy="426"/>
              </a:xfrm>
              <a:solidFill>
                <a:schemeClr val="tx1"/>
              </a:solidFill>
            </p:grpSpPr>
            <p:sp>
              <p:nvSpPr>
                <p:cNvPr id="338" name="Freeform 160">
                  <a:extLst>
                    <a:ext uri="{FF2B5EF4-FFF2-40B4-BE49-F238E27FC236}">
                      <a16:creationId xmlns:a16="http://schemas.microsoft.com/office/drawing/2014/main" id="{30063816-C4C8-FFC2-A910-41DBD8BF8F90}"/>
                    </a:ext>
                  </a:extLst>
                </p:cNvPr>
                <p:cNvSpPr>
                  <a:spLocks noEditPoints="1"/>
                </p:cNvSpPr>
                <p:nvPr/>
              </p:nvSpPr>
              <p:spPr bwMode="auto">
                <a:xfrm>
                  <a:off x="3480" y="3142"/>
                  <a:ext cx="195" cy="284"/>
                </a:xfrm>
                <a:custGeom>
                  <a:avLst/>
                  <a:gdLst>
                    <a:gd name="T0" fmla="*/ 126 w 132"/>
                    <a:gd name="T1" fmla="*/ 192 h 192"/>
                    <a:gd name="T2" fmla="*/ 6 w 132"/>
                    <a:gd name="T3" fmla="*/ 192 h 192"/>
                    <a:gd name="T4" fmla="*/ 0 w 132"/>
                    <a:gd name="T5" fmla="*/ 186 h 192"/>
                    <a:gd name="T6" fmla="*/ 0 w 132"/>
                    <a:gd name="T7" fmla="*/ 6 h 192"/>
                    <a:gd name="T8" fmla="*/ 6 w 132"/>
                    <a:gd name="T9" fmla="*/ 0 h 192"/>
                    <a:gd name="T10" fmla="*/ 126 w 132"/>
                    <a:gd name="T11" fmla="*/ 0 h 192"/>
                    <a:gd name="T12" fmla="*/ 132 w 132"/>
                    <a:gd name="T13" fmla="*/ 6 h 192"/>
                    <a:gd name="T14" fmla="*/ 132 w 132"/>
                    <a:gd name="T15" fmla="*/ 186 h 192"/>
                    <a:gd name="T16" fmla="*/ 126 w 132"/>
                    <a:gd name="T17" fmla="*/ 192 h 192"/>
                    <a:gd name="T18" fmla="*/ 12 w 132"/>
                    <a:gd name="T19" fmla="*/ 180 h 192"/>
                    <a:gd name="T20" fmla="*/ 120 w 132"/>
                    <a:gd name="T21" fmla="*/ 180 h 192"/>
                    <a:gd name="T22" fmla="*/ 120 w 132"/>
                    <a:gd name="T23" fmla="*/ 12 h 192"/>
                    <a:gd name="T24" fmla="*/ 12 w 132"/>
                    <a:gd name="T25" fmla="*/ 12 h 192"/>
                    <a:gd name="T26" fmla="*/ 12 w 132"/>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92">
                      <a:moveTo>
                        <a:pt x="126" y="192"/>
                      </a:moveTo>
                      <a:cubicBezTo>
                        <a:pt x="6" y="192"/>
                        <a:pt x="6" y="192"/>
                        <a:pt x="6" y="192"/>
                      </a:cubicBezTo>
                      <a:cubicBezTo>
                        <a:pt x="3" y="192"/>
                        <a:pt x="0" y="190"/>
                        <a:pt x="0" y="186"/>
                      </a:cubicBezTo>
                      <a:cubicBezTo>
                        <a:pt x="0" y="6"/>
                        <a:pt x="0" y="6"/>
                        <a:pt x="0" y="6"/>
                      </a:cubicBezTo>
                      <a:cubicBezTo>
                        <a:pt x="0" y="3"/>
                        <a:pt x="3" y="0"/>
                        <a:pt x="6" y="0"/>
                      </a:cubicBezTo>
                      <a:cubicBezTo>
                        <a:pt x="126" y="0"/>
                        <a:pt x="126" y="0"/>
                        <a:pt x="126" y="0"/>
                      </a:cubicBezTo>
                      <a:cubicBezTo>
                        <a:pt x="129" y="0"/>
                        <a:pt x="132" y="3"/>
                        <a:pt x="132" y="6"/>
                      </a:cubicBezTo>
                      <a:cubicBezTo>
                        <a:pt x="132" y="186"/>
                        <a:pt x="132" y="186"/>
                        <a:pt x="132" y="186"/>
                      </a:cubicBezTo>
                      <a:cubicBezTo>
                        <a:pt x="132" y="190"/>
                        <a:pt x="129" y="192"/>
                        <a:pt x="126" y="192"/>
                      </a:cubicBezTo>
                      <a:close/>
                      <a:moveTo>
                        <a:pt x="12" y="180"/>
                      </a:moveTo>
                      <a:cubicBezTo>
                        <a:pt x="120" y="180"/>
                        <a:pt x="120" y="180"/>
                        <a:pt x="120" y="180"/>
                      </a:cubicBezTo>
                      <a:cubicBezTo>
                        <a:pt x="120" y="12"/>
                        <a:pt x="120" y="12"/>
                        <a:pt x="120"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39" name="Freeform 161">
                  <a:extLst>
                    <a:ext uri="{FF2B5EF4-FFF2-40B4-BE49-F238E27FC236}">
                      <a16:creationId xmlns:a16="http://schemas.microsoft.com/office/drawing/2014/main" id="{350058ED-B3C9-9CCA-43A7-A7D8EB945479}"/>
                    </a:ext>
                  </a:extLst>
                </p:cNvPr>
                <p:cNvSpPr>
                  <a:spLocks noEditPoints="1"/>
                </p:cNvSpPr>
                <p:nvPr/>
              </p:nvSpPr>
              <p:spPr bwMode="auto">
                <a:xfrm>
                  <a:off x="3622" y="3000"/>
                  <a:ext cx="195" cy="426"/>
                </a:xfrm>
                <a:custGeom>
                  <a:avLst/>
                  <a:gdLst>
                    <a:gd name="T0" fmla="*/ 126 w 132"/>
                    <a:gd name="T1" fmla="*/ 288 h 288"/>
                    <a:gd name="T2" fmla="*/ 30 w 132"/>
                    <a:gd name="T3" fmla="*/ 288 h 288"/>
                    <a:gd name="T4" fmla="*/ 24 w 132"/>
                    <a:gd name="T5" fmla="*/ 282 h 288"/>
                    <a:gd name="T6" fmla="*/ 24 w 132"/>
                    <a:gd name="T7" fmla="*/ 108 h 288"/>
                    <a:gd name="T8" fmla="*/ 6 w 132"/>
                    <a:gd name="T9" fmla="*/ 108 h 288"/>
                    <a:gd name="T10" fmla="*/ 0 w 132"/>
                    <a:gd name="T11" fmla="*/ 102 h 288"/>
                    <a:gd name="T12" fmla="*/ 0 w 132"/>
                    <a:gd name="T13" fmla="*/ 6 h 288"/>
                    <a:gd name="T14" fmla="*/ 6 w 132"/>
                    <a:gd name="T15" fmla="*/ 0 h 288"/>
                    <a:gd name="T16" fmla="*/ 126 w 132"/>
                    <a:gd name="T17" fmla="*/ 0 h 288"/>
                    <a:gd name="T18" fmla="*/ 132 w 132"/>
                    <a:gd name="T19" fmla="*/ 6 h 288"/>
                    <a:gd name="T20" fmla="*/ 132 w 132"/>
                    <a:gd name="T21" fmla="*/ 282 h 288"/>
                    <a:gd name="T22" fmla="*/ 126 w 132"/>
                    <a:gd name="T23" fmla="*/ 288 h 288"/>
                    <a:gd name="T24" fmla="*/ 36 w 132"/>
                    <a:gd name="T25" fmla="*/ 276 h 288"/>
                    <a:gd name="T26" fmla="*/ 120 w 132"/>
                    <a:gd name="T27" fmla="*/ 276 h 288"/>
                    <a:gd name="T28" fmla="*/ 120 w 132"/>
                    <a:gd name="T29" fmla="*/ 12 h 288"/>
                    <a:gd name="T30" fmla="*/ 12 w 132"/>
                    <a:gd name="T31" fmla="*/ 12 h 288"/>
                    <a:gd name="T32" fmla="*/ 12 w 132"/>
                    <a:gd name="T33" fmla="*/ 96 h 288"/>
                    <a:gd name="T34" fmla="*/ 30 w 132"/>
                    <a:gd name="T35" fmla="*/ 96 h 288"/>
                    <a:gd name="T36" fmla="*/ 36 w 132"/>
                    <a:gd name="T37" fmla="*/ 102 h 288"/>
                    <a:gd name="T38" fmla="*/ 36 w 132"/>
                    <a:gd name="T39"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2" h="288">
                      <a:moveTo>
                        <a:pt x="126" y="288"/>
                      </a:moveTo>
                      <a:cubicBezTo>
                        <a:pt x="30" y="288"/>
                        <a:pt x="30" y="288"/>
                        <a:pt x="30" y="288"/>
                      </a:cubicBezTo>
                      <a:cubicBezTo>
                        <a:pt x="27" y="288"/>
                        <a:pt x="24" y="286"/>
                        <a:pt x="24" y="282"/>
                      </a:cubicBezTo>
                      <a:cubicBezTo>
                        <a:pt x="24" y="108"/>
                        <a:pt x="24" y="108"/>
                        <a:pt x="24" y="108"/>
                      </a:cubicBezTo>
                      <a:cubicBezTo>
                        <a:pt x="6" y="108"/>
                        <a:pt x="6" y="108"/>
                        <a:pt x="6" y="108"/>
                      </a:cubicBezTo>
                      <a:cubicBezTo>
                        <a:pt x="3" y="108"/>
                        <a:pt x="0" y="106"/>
                        <a:pt x="0" y="102"/>
                      </a:cubicBezTo>
                      <a:cubicBezTo>
                        <a:pt x="0" y="6"/>
                        <a:pt x="0" y="6"/>
                        <a:pt x="0" y="6"/>
                      </a:cubicBezTo>
                      <a:cubicBezTo>
                        <a:pt x="0" y="3"/>
                        <a:pt x="3" y="0"/>
                        <a:pt x="6" y="0"/>
                      </a:cubicBezTo>
                      <a:cubicBezTo>
                        <a:pt x="126" y="0"/>
                        <a:pt x="126" y="0"/>
                        <a:pt x="126" y="0"/>
                      </a:cubicBezTo>
                      <a:cubicBezTo>
                        <a:pt x="129" y="0"/>
                        <a:pt x="132" y="3"/>
                        <a:pt x="132" y="6"/>
                      </a:cubicBezTo>
                      <a:cubicBezTo>
                        <a:pt x="132" y="282"/>
                        <a:pt x="132" y="282"/>
                        <a:pt x="132" y="282"/>
                      </a:cubicBezTo>
                      <a:cubicBezTo>
                        <a:pt x="132" y="286"/>
                        <a:pt x="129" y="288"/>
                        <a:pt x="126" y="288"/>
                      </a:cubicBezTo>
                      <a:close/>
                      <a:moveTo>
                        <a:pt x="36" y="276"/>
                      </a:moveTo>
                      <a:cubicBezTo>
                        <a:pt x="120" y="276"/>
                        <a:pt x="120" y="276"/>
                        <a:pt x="120" y="276"/>
                      </a:cubicBezTo>
                      <a:cubicBezTo>
                        <a:pt x="120" y="12"/>
                        <a:pt x="120" y="12"/>
                        <a:pt x="120" y="12"/>
                      </a:cubicBezTo>
                      <a:cubicBezTo>
                        <a:pt x="12" y="12"/>
                        <a:pt x="12" y="12"/>
                        <a:pt x="12" y="12"/>
                      </a:cubicBezTo>
                      <a:cubicBezTo>
                        <a:pt x="12" y="96"/>
                        <a:pt x="12" y="96"/>
                        <a:pt x="12" y="96"/>
                      </a:cubicBezTo>
                      <a:cubicBezTo>
                        <a:pt x="30" y="96"/>
                        <a:pt x="30" y="96"/>
                        <a:pt x="30" y="96"/>
                      </a:cubicBezTo>
                      <a:cubicBezTo>
                        <a:pt x="33" y="96"/>
                        <a:pt x="36" y="99"/>
                        <a:pt x="36" y="102"/>
                      </a:cubicBezTo>
                      <a:lnTo>
                        <a:pt x="36"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40" name="Freeform 162">
                  <a:extLst>
                    <a:ext uri="{FF2B5EF4-FFF2-40B4-BE49-F238E27FC236}">
                      <a16:creationId xmlns:a16="http://schemas.microsoft.com/office/drawing/2014/main" id="{ECC9C89F-E065-E26E-74CD-5EA3A6A511BE}"/>
                    </a:ext>
                  </a:extLst>
                </p:cNvPr>
                <p:cNvSpPr>
                  <a:spLocks noEditPoints="1"/>
                </p:cNvSpPr>
                <p:nvPr/>
              </p:nvSpPr>
              <p:spPr bwMode="auto">
                <a:xfrm>
                  <a:off x="3711" y="3355"/>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42 w 48"/>
                    <a:gd name="T11" fmla="*/ 0 h 48"/>
                    <a:gd name="T12" fmla="*/ 48 w 48"/>
                    <a:gd name="T13" fmla="*/ 6 h 48"/>
                    <a:gd name="T14" fmla="*/ 48 w 48"/>
                    <a:gd name="T15" fmla="*/ 42 h 48"/>
                    <a:gd name="T16" fmla="*/ 42 w 48"/>
                    <a:gd name="T17" fmla="*/ 48 h 48"/>
                    <a:gd name="T18" fmla="*/ 12 w 48"/>
                    <a:gd name="T19" fmla="*/ 36 h 48"/>
                    <a:gd name="T20" fmla="*/ 36 w 48"/>
                    <a:gd name="T21" fmla="*/ 36 h 48"/>
                    <a:gd name="T22" fmla="*/ 36 w 48"/>
                    <a:gd name="T23" fmla="*/ 12 h 48"/>
                    <a:gd name="T24" fmla="*/ 12 w 48"/>
                    <a:gd name="T25" fmla="*/ 12 h 48"/>
                    <a:gd name="T26" fmla="*/ 12 w 48"/>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2" y="48"/>
                      </a:moveTo>
                      <a:cubicBezTo>
                        <a:pt x="6" y="48"/>
                        <a:pt x="6" y="48"/>
                        <a:pt x="6" y="48"/>
                      </a:cubicBezTo>
                      <a:cubicBezTo>
                        <a:pt x="3" y="48"/>
                        <a:pt x="0" y="46"/>
                        <a:pt x="0" y="42"/>
                      </a:cubicBezTo>
                      <a:cubicBezTo>
                        <a:pt x="0" y="6"/>
                        <a:pt x="0" y="6"/>
                        <a:pt x="0" y="6"/>
                      </a:cubicBezTo>
                      <a:cubicBezTo>
                        <a:pt x="0" y="3"/>
                        <a:pt x="3" y="0"/>
                        <a:pt x="6" y="0"/>
                      </a:cubicBezTo>
                      <a:cubicBezTo>
                        <a:pt x="42" y="0"/>
                        <a:pt x="42" y="0"/>
                        <a:pt x="42" y="0"/>
                      </a:cubicBezTo>
                      <a:cubicBezTo>
                        <a:pt x="45" y="0"/>
                        <a:pt x="48" y="3"/>
                        <a:pt x="48" y="6"/>
                      </a:cubicBezTo>
                      <a:cubicBezTo>
                        <a:pt x="48" y="42"/>
                        <a:pt x="48" y="42"/>
                        <a:pt x="48" y="42"/>
                      </a:cubicBezTo>
                      <a:cubicBezTo>
                        <a:pt x="48" y="46"/>
                        <a:pt x="45" y="48"/>
                        <a:pt x="42" y="48"/>
                      </a:cubicBezTo>
                      <a:close/>
                      <a:moveTo>
                        <a:pt x="12" y="36"/>
                      </a:moveTo>
                      <a:cubicBezTo>
                        <a:pt x="36" y="36"/>
                        <a:pt x="36" y="36"/>
                        <a:pt x="36" y="36"/>
                      </a:cubicBezTo>
                      <a:cubicBezTo>
                        <a:pt x="36" y="12"/>
                        <a:pt x="36" y="12"/>
                        <a:pt x="36"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41" name="Freeform 163">
                  <a:extLst>
                    <a:ext uri="{FF2B5EF4-FFF2-40B4-BE49-F238E27FC236}">
                      <a16:creationId xmlns:a16="http://schemas.microsoft.com/office/drawing/2014/main" id="{DCB89226-517B-CF3C-FB48-C19BFB575CBC}"/>
                    </a:ext>
                  </a:extLst>
                </p:cNvPr>
                <p:cNvSpPr>
                  <a:spLocks noEditPoints="1"/>
                </p:cNvSpPr>
                <p:nvPr/>
              </p:nvSpPr>
              <p:spPr bwMode="auto">
                <a:xfrm>
                  <a:off x="3515" y="3355"/>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42 w 48"/>
                    <a:gd name="T11" fmla="*/ 0 h 48"/>
                    <a:gd name="T12" fmla="*/ 48 w 48"/>
                    <a:gd name="T13" fmla="*/ 6 h 48"/>
                    <a:gd name="T14" fmla="*/ 48 w 48"/>
                    <a:gd name="T15" fmla="*/ 42 h 48"/>
                    <a:gd name="T16" fmla="*/ 42 w 48"/>
                    <a:gd name="T17" fmla="*/ 48 h 48"/>
                    <a:gd name="T18" fmla="*/ 12 w 48"/>
                    <a:gd name="T19" fmla="*/ 36 h 48"/>
                    <a:gd name="T20" fmla="*/ 36 w 48"/>
                    <a:gd name="T21" fmla="*/ 36 h 48"/>
                    <a:gd name="T22" fmla="*/ 36 w 48"/>
                    <a:gd name="T23" fmla="*/ 12 h 48"/>
                    <a:gd name="T24" fmla="*/ 12 w 48"/>
                    <a:gd name="T25" fmla="*/ 12 h 48"/>
                    <a:gd name="T26" fmla="*/ 12 w 48"/>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2" y="48"/>
                      </a:moveTo>
                      <a:cubicBezTo>
                        <a:pt x="6" y="48"/>
                        <a:pt x="6" y="48"/>
                        <a:pt x="6" y="48"/>
                      </a:cubicBezTo>
                      <a:cubicBezTo>
                        <a:pt x="3" y="48"/>
                        <a:pt x="0" y="46"/>
                        <a:pt x="0" y="42"/>
                      </a:cubicBezTo>
                      <a:cubicBezTo>
                        <a:pt x="0" y="6"/>
                        <a:pt x="0" y="6"/>
                        <a:pt x="0" y="6"/>
                      </a:cubicBezTo>
                      <a:cubicBezTo>
                        <a:pt x="0" y="3"/>
                        <a:pt x="3" y="0"/>
                        <a:pt x="6" y="0"/>
                      </a:cubicBezTo>
                      <a:cubicBezTo>
                        <a:pt x="42" y="0"/>
                        <a:pt x="42" y="0"/>
                        <a:pt x="42" y="0"/>
                      </a:cubicBezTo>
                      <a:cubicBezTo>
                        <a:pt x="45" y="0"/>
                        <a:pt x="48" y="3"/>
                        <a:pt x="48" y="6"/>
                      </a:cubicBezTo>
                      <a:cubicBezTo>
                        <a:pt x="48" y="42"/>
                        <a:pt x="48" y="42"/>
                        <a:pt x="48" y="42"/>
                      </a:cubicBezTo>
                      <a:cubicBezTo>
                        <a:pt x="48" y="46"/>
                        <a:pt x="45" y="48"/>
                        <a:pt x="42" y="48"/>
                      </a:cubicBezTo>
                      <a:close/>
                      <a:moveTo>
                        <a:pt x="12" y="36"/>
                      </a:moveTo>
                      <a:cubicBezTo>
                        <a:pt x="36" y="36"/>
                        <a:pt x="36" y="36"/>
                        <a:pt x="36" y="36"/>
                      </a:cubicBezTo>
                      <a:cubicBezTo>
                        <a:pt x="36" y="12"/>
                        <a:pt x="36" y="12"/>
                        <a:pt x="36"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42" name="Freeform 164">
                  <a:extLst>
                    <a:ext uri="{FF2B5EF4-FFF2-40B4-BE49-F238E27FC236}">
                      <a16:creationId xmlns:a16="http://schemas.microsoft.com/office/drawing/2014/main" id="{FFD2113B-F4F8-018A-A7CF-72CE62E98479}"/>
                    </a:ext>
                  </a:extLst>
                </p:cNvPr>
                <p:cNvSpPr>
                  <a:spLocks/>
                </p:cNvSpPr>
                <p:nvPr/>
              </p:nvSpPr>
              <p:spPr bwMode="auto">
                <a:xfrm>
                  <a:off x="3480" y="317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10"/>
                        <a:pt x="5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43" name="Freeform 165">
                  <a:extLst>
                    <a:ext uri="{FF2B5EF4-FFF2-40B4-BE49-F238E27FC236}">
                      <a16:creationId xmlns:a16="http://schemas.microsoft.com/office/drawing/2014/main" id="{42EC41FE-643C-14D0-6B79-DC7BF1C04943}"/>
                    </a:ext>
                  </a:extLst>
                </p:cNvPr>
                <p:cNvSpPr>
                  <a:spLocks/>
                </p:cNvSpPr>
                <p:nvPr/>
              </p:nvSpPr>
              <p:spPr bwMode="auto">
                <a:xfrm>
                  <a:off x="3480" y="3213"/>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44" name="Freeform 166">
                  <a:extLst>
                    <a:ext uri="{FF2B5EF4-FFF2-40B4-BE49-F238E27FC236}">
                      <a16:creationId xmlns:a16="http://schemas.microsoft.com/office/drawing/2014/main" id="{13C4B8BE-75DE-B138-4311-1593F9FB17F1}"/>
                    </a:ext>
                  </a:extLst>
                </p:cNvPr>
                <p:cNvSpPr>
                  <a:spLocks/>
                </p:cNvSpPr>
                <p:nvPr/>
              </p:nvSpPr>
              <p:spPr bwMode="auto">
                <a:xfrm>
                  <a:off x="3622" y="3071"/>
                  <a:ext cx="89" cy="18"/>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10"/>
                        <a:pt x="5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45" name="Freeform 167">
                  <a:extLst>
                    <a:ext uri="{FF2B5EF4-FFF2-40B4-BE49-F238E27FC236}">
                      <a16:creationId xmlns:a16="http://schemas.microsoft.com/office/drawing/2014/main" id="{6EC2F8E4-8BC3-D335-FDAE-3B7E128748CE}"/>
                    </a:ext>
                  </a:extLst>
                </p:cNvPr>
                <p:cNvSpPr>
                  <a:spLocks/>
                </p:cNvSpPr>
                <p:nvPr/>
              </p:nvSpPr>
              <p:spPr bwMode="auto">
                <a:xfrm>
                  <a:off x="3622" y="3036"/>
                  <a:ext cx="124" cy="18"/>
                </a:xfrm>
                <a:custGeom>
                  <a:avLst/>
                  <a:gdLst>
                    <a:gd name="T0" fmla="*/ 78 w 84"/>
                    <a:gd name="T1" fmla="*/ 12 h 12"/>
                    <a:gd name="T2" fmla="*/ 6 w 84"/>
                    <a:gd name="T3" fmla="*/ 12 h 12"/>
                    <a:gd name="T4" fmla="*/ 0 w 84"/>
                    <a:gd name="T5" fmla="*/ 6 h 12"/>
                    <a:gd name="T6" fmla="*/ 6 w 84"/>
                    <a:gd name="T7" fmla="*/ 0 h 12"/>
                    <a:gd name="T8" fmla="*/ 78 w 84"/>
                    <a:gd name="T9" fmla="*/ 0 h 12"/>
                    <a:gd name="T10" fmla="*/ 84 w 84"/>
                    <a:gd name="T11" fmla="*/ 6 h 12"/>
                    <a:gd name="T12" fmla="*/ 78 w 8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4" h="12">
                      <a:moveTo>
                        <a:pt x="78" y="12"/>
                      </a:moveTo>
                      <a:cubicBezTo>
                        <a:pt x="6" y="12"/>
                        <a:pt x="6" y="12"/>
                        <a:pt x="6" y="12"/>
                      </a:cubicBezTo>
                      <a:cubicBezTo>
                        <a:pt x="3" y="12"/>
                        <a:pt x="0" y="10"/>
                        <a:pt x="0" y="6"/>
                      </a:cubicBezTo>
                      <a:cubicBezTo>
                        <a:pt x="0" y="3"/>
                        <a:pt x="3" y="0"/>
                        <a:pt x="6" y="0"/>
                      </a:cubicBezTo>
                      <a:cubicBezTo>
                        <a:pt x="78" y="0"/>
                        <a:pt x="78" y="0"/>
                        <a:pt x="78" y="0"/>
                      </a:cubicBezTo>
                      <a:cubicBezTo>
                        <a:pt x="81" y="0"/>
                        <a:pt x="84" y="3"/>
                        <a:pt x="84" y="6"/>
                      </a:cubicBezTo>
                      <a:cubicBezTo>
                        <a:pt x="84" y="10"/>
                        <a:pt x="81"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46" name="Freeform 168">
                  <a:extLst>
                    <a:ext uri="{FF2B5EF4-FFF2-40B4-BE49-F238E27FC236}">
                      <a16:creationId xmlns:a16="http://schemas.microsoft.com/office/drawing/2014/main" id="{7BA3CC22-EA4D-9C51-9455-6882138E6725}"/>
                    </a:ext>
                  </a:extLst>
                </p:cNvPr>
                <p:cNvSpPr>
                  <a:spLocks/>
                </p:cNvSpPr>
                <p:nvPr/>
              </p:nvSpPr>
              <p:spPr bwMode="auto">
                <a:xfrm>
                  <a:off x="3622" y="3107"/>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47" name="Freeform 169">
                  <a:extLst>
                    <a:ext uri="{FF2B5EF4-FFF2-40B4-BE49-F238E27FC236}">
                      <a16:creationId xmlns:a16="http://schemas.microsoft.com/office/drawing/2014/main" id="{BE3725C4-2EEB-A128-FD1E-32E8633AEE6D}"/>
                    </a:ext>
                  </a:extLst>
                </p:cNvPr>
                <p:cNvSpPr>
                  <a:spLocks/>
                </p:cNvSpPr>
                <p:nvPr/>
              </p:nvSpPr>
              <p:spPr bwMode="auto">
                <a:xfrm>
                  <a:off x="3480" y="3249"/>
                  <a:ext cx="53" cy="17"/>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10"/>
                        <a:pt x="33"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19" name="Group 161">
                <a:extLst>
                  <a:ext uri="{FF2B5EF4-FFF2-40B4-BE49-F238E27FC236}">
                    <a16:creationId xmlns:a16="http://schemas.microsoft.com/office/drawing/2014/main" id="{B049F13A-DE4E-22E4-8A58-54E7531DAD3D}"/>
                  </a:ext>
                </a:extLst>
              </p:cNvPr>
              <p:cNvGrpSpPr>
                <a:grpSpLocks noChangeAspect="1"/>
              </p:cNvGrpSpPr>
              <p:nvPr/>
            </p:nvGrpSpPr>
            <p:grpSpPr bwMode="auto">
              <a:xfrm>
                <a:off x="7296608" y="2482375"/>
                <a:ext cx="397670" cy="416234"/>
                <a:chOff x="6550" y="2997"/>
                <a:chExt cx="407" cy="426"/>
              </a:xfrm>
              <a:solidFill>
                <a:schemeClr val="tx1"/>
              </a:solidFill>
            </p:grpSpPr>
            <p:sp>
              <p:nvSpPr>
                <p:cNvPr id="328" name="Freeform 162">
                  <a:extLst>
                    <a:ext uri="{FF2B5EF4-FFF2-40B4-BE49-F238E27FC236}">
                      <a16:creationId xmlns:a16="http://schemas.microsoft.com/office/drawing/2014/main" id="{EE5B5F9E-9679-D78E-8F82-D07F292DCC8D}"/>
                    </a:ext>
                  </a:extLst>
                </p:cNvPr>
                <p:cNvSpPr>
                  <a:spLocks noEditPoints="1"/>
                </p:cNvSpPr>
                <p:nvPr/>
              </p:nvSpPr>
              <p:spPr bwMode="auto">
                <a:xfrm>
                  <a:off x="6708" y="2997"/>
                  <a:ext cx="249" cy="426"/>
                </a:xfrm>
                <a:custGeom>
                  <a:avLst/>
                  <a:gdLst>
                    <a:gd name="T0" fmla="*/ 138 w 168"/>
                    <a:gd name="T1" fmla="*/ 288 h 288"/>
                    <a:gd name="T2" fmla="*/ 30 w 168"/>
                    <a:gd name="T3" fmla="*/ 288 h 288"/>
                    <a:gd name="T4" fmla="*/ 0 w 168"/>
                    <a:gd name="T5" fmla="*/ 258 h 288"/>
                    <a:gd name="T6" fmla="*/ 0 w 168"/>
                    <a:gd name="T7" fmla="*/ 30 h 288"/>
                    <a:gd name="T8" fmla="*/ 30 w 168"/>
                    <a:gd name="T9" fmla="*/ 0 h 288"/>
                    <a:gd name="T10" fmla="*/ 138 w 168"/>
                    <a:gd name="T11" fmla="*/ 0 h 288"/>
                    <a:gd name="T12" fmla="*/ 168 w 168"/>
                    <a:gd name="T13" fmla="*/ 30 h 288"/>
                    <a:gd name="T14" fmla="*/ 168 w 168"/>
                    <a:gd name="T15" fmla="*/ 258 h 288"/>
                    <a:gd name="T16" fmla="*/ 138 w 168"/>
                    <a:gd name="T17" fmla="*/ 288 h 288"/>
                    <a:gd name="T18" fmla="*/ 30 w 168"/>
                    <a:gd name="T19" fmla="*/ 12 h 288"/>
                    <a:gd name="T20" fmla="*/ 12 w 168"/>
                    <a:gd name="T21" fmla="*/ 30 h 288"/>
                    <a:gd name="T22" fmla="*/ 12 w 168"/>
                    <a:gd name="T23" fmla="*/ 258 h 288"/>
                    <a:gd name="T24" fmla="*/ 30 w 168"/>
                    <a:gd name="T25" fmla="*/ 276 h 288"/>
                    <a:gd name="T26" fmla="*/ 138 w 168"/>
                    <a:gd name="T27" fmla="*/ 276 h 288"/>
                    <a:gd name="T28" fmla="*/ 156 w 168"/>
                    <a:gd name="T29" fmla="*/ 258 h 288"/>
                    <a:gd name="T30" fmla="*/ 156 w 168"/>
                    <a:gd name="T31" fmla="*/ 30 h 288"/>
                    <a:gd name="T32" fmla="*/ 138 w 168"/>
                    <a:gd name="T33" fmla="*/ 12 h 288"/>
                    <a:gd name="T34" fmla="*/ 30 w 168"/>
                    <a:gd name="T35"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8" h="288">
                      <a:moveTo>
                        <a:pt x="138" y="288"/>
                      </a:moveTo>
                      <a:cubicBezTo>
                        <a:pt x="30" y="288"/>
                        <a:pt x="30" y="288"/>
                        <a:pt x="30" y="288"/>
                      </a:cubicBezTo>
                      <a:cubicBezTo>
                        <a:pt x="13" y="288"/>
                        <a:pt x="0" y="275"/>
                        <a:pt x="0" y="258"/>
                      </a:cubicBezTo>
                      <a:cubicBezTo>
                        <a:pt x="0" y="30"/>
                        <a:pt x="0" y="30"/>
                        <a:pt x="0" y="30"/>
                      </a:cubicBezTo>
                      <a:cubicBezTo>
                        <a:pt x="0" y="14"/>
                        <a:pt x="13" y="0"/>
                        <a:pt x="30" y="0"/>
                      </a:cubicBezTo>
                      <a:cubicBezTo>
                        <a:pt x="138" y="0"/>
                        <a:pt x="138" y="0"/>
                        <a:pt x="138" y="0"/>
                      </a:cubicBezTo>
                      <a:cubicBezTo>
                        <a:pt x="154" y="0"/>
                        <a:pt x="168" y="14"/>
                        <a:pt x="168" y="30"/>
                      </a:cubicBezTo>
                      <a:cubicBezTo>
                        <a:pt x="168" y="258"/>
                        <a:pt x="168" y="258"/>
                        <a:pt x="168" y="258"/>
                      </a:cubicBezTo>
                      <a:cubicBezTo>
                        <a:pt x="168" y="275"/>
                        <a:pt x="154" y="288"/>
                        <a:pt x="138" y="288"/>
                      </a:cubicBezTo>
                      <a:close/>
                      <a:moveTo>
                        <a:pt x="30" y="12"/>
                      </a:moveTo>
                      <a:cubicBezTo>
                        <a:pt x="20" y="12"/>
                        <a:pt x="12" y="20"/>
                        <a:pt x="12" y="30"/>
                      </a:cubicBezTo>
                      <a:cubicBezTo>
                        <a:pt x="12" y="258"/>
                        <a:pt x="12" y="258"/>
                        <a:pt x="12" y="258"/>
                      </a:cubicBezTo>
                      <a:cubicBezTo>
                        <a:pt x="12" y="268"/>
                        <a:pt x="20" y="276"/>
                        <a:pt x="30" y="276"/>
                      </a:cubicBezTo>
                      <a:cubicBezTo>
                        <a:pt x="138" y="276"/>
                        <a:pt x="138" y="276"/>
                        <a:pt x="138" y="276"/>
                      </a:cubicBezTo>
                      <a:cubicBezTo>
                        <a:pt x="148" y="276"/>
                        <a:pt x="156" y="268"/>
                        <a:pt x="156" y="258"/>
                      </a:cubicBezTo>
                      <a:cubicBezTo>
                        <a:pt x="156" y="30"/>
                        <a:pt x="156" y="30"/>
                        <a:pt x="156" y="30"/>
                      </a:cubicBezTo>
                      <a:cubicBezTo>
                        <a:pt x="156" y="20"/>
                        <a:pt x="148" y="12"/>
                        <a:pt x="138"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29" name="Freeform 163">
                  <a:extLst>
                    <a:ext uri="{FF2B5EF4-FFF2-40B4-BE49-F238E27FC236}">
                      <a16:creationId xmlns:a16="http://schemas.microsoft.com/office/drawing/2014/main" id="{CFED78DB-691F-772F-AD66-6BD7797474FB}"/>
                    </a:ext>
                  </a:extLst>
                </p:cNvPr>
                <p:cNvSpPr>
                  <a:spLocks/>
                </p:cNvSpPr>
                <p:nvPr/>
              </p:nvSpPr>
              <p:spPr bwMode="auto">
                <a:xfrm>
                  <a:off x="6708" y="3068"/>
                  <a:ext cx="249" cy="18"/>
                </a:xfrm>
                <a:custGeom>
                  <a:avLst/>
                  <a:gdLst>
                    <a:gd name="T0" fmla="*/ 162 w 168"/>
                    <a:gd name="T1" fmla="*/ 12 h 12"/>
                    <a:gd name="T2" fmla="*/ 6 w 168"/>
                    <a:gd name="T3" fmla="*/ 12 h 12"/>
                    <a:gd name="T4" fmla="*/ 0 w 168"/>
                    <a:gd name="T5" fmla="*/ 6 h 12"/>
                    <a:gd name="T6" fmla="*/ 6 w 168"/>
                    <a:gd name="T7" fmla="*/ 0 h 12"/>
                    <a:gd name="T8" fmla="*/ 162 w 168"/>
                    <a:gd name="T9" fmla="*/ 0 h 12"/>
                    <a:gd name="T10" fmla="*/ 168 w 168"/>
                    <a:gd name="T11" fmla="*/ 6 h 12"/>
                    <a:gd name="T12" fmla="*/ 162 w 16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68" h="12">
                      <a:moveTo>
                        <a:pt x="162" y="12"/>
                      </a:moveTo>
                      <a:cubicBezTo>
                        <a:pt x="6" y="12"/>
                        <a:pt x="6" y="12"/>
                        <a:pt x="6" y="12"/>
                      </a:cubicBezTo>
                      <a:cubicBezTo>
                        <a:pt x="3" y="12"/>
                        <a:pt x="0" y="10"/>
                        <a:pt x="0" y="6"/>
                      </a:cubicBezTo>
                      <a:cubicBezTo>
                        <a:pt x="0" y="3"/>
                        <a:pt x="3" y="0"/>
                        <a:pt x="6" y="0"/>
                      </a:cubicBezTo>
                      <a:cubicBezTo>
                        <a:pt x="162" y="0"/>
                        <a:pt x="162" y="0"/>
                        <a:pt x="162" y="0"/>
                      </a:cubicBezTo>
                      <a:cubicBezTo>
                        <a:pt x="165" y="0"/>
                        <a:pt x="168" y="3"/>
                        <a:pt x="168" y="6"/>
                      </a:cubicBezTo>
                      <a:cubicBezTo>
                        <a:pt x="168" y="10"/>
                        <a:pt x="165" y="12"/>
                        <a:pt x="16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30" name="Freeform 164">
                  <a:extLst>
                    <a:ext uri="{FF2B5EF4-FFF2-40B4-BE49-F238E27FC236}">
                      <a16:creationId xmlns:a16="http://schemas.microsoft.com/office/drawing/2014/main" id="{C9575F3E-2771-51B3-D10F-0657F870778F}"/>
                    </a:ext>
                  </a:extLst>
                </p:cNvPr>
                <p:cNvSpPr>
                  <a:spLocks/>
                </p:cNvSpPr>
                <p:nvPr/>
              </p:nvSpPr>
              <p:spPr bwMode="auto">
                <a:xfrm>
                  <a:off x="6708" y="3334"/>
                  <a:ext cx="249" cy="18"/>
                </a:xfrm>
                <a:custGeom>
                  <a:avLst/>
                  <a:gdLst>
                    <a:gd name="T0" fmla="*/ 162 w 168"/>
                    <a:gd name="T1" fmla="*/ 12 h 12"/>
                    <a:gd name="T2" fmla="*/ 6 w 168"/>
                    <a:gd name="T3" fmla="*/ 12 h 12"/>
                    <a:gd name="T4" fmla="*/ 0 w 168"/>
                    <a:gd name="T5" fmla="*/ 6 h 12"/>
                    <a:gd name="T6" fmla="*/ 6 w 168"/>
                    <a:gd name="T7" fmla="*/ 0 h 12"/>
                    <a:gd name="T8" fmla="*/ 162 w 168"/>
                    <a:gd name="T9" fmla="*/ 0 h 12"/>
                    <a:gd name="T10" fmla="*/ 168 w 168"/>
                    <a:gd name="T11" fmla="*/ 6 h 12"/>
                    <a:gd name="T12" fmla="*/ 162 w 16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68" h="12">
                      <a:moveTo>
                        <a:pt x="162" y="12"/>
                      </a:moveTo>
                      <a:cubicBezTo>
                        <a:pt x="6" y="12"/>
                        <a:pt x="6" y="12"/>
                        <a:pt x="6" y="12"/>
                      </a:cubicBezTo>
                      <a:cubicBezTo>
                        <a:pt x="3" y="12"/>
                        <a:pt x="0" y="10"/>
                        <a:pt x="0" y="6"/>
                      </a:cubicBezTo>
                      <a:cubicBezTo>
                        <a:pt x="0" y="3"/>
                        <a:pt x="3" y="0"/>
                        <a:pt x="6" y="0"/>
                      </a:cubicBezTo>
                      <a:cubicBezTo>
                        <a:pt x="162" y="0"/>
                        <a:pt x="162" y="0"/>
                        <a:pt x="162" y="0"/>
                      </a:cubicBezTo>
                      <a:cubicBezTo>
                        <a:pt x="165" y="0"/>
                        <a:pt x="168" y="3"/>
                        <a:pt x="168" y="6"/>
                      </a:cubicBezTo>
                      <a:cubicBezTo>
                        <a:pt x="168" y="10"/>
                        <a:pt x="165" y="12"/>
                        <a:pt x="16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31" name="Freeform 165">
                  <a:extLst>
                    <a:ext uri="{FF2B5EF4-FFF2-40B4-BE49-F238E27FC236}">
                      <a16:creationId xmlns:a16="http://schemas.microsoft.com/office/drawing/2014/main" id="{30B19D7B-36D3-7A2C-8010-813323AA1C38}"/>
                    </a:ext>
                  </a:extLst>
                </p:cNvPr>
                <p:cNvSpPr>
                  <a:spLocks/>
                </p:cNvSpPr>
                <p:nvPr/>
              </p:nvSpPr>
              <p:spPr bwMode="auto">
                <a:xfrm>
                  <a:off x="6779" y="3032"/>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32" name="Oval 166">
                  <a:extLst>
                    <a:ext uri="{FF2B5EF4-FFF2-40B4-BE49-F238E27FC236}">
                      <a16:creationId xmlns:a16="http://schemas.microsoft.com/office/drawing/2014/main" id="{52345989-1B69-D182-3933-99792C76EE2C}"/>
                    </a:ext>
                  </a:extLst>
                </p:cNvPr>
                <p:cNvSpPr>
                  <a:spLocks noChangeArrowheads="1"/>
                </p:cNvSpPr>
                <p:nvPr/>
              </p:nvSpPr>
              <p:spPr bwMode="auto">
                <a:xfrm>
                  <a:off x="6815" y="3361"/>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33" name="Freeform 167">
                  <a:extLst>
                    <a:ext uri="{FF2B5EF4-FFF2-40B4-BE49-F238E27FC236}">
                      <a16:creationId xmlns:a16="http://schemas.microsoft.com/office/drawing/2014/main" id="{7B37F3BF-B6CF-47BB-7EF5-D975D268CF20}"/>
                    </a:ext>
                  </a:extLst>
                </p:cNvPr>
                <p:cNvSpPr>
                  <a:spLocks/>
                </p:cNvSpPr>
                <p:nvPr/>
              </p:nvSpPr>
              <p:spPr bwMode="auto">
                <a:xfrm>
                  <a:off x="6616" y="3053"/>
                  <a:ext cx="95" cy="314"/>
                </a:xfrm>
                <a:custGeom>
                  <a:avLst/>
                  <a:gdLst>
                    <a:gd name="T0" fmla="*/ 54 w 64"/>
                    <a:gd name="T1" fmla="*/ 212 h 212"/>
                    <a:gd name="T2" fmla="*/ 55 w 64"/>
                    <a:gd name="T3" fmla="*/ 0 h 212"/>
                    <a:gd name="T4" fmla="*/ 63 w 64"/>
                    <a:gd name="T5" fmla="*/ 8 h 212"/>
                    <a:gd name="T6" fmla="*/ 64 w 64"/>
                    <a:gd name="T7" fmla="*/ 204 h 212"/>
                    <a:gd name="T8" fmla="*/ 54 w 64"/>
                    <a:gd name="T9" fmla="*/ 212 h 212"/>
                  </a:gdLst>
                  <a:ahLst/>
                  <a:cxnLst>
                    <a:cxn ang="0">
                      <a:pos x="T0" y="T1"/>
                    </a:cxn>
                    <a:cxn ang="0">
                      <a:pos x="T2" y="T3"/>
                    </a:cxn>
                    <a:cxn ang="0">
                      <a:pos x="T4" y="T5"/>
                    </a:cxn>
                    <a:cxn ang="0">
                      <a:pos x="T6" y="T7"/>
                    </a:cxn>
                    <a:cxn ang="0">
                      <a:pos x="T8" y="T9"/>
                    </a:cxn>
                  </a:cxnLst>
                  <a:rect l="0" t="0" r="r" b="b"/>
                  <a:pathLst>
                    <a:path w="64" h="212">
                      <a:moveTo>
                        <a:pt x="54" y="212"/>
                      </a:moveTo>
                      <a:cubicBezTo>
                        <a:pt x="0" y="139"/>
                        <a:pt x="0" y="60"/>
                        <a:pt x="55" y="0"/>
                      </a:cubicBezTo>
                      <a:cubicBezTo>
                        <a:pt x="63" y="8"/>
                        <a:pt x="63" y="8"/>
                        <a:pt x="63" y="8"/>
                      </a:cubicBezTo>
                      <a:cubicBezTo>
                        <a:pt x="12" y="64"/>
                        <a:pt x="12" y="136"/>
                        <a:pt x="64" y="204"/>
                      </a:cubicBezTo>
                      <a:lnTo>
                        <a:pt x="54" y="2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34" name="Rectangle 168">
                  <a:extLst>
                    <a:ext uri="{FF2B5EF4-FFF2-40B4-BE49-F238E27FC236}">
                      <a16:creationId xmlns:a16="http://schemas.microsoft.com/office/drawing/2014/main" id="{15C3310F-E3FF-2047-0A81-461FB4B51F70}"/>
                    </a:ext>
                  </a:extLst>
                </p:cNvPr>
                <p:cNvSpPr>
                  <a:spLocks noChangeArrowheads="1"/>
                </p:cNvSpPr>
                <p:nvPr/>
              </p:nvSpPr>
              <p:spPr bwMode="auto">
                <a:xfrm>
                  <a:off x="6573" y="3263"/>
                  <a:ext cx="14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35" name="Rectangle 169">
                  <a:extLst>
                    <a:ext uri="{FF2B5EF4-FFF2-40B4-BE49-F238E27FC236}">
                      <a16:creationId xmlns:a16="http://schemas.microsoft.com/office/drawing/2014/main" id="{65B58D07-9B55-686A-0282-D8F3261262B5}"/>
                    </a:ext>
                  </a:extLst>
                </p:cNvPr>
                <p:cNvSpPr>
                  <a:spLocks noChangeArrowheads="1"/>
                </p:cNvSpPr>
                <p:nvPr/>
              </p:nvSpPr>
              <p:spPr bwMode="auto">
                <a:xfrm>
                  <a:off x="6581" y="3121"/>
                  <a:ext cx="13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36" name="Rectangle 170">
                  <a:extLst>
                    <a:ext uri="{FF2B5EF4-FFF2-40B4-BE49-F238E27FC236}">
                      <a16:creationId xmlns:a16="http://schemas.microsoft.com/office/drawing/2014/main" id="{299D8A49-6D56-A979-8B10-EA9F54454BD5}"/>
                    </a:ext>
                  </a:extLst>
                </p:cNvPr>
                <p:cNvSpPr>
                  <a:spLocks noChangeArrowheads="1"/>
                </p:cNvSpPr>
                <p:nvPr/>
              </p:nvSpPr>
              <p:spPr bwMode="auto">
                <a:xfrm>
                  <a:off x="6559" y="3192"/>
                  <a:ext cx="15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37" name="Freeform 171">
                  <a:extLst>
                    <a:ext uri="{FF2B5EF4-FFF2-40B4-BE49-F238E27FC236}">
                      <a16:creationId xmlns:a16="http://schemas.microsoft.com/office/drawing/2014/main" id="{76092D49-49B4-F3DF-762E-58788C5CADCE}"/>
                    </a:ext>
                  </a:extLst>
                </p:cNvPr>
                <p:cNvSpPr>
                  <a:spLocks noEditPoints="1"/>
                </p:cNvSpPr>
                <p:nvPr/>
              </p:nvSpPr>
              <p:spPr bwMode="auto">
                <a:xfrm>
                  <a:off x="6550" y="3050"/>
                  <a:ext cx="176" cy="320"/>
                </a:xfrm>
                <a:custGeom>
                  <a:avLst/>
                  <a:gdLst>
                    <a:gd name="T0" fmla="*/ 108 w 119"/>
                    <a:gd name="T1" fmla="*/ 216 h 216"/>
                    <a:gd name="T2" fmla="*/ 0 w 119"/>
                    <a:gd name="T3" fmla="*/ 106 h 216"/>
                    <a:gd name="T4" fmla="*/ 108 w 119"/>
                    <a:gd name="T5" fmla="*/ 0 h 216"/>
                    <a:gd name="T6" fmla="*/ 111 w 119"/>
                    <a:gd name="T7" fmla="*/ 0 h 216"/>
                    <a:gd name="T8" fmla="*/ 113 w 119"/>
                    <a:gd name="T9" fmla="*/ 0 h 216"/>
                    <a:gd name="T10" fmla="*/ 119 w 119"/>
                    <a:gd name="T11" fmla="*/ 6 h 216"/>
                    <a:gd name="T12" fmla="*/ 119 w 119"/>
                    <a:gd name="T13" fmla="*/ 210 h 216"/>
                    <a:gd name="T14" fmla="*/ 113 w 119"/>
                    <a:gd name="T15" fmla="*/ 216 h 216"/>
                    <a:gd name="T16" fmla="*/ 112 w 119"/>
                    <a:gd name="T17" fmla="*/ 216 h 216"/>
                    <a:gd name="T18" fmla="*/ 108 w 119"/>
                    <a:gd name="T19" fmla="*/ 216 h 216"/>
                    <a:gd name="T20" fmla="*/ 107 w 119"/>
                    <a:gd name="T21" fmla="*/ 12 h 216"/>
                    <a:gd name="T22" fmla="*/ 12 w 119"/>
                    <a:gd name="T23" fmla="*/ 106 h 216"/>
                    <a:gd name="T24" fmla="*/ 107 w 119"/>
                    <a:gd name="T25" fmla="*/ 204 h 216"/>
                    <a:gd name="T26" fmla="*/ 107 w 119"/>
                    <a:gd name="T27" fmla="*/ 1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16">
                      <a:moveTo>
                        <a:pt x="108" y="216"/>
                      </a:moveTo>
                      <a:cubicBezTo>
                        <a:pt x="49" y="216"/>
                        <a:pt x="0" y="167"/>
                        <a:pt x="0" y="106"/>
                      </a:cubicBezTo>
                      <a:cubicBezTo>
                        <a:pt x="0" y="47"/>
                        <a:pt x="48" y="0"/>
                        <a:pt x="108" y="0"/>
                      </a:cubicBezTo>
                      <a:cubicBezTo>
                        <a:pt x="109" y="0"/>
                        <a:pt x="110" y="0"/>
                        <a:pt x="111" y="0"/>
                      </a:cubicBezTo>
                      <a:cubicBezTo>
                        <a:pt x="112" y="0"/>
                        <a:pt x="113" y="0"/>
                        <a:pt x="113" y="0"/>
                      </a:cubicBezTo>
                      <a:cubicBezTo>
                        <a:pt x="116" y="1"/>
                        <a:pt x="119" y="3"/>
                        <a:pt x="119" y="6"/>
                      </a:cubicBezTo>
                      <a:cubicBezTo>
                        <a:pt x="119" y="210"/>
                        <a:pt x="119" y="210"/>
                        <a:pt x="119" y="210"/>
                      </a:cubicBezTo>
                      <a:cubicBezTo>
                        <a:pt x="119" y="213"/>
                        <a:pt x="116" y="216"/>
                        <a:pt x="113" y="216"/>
                      </a:cubicBezTo>
                      <a:cubicBezTo>
                        <a:pt x="112" y="216"/>
                        <a:pt x="112" y="216"/>
                        <a:pt x="112" y="216"/>
                      </a:cubicBezTo>
                      <a:cubicBezTo>
                        <a:pt x="110" y="216"/>
                        <a:pt x="109" y="216"/>
                        <a:pt x="108" y="216"/>
                      </a:cubicBezTo>
                      <a:close/>
                      <a:moveTo>
                        <a:pt x="107" y="12"/>
                      </a:moveTo>
                      <a:cubicBezTo>
                        <a:pt x="54" y="13"/>
                        <a:pt x="12" y="54"/>
                        <a:pt x="12" y="106"/>
                      </a:cubicBezTo>
                      <a:cubicBezTo>
                        <a:pt x="12" y="160"/>
                        <a:pt x="55" y="204"/>
                        <a:pt x="107" y="204"/>
                      </a:cubicBezTo>
                      <a:lnTo>
                        <a:pt x="107"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20" name="Group 207">
                <a:extLst>
                  <a:ext uri="{FF2B5EF4-FFF2-40B4-BE49-F238E27FC236}">
                    <a16:creationId xmlns:a16="http://schemas.microsoft.com/office/drawing/2014/main" id="{0AC4C50A-5F12-0E81-197D-021A46A84BBE}"/>
                  </a:ext>
                </a:extLst>
              </p:cNvPr>
              <p:cNvGrpSpPr>
                <a:grpSpLocks noChangeAspect="1"/>
              </p:cNvGrpSpPr>
              <p:nvPr/>
            </p:nvGrpSpPr>
            <p:grpSpPr bwMode="auto">
              <a:xfrm>
                <a:off x="10988747" y="2482386"/>
                <a:ext cx="397669" cy="315137"/>
                <a:chOff x="1370" y="3044"/>
                <a:chExt cx="424" cy="336"/>
              </a:xfrm>
              <a:solidFill>
                <a:schemeClr val="tx1"/>
              </a:solidFill>
            </p:grpSpPr>
            <p:sp>
              <p:nvSpPr>
                <p:cNvPr id="315" name="Freeform 208">
                  <a:extLst>
                    <a:ext uri="{FF2B5EF4-FFF2-40B4-BE49-F238E27FC236}">
                      <a16:creationId xmlns:a16="http://schemas.microsoft.com/office/drawing/2014/main" id="{E4F600D0-4D7B-BC9C-5418-8372E90B47B7}"/>
                    </a:ext>
                  </a:extLst>
                </p:cNvPr>
                <p:cNvSpPr>
                  <a:spLocks/>
                </p:cNvSpPr>
                <p:nvPr/>
              </p:nvSpPr>
              <p:spPr bwMode="auto">
                <a:xfrm>
                  <a:off x="1627" y="3291"/>
                  <a:ext cx="160" cy="53"/>
                </a:xfrm>
                <a:custGeom>
                  <a:avLst/>
                  <a:gdLst>
                    <a:gd name="T0" fmla="*/ 87 w 108"/>
                    <a:gd name="T1" fmla="*/ 36 h 36"/>
                    <a:gd name="T2" fmla="*/ 6 w 108"/>
                    <a:gd name="T3" fmla="*/ 36 h 36"/>
                    <a:gd name="T4" fmla="*/ 0 w 108"/>
                    <a:gd name="T5" fmla="*/ 30 h 36"/>
                    <a:gd name="T6" fmla="*/ 6 w 108"/>
                    <a:gd name="T7" fmla="*/ 24 h 36"/>
                    <a:gd name="T8" fmla="*/ 87 w 108"/>
                    <a:gd name="T9" fmla="*/ 24 h 36"/>
                    <a:gd name="T10" fmla="*/ 96 w 108"/>
                    <a:gd name="T11" fmla="*/ 18 h 36"/>
                    <a:gd name="T12" fmla="*/ 87 w 108"/>
                    <a:gd name="T13" fmla="*/ 12 h 36"/>
                    <a:gd name="T14" fmla="*/ 42 w 108"/>
                    <a:gd name="T15" fmla="*/ 12 h 36"/>
                    <a:gd name="T16" fmla="*/ 36 w 108"/>
                    <a:gd name="T17" fmla="*/ 6 h 36"/>
                    <a:gd name="T18" fmla="*/ 42 w 108"/>
                    <a:gd name="T19" fmla="*/ 0 h 36"/>
                    <a:gd name="T20" fmla="*/ 87 w 108"/>
                    <a:gd name="T21" fmla="*/ 0 h 36"/>
                    <a:gd name="T22" fmla="*/ 108 w 108"/>
                    <a:gd name="T23" fmla="*/ 18 h 36"/>
                    <a:gd name="T24" fmla="*/ 87 w 108"/>
                    <a:gd name="T25"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8" h="36">
                      <a:moveTo>
                        <a:pt x="87" y="36"/>
                      </a:moveTo>
                      <a:cubicBezTo>
                        <a:pt x="6" y="36"/>
                        <a:pt x="6" y="36"/>
                        <a:pt x="6" y="36"/>
                      </a:cubicBezTo>
                      <a:cubicBezTo>
                        <a:pt x="2" y="36"/>
                        <a:pt x="0" y="33"/>
                        <a:pt x="0" y="30"/>
                      </a:cubicBezTo>
                      <a:cubicBezTo>
                        <a:pt x="0" y="26"/>
                        <a:pt x="2" y="24"/>
                        <a:pt x="6" y="24"/>
                      </a:cubicBezTo>
                      <a:cubicBezTo>
                        <a:pt x="87" y="24"/>
                        <a:pt x="87" y="24"/>
                        <a:pt x="87" y="24"/>
                      </a:cubicBezTo>
                      <a:cubicBezTo>
                        <a:pt x="93" y="24"/>
                        <a:pt x="96" y="21"/>
                        <a:pt x="96" y="18"/>
                      </a:cubicBezTo>
                      <a:cubicBezTo>
                        <a:pt x="96" y="15"/>
                        <a:pt x="93" y="12"/>
                        <a:pt x="87" y="12"/>
                      </a:cubicBezTo>
                      <a:cubicBezTo>
                        <a:pt x="42" y="12"/>
                        <a:pt x="42" y="12"/>
                        <a:pt x="42" y="12"/>
                      </a:cubicBezTo>
                      <a:cubicBezTo>
                        <a:pt x="38" y="12"/>
                        <a:pt x="36" y="9"/>
                        <a:pt x="36" y="6"/>
                      </a:cubicBezTo>
                      <a:cubicBezTo>
                        <a:pt x="36" y="2"/>
                        <a:pt x="38" y="0"/>
                        <a:pt x="42" y="0"/>
                      </a:cubicBezTo>
                      <a:cubicBezTo>
                        <a:pt x="87" y="0"/>
                        <a:pt x="87" y="0"/>
                        <a:pt x="87" y="0"/>
                      </a:cubicBezTo>
                      <a:cubicBezTo>
                        <a:pt x="100" y="0"/>
                        <a:pt x="108" y="9"/>
                        <a:pt x="108" y="18"/>
                      </a:cubicBezTo>
                      <a:cubicBezTo>
                        <a:pt x="108" y="27"/>
                        <a:pt x="100" y="36"/>
                        <a:pt x="87"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16" name="Freeform 209">
                  <a:extLst>
                    <a:ext uri="{FF2B5EF4-FFF2-40B4-BE49-F238E27FC236}">
                      <a16:creationId xmlns:a16="http://schemas.microsoft.com/office/drawing/2014/main" id="{FF34D622-DB4E-CB23-8549-E93064894DE1}"/>
                    </a:ext>
                  </a:extLst>
                </p:cNvPr>
                <p:cNvSpPr>
                  <a:spLocks/>
                </p:cNvSpPr>
                <p:nvPr/>
              </p:nvSpPr>
              <p:spPr bwMode="auto">
                <a:xfrm>
                  <a:off x="1370" y="3185"/>
                  <a:ext cx="337" cy="195"/>
                </a:xfrm>
                <a:custGeom>
                  <a:avLst/>
                  <a:gdLst>
                    <a:gd name="T0" fmla="*/ 201 w 228"/>
                    <a:gd name="T1" fmla="*/ 132 h 132"/>
                    <a:gd name="T2" fmla="*/ 165 w 228"/>
                    <a:gd name="T3" fmla="*/ 132 h 132"/>
                    <a:gd name="T4" fmla="*/ 111 w 228"/>
                    <a:gd name="T5" fmla="*/ 108 h 132"/>
                    <a:gd name="T6" fmla="*/ 6 w 228"/>
                    <a:gd name="T7" fmla="*/ 108 h 132"/>
                    <a:gd name="T8" fmla="*/ 0 w 228"/>
                    <a:gd name="T9" fmla="*/ 102 h 132"/>
                    <a:gd name="T10" fmla="*/ 0 w 228"/>
                    <a:gd name="T11" fmla="*/ 18 h 132"/>
                    <a:gd name="T12" fmla="*/ 6 w 228"/>
                    <a:gd name="T13" fmla="*/ 12 h 132"/>
                    <a:gd name="T14" fmla="*/ 112 w 228"/>
                    <a:gd name="T15" fmla="*/ 12 h 132"/>
                    <a:gd name="T16" fmla="*/ 165 w 228"/>
                    <a:gd name="T17" fmla="*/ 0 h 132"/>
                    <a:gd name="T18" fmla="*/ 204 w 228"/>
                    <a:gd name="T19" fmla="*/ 0 h 132"/>
                    <a:gd name="T20" fmla="*/ 210 w 228"/>
                    <a:gd name="T21" fmla="*/ 6 h 132"/>
                    <a:gd name="T22" fmla="*/ 204 w 228"/>
                    <a:gd name="T23" fmla="*/ 12 h 132"/>
                    <a:gd name="T24" fmla="*/ 165 w 228"/>
                    <a:gd name="T25" fmla="*/ 12 h 132"/>
                    <a:gd name="T26" fmla="*/ 117 w 228"/>
                    <a:gd name="T27" fmla="*/ 23 h 132"/>
                    <a:gd name="T28" fmla="*/ 114 w 228"/>
                    <a:gd name="T29" fmla="*/ 24 h 132"/>
                    <a:gd name="T30" fmla="*/ 12 w 228"/>
                    <a:gd name="T31" fmla="*/ 24 h 132"/>
                    <a:gd name="T32" fmla="*/ 12 w 228"/>
                    <a:gd name="T33" fmla="*/ 96 h 132"/>
                    <a:gd name="T34" fmla="*/ 114 w 228"/>
                    <a:gd name="T35" fmla="*/ 96 h 132"/>
                    <a:gd name="T36" fmla="*/ 118 w 228"/>
                    <a:gd name="T37" fmla="*/ 97 h 132"/>
                    <a:gd name="T38" fmla="*/ 165 w 228"/>
                    <a:gd name="T39" fmla="*/ 120 h 132"/>
                    <a:gd name="T40" fmla="*/ 201 w 228"/>
                    <a:gd name="T41" fmla="*/ 120 h 132"/>
                    <a:gd name="T42" fmla="*/ 216 w 228"/>
                    <a:gd name="T43" fmla="*/ 108 h 132"/>
                    <a:gd name="T44" fmla="*/ 216 w 228"/>
                    <a:gd name="T45" fmla="*/ 102 h 132"/>
                    <a:gd name="T46" fmla="*/ 222 w 228"/>
                    <a:gd name="T47" fmla="*/ 96 h 132"/>
                    <a:gd name="T48" fmla="*/ 228 w 228"/>
                    <a:gd name="T49" fmla="*/ 102 h 132"/>
                    <a:gd name="T50" fmla="*/ 228 w 228"/>
                    <a:gd name="T51" fmla="*/ 108 h 132"/>
                    <a:gd name="T52" fmla="*/ 201 w 228"/>
                    <a:gd name="T53"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132">
                      <a:moveTo>
                        <a:pt x="201" y="132"/>
                      </a:moveTo>
                      <a:cubicBezTo>
                        <a:pt x="165" y="132"/>
                        <a:pt x="165" y="132"/>
                        <a:pt x="165" y="132"/>
                      </a:cubicBezTo>
                      <a:cubicBezTo>
                        <a:pt x="142" y="132"/>
                        <a:pt x="118" y="113"/>
                        <a:pt x="111" y="108"/>
                      </a:cubicBezTo>
                      <a:cubicBezTo>
                        <a:pt x="6" y="108"/>
                        <a:pt x="6" y="108"/>
                        <a:pt x="6" y="108"/>
                      </a:cubicBezTo>
                      <a:cubicBezTo>
                        <a:pt x="2" y="108"/>
                        <a:pt x="0" y="105"/>
                        <a:pt x="0" y="102"/>
                      </a:cubicBezTo>
                      <a:cubicBezTo>
                        <a:pt x="0" y="18"/>
                        <a:pt x="0" y="18"/>
                        <a:pt x="0" y="18"/>
                      </a:cubicBezTo>
                      <a:cubicBezTo>
                        <a:pt x="0" y="14"/>
                        <a:pt x="2" y="12"/>
                        <a:pt x="6" y="12"/>
                      </a:cubicBezTo>
                      <a:cubicBezTo>
                        <a:pt x="112" y="12"/>
                        <a:pt x="112" y="12"/>
                        <a:pt x="112" y="12"/>
                      </a:cubicBezTo>
                      <a:cubicBezTo>
                        <a:pt x="117" y="9"/>
                        <a:pt x="135" y="0"/>
                        <a:pt x="165" y="0"/>
                      </a:cubicBezTo>
                      <a:cubicBezTo>
                        <a:pt x="204" y="0"/>
                        <a:pt x="204" y="0"/>
                        <a:pt x="204" y="0"/>
                      </a:cubicBezTo>
                      <a:cubicBezTo>
                        <a:pt x="207" y="0"/>
                        <a:pt x="210" y="2"/>
                        <a:pt x="210" y="6"/>
                      </a:cubicBezTo>
                      <a:cubicBezTo>
                        <a:pt x="210" y="9"/>
                        <a:pt x="207" y="12"/>
                        <a:pt x="204" y="12"/>
                      </a:cubicBezTo>
                      <a:cubicBezTo>
                        <a:pt x="165" y="12"/>
                        <a:pt x="165" y="12"/>
                        <a:pt x="165" y="12"/>
                      </a:cubicBezTo>
                      <a:cubicBezTo>
                        <a:pt x="134" y="12"/>
                        <a:pt x="117" y="23"/>
                        <a:pt x="117" y="23"/>
                      </a:cubicBezTo>
                      <a:cubicBezTo>
                        <a:pt x="116" y="23"/>
                        <a:pt x="115" y="24"/>
                        <a:pt x="114" y="24"/>
                      </a:cubicBezTo>
                      <a:cubicBezTo>
                        <a:pt x="12" y="24"/>
                        <a:pt x="12" y="24"/>
                        <a:pt x="12" y="24"/>
                      </a:cubicBezTo>
                      <a:cubicBezTo>
                        <a:pt x="12" y="96"/>
                        <a:pt x="12" y="96"/>
                        <a:pt x="12" y="96"/>
                      </a:cubicBezTo>
                      <a:cubicBezTo>
                        <a:pt x="114" y="96"/>
                        <a:pt x="114" y="96"/>
                        <a:pt x="114" y="96"/>
                      </a:cubicBezTo>
                      <a:cubicBezTo>
                        <a:pt x="115" y="96"/>
                        <a:pt x="116" y="96"/>
                        <a:pt x="118" y="97"/>
                      </a:cubicBezTo>
                      <a:cubicBezTo>
                        <a:pt x="118" y="97"/>
                        <a:pt x="143" y="120"/>
                        <a:pt x="165" y="120"/>
                      </a:cubicBezTo>
                      <a:cubicBezTo>
                        <a:pt x="201" y="120"/>
                        <a:pt x="201" y="120"/>
                        <a:pt x="201" y="120"/>
                      </a:cubicBezTo>
                      <a:cubicBezTo>
                        <a:pt x="207" y="120"/>
                        <a:pt x="216" y="114"/>
                        <a:pt x="216" y="108"/>
                      </a:cubicBezTo>
                      <a:cubicBezTo>
                        <a:pt x="216" y="102"/>
                        <a:pt x="216" y="102"/>
                        <a:pt x="216" y="102"/>
                      </a:cubicBezTo>
                      <a:cubicBezTo>
                        <a:pt x="216" y="98"/>
                        <a:pt x="218" y="96"/>
                        <a:pt x="222" y="96"/>
                      </a:cubicBezTo>
                      <a:cubicBezTo>
                        <a:pt x="225" y="96"/>
                        <a:pt x="228" y="98"/>
                        <a:pt x="228" y="102"/>
                      </a:cubicBezTo>
                      <a:cubicBezTo>
                        <a:pt x="228" y="108"/>
                        <a:pt x="228" y="108"/>
                        <a:pt x="228" y="108"/>
                      </a:cubicBezTo>
                      <a:cubicBezTo>
                        <a:pt x="228" y="121"/>
                        <a:pt x="213" y="132"/>
                        <a:pt x="201"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17" name="Freeform 210">
                  <a:extLst>
                    <a:ext uri="{FF2B5EF4-FFF2-40B4-BE49-F238E27FC236}">
                      <a16:creationId xmlns:a16="http://schemas.microsoft.com/office/drawing/2014/main" id="{2403419F-8028-ECC3-37E6-947409BEEAA0}"/>
                    </a:ext>
                  </a:extLst>
                </p:cNvPr>
                <p:cNvSpPr>
                  <a:spLocks/>
                </p:cNvSpPr>
                <p:nvPr/>
              </p:nvSpPr>
              <p:spPr bwMode="auto">
                <a:xfrm>
                  <a:off x="1698" y="3256"/>
                  <a:ext cx="96" cy="53"/>
                </a:xfrm>
                <a:custGeom>
                  <a:avLst/>
                  <a:gdLst>
                    <a:gd name="T0" fmla="*/ 51 w 65"/>
                    <a:gd name="T1" fmla="*/ 36 h 36"/>
                    <a:gd name="T2" fmla="*/ 6 w 65"/>
                    <a:gd name="T3" fmla="*/ 36 h 36"/>
                    <a:gd name="T4" fmla="*/ 0 w 65"/>
                    <a:gd name="T5" fmla="*/ 30 h 36"/>
                    <a:gd name="T6" fmla="*/ 6 w 65"/>
                    <a:gd name="T7" fmla="*/ 24 h 36"/>
                    <a:gd name="T8" fmla="*/ 51 w 65"/>
                    <a:gd name="T9" fmla="*/ 24 h 36"/>
                    <a:gd name="T10" fmla="*/ 53 w 65"/>
                    <a:gd name="T11" fmla="*/ 18 h 36"/>
                    <a:gd name="T12" fmla="*/ 51 w 65"/>
                    <a:gd name="T13" fmla="*/ 12 h 36"/>
                    <a:gd name="T14" fmla="*/ 6 w 65"/>
                    <a:gd name="T15" fmla="*/ 12 h 36"/>
                    <a:gd name="T16" fmla="*/ 0 w 65"/>
                    <a:gd name="T17" fmla="*/ 6 h 36"/>
                    <a:gd name="T18" fmla="*/ 6 w 65"/>
                    <a:gd name="T19" fmla="*/ 0 h 36"/>
                    <a:gd name="T20" fmla="*/ 51 w 65"/>
                    <a:gd name="T21" fmla="*/ 0 h 36"/>
                    <a:gd name="T22" fmla="*/ 65 w 65"/>
                    <a:gd name="T23" fmla="*/ 18 h 36"/>
                    <a:gd name="T24" fmla="*/ 62 w 65"/>
                    <a:gd name="T25" fmla="*/ 29 h 36"/>
                    <a:gd name="T26" fmla="*/ 51 w 65"/>
                    <a:gd name="T27"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36">
                      <a:moveTo>
                        <a:pt x="51" y="36"/>
                      </a:moveTo>
                      <a:cubicBezTo>
                        <a:pt x="6" y="36"/>
                        <a:pt x="6" y="36"/>
                        <a:pt x="6" y="36"/>
                      </a:cubicBezTo>
                      <a:cubicBezTo>
                        <a:pt x="2" y="36"/>
                        <a:pt x="0" y="33"/>
                        <a:pt x="0" y="30"/>
                      </a:cubicBezTo>
                      <a:cubicBezTo>
                        <a:pt x="0" y="26"/>
                        <a:pt x="2" y="24"/>
                        <a:pt x="6" y="24"/>
                      </a:cubicBezTo>
                      <a:cubicBezTo>
                        <a:pt x="51" y="24"/>
                        <a:pt x="51" y="24"/>
                        <a:pt x="51" y="24"/>
                      </a:cubicBezTo>
                      <a:cubicBezTo>
                        <a:pt x="52" y="24"/>
                        <a:pt x="53" y="21"/>
                        <a:pt x="53" y="18"/>
                      </a:cubicBezTo>
                      <a:cubicBezTo>
                        <a:pt x="53" y="14"/>
                        <a:pt x="52" y="12"/>
                        <a:pt x="51" y="12"/>
                      </a:cubicBezTo>
                      <a:cubicBezTo>
                        <a:pt x="6" y="12"/>
                        <a:pt x="6" y="12"/>
                        <a:pt x="6" y="12"/>
                      </a:cubicBezTo>
                      <a:cubicBezTo>
                        <a:pt x="2" y="12"/>
                        <a:pt x="0" y="9"/>
                        <a:pt x="0" y="6"/>
                      </a:cubicBezTo>
                      <a:cubicBezTo>
                        <a:pt x="0" y="2"/>
                        <a:pt x="2" y="0"/>
                        <a:pt x="6" y="0"/>
                      </a:cubicBezTo>
                      <a:cubicBezTo>
                        <a:pt x="51" y="0"/>
                        <a:pt x="51" y="0"/>
                        <a:pt x="51" y="0"/>
                      </a:cubicBezTo>
                      <a:cubicBezTo>
                        <a:pt x="59" y="0"/>
                        <a:pt x="65" y="7"/>
                        <a:pt x="65" y="18"/>
                      </a:cubicBezTo>
                      <a:cubicBezTo>
                        <a:pt x="65" y="22"/>
                        <a:pt x="64" y="26"/>
                        <a:pt x="62" y="29"/>
                      </a:cubicBezTo>
                      <a:cubicBezTo>
                        <a:pt x="59" y="33"/>
                        <a:pt x="55" y="36"/>
                        <a:pt x="51"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18" name="Freeform 211">
                  <a:extLst>
                    <a:ext uri="{FF2B5EF4-FFF2-40B4-BE49-F238E27FC236}">
                      <a16:creationId xmlns:a16="http://schemas.microsoft.com/office/drawing/2014/main" id="{213E9901-87C9-8D7E-9C46-D4F1BCC095DF}"/>
                    </a:ext>
                  </a:extLst>
                </p:cNvPr>
                <p:cNvSpPr>
                  <a:spLocks/>
                </p:cNvSpPr>
                <p:nvPr/>
              </p:nvSpPr>
              <p:spPr bwMode="auto">
                <a:xfrm>
                  <a:off x="1680" y="3220"/>
                  <a:ext cx="96" cy="53"/>
                </a:xfrm>
                <a:custGeom>
                  <a:avLst/>
                  <a:gdLst>
                    <a:gd name="T0" fmla="*/ 51 w 65"/>
                    <a:gd name="T1" fmla="*/ 36 h 36"/>
                    <a:gd name="T2" fmla="*/ 6 w 65"/>
                    <a:gd name="T3" fmla="*/ 36 h 36"/>
                    <a:gd name="T4" fmla="*/ 0 w 65"/>
                    <a:gd name="T5" fmla="*/ 30 h 36"/>
                    <a:gd name="T6" fmla="*/ 6 w 65"/>
                    <a:gd name="T7" fmla="*/ 24 h 36"/>
                    <a:gd name="T8" fmla="*/ 51 w 65"/>
                    <a:gd name="T9" fmla="*/ 24 h 36"/>
                    <a:gd name="T10" fmla="*/ 52 w 65"/>
                    <a:gd name="T11" fmla="*/ 23 h 36"/>
                    <a:gd name="T12" fmla="*/ 53 w 65"/>
                    <a:gd name="T13" fmla="*/ 18 h 36"/>
                    <a:gd name="T14" fmla="*/ 51 w 65"/>
                    <a:gd name="T15" fmla="*/ 12 h 36"/>
                    <a:gd name="T16" fmla="*/ 6 w 65"/>
                    <a:gd name="T17" fmla="*/ 12 h 36"/>
                    <a:gd name="T18" fmla="*/ 0 w 65"/>
                    <a:gd name="T19" fmla="*/ 6 h 36"/>
                    <a:gd name="T20" fmla="*/ 6 w 65"/>
                    <a:gd name="T21" fmla="*/ 0 h 36"/>
                    <a:gd name="T22" fmla="*/ 51 w 65"/>
                    <a:gd name="T23" fmla="*/ 0 h 36"/>
                    <a:gd name="T24" fmla="*/ 65 w 65"/>
                    <a:gd name="T25" fmla="*/ 18 h 36"/>
                    <a:gd name="T26" fmla="*/ 62 w 65"/>
                    <a:gd name="T27" fmla="*/ 29 h 36"/>
                    <a:gd name="T28" fmla="*/ 51 w 65"/>
                    <a:gd name="T29"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 h="36">
                      <a:moveTo>
                        <a:pt x="51" y="36"/>
                      </a:moveTo>
                      <a:cubicBezTo>
                        <a:pt x="6" y="36"/>
                        <a:pt x="6" y="36"/>
                        <a:pt x="6" y="36"/>
                      </a:cubicBezTo>
                      <a:cubicBezTo>
                        <a:pt x="2" y="36"/>
                        <a:pt x="0" y="33"/>
                        <a:pt x="0" y="30"/>
                      </a:cubicBezTo>
                      <a:cubicBezTo>
                        <a:pt x="0" y="26"/>
                        <a:pt x="2" y="24"/>
                        <a:pt x="6" y="24"/>
                      </a:cubicBezTo>
                      <a:cubicBezTo>
                        <a:pt x="51" y="24"/>
                        <a:pt x="51" y="24"/>
                        <a:pt x="51" y="24"/>
                      </a:cubicBezTo>
                      <a:cubicBezTo>
                        <a:pt x="51" y="24"/>
                        <a:pt x="52" y="24"/>
                        <a:pt x="52" y="23"/>
                      </a:cubicBezTo>
                      <a:cubicBezTo>
                        <a:pt x="53" y="22"/>
                        <a:pt x="53" y="20"/>
                        <a:pt x="53" y="18"/>
                      </a:cubicBezTo>
                      <a:cubicBezTo>
                        <a:pt x="53" y="15"/>
                        <a:pt x="52" y="12"/>
                        <a:pt x="51" y="12"/>
                      </a:cubicBezTo>
                      <a:cubicBezTo>
                        <a:pt x="6" y="12"/>
                        <a:pt x="6" y="12"/>
                        <a:pt x="6" y="12"/>
                      </a:cubicBezTo>
                      <a:cubicBezTo>
                        <a:pt x="2" y="12"/>
                        <a:pt x="0" y="9"/>
                        <a:pt x="0" y="6"/>
                      </a:cubicBezTo>
                      <a:cubicBezTo>
                        <a:pt x="0" y="2"/>
                        <a:pt x="2" y="0"/>
                        <a:pt x="6" y="0"/>
                      </a:cubicBezTo>
                      <a:cubicBezTo>
                        <a:pt x="51" y="0"/>
                        <a:pt x="51" y="0"/>
                        <a:pt x="51" y="0"/>
                      </a:cubicBezTo>
                      <a:cubicBezTo>
                        <a:pt x="59" y="0"/>
                        <a:pt x="65" y="7"/>
                        <a:pt x="65" y="18"/>
                      </a:cubicBezTo>
                      <a:cubicBezTo>
                        <a:pt x="65" y="22"/>
                        <a:pt x="64" y="26"/>
                        <a:pt x="62" y="29"/>
                      </a:cubicBezTo>
                      <a:cubicBezTo>
                        <a:pt x="59" y="33"/>
                        <a:pt x="55" y="36"/>
                        <a:pt x="51"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19" name="Freeform 212">
                  <a:extLst>
                    <a:ext uri="{FF2B5EF4-FFF2-40B4-BE49-F238E27FC236}">
                      <a16:creationId xmlns:a16="http://schemas.microsoft.com/office/drawing/2014/main" id="{0DE0252B-BEA4-D394-90EB-C48E0722E1D2}"/>
                    </a:ext>
                  </a:extLst>
                </p:cNvPr>
                <p:cNvSpPr>
                  <a:spLocks/>
                </p:cNvSpPr>
                <p:nvPr/>
              </p:nvSpPr>
              <p:spPr bwMode="auto">
                <a:xfrm>
                  <a:off x="1627" y="3185"/>
                  <a:ext cx="124" cy="53"/>
                </a:xfrm>
                <a:custGeom>
                  <a:avLst/>
                  <a:gdLst>
                    <a:gd name="T0" fmla="*/ 63 w 84"/>
                    <a:gd name="T1" fmla="*/ 36 h 36"/>
                    <a:gd name="T2" fmla="*/ 30 w 84"/>
                    <a:gd name="T3" fmla="*/ 36 h 36"/>
                    <a:gd name="T4" fmla="*/ 24 w 84"/>
                    <a:gd name="T5" fmla="*/ 30 h 36"/>
                    <a:gd name="T6" fmla="*/ 30 w 84"/>
                    <a:gd name="T7" fmla="*/ 24 h 36"/>
                    <a:gd name="T8" fmla="*/ 63 w 84"/>
                    <a:gd name="T9" fmla="*/ 24 h 36"/>
                    <a:gd name="T10" fmla="*/ 72 w 84"/>
                    <a:gd name="T11" fmla="*/ 18 h 36"/>
                    <a:gd name="T12" fmla="*/ 63 w 84"/>
                    <a:gd name="T13" fmla="*/ 12 h 36"/>
                    <a:gd name="T14" fmla="*/ 6 w 84"/>
                    <a:gd name="T15" fmla="*/ 12 h 36"/>
                    <a:gd name="T16" fmla="*/ 0 w 84"/>
                    <a:gd name="T17" fmla="*/ 6 h 36"/>
                    <a:gd name="T18" fmla="*/ 6 w 84"/>
                    <a:gd name="T19" fmla="*/ 0 h 36"/>
                    <a:gd name="T20" fmla="*/ 63 w 84"/>
                    <a:gd name="T21" fmla="*/ 0 h 36"/>
                    <a:gd name="T22" fmla="*/ 78 w 84"/>
                    <a:gd name="T23" fmla="*/ 5 h 36"/>
                    <a:gd name="T24" fmla="*/ 84 w 84"/>
                    <a:gd name="T25" fmla="*/ 18 h 36"/>
                    <a:gd name="T26" fmla="*/ 63 w 84"/>
                    <a:gd name="T27"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36">
                      <a:moveTo>
                        <a:pt x="63" y="36"/>
                      </a:moveTo>
                      <a:cubicBezTo>
                        <a:pt x="30" y="36"/>
                        <a:pt x="30" y="36"/>
                        <a:pt x="30" y="36"/>
                      </a:cubicBezTo>
                      <a:cubicBezTo>
                        <a:pt x="26" y="36"/>
                        <a:pt x="24" y="33"/>
                        <a:pt x="24" y="30"/>
                      </a:cubicBezTo>
                      <a:cubicBezTo>
                        <a:pt x="24" y="26"/>
                        <a:pt x="26" y="24"/>
                        <a:pt x="30" y="24"/>
                      </a:cubicBezTo>
                      <a:cubicBezTo>
                        <a:pt x="63" y="24"/>
                        <a:pt x="63" y="24"/>
                        <a:pt x="63" y="24"/>
                      </a:cubicBezTo>
                      <a:cubicBezTo>
                        <a:pt x="69" y="24"/>
                        <a:pt x="72" y="21"/>
                        <a:pt x="72" y="18"/>
                      </a:cubicBezTo>
                      <a:cubicBezTo>
                        <a:pt x="72" y="15"/>
                        <a:pt x="69" y="12"/>
                        <a:pt x="63" y="12"/>
                      </a:cubicBezTo>
                      <a:cubicBezTo>
                        <a:pt x="6" y="12"/>
                        <a:pt x="6" y="12"/>
                        <a:pt x="6" y="12"/>
                      </a:cubicBezTo>
                      <a:cubicBezTo>
                        <a:pt x="2" y="12"/>
                        <a:pt x="0" y="9"/>
                        <a:pt x="0" y="6"/>
                      </a:cubicBezTo>
                      <a:cubicBezTo>
                        <a:pt x="0" y="2"/>
                        <a:pt x="2" y="0"/>
                        <a:pt x="6" y="0"/>
                      </a:cubicBezTo>
                      <a:cubicBezTo>
                        <a:pt x="63" y="0"/>
                        <a:pt x="63" y="0"/>
                        <a:pt x="63" y="0"/>
                      </a:cubicBezTo>
                      <a:cubicBezTo>
                        <a:pt x="69" y="0"/>
                        <a:pt x="74" y="2"/>
                        <a:pt x="78" y="5"/>
                      </a:cubicBezTo>
                      <a:cubicBezTo>
                        <a:pt x="81" y="8"/>
                        <a:pt x="84" y="13"/>
                        <a:pt x="84" y="18"/>
                      </a:cubicBezTo>
                      <a:cubicBezTo>
                        <a:pt x="84" y="27"/>
                        <a:pt x="76" y="36"/>
                        <a:pt x="63"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20" name="Freeform 213">
                  <a:extLst>
                    <a:ext uri="{FF2B5EF4-FFF2-40B4-BE49-F238E27FC236}">
                      <a16:creationId xmlns:a16="http://schemas.microsoft.com/office/drawing/2014/main" id="{6D6C56C1-708D-1EC2-B8F0-8BC0FE91D9D4}"/>
                    </a:ext>
                  </a:extLst>
                </p:cNvPr>
                <p:cNvSpPr>
                  <a:spLocks noEditPoints="1"/>
                </p:cNvSpPr>
                <p:nvPr/>
              </p:nvSpPr>
              <p:spPr bwMode="auto">
                <a:xfrm>
                  <a:off x="1441" y="3238"/>
                  <a:ext cx="89" cy="71"/>
                </a:xfrm>
                <a:custGeom>
                  <a:avLst/>
                  <a:gdLst>
                    <a:gd name="T0" fmla="*/ 54 w 60"/>
                    <a:gd name="T1" fmla="*/ 48 h 48"/>
                    <a:gd name="T2" fmla="*/ 6 w 60"/>
                    <a:gd name="T3" fmla="*/ 48 h 48"/>
                    <a:gd name="T4" fmla="*/ 0 w 60"/>
                    <a:gd name="T5" fmla="*/ 42 h 48"/>
                    <a:gd name="T6" fmla="*/ 0 w 60"/>
                    <a:gd name="T7" fmla="*/ 6 h 48"/>
                    <a:gd name="T8" fmla="*/ 6 w 60"/>
                    <a:gd name="T9" fmla="*/ 0 h 48"/>
                    <a:gd name="T10" fmla="*/ 54 w 60"/>
                    <a:gd name="T11" fmla="*/ 0 h 48"/>
                    <a:gd name="T12" fmla="*/ 60 w 60"/>
                    <a:gd name="T13" fmla="*/ 6 h 48"/>
                    <a:gd name="T14" fmla="*/ 60 w 60"/>
                    <a:gd name="T15" fmla="*/ 42 h 48"/>
                    <a:gd name="T16" fmla="*/ 54 w 60"/>
                    <a:gd name="T17" fmla="*/ 48 h 48"/>
                    <a:gd name="T18" fmla="*/ 12 w 60"/>
                    <a:gd name="T19" fmla="*/ 36 h 48"/>
                    <a:gd name="T20" fmla="*/ 48 w 60"/>
                    <a:gd name="T21" fmla="*/ 36 h 48"/>
                    <a:gd name="T22" fmla="*/ 48 w 60"/>
                    <a:gd name="T23" fmla="*/ 12 h 48"/>
                    <a:gd name="T24" fmla="*/ 12 w 60"/>
                    <a:gd name="T25" fmla="*/ 12 h 48"/>
                    <a:gd name="T26" fmla="*/ 12 w 60"/>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48">
                      <a:moveTo>
                        <a:pt x="54" y="48"/>
                      </a:moveTo>
                      <a:cubicBezTo>
                        <a:pt x="6" y="48"/>
                        <a:pt x="6" y="48"/>
                        <a:pt x="6" y="48"/>
                      </a:cubicBezTo>
                      <a:cubicBezTo>
                        <a:pt x="2" y="48"/>
                        <a:pt x="0" y="45"/>
                        <a:pt x="0" y="42"/>
                      </a:cubicBezTo>
                      <a:cubicBezTo>
                        <a:pt x="0" y="6"/>
                        <a:pt x="0" y="6"/>
                        <a:pt x="0" y="6"/>
                      </a:cubicBezTo>
                      <a:cubicBezTo>
                        <a:pt x="0" y="2"/>
                        <a:pt x="2" y="0"/>
                        <a:pt x="6" y="0"/>
                      </a:cubicBezTo>
                      <a:cubicBezTo>
                        <a:pt x="54" y="0"/>
                        <a:pt x="54" y="0"/>
                        <a:pt x="54" y="0"/>
                      </a:cubicBezTo>
                      <a:cubicBezTo>
                        <a:pt x="57" y="0"/>
                        <a:pt x="60" y="2"/>
                        <a:pt x="60" y="6"/>
                      </a:cubicBezTo>
                      <a:cubicBezTo>
                        <a:pt x="60" y="42"/>
                        <a:pt x="60" y="42"/>
                        <a:pt x="60" y="42"/>
                      </a:cubicBezTo>
                      <a:cubicBezTo>
                        <a:pt x="60" y="45"/>
                        <a:pt x="57" y="48"/>
                        <a:pt x="54" y="48"/>
                      </a:cubicBezTo>
                      <a:close/>
                      <a:moveTo>
                        <a:pt x="12" y="36"/>
                      </a:moveTo>
                      <a:cubicBezTo>
                        <a:pt x="48" y="36"/>
                        <a:pt x="48" y="36"/>
                        <a:pt x="48" y="36"/>
                      </a:cubicBezTo>
                      <a:cubicBezTo>
                        <a:pt x="48" y="12"/>
                        <a:pt x="48" y="12"/>
                        <a:pt x="48"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21" name="Freeform 214">
                  <a:extLst>
                    <a:ext uri="{FF2B5EF4-FFF2-40B4-BE49-F238E27FC236}">
                      <a16:creationId xmlns:a16="http://schemas.microsoft.com/office/drawing/2014/main" id="{07145E56-4F36-FF74-692A-4712024AE93D}"/>
                    </a:ext>
                  </a:extLst>
                </p:cNvPr>
                <p:cNvSpPr>
                  <a:spLocks/>
                </p:cNvSpPr>
                <p:nvPr/>
              </p:nvSpPr>
              <p:spPr bwMode="auto">
                <a:xfrm>
                  <a:off x="1494" y="3202"/>
                  <a:ext cx="18" cy="54"/>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2"/>
                        <a:pt x="2" y="0"/>
                        <a:pt x="6" y="0"/>
                      </a:cubicBezTo>
                      <a:cubicBezTo>
                        <a:pt x="9" y="0"/>
                        <a:pt x="12" y="2"/>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22" name="Freeform 215">
                  <a:extLst>
                    <a:ext uri="{FF2B5EF4-FFF2-40B4-BE49-F238E27FC236}">
                      <a16:creationId xmlns:a16="http://schemas.microsoft.com/office/drawing/2014/main" id="{34686F9C-1C50-E227-5EAE-C7CB4462BF18}"/>
                    </a:ext>
                  </a:extLst>
                </p:cNvPr>
                <p:cNvSpPr>
                  <a:spLocks/>
                </p:cNvSpPr>
                <p:nvPr/>
              </p:nvSpPr>
              <p:spPr bwMode="auto">
                <a:xfrm>
                  <a:off x="1494" y="3291"/>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2"/>
                        <a:pt x="2" y="0"/>
                        <a:pt x="6" y="0"/>
                      </a:cubicBezTo>
                      <a:cubicBezTo>
                        <a:pt x="9" y="0"/>
                        <a:pt x="12" y="2"/>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23" name="Freeform 216">
                  <a:extLst>
                    <a:ext uri="{FF2B5EF4-FFF2-40B4-BE49-F238E27FC236}">
                      <a16:creationId xmlns:a16="http://schemas.microsoft.com/office/drawing/2014/main" id="{C463609F-6BD3-7E2C-C204-8C48EBCD2AB4}"/>
                    </a:ext>
                  </a:extLst>
                </p:cNvPr>
                <p:cNvSpPr>
                  <a:spLocks/>
                </p:cNvSpPr>
                <p:nvPr/>
              </p:nvSpPr>
              <p:spPr bwMode="auto">
                <a:xfrm>
                  <a:off x="1459" y="3202"/>
                  <a:ext cx="18" cy="54"/>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2"/>
                        <a:pt x="2" y="0"/>
                        <a:pt x="6" y="0"/>
                      </a:cubicBezTo>
                      <a:cubicBezTo>
                        <a:pt x="9" y="0"/>
                        <a:pt x="12" y="2"/>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24" name="Freeform 217">
                  <a:extLst>
                    <a:ext uri="{FF2B5EF4-FFF2-40B4-BE49-F238E27FC236}">
                      <a16:creationId xmlns:a16="http://schemas.microsoft.com/office/drawing/2014/main" id="{5D83B1A8-E8BF-6C23-F4F8-06C444FE8521}"/>
                    </a:ext>
                  </a:extLst>
                </p:cNvPr>
                <p:cNvSpPr>
                  <a:spLocks/>
                </p:cNvSpPr>
                <p:nvPr/>
              </p:nvSpPr>
              <p:spPr bwMode="auto">
                <a:xfrm>
                  <a:off x="1459" y="3291"/>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2"/>
                        <a:pt x="2" y="0"/>
                        <a:pt x="6" y="0"/>
                      </a:cubicBezTo>
                      <a:cubicBezTo>
                        <a:pt x="9" y="0"/>
                        <a:pt x="12" y="2"/>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25" name="Freeform 218">
                  <a:extLst>
                    <a:ext uri="{FF2B5EF4-FFF2-40B4-BE49-F238E27FC236}">
                      <a16:creationId xmlns:a16="http://schemas.microsoft.com/office/drawing/2014/main" id="{52098758-1421-D504-5394-0D0399EBEFF8}"/>
                    </a:ext>
                  </a:extLst>
                </p:cNvPr>
                <p:cNvSpPr>
                  <a:spLocks/>
                </p:cNvSpPr>
                <p:nvPr/>
              </p:nvSpPr>
              <p:spPr bwMode="auto">
                <a:xfrm>
                  <a:off x="1400" y="3044"/>
                  <a:ext cx="187" cy="44"/>
                </a:xfrm>
                <a:custGeom>
                  <a:avLst/>
                  <a:gdLst>
                    <a:gd name="T0" fmla="*/ 120 w 127"/>
                    <a:gd name="T1" fmla="*/ 29 h 30"/>
                    <a:gd name="T2" fmla="*/ 117 w 127"/>
                    <a:gd name="T3" fmla="*/ 28 h 30"/>
                    <a:gd name="T4" fmla="*/ 64 w 127"/>
                    <a:gd name="T5" fmla="*/ 12 h 30"/>
                    <a:gd name="T6" fmla="*/ 10 w 127"/>
                    <a:gd name="T7" fmla="*/ 28 h 30"/>
                    <a:gd name="T8" fmla="*/ 2 w 127"/>
                    <a:gd name="T9" fmla="*/ 27 h 30"/>
                    <a:gd name="T10" fmla="*/ 4 w 127"/>
                    <a:gd name="T11" fmla="*/ 18 h 30"/>
                    <a:gd name="T12" fmla="*/ 64 w 127"/>
                    <a:gd name="T13" fmla="*/ 0 h 30"/>
                    <a:gd name="T14" fmla="*/ 123 w 127"/>
                    <a:gd name="T15" fmla="*/ 18 h 30"/>
                    <a:gd name="T16" fmla="*/ 125 w 127"/>
                    <a:gd name="T17" fmla="*/ 27 h 30"/>
                    <a:gd name="T18" fmla="*/ 120 w 127"/>
                    <a:gd name="T19" fmla="*/ 2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30">
                      <a:moveTo>
                        <a:pt x="120" y="29"/>
                      </a:moveTo>
                      <a:cubicBezTo>
                        <a:pt x="119" y="29"/>
                        <a:pt x="118" y="29"/>
                        <a:pt x="117" y="28"/>
                      </a:cubicBezTo>
                      <a:cubicBezTo>
                        <a:pt x="101" y="18"/>
                        <a:pt x="83" y="12"/>
                        <a:pt x="64" y="12"/>
                      </a:cubicBezTo>
                      <a:cubicBezTo>
                        <a:pt x="45" y="12"/>
                        <a:pt x="26" y="18"/>
                        <a:pt x="10" y="28"/>
                      </a:cubicBezTo>
                      <a:cubicBezTo>
                        <a:pt x="8" y="30"/>
                        <a:pt x="4" y="29"/>
                        <a:pt x="2" y="27"/>
                      </a:cubicBezTo>
                      <a:cubicBezTo>
                        <a:pt x="0" y="24"/>
                        <a:pt x="1" y="20"/>
                        <a:pt x="4" y="18"/>
                      </a:cubicBezTo>
                      <a:cubicBezTo>
                        <a:pt x="21" y="6"/>
                        <a:pt x="42" y="0"/>
                        <a:pt x="64" y="0"/>
                      </a:cubicBezTo>
                      <a:cubicBezTo>
                        <a:pt x="85" y="0"/>
                        <a:pt x="106" y="6"/>
                        <a:pt x="123" y="18"/>
                      </a:cubicBezTo>
                      <a:cubicBezTo>
                        <a:pt x="126" y="20"/>
                        <a:pt x="127" y="24"/>
                        <a:pt x="125" y="27"/>
                      </a:cubicBezTo>
                      <a:cubicBezTo>
                        <a:pt x="124" y="28"/>
                        <a:pt x="122" y="29"/>
                        <a:pt x="120"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26" name="Freeform 219">
                  <a:extLst>
                    <a:ext uri="{FF2B5EF4-FFF2-40B4-BE49-F238E27FC236}">
                      <a16:creationId xmlns:a16="http://schemas.microsoft.com/office/drawing/2014/main" id="{54A6141E-0F15-F9F7-6D79-07AA5084B73A}"/>
                    </a:ext>
                  </a:extLst>
                </p:cNvPr>
                <p:cNvSpPr>
                  <a:spLocks/>
                </p:cNvSpPr>
                <p:nvPr/>
              </p:nvSpPr>
              <p:spPr bwMode="auto">
                <a:xfrm>
                  <a:off x="1419" y="3080"/>
                  <a:ext cx="149" cy="38"/>
                </a:xfrm>
                <a:custGeom>
                  <a:avLst/>
                  <a:gdLst>
                    <a:gd name="T0" fmla="*/ 94 w 101"/>
                    <a:gd name="T1" fmla="*/ 25 h 26"/>
                    <a:gd name="T2" fmla="*/ 90 w 101"/>
                    <a:gd name="T3" fmla="*/ 24 h 26"/>
                    <a:gd name="T4" fmla="*/ 51 w 101"/>
                    <a:gd name="T5" fmla="*/ 12 h 26"/>
                    <a:gd name="T6" fmla="*/ 11 w 101"/>
                    <a:gd name="T7" fmla="*/ 24 h 26"/>
                    <a:gd name="T8" fmla="*/ 2 w 101"/>
                    <a:gd name="T9" fmla="*/ 23 h 26"/>
                    <a:gd name="T10" fmla="*/ 4 w 101"/>
                    <a:gd name="T11" fmla="*/ 14 h 26"/>
                    <a:gd name="T12" fmla="*/ 51 w 101"/>
                    <a:gd name="T13" fmla="*/ 0 h 26"/>
                    <a:gd name="T14" fmla="*/ 97 w 101"/>
                    <a:gd name="T15" fmla="*/ 14 h 26"/>
                    <a:gd name="T16" fmla="*/ 99 w 101"/>
                    <a:gd name="T17" fmla="*/ 23 h 26"/>
                    <a:gd name="T18" fmla="*/ 94 w 101"/>
                    <a:gd name="T19"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1" h="26">
                      <a:moveTo>
                        <a:pt x="94" y="25"/>
                      </a:moveTo>
                      <a:cubicBezTo>
                        <a:pt x="93" y="25"/>
                        <a:pt x="92" y="25"/>
                        <a:pt x="90" y="24"/>
                      </a:cubicBezTo>
                      <a:cubicBezTo>
                        <a:pt x="79" y="16"/>
                        <a:pt x="65" y="12"/>
                        <a:pt x="51" y="12"/>
                      </a:cubicBezTo>
                      <a:cubicBezTo>
                        <a:pt x="36" y="12"/>
                        <a:pt x="22" y="16"/>
                        <a:pt x="11" y="24"/>
                      </a:cubicBezTo>
                      <a:cubicBezTo>
                        <a:pt x="8" y="26"/>
                        <a:pt x="4" y="25"/>
                        <a:pt x="2" y="23"/>
                      </a:cubicBezTo>
                      <a:cubicBezTo>
                        <a:pt x="0" y="20"/>
                        <a:pt x="1" y="16"/>
                        <a:pt x="4" y="14"/>
                      </a:cubicBezTo>
                      <a:cubicBezTo>
                        <a:pt x="18" y="5"/>
                        <a:pt x="34" y="0"/>
                        <a:pt x="51" y="0"/>
                      </a:cubicBezTo>
                      <a:cubicBezTo>
                        <a:pt x="67" y="0"/>
                        <a:pt x="83" y="5"/>
                        <a:pt x="97" y="14"/>
                      </a:cubicBezTo>
                      <a:cubicBezTo>
                        <a:pt x="100" y="16"/>
                        <a:pt x="101" y="20"/>
                        <a:pt x="99" y="23"/>
                      </a:cubicBezTo>
                      <a:cubicBezTo>
                        <a:pt x="98" y="24"/>
                        <a:pt x="96" y="25"/>
                        <a:pt x="9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27" name="Freeform 220">
                  <a:extLst>
                    <a:ext uri="{FF2B5EF4-FFF2-40B4-BE49-F238E27FC236}">
                      <a16:creationId xmlns:a16="http://schemas.microsoft.com/office/drawing/2014/main" id="{22DF2316-EE30-FAD8-DA6E-D99F0097A218}"/>
                    </a:ext>
                  </a:extLst>
                </p:cNvPr>
                <p:cNvSpPr>
                  <a:spLocks/>
                </p:cNvSpPr>
                <p:nvPr/>
              </p:nvSpPr>
              <p:spPr bwMode="auto">
                <a:xfrm>
                  <a:off x="1440" y="3115"/>
                  <a:ext cx="108" cy="33"/>
                </a:xfrm>
                <a:custGeom>
                  <a:avLst/>
                  <a:gdLst>
                    <a:gd name="T0" fmla="*/ 67 w 73"/>
                    <a:gd name="T1" fmla="*/ 21 h 22"/>
                    <a:gd name="T2" fmla="*/ 63 w 73"/>
                    <a:gd name="T3" fmla="*/ 20 h 22"/>
                    <a:gd name="T4" fmla="*/ 37 w 73"/>
                    <a:gd name="T5" fmla="*/ 12 h 22"/>
                    <a:gd name="T6" fmla="*/ 10 w 73"/>
                    <a:gd name="T7" fmla="*/ 20 h 22"/>
                    <a:gd name="T8" fmla="*/ 2 w 73"/>
                    <a:gd name="T9" fmla="*/ 19 h 22"/>
                    <a:gd name="T10" fmla="*/ 3 w 73"/>
                    <a:gd name="T11" fmla="*/ 10 h 22"/>
                    <a:gd name="T12" fmla="*/ 37 w 73"/>
                    <a:gd name="T13" fmla="*/ 0 h 22"/>
                    <a:gd name="T14" fmla="*/ 70 w 73"/>
                    <a:gd name="T15" fmla="*/ 10 h 22"/>
                    <a:gd name="T16" fmla="*/ 72 w 73"/>
                    <a:gd name="T17" fmla="*/ 19 h 22"/>
                    <a:gd name="T18" fmla="*/ 67 w 73"/>
                    <a:gd name="T19" fmla="*/ 2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22">
                      <a:moveTo>
                        <a:pt x="67" y="21"/>
                      </a:moveTo>
                      <a:cubicBezTo>
                        <a:pt x="65" y="21"/>
                        <a:pt x="64" y="21"/>
                        <a:pt x="63" y="20"/>
                      </a:cubicBezTo>
                      <a:cubicBezTo>
                        <a:pt x="55" y="15"/>
                        <a:pt x="46" y="12"/>
                        <a:pt x="37" y="12"/>
                      </a:cubicBezTo>
                      <a:cubicBezTo>
                        <a:pt x="27" y="12"/>
                        <a:pt x="18" y="15"/>
                        <a:pt x="10" y="20"/>
                      </a:cubicBezTo>
                      <a:cubicBezTo>
                        <a:pt x="7" y="22"/>
                        <a:pt x="3" y="21"/>
                        <a:pt x="2" y="19"/>
                      </a:cubicBezTo>
                      <a:cubicBezTo>
                        <a:pt x="0" y="16"/>
                        <a:pt x="1" y="12"/>
                        <a:pt x="3" y="10"/>
                      </a:cubicBezTo>
                      <a:cubicBezTo>
                        <a:pt x="13" y="4"/>
                        <a:pt x="25" y="0"/>
                        <a:pt x="37" y="0"/>
                      </a:cubicBezTo>
                      <a:cubicBezTo>
                        <a:pt x="48" y="0"/>
                        <a:pt x="60" y="4"/>
                        <a:pt x="70" y="10"/>
                      </a:cubicBezTo>
                      <a:cubicBezTo>
                        <a:pt x="73" y="12"/>
                        <a:pt x="73" y="16"/>
                        <a:pt x="72" y="19"/>
                      </a:cubicBezTo>
                      <a:cubicBezTo>
                        <a:pt x="70" y="20"/>
                        <a:pt x="68" y="21"/>
                        <a:pt x="6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21" name="Group 40">
                <a:extLst>
                  <a:ext uri="{FF2B5EF4-FFF2-40B4-BE49-F238E27FC236}">
                    <a16:creationId xmlns:a16="http://schemas.microsoft.com/office/drawing/2014/main" id="{7ADFDC2E-085A-FD47-7A85-70786D55315A}"/>
                  </a:ext>
                </a:extLst>
              </p:cNvPr>
              <p:cNvGrpSpPr>
                <a:grpSpLocks noChangeAspect="1"/>
              </p:cNvGrpSpPr>
              <p:nvPr/>
            </p:nvGrpSpPr>
            <p:grpSpPr bwMode="auto">
              <a:xfrm>
                <a:off x="8214637" y="2482375"/>
                <a:ext cx="397670" cy="339056"/>
                <a:chOff x="4653" y="690"/>
                <a:chExt cx="441" cy="376"/>
              </a:xfrm>
              <a:solidFill>
                <a:schemeClr val="tx1"/>
              </a:solidFill>
            </p:grpSpPr>
            <p:sp>
              <p:nvSpPr>
                <p:cNvPr id="309" name="Freeform 41">
                  <a:extLst>
                    <a:ext uri="{FF2B5EF4-FFF2-40B4-BE49-F238E27FC236}">
                      <a16:creationId xmlns:a16="http://schemas.microsoft.com/office/drawing/2014/main" id="{93023126-E580-FD81-89C2-7C914B2D2F9C}"/>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10" name="Freeform 42">
                  <a:extLst>
                    <a:ext uri="{FF2B5EF4-FFF2-40B4-BE49-F238E27FC236}">
                      <a16:creationId xmlns:a16="http://schemas.microsoft.com/office/drawing/2014/main" id="{E7E1AAE2-4ECD-C13A-3DF1-D3091F2F8EAB}"/>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11" name="Freeform 43">
                  <a:extLst>
                    <a:ext uri="{FF2B5EF4-FFF2-40B4-BE49-F238E27FC236}">
                      <a16:creationId xmlns:a16="http://schemas.microsoft.com/office/drawing/2014/main" id="{CC579183-01C9-2743-80BD-0B3C4106F6EB}"/>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12" name="Freeform 44">
                  <a:extLst>
                    <a:ext uri="{FF2B5EF4-FFF2-40B4-BE49-F238E27FC236}">
                      <a16:creationId xmlns:a16="http://schemas.microsoft.com/office/drawing/2014/main" id="{A4BE9C44-BCCB-C68E-5CC7-EDFF2F937909}"/>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13" name="Freeform 45">
                  <a:extLst>
                    <a:ext uri="{FF2B5EF4-FFF2-40B4-BE49-F238E27FC236}">
                      <a16:creationId xmlns:a16="http://schemas.microsoft.com/office/drawing/2014/main" id="{1143C79A-3B81-F6BC-4041-1E4AE8DE5B82}"/>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14" name="Freeform 46">
                  <a:extLst>
                    <a:ext uri="{FF2B5EF4-FFF2-40B4-BE49-F238E27FC236}">
                      <a16:creationId xmlns:a16="http://schemas.microsoft.com/office/drawing/2014/main" id="{05028784-CBAE-F8DE-BDD0-7AC453740F29}"/>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22" name="Group 32">
                <a:extLst>
                  <a:ext uri="{FF2B5EF4-FFF2-40B4-BE49-F238E27FC236}">
                    <a16:creationId xmlns:a16="http://schemas.microsoft.com/office/drawing/2014/main" id="{982C7AD9-31AD-21EA-F008-502849995E3C}"/>
                  </a:ext>
                </a:extLst>
              </p:cNvPr>
              <p:cNvGrpSpPr>
                <a:grpSpLocks noChangeAspect="1"/>
              </p:cNvGrpSpPr>
              <p:nvPr/>
            </p:nvGrpSpPr>
            <p:grpSpPr bwMode="auto">
              <a:xfrm>
                <a:off x="8235723" y="6127573"/>
                <a:ext cx="340422" cy="427040"/>
                <a:chOff x="397" y="442"/>
                <a:chExt cx="338" cy="424"/>
              </a:xfrm>
              <a:solidFill>
                <a:schemeClr val="tx1"/>
              </a:solidFill>
            </p:grpSpPr>
            <p:sp>
              <p:nvSpPr>
                <p:cNvPr id="299" name="Freeform 33">
                  <a:extLst>
                    <a:ext uri="{FF2B5EF4-FFF2-40B4-BE49-F238E27FC236}">
                      <a16:creationId xmlns:a16="http://schemas.microsoft.com/office/drawing/2014/main" id="{CF76BB9D-FB41-C242-3EAE-A433F8B5D7CF}"/>
                    </a:ext>
                  </a:extLst>
                </p:cNvPr>
                <p:cNvSpPr>
                  <a:spLocks/>
                </p:cNvSpPr>
                <p:nvPr/>
              </p:nvSpPr>
              <p:spPr bwMode="auto">
                <a:xfrm>
                  <a:off x="557" y="760"/>
                  <a:ext cx="18" cy="106"/>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69"/>
                        <a:pt x="0" y="66"/>
                      </a:cubicBezTo>
                      <a:cubicBezTo>
                        <a:pt x="0" y="6"/>
                        <a:pt x="0" y="6"/>
                        <a:pt x="0" y="6"/>
                      </a:cubicBezTo>
                      <a:cubicBezTo>
                        <a:pt x="0" y="3"/>
                        <a:pt x="3" y="0"/>
                        <a:pt x="6" y="0"/>
                      </a:cubicBezTo>
                      <a:cubicBezTo>
                        <a:pt x="10" y="0"/>
                        <a:pt x="12" y="3"/>
                        <a:pt x="12" y="6"/>
                      </a:cubicBezTo>
                      <a:cubicBezTo>
                        <a:pt x="12" y="66"/>
                        <a:pt x="12" y="66"/>
                        <a:pt x="12" y="66"/>
                      </a:cubicBezTo>
                      <a:cubicBezTo>
                        <a:pt x="12" y="69"/>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00" name="Freeform 34">
                  <a:extLst>
                    <a:ext uri="{FF2B5EF4-FFF2-40B4-BE49-F238E27FC236}">
                      <a16:creationId xmlns:a16="http://schemas.microsoft.com/office/drawing/2014/main" id="{E8EF1056-4349-61C2-966F-E270CAD5681C}"/>
                    </a:ext>
                  </a:extLst>
                </p:cNvPr>
                <p:cNvSpPr>
                  <a:spLocks/>
                </p:cNvSpPr>
                <p:nvPr/>
              </p:nvSpPr>
              <p:spPr bwMode="auto">
                <a:xfrm>
                  <a:off x="503" y="794"/>
                  <a:ext cx="126" cy="72"/>
                </a:xfrm>
                <a:custGeom>
                  <a:avLst/>
                  <a:gdLst>
                    <a:gd name="T0" fmla="*/ 42 w 85"/>
                    <a:gd name="T1" fmla="*/ 49 h 49"/>
                    <a:gd name="T2" fmla="*/ 38 w 85"/>
                    <a:gd name="T3" fmla="*/ 47 h 49"/>
                    <a:gd name="T4" fmla="*/ 2 w 85"/>
                    <a:gd name="T5" fmla="*/ 11 h 49"/>
                    <a:gd name="T6" fmla="*/ 2 w 85"/>
                    <a:gd name="T7" fmla="*/ 2 h 49"/>
                    <a:gd name="T8" fmla="*/ 11 w 85"/>
                    <a:gd name="T9" fmla="*/ 2 h 49"/>
                    <a:gd name="T10" fmla="*/ 42 w 85"/>
                    <a:gd name="T11" fmla="*/ 34 h 49"/>
                    <a:gd name="T12" fmla="*/ 74 w 85"/>
                    <a:gd name="T13" fmla="*/ 2 h 49"/>
                    <a:gd name="T14" fmla="*/ 83 w 85"/>
                    <a:gd name="T15" fmla="*/ 2 h 49"/>
                    <a:gd name="T16" fmla="*/ 83 w 85"/>
                    <a:gd name="T17" fmla="*/ 11 h 49"/>
                    <a:gd name="T18" fmla="*/ 47 w 85"/>
                    <a:gd name="T19" fmla="*/ 47 h 49"/>
                    <a:gd name="T20" fmla="*/ 42 w 85"/>
                    <a:gd name="T21"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49">
                      <a:moveTo>
                        <a:pt x="42" y="49"/>
                      </a:moveTo>
                      <a:cubicBezTo>
                        <a:pt x="41" y="49"/>
                        <a:pt x="39" y="48"/>
                        <a:pt x="38" y="47"/>
                      </a:cubicBezTo>
                      <a:cubicBezTo>
                        <a:pt x="2" y="11"/>
                        <a:pt x="2" y="11"/>
                        <a:pt x="2" y="11"/>
                      </a:cubicBezTo>
                      <a:cubicBezTo>
                        <a:pt x="0" y="9"/>
                        <a:pt x="0" y="5"/>
                        <a:pt x="2" y="2"/>
                      </a:cubicBezTo>
                      <a:cubicBezTo>
                        <a:pt x="5" y="0"/>
                        <a:pt x="8" y="0"/>
                        <a:pt x="11" y="2"/>
                      </a:cubicBezTo>
                      <a:cubicBezTo>
                        <a:pt x="42" y="34"/>
                        <a:pt x="42" y="34"/>
                        <a:pt x="42" y="34"/>
                      </a:cubicBezTo>
                      <a:cubicBezTo>
                        <a:pt x="74" y="2"/>
                        <a:pt x="74" y="2"/>
                        <a:pt x="74" y="2"/>
                      </a:cubicBezTo>
                      <a:cubicBezTo>
                        <a:pt x="77" y="0"/>
                        <a:pt x="80" y="0"/>
                        <a:pt x="83" y="2"/>
                      </a:cubicBezTo>
                      <a:cubicBezTo>
                        <a:pt x="85" y="5"/>
                        <a:pt x="85" y="9"/>
                        <a:pt x="83" y="11"/>
                      </a:cubicBezTo>
                      <a:cubicBezTo>
                        <a:pt x="47" y="47"/>
                        <a:pt x="47" y="47"/>
                        <a:pt x="47" y="47"/>
                      </a:cubicBezTo>
                      <a:cubicBezTo>
                        <a:pt x="46" y="48"/>
                        <a:pt x="44" y="49"/>
                        <a:pt x="42"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01" name="Freeform 35">
                  <a:extLst>
                    <a:ext uri="{FF2B5EF4-FFF2-40B4-BE49-F238E27FC236}">
                      <a16:creationId xmlns:a16="http://schemas.microsoft.com/office/drawing/2014/main" id="{2FA1485C-CF8F-E7B5-A78C-FD55D9C5DF8D}"/>
                    </a:ext>
                  </a:extLst>
                </p:cNvPr>
                <p:cNvSpPr>
                  <a:spLocks/>
                </p:cNvSpPr>
                <p:nvPr/>
              </p:nvSpPr>
              <p:spPr bwMode="auto">
                <a:xfrm>
                  <a:off x="557" y="442"/>
                  <a:ext cx="18" cy="105"/>
                </a:xfrm>
                <a:custGeom>
                  <a:avLst/>
                  <a:gdLst>
                    <a:gd name="T0" fmla="*/ 6 w 12"/>
                    <a:gd name="T1" fmla="*/ 71 h 71"/>
                    <a:gd name="T2" fmla="*/ 0 w 12"/>
                    <a:gd name="T3" fmla="*/ 65 h 71"/>
                    <a:gd name="T4" fmla="*/ 0 w 12"/>
                    <a:gd name="T5" fmla="*/ 6 h 71"/>
                    <a:gd name="T6" fmla="*/ 6 w 12"/>
                    <a:gd name="T7" fmla="*/ 0 h 71"/>
                    <a:gd name="T8" fmla="*/ 12 w 12"/>
                    <a:gd name="T9" fmla="*/ 6 h 71"/>
                    <a:gd name="T10" fmla="*/ 12 w 12"/>
                    <a:gd name="T11" fmla="*/ 65 h 71"/>
                    <a:gd name="T12" fmla="*/ 6 w 12"/>
                    <a:gd name="T13" fmla="*/ 71 h 71"/>
                  </a:gdLst>
                  <a:ahLst/>
                  <a:cxnLst>
                    <a:cxn ang="0">
                      <a:pos x="T0" y="T1"/>
                    </a:cxn>
                    <a:cxn ang="0">
                      <a:pos x="T2" y="T3"/>
                    </a:cxn>
                    <a:cxn ang="0">
                      <a:pos x="T4" y="T5"/>
                    </a:cxn>
                    <a:cxn ang="0">
                      <a:pos x="T6" y="T7"/>
                    </a:cxn>
                    <a:cxn ang="0">
                      <a:pos x="T8" y="T9"/>
                    </a:cxn>
                    <a:cxn ang="0">
                      <a:pos x="T10" y="T11"/>
                    </a:cxn>
                    <a:cxn ang="0">
                      <a:pos x="T12" y="T13"/>
                    </a:cxn>
                  </a:cxnLst>
                  <a:rect l="0" t="0" r="r" b="b"/>
                  <a:pathLst>
                    <a:path w="12" h="71">
                      <a:moveTo>
                        <a:pt x="6" y="71"/>
                      </a:moveTo>
                      <a:cubicBezTo>
                        <a:pt x="3" y="71"/>
                        <a:pt x="0" y="69"/>
                        <a:pt x="0" y="65"/>
                      </a:cubicBezTo>
                      <a:cubicBezTo>
                        <a:pt x="0" y="6"/>
                        <a:pt x="0" y="6"/>
                        <a:pt x="0" y="6"/>
                      </a:cubicBezTo>
                      <a:cubicBezTo>
                        <a:pt x="0" y="3"/>
                        <a:pt x="3" y="0"/>
                        <a:pt x="6" y="0"/>
                      </a:cubicBezTo>
                      <a:cubicBezTo>
                        <a:pt x="10" y="0"/>
                        <a:pt x="12" y="3"/>
                        <a:pt x="12" y="6"/>
                      </a:cubicBezTo>
                      <a:cubicBezTo>
                        <a:pt x="12" y="65"/>
                        <a:pt x="12" y="65"/>
                        <a:pt x="12" y="65"/>
                      </a:cubicBezTo>
                      <a:cubicBezTo>
                        <a:pt x="12" y="69"/>
                        <a:pt x="10" y="71"/>
                        <a:pt x="6"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02" name="Freeform 36">
                  <a:extLst>
                    <a:ext uri="{FF2B5EF4-FFF2-40B4-BE49-F238E27FC236}">
                      <a16:creationId xmlns:a16="http://schemas.microsoft.com/office/drawing/2014/main" id="{2399DD3B-FF90-D290-063D-71D3B1FF7388}"/>
                    </a:ext>
                  </a:extLst>
                </p:cNvPr>
                <p:cNvSpPr>
                  <a:spLocks/>
                </p:cNvSpPr>
                <p:nvPr/>
              </p:nvSpPr>
              <p:spPr bwMode="auto">
                <a:xfrm>
                  <a:off x="503" y="442"/>
                  <a:ext cx="126" cy="72"/>
                </a:xfrm>
                <a:custGeom>
                  <a:avLst/>
                  <a:gdLst>
                    <a:gd name="T0" fmla="*/ 78 w 85"/>
                    <a:gd name="T1" fmla="*/ 48 h 49"/>
                    <a:gd name="T2" fmla="*/ 74 w 85"/>
                    <a:gd name="T3" fmla="*/ 46 h 49"/>
                    <a:gd name="T4" fmla="*/ 42 w 85"/>
                    <a:gd name="T5" fmla="*/ 15 h 49"/>
                    <a:gd name="T6" fmla="*/ 11 w 85"/>
                    <a:gd name="T7" fmla="*/ 46 h 49"/>
                    <a:gd name="T8" fmla="*/ 2 w 85"/>
                    <a:gd name="T9" fmla="*/ 46 h 49"/>
                    <a:gd name="T10" fmla="*/ 2 w 85"/>
                    <a:gd name="T11" fmla="*/ 38 h 49"/>
                    <a:gd name="T12" fmla="*/ 38 w 85"/>
                    <a:gd name="T13" fmla="*/ 2 h 49"/>
                    <a:gd name="T14" fmla="*/ 47 w 85"/>
                    <a:gd name="T15" fmla="*/ 2 h 49"/>
                    <a:gd name="T16" fmla="*/ 83 w 85"/>
                    <a:gd name="T17" fmla="*/ 38 h 49"/>
                    <a:gd name="T18" fmla="*/ 83 w 85"/>
                    <a:gd name="T19" fmla="*/ 46 h 49"/>
                    <a:gd name="T20" fmla="*/ 78 w 85"/>
                    <a:gd name="T21" fmla="*/ 4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49">
                      <a:moveTo>
                        <a:pt x="78" y="48"/>
                      </a:moveTo>
                      <a:cubicBezTo>
                        <a:pt x="77" y="48"/>
                        <a:pt x="75" y="48"/>
                        <a:pt x="74" y="46"/>
                      </a:cubicBezTo>
                      <a:cubicBezTo>
                        <a:pt x="42" y="15"/>
                        <a:pt x="42" y="15"/>
                        <a:pt x="42" y="15"/>
                      </a:cubicBezTo>
                      <a:cubicBezTo>
                        <a:pt x="11" y="46"/>
                        <a:pt x="11" y="46"/>
                        <a:pt x="11" y="46"/>
                      </a:cubicBezTo>
                      <a:cubicBezTo>
                        <a:pt x="8" y="49"/>
                        <a:pt x="5" y="49"/>
                        <a:pt x="2" y="46"/>
                      </a:cubicBezTo>
                      <a:cubicBezTo>
                        <a:pt x="0" y="44"/>
                        <a:pt x="0" y="40"/>
                        <a:pt x="2" y="38"/>
                      </a:cubicBezTo>
                      <a:cubicBezTo>
                        <a:pt x="38" y="2"/>
                        <a:pt x="38" y="2"/>
                        <a:pt x="38" y="2"/>
                      </a:cubicBezTo>
                      <a:cubicBezTo>
                        <a:pt x="41" y="0"/>
                        <a:pt x="44" y="0"/>
                        <a:pt x="47" y="2"/>
                      </a:cubicBezTo>
                      <a:cubicBezTo>
                        <a:pt x="83" y="38"/>
                        <a:pt x="83" y="38"/>
                        <a:pt x="83" y="38"/>
                      </a:cubicBezTo>
                      <a:cubicBezTo>
                        <a:pt x="85" y="40"/>
                        <a:pt x="85" y="44"/>
                        <a:pt x="83" y="46"/>
                      </a:cubicBezTo>
                      <a:cubicBezTo>
                        <a:pt x="82" y="48"/>
                        <a:pt x="80" y="48"/>
                        <a:pt x="78"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03" name="Freeform 37">
                  <a:extLst>
                    <a:ext uri="{FF2B5EF4-FFF2-40B4-BE49-F238E27FC236}">
                      <a16:creationId xmlns:a16="http://schemas.microsoft.com/office/drawing/2014/main" id="{4669BDB9-BD1D-7EF1-359E-5814D406798E}"/>
                    </a:ext>
                  </a:extLst>
                </p:cNvPr>
                <p:cNvSpPr>
                  <a:spLocks noEditPoints="1"/>
                </p:cNvSpPr>
                <p:nvPr/>
              </p:nvSpPr>
              <p:spPr bwMode="auto">
                <a:xfrm>
                  <a:off x="397" y="566"/>
                  <a:ext cx="338" cy="177"/>
                </a:xfrm>
                <a:custGeom>
                  <a:avLst/>
                  <a:gdLst>
                    <a:gd name="T0" fmla="*/ 222 w 228"/>
                    <a:gd name="T1" fmla="*/ 120 h 120"/>
                    <a:gd name="T2" fmla="*/ 6 w 228"/>
                    <a:gd name="T3" fmla="*/ 120 h 120"/>
                    <a:gd name="T4" fmla="*/ 0 w 228"/>
                    <a:gd name="T5" fmla="*/ 114 h 120"/>
                    <a:gd name="T6" fmla="*/ 0 w 228"/>
                    <a:gd name="T7" fmla="*/ 6 h 120"/>
                    <a:gd name="T8" fmla="*/ 6 w 228"/>
                    <a:gd name="T9" fmla="*/ 0 h 120"/>
                    <a:gd name="T10" fmla="*/ 222 w 228"/>
                    <a:gd name="T11" fmla="*/ 0 h 120"/>
                    <a:gd name="T12" fmla="*/ 228 w 228"/>
                    <a:gd name="T13" fmla="*/ 6 h 120"/>
                    <a:gd name="T14" fmla="*/ 228 w 228"/>
                    <a:gd name="T15" fmla="*/ 114 h 120"/>
                    <a:gd name="T16" fmla="*/ 222 w 228"/>
                    <a:gd name="T17" fmla="*/ 120 h 120"/>
                    <a:gd name="T18" fmla="*/ 12 w 228"/>
                    <a:gd name="T19" fmla="*/ 108 h 120"/>
                    <a:gd name="T20" fmla="*/ 216 w 228"/>
                    <a:gd name="T21" fmla="*/ 108 h 120"/>
                    <a:gd name="T22" fmla="*/ 216 w 228"/>
                    <a:gd name="T23" fmla="*/ 12 h 120"/>
                    <a:gd name="T24" fmla="*/ 12 w 228"/>
                    <a:gd name="T25" fmla="*/ 12 h 120"/>
                    <a:gd name="T26" fmla="*/ 12 w 228"/>
                    <a:gd name="T2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8" h="120">
                      <a:moveTo>
                        <a:pt x="222" y="120"/>
                      </a:moveTo>
                      <a:cubicBezTo>
                        <a:pt x="6" y="120"/>
                        <a:pt x="6" y="120"/>
                        <a:pt x="6" y="120"/>
                      </a:cubicBezTo>
                      <a:cubicBezTo>
                        <a:pt x="3" y="120"/>
                        <a:pt x="0" y="118"/>
                        <a:pt x="0" y="114"/>
                      </a:cubicBezTo>
                      <a:cubicBezTo>
                        <a:pt x="0" y="6"/>
                        <a:pt x="0" y="6"/>
                        <a:pt x="0" y="6"/>
                      </a:cubicBezTo>
                      <a:cubicBezTo>
                        <a:pt x="0" y="3"/>
                        <a:pt x="3" y="0"/>
                        <a:pt x="6" y="0"/>
                      </a:cubicBezTo>
                      <a:cubicBezTo>
                        <a:pt x="222" y="0"/>
                        <a:pt x="222" y="0"/>
                        <a:pt x="222" y="0"/>
                      </a:cubicBezTo>
                      <a:cubicBezTo>
                        <a:pt x="226" y="0"/>
                        <a:pt x="228" y="3"/>
                        <a:pt x="228" y="6"/>
                      </a:cubicBezTo>
                      <a:cubicBezTo>
                        <a:pt x="228" y="114"/>
                        <a:pt x="228" y="114"/>
                        <a:pt x="228" y="114"/>
                      </a:cubicBezTo>
                      <a:cubicBezTo>
                        <a:pt x="228" y="118"/>
                        <a:pt x="226" y="120"/>
                        <a:pt x="222" y="120"/>
                      </a:cubicBezTo>
                      <a:close/>
                      <a:moveTo>
                        <a:pt x="12" y="108"/>
                      </a:moveTo>
                      <a:cubicBezTo>
                        <a:pt x="216" y="108"/>
                        <a:pt x="216" y="108"/>
                        <a:pt x="216" y="108"/>
                      </a:cubicBezTo>
                      <a:cubicBezTo>
                        <a:pt x="216" y="12"/>
                        <a:pt x="216" y="12"/>
                        <a:pt x="216" y="12"/>
                      </a:cubicBezTo>
                      <a:cubicBezTo>
                        <a:pt x="12" y="12"/>
                        <a:pt x="12" y="12"/>
                        <a:pt x="12" y="12"/>
                      </a:cubicBezTo>
                      <a:lnTo>
                        <a:pt x="1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04" name="Freeform 38">
                  <a:extLst>
                    <a:ext uri="{FF2B5EF4-FFF2-40B4-BE49-F238E27FC236}">
                      <a16:creationId xmlns:a16="http://schemas.microsoft.com/office/drawing/2014/main" id="{BB52C74F-02DC-958E-0B84-EEE30CE5D9F4}"/>
                    </a:ext>
                  </a:extLst>
                </p:cNvPr>
                <p:cNvSpPr>
                  <a:spLocks/>
                </p:cNvSpPr>
                <p:nvPr/>
              </p:nvSpPr>
              <p:spPr bwMode="auto">
                <a:xfrm>
                  <a:off x="450" y="601"/>
                  <a:ext cx="65" cy="107"/>
                </a:xfrm>
                <a:custGeom>
                  <a:avLst/>
                  <a:gdLst>
                    <a:gd name="T0" fmla="*/ 6 w 44"/>
                    <a:gd name="T1" fmla="*/ 72 h 72"/>
                    <a:gd name="T2" fmla="*/ 0 w 44"/>
                    <a:gd name="T3" fmla="*/ 66 h 72"/>
                    <a:gd name="T4" fmla="*/ 0 w 44"/>
                    <a:gd name="T5" fmla="*/ 6 h 72"/>
                    <a:gd name="T6" fmla="*/ 6 w 44"/>
                    <a:gd name="T7" fmla="*/ 0 h 72"/>
                    <a:gd name="T8" fmla="*/ 38 w 44"/>
                    <a:gd name="T9" fmla="*/ 0 h 72"/>
                    <a:gd name="T10" fmla="*/ 44 w 44"/>
                    <a:gd name="T11" fmla="*/ 6 h 72"/>
                    <a:gd name="T12" fmla="*/ 38 w 44"/>
                    <a:gd name="T13" fmla="*/ 12 h 72"/>
                    <a:gd name="T14" fmla="*/ 12 w 44"/>
                    <a:gd name="T15" fmla="*/ 12 h 72"/>
                    <a:gd name="T16" fmla="*/ 12 w 44"/>
                    <a:gd name="T17" fmla="*/ 66 h 72"/>
                    <a:gd name="T18" fmla="*/ 6 w 44"/>
                    <a:gd name="T19"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2">
                      <a:moveTo>
                        <a:pt x="6" y="72"/>
                      </a:moveTo>
                      <a:cubicBezTo>
                        <a:pt x="3" y="72"/>
                        <a:pt x="0" y="70"/>
                        <a:pt x="0" y="66"/>
                      </a:cubicBezTo>
                      <a:cubicBezTo>
                        <a:pt x="0" y="6"/>
                        <a:pt x="0" y="6"/>
                        <a:pt x="0" y="6"/>
                      </a:cubicBezTo>
                      <a:cubicBezTo>
                        <a:pt x="0" y="3"/>
                        <a:pt x="3" y="0"/>
                        <a:pt x="6" y="0"/>
                      </a:cubicBezTo>
                      <a:cubicBezTo>
                        <a:pt x="38" y="0"/>
                        <a:pt x="38" y="0"/>
                        <a:pt x="38" y="0"/>
                      </a:cubicBezTo>
                      <a:cubicBezTo>
                        <a:pt x="41" y="0"/>
                        <a:pt x="44" y="3"/>
                        <a:pt x="44" y="6"/>
                      </a:cubicBezTo>
                      <a:cubicBezTo>
                        <a:pt x="44" y="10"/>
                        <a:pt x="41" y="12"/>
                        <a:pt x="38" y="12"/>
                      </a:cubicBezTo>
                      <a:cubicBezTo>
                        <a:pt x="12" y="12"/>
                        <a:pt x="12" y="12"/>
                        <a:pt x="12" y="12"/>
                      </a:cubicBezTo>
                      <a:cubicBezTo>
                        <a:pt x="12" y="66"/>
                        <a:pt x="12" y="66"/>
                        <a:pt x="12" y="66"/>
                      </a:cubicBezTo>
                      <a:cubicBezTo>
                        <a:pt x="12" y="70"/>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05" name="Freeform 39">
                  <a:extLst>
                    <a:ext uri="{FF2B5EF4-FFF2-40B4-BE49-F238E27FC236}">
                      <a16:creationId xmlns:a16="http://schemas.microsoft.com/office/drawing/2014/main" id="{4ED76895-08DC-FB6E-38EB-1246B7D6AE88}"/>
                    </a:ext>
                  </a:extLst>
                </p:cNvPr>
                <p:cNvSpPr>
                  <a:spLocks/>
                </p:cNvSpPr>
                <p:nvPr/>
              </p:nvSpPr>
              <p:spPr bwMode="auto">
                <a:xfrm>
                  <a:off x="459" y="655"/>
                  <a:ext cx="44" cy="17"/>
                </a:xfrm>
                <a:custGeom>
                  <a:avLst/>
                  <a:gdLst>
                    <a:gd name="T0" fmla="*/ 24 w 30"/>
                    <a:gd name="T1" fmla="*/ 12 h 12"/>
                    <a:gd name="T2" fmla="*/ 6 w 30"/>
                    <a:gd name="T3" fmla="*/ 12 h 12"/>
                    <a:gd name="T4" fmla="*/ 0 w 30"/>
                    <a:gd name="T5" fmla="*/ 6 h 12"/>
                    <a:gd name="T6" fmla="*/ 6 w 30"/>
                    <a:gd name="T7" fmla="*/ 0 h 12"/>
                    <a:gd name="T8" fmla="*/ 24 w 30"/>
                    <a:gd name="T9" fmla="*/ 0 h 12"/>
                    <a:gd name="T10" fmla="*/ 30 w 30"/>
                    <a:gd name="T11" fmla="*/ 6 h 12"/>
                    <a:gd name="T12" fmla="*/ 24 w 3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0" h="12">
                      <a:moveTo>
                        <a:pt x="24" y="12"/>
                      </a:moveTo>
                      <a:cubicBezTo>
                        <a:pt x="6" y="12"/>
                        <a:pt x="6" y="12"/>
                        <a:pt x="6" y="12"/>
                      </a:cubicBezTo>
                      <a:cubicBezTo>
                        <a:pt x="3" y="12"/>
                        <a:pt x="0" y="10"/>
                        <a:pt x="0" y="6"/>
                      </a:cubicBezTo>
                      <a:cubicBezTo>
                        <a:pt x="0" y="3"/>
                        <a:pt x="3" y="0"/>
                        <a:pt x="6" y="0"/>
                      </a:cubicBezTo>
                      <a:cubicBezTo>
                        <a:pt x="24" y="0"/>
                        <a:pt x="24" y="0"/>
                        <a:pt x="24" y="0"/>
                      </a:cubicBezTo>
                      <a:cubicBezTo>
                        <a:pt x="28" y="0"/>
                        <a:pt x="30" y="3"/>
                        <a:pt x="30" y="6"/>
                      </a:cubicBezTo>
                      <a:cubicBezTo>
                        <a:pt x="30" y="10"/>
                        <a:pt x="28"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06" name="Freeform 40">
                  <a:extLst>
                    <a:ext uri="{FF2B5EF4-FFF2-40B4-BE49-F238E27FC236}">
                      <a16:creationId xmlns:a16="http://schemas.microsoft.com/office/drawing/2014/main" id="{D42D2957-EF99-224A-24FC-4E04888D8A9D}"/>
                    </a:ext>
                  </a:extLst>
                </p:cNvPr>
                <p:cNvSpPr>
                  <a:spLocks noEditPoints="1"/>
                </p:cNvSpPr>
                <p:nvPr/>
              </p:nvSpPr>
              <p:spPr bwMode="auto">
                <a:xfrm>
                  <a:off x="610" y="601"/>
                  <a:ext cx="71" cy="107"/>
                </a:xfrm>
                <a:custGeom>
                  <a:avLst/>
                  <a:gdLst>
                    <a:gd name="T0" fmla="*/ 6 w 48"/>
                    <a:gd name="T1" fmla="*/ 72 h 72"/>
                    <a:gd name="T2" fmla="*/ 0 w 48"/>
                    <a:gd name="T3" fmla="*/ 66 h 72"/>
                    <a:gd name="T4" fmla="*/ 0 w 48"/>
                    <a:gd name="T5" fmla="*/ 6 h 72"/>
                    <a:gd name="T6" fmla="*/ 6 w 48"/>
                    <a:gd name="T7" fmla="*/ 0 h 72"/>
                    <a:gd name="T8" fmla="*/ 23 w 48"/>
                    <a:gd name="T9" fmla="*/ 0 h 72"/>
                    <a:gd name="T10" fmla="*/ 48 w 48"/>
                    <a:gd name="T11" fmla="*/ 24 h 72"/>
                    <a:gd name="T12" fmla="*/ 24 w 48"/>
                    <a:gd name="T13" fmla="*/ 48 h 72"/>
                    <a:gd name="T14" fmla="*/ 12 w 48"/>
                    <a:gd name="T15" fmla="*/ 48 h 72"/>
                    <a:gd name="T16" fmla="*/ 12 w 48"/>
                    <a:gd name="T17" fmla="*/ 66 h 72"/>
                    <a:gd name="T18" fmla="*/ 6 w 48"/>
                    <a:gd name="T19" fmla="*/ 72 h 72"/>
                    <a:gd name="T20" fmla="*/ 12 w 48"/>
                    <a:gd name="T21" fmla="*/ 36 h 72"/>
                    <a:gd name="T22" fmla="*/ 24 w 48"/>
                    <a:gd name="T23" fmla="*/ 36 h 72"/>
                    <a:gd name="T24" fmla="*/ 36 w 48"/>
                    <a:gd name="T25" fmla="*/ 24 h 72"/>
                    <a:gd name="T26" fmla="*/ 23 w 48"/>
                    <a:gd name="T27" fmla="*/ 12 h 72"/>
                    <a:gd name="T28" fmla="*/ 12 w 48"/>
                    <a:gd name="T29" fmla="*/ 12 h 72"/>
                    <a:gd name="T30" fmla="*/ 12 w 48"/>
                    <a:gd name="T31"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 h="72">
                      <a:moveTo>
                        <a:pt x="6" y="72"/>
                      </a:moveTo>
                      <a:cubicBezTo>
                        <a:pt x="3" y="72"/>
                        <a:pt x="0" y="70"/>
                        <a:pt x="0" y="66"/>
                      </a:cubicBezTo>
                      <a:cubicBezTo>
                        <a:pt x="0" y="6"/>
                        <a:pt x="0" y="6"/>
                        <a:pt x="0" y="6"/>
                      </a:cubicBezTo>
                      <a:cubicBezTo>
                        <a:pt x="0" y="3"/>
                        <a:pt x="3" y="0"/>
                        <a:pt x="6" y="0"/>
                      </a:cubicBezTo>
                      <a:cubicBezTo>
                        <a:pt x="23" y="0"/>
                        <a:pt x="23" y="0"/>
                        <a:pt x="23" y="0"/>
                      </a:cubicBezTo>
                      <a:cubicBezTo>
                        <a:pt x="40" y="0"/>
                        <a:pt x="48" y="12"/>
                        <a:pt x="48" y="24"/>
                      </a:cubicBezTo>
                      <a:cubicBezTo>
                        <a:pt x="48" y="36"/>
                        <a:pt x="40" y="48"/>
                        <a:pt x="24" y="48"/>
                      </a:cubicBezTo>
                      <a:cubicBezTo>
                        <a:pt x="12" y="48"/>
                        <a:pt x="12" y="48"/>
                        <a:pt x="12" y="48"/>
                      </a:cubicBezTo>
                      <a:cubicBezTo>
                        <a:pt x="12" y="66"/>
                        <a:pt x="12" y="66"/>
                        <a:pt x="12" y="66"/>
                      </a:cubicBezTo>
                      <a:cubicBezTo>
                        <a:pt x="12" y="70"/>
                        <a:pt x="10" y="72"/>
                        <a:pt x="6" y="72"/>
                      </a:cubicBezTo>
                      <a:close/>
                      <a:moveTo>
                        <a:pt x="12" y="36"/>
                      </a:moveTo>
                      <a:cubicBezTo>
                        <a:pt x="24" y="36"/>
                        <a:pt x="24" y="36"/>
                        <a:pt x="24" y="36"/>
                      </a:cubicBezTo>
                      <a:cubicBezTo>
                        <a:pt x="33" y="36"/>
                        <a:pt x="36" y="29"/>
                        <a:pt x="36" y="24"/>
                      </a:cubicBezTo>
                      <a:cubicBezTo>
                        <a:pt x="36" y="20"/>
                        <a:pt x="34" y="12"/>
                        <a:pt x="23"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07" name="Freeform 41">
                  <a:extLst>
                    <a:ext uri="{FF2B5EF4-FFF2-40B4-BE49-F238E27FC236}">
                      <a16:creationId xmlns:a16="http://schemas.microsoft.com/office/drawing/2014/main" id="{46157E7D-9A9B-7B4B-C9D9-6E2DC56DDD84}"/>
                    </a:ext>
                  </a:extLst>
                </p:cNvPr>
                <p:cNvSpPr>
                  <a:spLocks/>
                </p:cNvSpPr>
                <p:nvPr/>
              </p:nvSpPr>
              <p:spPr bwMode="auto">
                <a:xfrm>
                  <a:off x="557" y="601"/>
                  <a:ext cx="18" cy="107"/>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70"/>
                        <a:pt x="0" y="66"/>
                      </a:cubicBezTo>
                      <a:cubicBezTo>
                        <a:pt x="0" y="6"/>
                        <a:pt x="0" y="6"/>
                        <a:pt x="0" y="6"/>
                      </a:cubicBezTo>
                      <a:cubicBezTo>
                        <a:pt x="0" y="3"/>
                        <a:pt x="3" y="0"/>
                        <a:pt x="6" y="0"/>
                      </a:cubicBezTo>
                      <a:cubicBezTo>
                        <a:pt x="10" y="0"/>
                        <a:pt x="12" y="3"/>
                        <a:pt x="12" y="6"/>
                      </a:cubicBezTo>
                      <a:cubicBezTo>
                        <a:pt x="12" y="66"/>
                        <a:pt x="12" y="66"/>
                        <a:pt x="12" y="66"/>
                      </a:cubicBezTo>
                      <a:cubicBezTo>
                        <a:pt x="12" y="70"/>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308" name="Freeform 42">
                  <a:extLst>
                    <a:ext uri="{FF2B5EF4-FFF2-40B4-BE49-F238E27FC236}">
                      <a16:creationId xmlns:a16="http://schemas.microsoft.com/office/drawing/2014/main" id="{10A975C0-3569-AC0B-736A-4DB9561AF43F}"/>
                    </a:ext>
                  </a:extLst>
                </p:cNvPr>
                <p:cNvSpPr>
                  <a:spLocks/>
                </p:cNvSpPr>
                <p:nvPr/>
              </p:nvSpPr>
              <p:spPr bwMode="auto">
                <a:xfrm>
                  <a:off x="530" y="601"/>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6" y="0"/>
                        <a:pt x="48" y="3"/>
                        <a:pt x="48" y="6"/>
                      </a:cubicBezTo>
                      <a:cubicBezTo>
                        <a:pt x="48" y="10"/>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23" name="Group 248">
                <a:extLst>
                  <a:ext uri="{FF2B5EF4-FFF2-40B4-BE49-F238E27FC236}">
                    <a16:creationId xmlns:a16="http://schemas.microsoft.com/office/drawing/2014/main" id="{62409CA9-79E4-2FED-2D65-09F6DE3E6EB6}"/>
                  </a:ext>
                </a:extLst>
              </p:cNvPr>
              <p:cNvGrpSpPr>
                <a:grpSpLocks noChangeAspect="1"/>
              </p:cNvGrpSpPr>
              <p:nvPr/>
            </p:nvGrpSpPr>
            <p:grpSpPr bwMode="auto">
              <a:xfrm>
                <a:off x="7292817" y="6127571"/>
                <a:ext cx="422663" cy="420688"/>
                <a:chOff x="351" y="438"/>
                <a:chExt cx="428" cy="426"/>
              </a:xfrm>
              <a:solidFill>
                <a:schemeClr val="tx1"/>
              </a:solidFill>
            </p:grpSpPr>
            <p:sp>
              <p:nvSpPr>
                <p:cNvPr id="283" name="Freeform 249">
                  <a:extLst>
                    <a:ext uri="{FF2B5EF4-FFF2-40B4-BE49-F238E27FC236}">
                      <a16:creationId xmlns:a16="http://schemas.microsoft.com/office/drawing/2014/main" id="{53987142-4BCB-993E-9DAC-EBBD01997A5E}"/>
                    </a:ext>
                  </a:extLst>
                </p:cNvPr>
                <p:cNvSpPr>
                  <a:spLocks noEditPoints="1"/>
                </p:cNvSpPr>
                <p:nvPr/>
              </p:nvSpPr>
              <p:spPr bwMode="auto">
                <a:xfrm>
                  <a:off x="351" y="527"/>
                  <a:ext cx="426" cy="124"/>
                </a:xfrm>
                <a:custGeom>
                  <a:avLst/>
                  <a:gdLst>
                    <a:gd name="T0" fmla="*/ 282 w 288"/>
                    <a:gd name="T1" fmla="*/ 84 h 84"/>
                    <a:gd name="T2" fmla="*/ 6 w 288"/>
                    <a:gd name="T3" fmla="*/ 84 h 84"/>
                    <a:gd name="T4" fmla="*/ 0 w 288"/>
                    <a:gd name="T5" fmla="*/ 78 h 84"/>
                    <a:gd name="T6" fmla="*/ 0 w 288"/>
                    <a:gd name="T7" fmla="*/ 6 h 84"/>
                    <a:gd name="T8" fmla="*/ 6 w 288"/>
                    <a:gd name="T9" fmla="*/ 0 h 84"/>
                    <a:gd name="T10" fmla="*/ 282 w 288"/>
                    <a:gd name="T11" fmla="*/ 0 h 84"/>
                    <a:gd name="T12" fmla="*/ 288 w 288"/>
                    <a:gd name="T13" fmla="*/ 6 h 84"/>
                    <a:gd name="T14" fmla="*/ 288 w 288"/>
                    <a:gd name="T15" fmla="*/ 78 h 84"/>
                    <a:gd name="T16" fmla="*/ 282 w 288"/>
                    <a:gd name="T17" fmla="*/ 84 h 84"/>
                    <a:gd name="T18" fmla="*/ 12 w 288"/>
                    <a:gd name="T19" fmla="*/ 72 h 84"/>
                    <a:gd name="T20" fmla="*/ 276 w 288"/>
                    <a:gd name="T21" fmla="*/ 72 h 84"/>
                    <a:gd name="T22" fmla="*/ 276 w 288"/>
                    <a:gd name="T23" fmla="*/ 12 h 84"/>
                    <a:gd name="T24" fmla="*/ 12 w 288"/>
                    <a:gd name="T25" fmla="*/ 12 h 84"/>
                    <a:gd name="T26" fmla="*/ 12 w 288"/>
                    <a:gd name="T27" fmla="*/ 7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84">
                      <a:moveTo>
                        <a:pt x="282" y="84"/>
                      </a:moveTo>
                      <a:cubicBezTo>
                        <a:pt x="6" y="84"/>
                        <a:pt x="6" y="84"/>
                        <a:pt x="6" y="84"/>
                      </a:cubicBezTo>
                      <a:cubicBezTo>
                        <a:pt x="3" y="84"/>
                        <a:pt x="0" y="81"/>
                        <a:pt x="0" y="78"/>
                      </a:cubicBezTo>
                      <a:cubicBezTo>
                        <a:pt x="0" y="6"/>
                        <a:pt x="0" y="6"/>
                        <a:pt x="0" y="6"/>
                      </a:cubicBezTo>
                      <a:cubicBezTo>
                        <a:pt x="0" y="2"/>
                        <a:pt x="3" y="0"/>
                        <a:pt x="6" y="0"/>
                      </a:cubicBezTo>
                      <a:cubicBezTo>
                        <a:pt x="282" y="0"/>
                        <a:pt x="282" y="0"/>
                        <a:pt x="282" y="0"/>
                      </a:cubicBezTo>
                      <a:cubicBezTo>
                        <a:pt x="286" y="0"/>
                        <a:pt x="288" y="2"/>
                        <a:pt x="288" y="6"/>
                      </a:cubicBezTo>
                      <a:cubicBezTo>
                        <a:pt x="288" y="78"/>
                        <a:pt x="288" y="78"/>
                        <a:pt x="288" y="78"/>
                      </a:cubicBezTo>
                      <a:cubicBezTo>
                        <a:pt x="288" y="81"/>
                        <a:pt x="286" y="84"/>
                        <a:pt x="282" y="84"/>
                      </a:cubicBezTo>
                      <a:close/>
                      <a:moveTo>
                        <a:pt x="12" y="72"/>
                      </a:moveTo>
                      <a:cubicBezTo>
                        <a:pt x="276" y="72"/>
                        <a:pt x="276" y="72"/>
                        <a:pt x="276" y="72"/>
                      </a:cubicBezTo>
                      <a:cubicBezTo>
                        <a:pt x="276" y="12"/>
                        <a:pt x="276" y="12"/>
                        <a:pt x="276" y="12"/>
                      </a:cubicBezTo>
                      <a:cubicBezTo>
                        <a:pt x="12" y="12"/>
                        <a:pt x="12" y="12"/>
                        <a:pt x="12" y="12"/>
                      </a:cubicBezTo>
                      <a:lnTo>
                        <a:pt x="12"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84" name="Freeform 250">
                  <a:extLst>
                    <a:ext uri="{FF2B5EF4-FFF2-40B4-BE49-F238E27FC236}">
                      <a16:creationId xmlns:a16="http://schemas.microsoft.com/office/drawing/2014/main" id="{6B56B50D-F1BF-3BF8-A095-A4421C7A6A33}"/>
                    </a:ext>
                  </a:extLst>
                </p:cNvPr>
                <p:cNvSpPr>
                  <a:spLocks/>
                </p:cNvSpPr>
                <p:nvPr/>
              </p:nvSpPr>
              <p:spPr bwMode="auto">
                <a:xfrm>
                  <a:off x="351" y="438"/>
                  <a:ext cx="428" cy="106"/>
                </a:xfrm>
                <a:custGeom>
                  <a:avLst/>
                  <a:gdLst>
                    <a:gd name="T0" fmla="*/ 282 w 289"/>
                    <a:gd name="T1" fmla="*/ 72 h 72"/>
                    <a:gd name="T2" fmla="*/ 278 w 289"/>
                    <a:gd name="T3" fmla="*/ 70 h 72"/>
                    <a:gd name="T4" fmla="*/ 208 w 289"/>
                    <a:gd name="T5" fmla="*/ 12 h 72"/>
                    <a:gd name="T6" fmla="*/ 80 w 289"/>
                    <a:gd name="T7" fmla="*/ 12 h 72"/>
                    <a:gd name="T8" fmla="*/ 10 w 289"/>
                    <a:gd name="T9" fmla="*/ 70 h 72"/>
                    <a:gd name="T10" fmla="*/ 2 w 289"/>
                    <a:gd name="T11" fmla="*/ 69 h 72"/>
                    <a:gd name="T12" fmla="*/ 2 w 289"/>
                    <a:gd name="T13" fmla="*/ 61 h 72"/>
                    <a:gd name="T14" fmla="*/ 74 w 289"/>
                    <a:gd name="T15" fmla="*/ 1 h 72"/>
                    <a:gd name="T16" fmla="*/ 78 w 289"/>
                    <a:gd name="T17" fmla="*/ 0 h 72"/>
                    <a:gd name="T18" fmla="*/ 210 w 289"/>
                    <a:gd name="T19" fmla="*/ 0 h 72"/>
                    <a:gd name="T20" fmla="*/ 214 w 289"/>
                    <a:gd name="T21" fmla="*/ 1 h 72"/>
                    <a:gd name="T22" fmla="*/ 286 w 289"/>
                    <a:gd name="T23" fmla="*/ 61 h 72"/>
                    <a:gd name="T24" fmla="*/ 287 w 289"/>
                    <a:gd name="T25" fmla="*/ 69 h 72"/>
                    <a:gd name="T26" fmla="*/ 282 w 289"/>
                    <a:gd name="T27"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72">
                      <a:moveTo>
                        <a:pt x="282" y="72"/>
                      </a:moveTo>
                      <a:cubicBezTo>
                        <a:pt x="281" y="72"/>
                        <a:pt x="280" y="71"/>
                        <a:pt x="278" y="70"/>
                      </a:cubicBezTo>
                      <a:cubicBezTo>
                        <a:pt x="208" y="12"/>
                        <a:pt x="208" y="12"/>
                        <a:pt x="208" y="12"/>
                      </a:cubicBezTo>
                      <a:cubicBezTo>
                        <a:pt x="80" y="12"/>
                        <a:pt x="80" y="12"/>
                        <a:pt x="80" y="12"/>
                      </a:cubicBezTo>
                      <a:cubicBezTo>
                        <a:pt x="10" y="70"/>
                        <a:pt x="10" y="70"/>
                        <a:pt x="10" y="70"/>
                      </a:cubicBezTo>
                      <a:cubicBezTo>
                        <a:pt x="8" y="72"/>
                        <a:pt x="4" y="72"/>
                        <a:pt x="2" y="69"/>
                      </a:cubicBezTo>
                      <a:cubicBezTo>
                        <a:pt x="0" y="67"/>
                        <a:pt x="0" y="63"/>
                        <a:pt x="2" y="61"/>
                      </a:cubicBezTo>
                      <a:cubicBezTo>
                        <a:pt x="74" y="1"/>
                        <a:pt x="74" y="1"/>
                        <a:pt x="74" y="1"/>
                      </a:cubicBezTo>
                      <a:cubicBezTo>
                        <a:pt x="75" y="0"/>
                        <a:pt x="77" y="0"/>
                        <a:pt x="78" y="0"/>
                      </a:cubicBezTo>
                      <a:cubicBezTo>
                        <a:pt x="210" y="0"/>
                        <a:pt x="210" y="0"/>
                        <a:pt x="210" y="0"/>
                      </a:cubicBezTo>
                      <a:cubicBezTo>
                        <a:pt x="212" y="0"/>
                        <a:pt x="213" y="0"/>
                        <a:pt x="214" y="1"/>
                      </a:cubicBezTo>
                      <a:cubicBezTo>
                        <a:pt x="286" y="61"/>
                        <a:pt x="286" y="61"/>
                        <a:pt x="286" y="61"/>
                      </a:cubicBezTo>
                      <a:cubicBezTo>
                        <a:pt x="289" y="63"/>
                        <a:pt x="289" y="67"/>
                        <a:pt x="287" y="69"/>
                      </a:cubicBezTo>
                      <a:cubicBezTo>
                        <a:pt x="286" y="71"/>
                        <a:pt x="284" y="72"/>
                        <a:pt x="282"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85" name="Oval 251">
                  <a:extLst>
                    <a:ext uri="{FF2B5EF4-FFF2-40B4-BE49-F238E27FC236}">
                      <a16:creationId xmlns:a16="http://schemas.microsoft.com/office/drawing/2014/main" id="{4926B3D9-48AA-9FC1-2E20-98B2ABBF70D5}"/>
                    </a:ext>
                  </a:extLst>
                </p:cNvPr>
                <p:cNvSpPr>
                  <a:spLocks noChangeArrowheads="1"/>
                </p:cNvSpPr>
                <p:nvPr/>
              </p:nvSpPr>
              <p:spPr bwMode="auto">
                <a:xfrm>
                  <a:off x="582" y="571"/>
                  <a:ext cx="35"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86" name="Oval 252">
                  <a:extLst>
                    <a:ext uri="{FF2B5EF4-FFF2-40B4-BE49-F238E27FC236}">
                      <a16:creationId xmlns:a16="http://schemas.microsoft.com/office/drawing/2014/main" id="{902F7172-ABBE-B249-9D9E-B960AAFC8D16}"/>
                    </a:ext>
                  </a:extLst>
                </p:cNvPr>
                <p:cNvSpPr>
                  <a:spLocks noChangeArrowheads="1"/>
                </p:cNvSpPr>
                <p:nvPr/>
              </p:nvSpPr>
              <p:spPr bwMode="auto">
                <a:xfrm>
                  <a:off x="635" y="571"/>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87" name="Oval 253">
                  <a:extLst>
                    <a:ext uri="{FF2B5EF4-FFF2-40B4-BE49-F238E27FC236}">
                      <a16:creationId xmlns:a16="http://schemas.microsoft.com/office/drawing/2014/main" id="{ED9D52F4-1ACB-CBB6-324B-1BABAB4F9F66}"/>
                    </a:ext>
                  </a:extLst>
                </p:cNvPr>
                <p:cNvSpPr>
                  <a:spLocks noChangeArrowheads="1"/>
                </p:cNvSpPr>
                <p:nvPr/>
              </p:nvSpPr>
              <p:spPr bwMode="auto">
                <a:xfrm>
                  <a:off x="688" y="571"/>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88" name="Freeform 254">
                  <a:extLst>
                    <a:ext uri="{FF2B5EF4-FFF2-40B4-BE49-F238E27FC236}">
                      <a16:creationId xmlns:a16="http://schemas.microsoft.com/office/drawing/2014/main" id="{34857323-0725-D7AF-683C-7489B3299E3D}"/>
                    </a:ext>
                  </a:extLst>
                </p:cNvPr>
                <p:cNvSpPr>
                  <a:spLocks noEditPoints="1"/>
                </p:cNvSpPr>
                <p:nvPr/>
              </p:nvSpPr>
              <p:spPr bwMode="auto">
                <a:xfrm>
                  <a:off x="386" y="562"/>
                  <a:ext cx="54" cy="54"/>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8"/>
                        <a:pt x="8" y="0"/>
                        <a:pt x="18" y="0"/>
                      </a:cubicBezTo>
                      <a:cubicBezTo>
                        <a:pt x="28" y="0"/>
                        <a:pt x="36" y="8"/>
                        <a:pt x="36" y="18"/>
                      </a:cubicBezTo>
                      <a:cubicBezTo>
                        <a:pt x="36" y="28"/>
                        <a:pt x="28" y="36"/>
                        <a:pt x="18" y="36"/>
                      </a:cubicBezTo>
                      <a:close/>
                      <a:moveTo>
                        <a:pt x="18" y="12"/>
                      </a:moveTo>
                      <a:cubicBezTo>
                        <a:pt x="15" y="12"/>
                        <a:pt x="12" y="14"/>
                        <a:pt x="12" y="18"/>
                      </a:cubicBezTo>
                      <a:cubicBezTo>
                        <a:pt x="12" y="21"/>
                        <a:pt x="15" y="24"/>
                        <a:pt x="18" y="24"/>
                      </a:cubicBezTo>
                      <a:cubicBezTo>
                        <a:pt x="22" y="24"/>
                        <a:pt x="24" y="21"/>
                        <a:pt x="24" y="18"/>
                      </a:cubicBezTo>
                      <a:cubicBezTo>
                        <a:pt x="24" y="14"/>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89" name="Freeform 255">
                  <a:extLst>
                    <a:ext uri="{FF2B5EF4-FFF2-40B4-BE49-F238E27FC236}">
                      <a16:creationId xmlns:a16="http://schemas.microsoft.com/office/drawing/2014/main" id="{F1389349-66CA-63B6-6B31-CB20F3169B6B}"/>
                    </a:ext>
                  </a:extLst>
                </p:cNvPr>
                <p:cNvSpPr>
                  <a:spLocks/>
                </p:cNvSpPr>
                <p:nvPr/>
              </p:nvSpPr>
              <p:spPr bwMode="auto">
                <a:xfrm>
                  <a:off x="351" y="633"/>
                  <a:ext cx="426" cy="125"/>
                </a:xfrm>
                <a:custGeom>
                  <a:avLst/>
                  <a:gdLst>
                    <a:gd name="T0" fmla="*/ 282 w 288"/>
                    <a:gd name="T1" fmla="*/ 84 h 84"/>
                    <a:gd name="T2" fmla="*/ 6 w 288"/>
                    <a:gd name="T3" fmla="*/ 84 h 84"/>
                    <a:gd name="T4" fmla="*/ 0 w 288"/>
                    <a:gd name="T5" fmla="*/ 78 h 84"/>
                    <a:gd name="T6" fmla="*/ 0 w 288"/>
                    <a:gd name="T7" fmla="*/ 6 h 84"/>
                    <a:gd name="T8" fmla="*/ 6 w 288"/>
                    <a:gd name="T9" fmla="*/ 0 h 84"/>
                    <a:gd name="T10" fmla="*/ 12 w 288"/>
                    <a:gd name="T11" fmla="*/ 6 h 84"/>
                    <a:gd name="T12" fmla="*/ 12 w 288"/>
                    <a:gd name="T13" fmla="*/ 72 h 84"/>
                    <a:gd name="T14" fmla="*/ 276 w 288"/>
                    <a:gd name="T15" fmla="*/ 72 h 84"/>
                    <a:gd name="T16" fmla="*/ 276 w 288"/>
                    <a:gd name="T17" fmla="*/ 6 h 84"/>
                    <a:gd name="T18" fmla="*/ 282 w 288"/>
                    <a:gd name="T19" fmla="*/ 0 h 84"/>
                    <a:gd name="T20" fmla="*/ 288 w 288"/>
                    <a:gd name="T21" fmla="*/ 6 h 84"/>
                    <a:gd name="T22" fmla="*/ 288 w 288"/>
                    <a:gd name="T23" fmla="*/ 78 h 84"/>
                    <a:gd name="T24" fmla="*/ 282 w 288"/>
                    <a:gd name="T2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84">
                      <a:moveTo>
                        <a:pt x="282" y="84"/>
                      </a:moveTo>
                      <a:cubicBezTo>
                        <a:pt x="6" y="84"/>
                        <a:pt x="6" y="84"/>
                        <a:pt x="6" y="84"/>
                      </a:cubicBezTo>
                      <a:cubicBezTo>
                        <a:pt x="3" y="84"/>
                        <a:pt x="0" y="81"/>
                        <a:pt x="0" y="78"/>
                      </a:cubicBezTo>
                      <a:cubicBezTo>
                        <a:pt x="0" y="6"/>
                        <a:pt x="0" y="6"/>
                        <a:pt x="0" y="6"/>
                      </a:cubicBezTo>
                      <a:cubicBezTo>
                        <a:pt x="0" y="2"/>
                        <a:pt x="3" y="0"/>
                        <a:pt x="6" y="0"/>
                      </a:cubicBezTo>
                      <a:cubicBezTo>
                        <a:pt x="10" y="0"/>
                        <a:pt x="12" y="2"/>
                        <a:pt x="12" y="6"/>
                      </a:cubicBezTo>
                      <a:cubicBezTo>
                        <a:pt x="12" y="72"/>
                        <a:pt x="12" y="72"/>
                        <a:pt x="12" y="72"/>
                      </a:cubicBezTo>
                      <a:cubicBezTo>
                        <a:pt x="276" y="72"/>
                        <a:pt x="276" y="72"/>
                        <a:pt x="276" y="72"/>
                      </a:cubicBezTo>
                      <a:cubicBezTo>
                        <a:pt x="276" y="6"/>
                        <a:pt x="276" y="6"/>
                        <a:pt x="276" y="6"/>
                      </a:cubicBezTo>
                      <a:cubicBezTo>
                        <a:pt x="276" y="2"/>
                        <a:pt x="279" y="0"/>
                        <a:pt x="282" y="0"/>
                      </a:cubicBezTo>
                      <a:cubicBezTo>
                        <a:pt x="286" y="0"/>
                        <a:pt x="288" y="2"/>
                        <a:pt x="288" y="6"/>
                      </a:cubicBezTo>
                      <a:cubicBezTo>
                        <a:pt x="288" y="78"/>
                        <a:pt x="288" y="78"/>
                        <a:pt x="288" y="78"/>
                      </a:cubicBezTo>
                      <a:cubicBezTo>
                        <a:pt x="288" y="81"/>
                        <a:pt x="286" y="84"/>
                        <a:pt x="282"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90" name="Oval 256">
                  <a:extLst>
                    <a:ext uri="{FF2B5EF4-FFF2-40B4-BE49-F238E27FC236}">
                      <a16:creationId xmlns:a16="http://schemas.microsoft.com/office/drawing/2014/main" id="{0FDF33D3-E93F-7519-B24E-65790C593E5B}"/>
                    </a:ext>
                  </a:extLst>
                </p:cNvPr>
                <p:cNvSpPr>
                  <a:spLocks noChangeArrowheads="1"/>
                </p:cNvSpPr>
                <p:nvPr/>
              </p:nvSpPr>
              <p:spPr bwMode="auto">
                <a:xfrm>
                  <a:off x="582" y="678"/>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91" name="Oval 257">
                  <a:extLst>
                    <a:ext uri="{FF2B5EF4-FFF2-40B4-BE49-F238E27FC236}">
                      <a16:creationId xmlns:a16="http://schemas.microsoft.com/office/drawing/2014/main" id="{9A550ED6-6647-A563-BB84-BC1D19337B1B}"/>
                    </a:ext>
                  </a:extLst>
                </p:cNvPr>
                <p:cNvSpPr>
                  <a:spLocks noChangeArrowheads="1"/>
                </p:cNvSpPr>
                <p:nvPr/>
              </p:nvSpPr>
              <p:spPr bwMode="auto">
                <a:xfrm>
                  <a:off x="635" y="678"/>
                  <a:ext cx="36"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92" name="Oval 258">
                  <a:extLst>
                    <a:ext uri="{FF2B5EF4-FFF2-40B4-BE49-F238E27FC236}">
                      <a16:creationId xmlns:a16="http://schemas.microsoft.com/office/drawing/2014/main" id="{E454728E-B084-E73B-896B-4BEF8797BE1F}"/>
                    </a:ext>
                  </a:extLst>
                </p:cNvPr>
                <p:cNvSpPr>
                  <a:spLocks noChangeArrowheads="1"/>
                </p:cNvSpPr>
                <p:nvPr/>
              </p:nvSpPr>
              <p:spPr bwMode="auto">
                <a:xfrm>
                  <a:off x="688" y="678"/>
                  <a:ext cx="36"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93" name="Freeform 259">
                  <a:extLst>
                    <a:ext uri="{FF2B5EF4-FFF2-40B4-BE49-F238E27FC236}">
                      <a16:creationId xmlns:a16="http://schemas.microsoft.com/office/drawing/2014/main" id="{311A92A2-C89D-F261-B96E-D93CB04FF996}"/>
                    </a:ext>
                  </a:extLst>
                </p:cNvPr>
                <p:cNvSpPr>
                  <a:spLocks noEditPoints="1"/>
                </p:cNvSpPr>
                <p:nvPr/>
              </p:nvSpPr>
              <p:spPr bwMode="auto">
                <a:xfrm>
                  <a:off x="386" y="669"/>
                  <a:ext cx="54" cy="53"/>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8"/>
                        <a:pt x="8" y="0"/>
                        <a:pt x="18" y="0"/>
                      </a:cubicBezTo>
                      <a:cubicBezTo>
                        <a:pt x="28" y="0"/>
                        <a:pt x="36" y="8"/>
                        <a:pt x="36" y="18"/>
                      </a:cubicBezTo>
                      <a:cubicBezTo>
                        <a:pt x="36" y="28"/>
                        <a:pt x="28" y="36"/>
                        <a:pt x="18" y="36"/>
                      </a:cubicBezTo>
                      <a:close/>
                      <a:moveTo>
                        <a:pt x="18" y="12"/>
                      </a:moveTo>
                      <a:cubicBezTo>
                        <a:pt x="15" y="12"/>
                        <a:pt x="12" y="14"/>
                        <a:pt x="12" y="18"/>
                      </a:cubicBezTo>
                      <a:cubicBezTo>
                        <a:pt x="12" y="21"/>
                        <a:pt x="15" y="24"/>
                        <a:pt x="18" y="24"/>
                      </a:cubicBezTo>
                      <a:cubicBezTo>
                        <a:pt x="22" y="24"/>
                        <a:pt x="24" y="21"/>
                        <a:pt x="24" y="18"/>
                      </a:cubicBezTo>
                      <a:cubicBezTo>
                        <a:pt x="24" y="14"/>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94" name="Freeform 260">
                  <a:extLst>
                    <a:ext uri="{FF2B5EF4-FFF2-40B4-BE49-F238E27FC236}">
                      <a16:creationId xmlns:a16="http://schemas.microsoft.com/office/drawing/2014/main" id="{EF796FBE-8F6F-4D14-3A3A-1A21AFD98212}"/>
                    </a:ext>
                  </a:extLst>
                </p:cNvPr>
                <p:cNvSpPr>
                  <a:spLocks/>
                </p:cNvSpPr>
                <p:nvPr/>
              </p:nvSpPr>
              <p:spPr bwMode="auto">
                <a:xfrm>
                  <a:off x="351" y="740"/>
                  <a:ext cx="426" cy="124"/>
                </a:xfrm>
                <a:custGeom>
                  <a:avLst/>
                  <a:gdLst>
                    <a:gd name="T0" fmla="*/ 258 w 288"/>
                    <a:gd name="T1" fmla="*/ 84 h 84"/>
                    <a:gd name="T2" fmla="*/ 30 w 288"/>
                    <a:gd name="T3" fmla="*/ 84 h 84"/>
                    <a:gd name="T4" fmla="*/ 0 w 288"/>
                    <a:gd name="T5" fmla="*/ 54 h 84"/>
                    <a:gd name="T6" fmla="*/ 0 w 288"/>
                    <a:gd name="T7" fmla="*/ 6 h 84"/>
                    <a:gd name="T8" fmla="*/ 6 w 288"/>
                    <a:gd name="T9" fmla="*/ 0 h 84"/>
                    <a:gd name="T10" fmla="*/ 12 w 288"/>
                    <a:gd name="T11" fmla="*/ 6 h 84"/>
                    <a:gd name="T12" fmla="*/ 12 w 288"/>
                    <a:gd name="T13" fmla="*/ 54 h 84"/>
                    <a:gd name="T14" fmla="*/ 30 w 288"/>
                    <a:gd name="T15" fmla="*/ 72 h 84"/>
                    <a:gd name="T16" fmla="*/ 258 w 288"/>
                    <a:gd name="T17" fmla="*/ 72 h 84"/>
                    <a:gd name="T18" fmla="*/ 276 w 288"/>
                    <a:gd name="T19" fmla="*/ 54 h 84"/>
                    <a:gd name="T20" fmla="*/ 276 w 288"/>
                    <a:gd name="T21" fmla="*/ 6 h 84"/>
                    <a:gd name="T22" fmla="*/ 282 w 288"/>
                    <a:gd name="T23" fmla="*/ 0 h 84"/>
                    <a:gd name="T24" fmla="*/ 288 w 288"/>
                    <a:gd name="T25" fmla="*/ 6 h 84"/>
                    <a:gd name="T26" fmla="*/ 288 w 288"/>
                    <a:gd name="T27" fmla="*/ 54 h 84"/>
                    <a:gd name="T28" fmla="*/ 258 w 288"/>
                    <a:gd name="T2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84">
                      <a:moveTo>
                        <a:pt x="258" y="84"/>
                      </a:moveTo>
                      <a:cubicBezTo>
                        <a:pt x="30" y="84"/>
                        <a:pt x="30" y="84"/>
                        <a:pt x="30" y="84"/>
                      </a:cubicBezTo>
                      <a:cubicBezTo>
                        <a:pt x="14" y="84"/>
                        <a:pt x="0" y="70"/>
                        <a:pt x="0" y="54"/>
                      </a:cubicBezTo>
                      <a:cubicBezTo>
                        <a:pt x="0" y="6"/>
                        <a:pt x="0" y="6"/>
                        <a:pt x="0" y="6"/>
                      </a:cubicBezTo>
                      <a:cubicBezTo>
                        <a:pt x="0" y="2"/>
                        <a:pt x="3" y="0"/>
                        <a:pt x="6" y="0"/>
                      </a:cubicBezTo>
                      <a:cubicBezTo>
                        <a:pt x="10" y="0"/>
                        <a:pt x="12" y="2"/>
                        <a:pt x="12" y="6"/>
                      </a:cubicBezTo>
                      <a:cubicBezTo>
                        <a:pt x="12" y="54"/>
                        <a:pt x="12" y="54"/>
                        <a:pt x="12" y="54"/>
                      </a:cubicBezTo>
                      <a:cubicBezTo>
                        <a:pt x="12" y="64"/>
                        <a:pt x="20" y="72"/>
                        <a:pt x="30" y="72"/>
                      </a:cubicBezTo>
                      <a:cubicBezTo>
                        <a:pt x="258" y="72"/>
                        <a:pt x="258" y="72"/>
                        <a:pt x="258" y="72"/>
                      </a:cubicBezTo>
                      <a:cubicBezTo>
                        <a:pt x="268" y="72"/>
                        <a:pt x="276" y="64"/>
                        <a:pt x="276" y="54"/>
                      </a:cubicBezTo>
                      <a:cubicBezTo>
                        <a:pt x="276" y="6"/>
                        <a:pt x="276" y="6"/>
                        <a:pt x="276" y="6"/>
                      </a:cubicBezTo>
                      <a:cubicBezTo>
                        <a:pt x="276" y="2"/>
                        <a:pt x="279" y="0"/>
                        <a:pt x="282" y="0"/>
                      </a:cubicBezTo>
                      <a:cubicBezTo>
                        <a:pt x="286" y="0"/>
                        <a:pt x="288" y="2"/>
                        <a:pt x="288" y="6"/>
                      </a:cubicBezTo>
                      <a:cubicBezTo>
                        <a:pt x="288" y="54"/>
                        <a:pt x="288" y="54"/>
                        <a:pt x="288" y="54"/>
                      </a:cubicBezTo>
                      <a:cubicBezTo>
                        <a:pt x="288" y="70"/>
                        <a:pt x="275" y="84"/>
                        <a:pt x="25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95" name="Oval 261">
                  <a:extLst>
                    <a:ext uri="{FF2B5EF4-FFF2-40B4-BE49-F238E27FC236}">
                      <a16:creationId xmlns:a16="http://schemas.microsoft.com/office/drawing/2014/main" id="{8BE5CF30-3605-E077-9E60-7C2BEFBFEAF3}"/>
                    </a:ext>
                  </a:extLst>
                </p:cNvPr>
                <p:cNvSpPr>
                  <a:spLocks noChangeArrowheads="1"/>
                </p:cNvSpPr>
                <p:nvPr/>
              </p:nvSpPr>
              <p:spPr bwMode="auto">
                <a:xfrm>
                  <a:off x="582" y="784"/>
                  <a:ext cx="35"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96" name="Oval 262">
                  <a:extLst>
                    <a:ext uri="{FF2B5EF4-FFF2-40B4-BE49-F238E27FC236}">
                      <a16:creationId xmlns:a16="http://schemas.microsoft.com/office/drawing/2014/main" id="{F8979DD0-5374-C3C2-9209-0C2AD0B6AF85}"/>
                    </a:ext>
                  </a:extLst>
                </p:cNvPr>
                <p:cNvSpPr>
                  <a:spLocks noChangeArrowheads="1"/>
                </p:cNvSpPr>
                <p:nvPr/>
              </p:nvSpPr>
              <p:spPr bwMode="auto">
                <a:xfrm>
                  <a:off x="635" y="784"/>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97" name="Oval 263">
                  <a:extLst>
                    <a:ext uri="{FF2B5EF4-FFF2-40B4-BE49-F238E27FC236}">
                      <a16:creationId xmlns:a16="http://schemas.microsoft.com/office/drawing/2014/main" id="{55C3F9CF-7870-9462-821F-E0798AE9515F}"/>
                    </a:ext>
                  </a:extLst>
                </p:cNvPr>
                <p:cNvSpPr>
                  <a:spLocks noChangeArrowheads="1"/>
                </p:cNvSpPr>
                <p:nvPr/>
              </p:nvSpPr>
              <p:spPr bwMode="auto">
                <a:xfrm>
                  <a:off x="688" y="784"/>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98" name="Freeform 264">
                  <a:extLst>
                    <a:ext uri="{FF2B5EF4-FFF2-40B4-BE49-F238E27FC236}">
                      <a16:creationId xmlns:a16="http://schemas.microsoft.com/office/drawing/2014/main" id="{336148C0-4C64-BAB4-29BD-C17DD272D0C6}"/>
                    </a:ext>
                  </a:extLst>
                </p:cNvPr>
                <p:cNvSpPr>
                  <a:spLocks noEditPoints="1"/>
                </p:cNvSpPr>
                <p:nvPr/>
              </p:nvSpPr>
              <p:spPr bwMode="auto">
                <a:xfrm>
                  <a:off x="386" y="775"/>
                  <a:ext cx="54" cy="54"/>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8"/>
                        <a:pt x="8" y="0"/>
                        <a:pt x="18" y="0"/>
                      </a:cubicBezTo>
                      <a:cubicBezTo>
                        <a:pt x="28" y="0"/>
                        <a:pt x="36" y="8"/>
                        <a:pt x="36" y="18"/>
                      </a:cubicBezTo>
                      <a:cubicBezTo>
                        <a:pt x="36" y="28"/>
                        <a:pt x="28" y="36"/>
                        <a:pt x="18" y="36"/>
                      </a:cubicBezTo>
                      <a:close/>
                      <a:moveTo>
                        <a:pt x="18" y="12"/>
                      </a:moveTo>
                      <a:cubicBezTo>
                        <a:pt x="15" y="12"/>
                        <a:pt x="12" y="14"/>
                        <a:pt x="12" y="18"/>
                      </a:cubicBezTo>
                      <a:cubicBezTo>
                        <a:pt x="12" y="21"/>
                        <a:pt x="15" y="24"/>
                        <a:pt x="18" y="24"/>
                      </a:cubicBezTo>
                      <a:cubicBezTo>
                        <a:pt x="22" y="24"/>
                        <a:pt x="24" y="21"/>
                        <a:pt x="24" y="18"/>
                      </a:cubicBezTo>
                      <a:cubicBezTo>
                        <a:pt x="24" y="14"/>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grpSp>
          <p:grpSp>
            <p:nvGrpSpPr>
              <p:cNvPr id="25" name="Group 226">
                <a:extLst>
                  <a:ext uri="{FF2B5EF4-FFF2-40B4-BE49-F238E27FC236}">
                    <a16:creationId xmlns:a16="http://schemas.microsoft.com/office/drawing/2014/main" id="{1075AF22-A6A4-7792-62F4-9E518CBC71EC}"/>
                  </a:ext>
                </a:extLst>
              </p:cNvPr>
              <p:cNvGrpSpPr>
                <a:grpSpLocks noChangeAspect="1"/>
              </p:cNvGrpSpPr>
              <p:nvPr/>
            </p:nvGrpSpPr>
            <p:grpSpPr bwMode="auto">
              <a:xfrm>
                <a:off x="9096388" y="6127580"/>
                <a:ext cx="393588" cy="431180"/>
                <a:chOff x="2437" y="456"/>
                <a:chExt cx="356" cy="390"/>
              </a:xfrm>
              <a:solidFill>
                <a:schemeClr val="tx1"/>
              </a:solidFill>
            </p:grpSpPr>
            <p:sp>
              <p:nvSpPr>
                <p:cNvPr id="279" name="Freeform 227">
                  <a:extLst>
                    <a:ext uri="{FF2B5EF4-FFF2-40B4-BE49-F238E27FC236}">
                      <a16:creationId xmlns:a16="http://schemas.microsoft.com/office/drawing/2014/main" id="{6609B004-6BC3-A4ED-7511-93689517E87B}"/>
                    </a:ext>
                  </a:extLst>
                </p:cNvPr>
                <p:cNvSpPr>
                  <a:spLocks noEditPoints="1"/>
                </p:cNvSpPr>
                <p:nvPr/>
              </p:nvSpPr>
              <p:spPr bwMode="auto">
                <a:xfrm>
                  <a:off x="2437" y="456"/>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2" y="108"/>
                        <a:pt x="0" y="84"/>
                        <a:pt x="0" y="54"/>
                      </a:cubicBezTo>
                      <a:cubicBezTo>
                        <a:pt x="0" y="23"/>
                        <a:pt x="52"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80" name="Freeform 228">
                  <a:extLst>
                    <a:ext uri="{FF2B5EF4-FFF2-40B4-BE49-F238E27FC236}">
                      <a16:creationId xmlns:a16="http://schemas.microsoft.com/office/drawing/2014/main" id="{FD42951E-5D1B-9A88-F5C1-41AE16013954}"/>
                    </a:ext>
                  </a:extLst>
                </p:cNvPr>
                <p:cNvSpPr>
                  <a:spLocks/>
                </p:cNvSpPr>
                <p:nvPr/>
              </p:nvSpPr>
              <p:spPr bwMode="auto">
                <a:xfrm>
                  <a:off x="2437" y="598"/>
                  <a:ext cx="356" cy="89"/>
                </a:xfrm>
                <a:custGeom>
                  <a:avLst/>
                  <a:gdLst>
                    <a:gd name="T0" fmla="*/ 120 w 240"/>
                    <a:gd name="T1" fmla="*/ 60 h 60"/>
                    <a:gd name="T2" fmla="*/ 0 w 240"/>
                    <a:gd name="T3" fmla="*/ 6 h 60"/>
                    <a:gd name="T4" fmla="*/ 6 w 240"/>
                    <a:gd name="T5" fmla="*/ 0 h 60"/>
                    <a:gd name="T6" fmla="*/ 12 w 240"/>
                    <a:gd name="T7" fmla="*/ 6 h 60"/>
                    <a:gd name="T8" fmla="*/ 120 w 240"/>
                    <a:gd name="T9" fmla="*/ 48 h 60"/>
                    <a:gd name="T10" fmla="*/ 228 w 240"/>
                    <a:gd name="T11" fmla="*/ 6 h 60"/>
                    <a:gd name="T12" fmla="*/ 234 w 240"/>
                    <a:gd name="T13" fmla="*/ 0 h 60"/>
                    <a:gd name="T14" fmla="*/ 240 w 240"/>
                    <a:gd name="T15" fmla="*/ 6 h 60"/>
                    <a:gd name="T16" fmla="*/ 120 w 240"/>
                    <a:gd name="T1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60">
                      <a:moveTo>
                        <a:pt x="120" y="60"/>
                      </a:moveTo>
                      <a:cubicBezTo>
                        <a:pt x="52" y="60"/>
                        <a:pt x="0" y="36"/>
                        <a:pt x="0" y="6"/>
                      </a:cubicBezTo>
                      <a:cubicBezTo>
                        <a:pt x="0" y="2"/>
                        <a:pt x="2" y="0"/>
                        <a:pt x="6" y="0"/>
                      </a:cubicBezTo>
                      <a:cubicBezTo>
                        <a:pt x="9" y="0"/>
                        <a:pt x="12" y="2"/>
                        <a:pt x="12" y="6"/>
                      </a:cubicBezTo>
                      <a:cubicBezTo>
                        <a:pt x="12" y="26"/>
                        <a:pt x="56" y="48"/>
                        <a:pt x="120" y="48"/>
                      </a:cubicBezTo>
                      <a:cubicBezTo>
                        <a:pt x="183" y="48"/>
                        <a:pt x="228" y="26"/>
                        <a:pt x="228" y="6"/>
                      </a:cubicBezTo>
                      <a:cubicBezTo>
                        <a:pt x="228" y="2"/>
                        <a:pt x="230" y="0"/>
                        <a:pt x="234" y="0"/>
                      </a:cubicBezTo>
                      <a:cubicBezTo>
                        <a:pt x="237" y="0"/>
                        <a:pt x="240" y="2"/>
                        <a:pt x="240" y="6"/>
                      </a:cubicBezTo>
                      <a:cubicBezTo>
                        <a:pt x="240" y="36"/>
                        <a:pt x="187"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81" name="Freeform 229">
                  <a:extLst>
                    <a:ext uri="{FF2B5EF4-FFF2-40B4-BE49-F238E27FC236}">
                      <a16:creationId xmlns:a16="http://schemas.microsoft.com/office/drawing/2014/main" id="{5C351C8F-9122-6F9D-83AD-9084C99ADCE9}"/>
                    </a:ext>
                  </a:extLst>
                </p:cNvPr>
                <p:cNvSpPr>
                  <a:spLocks/>
                </p:cNvSpPr>
                <p:nvPr/>
              </p:nvSpPr>
              <p:spPr bwMode="auto">
                <a:xfrm>
                  <a:off x="2437" y="678"/>
                  <a:ext cx="356" cy="88"/>
                </a:xfrm>
                <a:custGeom>
                  <a:avLst/>
                  <a:gdLst>
                    <a:gd name="T0" fmla="*/ 120 w 240"/>
                    <a:gd name="T1" fmla="*/ 60 h 60"/>
                    <a:gd name="T2" fmla="*/ 0 w 240"/>
                    <a:gd name="T3" fmla="*/ 6 h 60"/>
                    <a:gd name="T4" fmla="*/ 6 w 240"/>
                    <a:gd name="T5" fmla="*/ 0 h 60"/>
                    <a:gd name="T6" fmla="*/ 12 w 240"/>
                    <a:gd name="T7" fmla="*/ 6 h 60"/>
                    <a:gd name="T8" fmla="*/ 120 w 240"/>
                    <a:gd name="T9" fmla="*/ 48 h 60"/>
                    <a:gd name="T10" fmla="*/ 228 w 240"/>
                    <a:gd name="T11" fmla="*/ 6 h 60"/>
                    <a:gd name="T12" fmla="*/ 234 w 240"/>
                    <a:gd name="T13" fmla="*/ 0 h 60"/>
                    <a:gd name="T14" fmla="*/ 240 w 240"/>
                    <a:gd name="T15" fmla="*/ 6 h 60"/>
                    <a:gd name="T16" fmla="*/ 120 w 240"/>
                    <a:gd name="T1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60">
                      <a:moveTo>
                        <a:pt x="120" y="60"/>
                      </a:moveTo>
                      <a:cubicBezTo>
                        <a:pt x="52" y="60"/>
                        <a:pt x="0" y="36"/>
                        <a:pt x="0" y="6"/>
                      </a:cubicBezTo>
                      <a:cubicBezTo>
                        <a:pt x="0" y="2"/>
                        <a:pt x="2" y="0"/>
                        <a:pt x="6" y="0"/>
                      </a:cubicBezTo>
                      <a:cubicBezTo>
                        <a:pt x="9" y="0"/>
                        <a:pt x="12" y="2"/>
                        <a:pt x="12" y="6"/>
                      </a:cubicBezTo>
                      <a:cubicBezTo>
                        <a:pt x="12" y="26"/>
                        <a:pt x="56" y="48"/>
                        <a:pt x="120" y="48"/>
                      </a:cubicBezTo>
                      <a:cubicBezTo>
                        <a:pt x="183" y="48"/>
                        <a:pt x="228" y="26"/>
                        <a:pt x="228" y="6"/>
                      </a:cubicBezTo>
                      <a:cubicBezTo>
                        <a:pt x="228" y="2"/>
                        <a:pt x="230" y="0"/>
                        <a:pt x="234" y="0"/>
                      </a:cubicBezTo>
                      <a:cubicBezTo>
                        <a:pt x="237" y="0"/>
                        <a:pt x="240" y="2"/>
                        <a:pt x="240" y="6"/>
                      </a:cubicBezTo>
                      <a:cubicBezTo>
                        <a:pt x="240" y="36"/>
                        <a:pt x="187"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282" name="Freeform 230">
                  <a:extLst>
                    <a:ext uri="{FF2B5EF4-FFF2-40B4-BE49-F238E27FC236}">
                      <a16:creationId xmlns:a16="http://schemas.microsoft.com/office/drawing/2014/main" id="{A49F6000-7B0B-DB1A-0C7B-E12BACB02E2C}"/>
                    </a:ext>
                  </a:extLst>
                </p:cNvPr>
                <p:cNvSpPr>
                  <a:spLocks/>
                </p:cNvSpPr>
                <p:nvPr/>
              </p:nvSpPr>
              <p:spPr bwMode="auto">
                <a:xfrm>
                  <a:off x="2437" y="527"/>
                  <a:ext cx="356" cy="319"/>
                </a:xfrm>
                <a:custGeom>
                  <a:avLst/>
                  <a:gdLst>
                    <a:gd name="T0" fmla="*/ 120 w 240"/>
                    <a:gd name="T1" fmla="*/ 216 h 216"/>
                    <a:gd name="T2" fmla="*/ 0 w 240"/>
                    <a:gd name="T3" fmla="*/ 162 h 216"/>
                    <a:gd name="T4" fmla="*/ 0 w 240"/>
                    <a:gd name="T5" fmla="*/ 6 h 216"/>
                    <a:gd name="T6" fmla="*/ 6 w 240"/>
                    <a:gd name="T7" fmla="*/ 0 h 216"/>
                    <a:gd name="T8" fmla="*/ 12 w 240"/>
                    <a:gd name="T9" fmla="*/ 6 h 216"/>
                    <a:gd name="T10" fmla="*/ 12 w 240"/>
                    <a:gd name="T11" fmla="*/ 162 h 216"/>
                    <a:gd name="T12" fmla="*/ 120 w 240"/>
                    <a:gd name="T13" fmla="*/ 204 h 216"/>
                    <a:gd name="T14" fmla="*/ 228 w 240"/>
                    <a:gd name="T15" fmla="*/ 162 h 216"/>
                    <a:gd name="T16" fmla="*/ 228 w 240"/>
                    <a:gd name="T17" fmla="*/ 6 h 216"/>
                    <a:gd name="T18" fmla="*/ 234 w 240"/>
                    <a:gd name="T19" fmla="*/ 0 h 216"/>
                    <a:gd name="T20" fmla="*/ 240 w 240"/>
                    <a:gd name="T21" fmla="*/ 6 h 216"/>
                    <a:gd name="T22" fmla="*/ 240 w 240"/>
                    <a:gd name="T23" fmla="*/ 162 h 216"/>
                    <a:gd name="T24" fmla="*/ 120 w 240"/>
                    <a:gd name="T25"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0" h="216">
                      <a:moveTo>
                        <a:pt x="120" y="216"/>
                      </a:moveTo>
                      <a:cubicBezTo>
                        <a:pt x="52" y="216"/>
                        <a:pt x="0" y="192"/>
                        <a:pt x="0" y="162"/>
                      </a:cubicBezTo>
                      <a:cubicBezTo>
                        <a:pt x="0" y="6"/>
                        <a:pt x="0" y="6"/>
                        <a:pt x="0" y="6"/>
                      </a:cubicBezTo>
                      <a:cubicBezTo>
                        <a:pt x="0" y="2"/>
                        <a:pt x="2" y="0"/>
                        <a:pt x="6" y="0"/>
                      </a:cubicBezTo>
                      <a:cubicBezTo>
                        <a:pt x="9" y="0"/>
                        <a:pt x="12" y="2"/>
                        <a:pt x="12" y="6"/>
                      </a:cubicBezTo>
                      <a:cubicBezTo>
                        <a:pt x="12" y="162"/>
                        <a:pt x="12" y="162"/>
                        <a:pt x="12" y="162"/>
                      </a:cubicBezTo>
                      <a:cubicBezTo>
                        <a:pt x="12" y="182"/>
                        <a:pt x="56" y="204"/>
                        <a:pt x="120" y="204"/>
                      </a:cubicBezTo>
                      <a:cubicBezTo>
                        <a:pt x="183" y="204"/>
                        <a:pt x="228" y="182"/>
                        <a:pt x="228" y="162"/>
                      </a:cubicBezTo>
                      <a:cubicBezTo>
                        <a:pt x="228" y="6"/>
                        <a:pt x="228" y="6"/>
                        <a:pt x="228" y="6"/>
                      </a:cubicBezTo>
                      <a:cubicBezTo>
                        <a:pt x="228" y="2"/>
                        <a:pt x="230" y="0"/>
                        <a:pt x="234" y="0"/>
                      </a:cubicBezTo>
                      <a:cubicBezTo>
                        <a:pt x="237" y="0"/>
                        <a:pt x="240" y="2"/>
                        <a:pt x="240" y="6"/>
                      </a:cubicBezTo>
                      <a:cubicBezTo>
                        <a:pt x="240" y="162"/>
                        <a:pt x="240" y="162"/>
                        <a:pt x="240" y="162"/>
                      </a:cubicBezTo>
                      <a:cubicBezTo>
                        <a:pt x="240" y="192"/>
                        <a:pt x="187" y="216"/>
                        <a:pt x="120" y="2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grpSp>
          <p:grpSp>
            <p:nvGrpSpPr>
              <p:cNvPr id="27" name="Group 32">
                <a:extLst>
                  <a:ext uri="{FF2B5EF4-FFF2-40B4-BE49-F238E27FC236}">
                    <a16:creationId xmlns:a16="http://schemas.microsoft.com/office/drawing/2014/main" id="{09722163-93B8-5613-EE58-75818C0EF127}"/>
                  </a:ext>
                </a:extLst>
              </p:cNvPr>
              <p:cNvGrpSpPr>
                <a:grpSpLocks noChangeAspect="1"/>
              </p:cNvGrpSpPr>
              <p:nvPr/>
            </p:nvGrpSpPr>
            <p:grpSpPr bwMode="auto">
              <a:xfrm>
                <a:off x="10010219" y="6127572"/>
                <a:ext cx="450525" cy="393417"/>
                <a:chOff x="3438" y="466"/>
                <a:chExt cx="426" cy="372"/>
              </a:xfrm>
              <a:solidFill>
                <a:schemeClr val="tx1"/>
              </a:solidFill>
            </p:grpSpPr>
            <p:sp>
              <p:nvSpPr>
                <p:cNvPr id="267" name="Freeform 33">
                  <a:extLst>
                    <a:ext uri="{FF2B5EF4-FFF2-40B4-BE49-F238E27FC236}">
                      <a16:creationId xmlns:a16="http://schemas.microsoft.com/office/drawing/2014/main" id="{078FD0B6-EA01-EBD8-404A-9D20955292AA}"/>
                    </a:ext>
                  </a:extLst>
                </p:cNvPr>
                <p:cNvSpPr>
                  <a:spLocks noEditPoints="1"/>
                </p:cNvSpPr>
                <p:nvPr/>
              </p:nvSpPr>
              <p:spPr bwMode="auto">
                <a:xfrm>
                  <a:off x="3438" y="581"/>
                  <a:ext cx="426" cy="142"/>
                </a:xfrm>
                <a:custGeom>
                  <a:avLst/>
                  <a:gdLst>
                    <a:gd name="T0" fmla="*/ 282 w 288"/>
                    <a:gd name="T1" fmla="*/ 96 h 96"/>
                    <a:gd name="T2" fmla="*/ 6 w 288"/>
                    <a:gd name="T3" fmla="*/ 96 h 96"/>
                    <a:gd name="T4" fmla="*/ 0 w 288"/>
                    <a:gd name="T5" fmla="*/ 90 h 96"/>
                    <a:gd name="T6" fmla="*/ 0 w 288"/>
                    <a:gd name="T7" fmla="*/ 6 h 96"/>
                    <a:gd name="T8" fmla="*/ 6 w 288"/>
                    <a:gd name="T9" fmla="*/ 0 h 96"/>
                    <a:gd name="T10" fmla="*/ 282 w 288"/>
                    <a:gd name="T11" fmla="*/ 0 h 96"/>
                    <a:gd name="T12" fmla="*/ 288 w 288"/>
                    <a:gd name="T13" fmla="*/ 6 h 96"/>
                    <a:gd name="T14" fmla="*/ 288 w 288"/>
                    <a:gd name="T15" fmla="*/ 90 h 96"/>
                    <a:gd name="T16" fmla="*/ 282 w 288"/>
                    <a:gd name="T17" fmla="*/ 96 h 96"/>
                    <a:gd name="T18" fmla="*/ 12 w 288"/>
                    <a:gd name="T19" fmla="*/ 84 h 96"/>
                    <a:gd name="T20" fmla="*/ 276 w 288"/>
                    <a:gd name="T21" fmla="*/ 84 h 96"/>
                    <a:gd name="T22" fmla="*/ 276 w 288"/>
                    <a:gd name="T23" fmla="*/ 12 h 96"/>
                    <a:gd name="T24" fmla="*/ 12 w 288"/>
                    <a:gd name="T25" fmla="*/ 12 h 96"/>
                    <a:gd name="T26" fmla="*/ 12 w 288"/>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96">
                      <a:moveTo>
                        <a:pt x="282" y="96"/>
                      </a:moveTo>
                      <a:cubicBezTo>
                        <a:pt x="6" y="96"/>
                        <a:pt x="6" y="96"/>
                        <a:pt x="6" y="96"/>
                      </a:cubicBezTo>
                      <a:cubicBezTo>
                        <a:pt x="3" y="96"/>
                        <a:pt x="0" y="94"/>
                        <a:pt x="0" y="90"/>
                      </a:cubicBezTo>
                      <a:cubicBezTo>
                        <a:pt x="0" y="6"/>
                        <a:pt x="0" y="6"/>
                        <a:pt x="0" y="6"/>
                      </a:cubicBezTo>
                      <a:cubicBezTo>
                        <a:pt x="0" y="3"/>
                        <a:pt x="3" y="0"/>
                        <a:pt x="6" y="0"/>
                      </a:cubicBezTo>
                      <a:cubicBezTo>
                        <a:pt x="282" y="0"/>
                        <a:pt x="282" y="0"/>
                        <a:pt x="282" y="0"/>
                      </a:cubicBezTo>
                      <a:cubicBezTo>
                        <a:pt x="286" y="0"/>
                        <a:pt x="288" y="3"/>
                        <a:pt x="288" y="6"/>
                      </a:cubicBezTo>
                      <a:cubicBezTo>
                        <a:pt x="288" y="90"/>
                        <a:pt x="288" y="90"/>
                        <a:pt x="288" y="90"/>
                      </a:cubicBezTo>
                      <a:cubicBezTo>
                        <a:pt x="288" y="94"/>
                        <a:pt x="286" y="96"/>
                        <a:pt x="282" y="96"/>
                      </a:cubicBezTo>
                      <a:close/>
                      <a:moveTo>
                        <a:pt x="12" y="84"/>
                      </a:moveTo>
                      <a:cubicBezTo>
                        <a:pt x="276" y="84"/>
                        <a:pt x="276" y="84"/>
                        <a:pt x="276" y="84"/>
                      </a:cubicBezTo>
                      <a:cubicBezTo>
                        <a:pt x="276" y="12"/>
                        <a:pt x="276" y="12"/>
                        <a:pt x="276"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68" name="Freeform 34">
                  <a:extLst>
                    <a:ext uri="{FF2B5EF4-FFF2-40B4-BE49-F238E27FC236}">
                      <a16:creationId xmlns:a16="http://schemas.microsoft.com/office/drawing/2014/main" id="{A6AF4BAA-33E9-CE46-F187-F8D7FC6D66D7}"/>
                    </a:ext>
                  </a:extLst>
                </p:cNvPr>
                <p:cNvSpPr>
                  <a:spLocks/>
                </p:cNvSpPr>
                <p:nvPr/>
              </p:nvSpPr>
              <p:spPr bwMode="auto">
                <a:xfrm>
                  <a:off x="3475" y="466"/>
                  <a:ext cx="352" cy="127"/>
                </a:xfrm>
                <a:custGeom>
                  <a:avLst/>
                  <a:gdLst>
                    <a:gd name="T0" fmla="*/ 226 w 238"/>
                    <a:gd name="T1" fmla="*/ 86 h 86"/>
                    <a:gd name="T2" fmla="*/ 119 w 238"/>
                    <a:gd name="T3" fmla="*/ 12 h 86"/>
                    <a:gd name="T4" fmla="*/ 115 w 238"/>
                    <a:gd name="T5" fmla="*/ 12 h 86"/>
                    <a:gd name="T6" fmla="*/ 12 w 238"/>
                    <a:gd name="T7" fmla="*/ 86 h 86"/>
                    <a:gd name="T8" fmla="*/ 0 w 238"/>
                    <a:gd name="T9" fmla="*/ 82 h 86"/>
                    <a:gd name="T10" fmla="*/ 114 w 238"/>
                    <a:gd name="T11" fmla="*/ 0 h 86"/>
                    <a:gd name="T12" fmla="*/ 119 w 238"/>
                    <a:gd name="T13" fmla="*/ 0 h 86"/>
                    <a:gd name="T14" fmla="*/ 238 w 238"/>
                    <a:gd name="T15" fmla="*/ 82 h 86"/>
                    <a:gd name="T16" fmla="*/ 226 w 238"/>
                    <a:gd name="T1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 h="86">
                      <a:moveTo>
                        <a:pt x="226" y="86"/>
                      </a:moveTo>
                      <a:cubicBezTo>
                        <a:pt x="210" y="42"/>
                        <a:pt x="167" y="12"/>
                        <a:pt x="119" y="12"/>
                      </a:cubicBezTo>
                      <a:cubicBezTo>
                        <a:pt x="118" y="12"/>
                        <a:pt x="116" y="12"/>
                        <a:pt x="115" y="12"/>
                      </a:cubicBezTo>
                      <a:cubicBezTo>
                        <a:pt x="67" y="14"/>
                        <a:pt x="27" y="43"/>
                        <a:pt x="12" y="86"/>
                      </a:cubicBezTo>
                      <a:cubicBezTo>
                        <a:pt x="0" y="82"/>
                        <a:pt x="0" y="82"/>
                        <a:pt x="0" y="82"/>
                      </a:cubicBezTo>
                      <a:cubicBezTo>
                        <a:pt x="17" y="35"/>
                        <a:pt x="62" y="2"/>
                        <a:pt x="114" y="0"/>
                      </a:cubicBezTo>
                      <a:cubicBezTo>
                        <a:pt x="116" y="0"/>
                        <a:pt x="118" y="0"/>
                        <a:pt x="119" y="0"/>
                      </a:cubicBezTo>
                      <a:cubicBezTo>
                        <a:pt x="172" y="0"/>
                        <a:pt x="220" y="33"/>
                        <a:pt x="238" y="82"/>
                      </a:cubicBezTo>
                      <a:lnTo>
                        <a:pt x="226"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69" name="Freeform 35">
                  <a:extLst>
                    <a:ext uri="{FF2B5EF4-FFF2-40B4-BE49-F238E27FC236}">
                      <a16:creationId xmlns:a16="http://schemas.microsoft.com/office/drawing/2014/main" id="{31CC9EFD-684E-6AED-A70D-6DFF7F160CF0}"/>
                    </a:ext>
                  </a:extLst>
                </p:cNvPr>
                <p:cNvSpPr>
                  <a:spLocks/>
                </p:cNvSpPr>
                <p:nvPr/>
              </p:nvSpPr>
              <p:spPr bwMode="auto">
                <a:xfrm>
                  <a:off x="3478" y="711"/>
                  <a:ext cx="348" cy="127"/>
                </a:xfrm>
                <a:custGeom>
                  <a:avLst/>
                  <a:gdLst>
                    <a:gd name="T0" fmla="*/ 117 w 235"/>
                    <a:gd name="T1" fmla="*/ 86 h 86"/>
                    <a:gd name="T2" fmla="*/ 0 w 235"/>
                    <a:gd name="T3" fmla="*/ 4 h 86"/>
                    <a:gd name="T4" fmla="*/ 11 w 235"/>
                    <a:gd name="T5" fmla="*/ 0 h 86"/>
                    <a:gd name="T6" fmla="*/ 117 w 235"/>
                    <a:gd name="T7" fmla="*/ 74 h 86"/>
                    <a:gd name="T8" fmla="*/ 224 w 235"/>
                    <a:gd name="T9" fmla="*/ 0 h 86"/>
                    <a:gd name="T10" fmla="*/ 235 w 235"/>
                    <a:gd name="T11" fmla="*/ 4 h 86"/>
                    <a:gd name="T12" fmla="*/ 117 w 23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235" h="86">
                      <a:moveTo>
                        <a:pt x="117" y="86"/>
                      </a:moveTo>
                      <a:cubicBezTo>
                        <a:pt x="66" y="86"/>
                        <a:pt x="19" y="53"/>
                        <a:pt x="0" y="4"/>
                      </a:cubicBezTo>
                      <a:cubicBezTo>
                        <a:pt x="11" y="0"/>
                        <a:pt x="11" y="0"/>
                        <a:pt x="11" y="0"/>
                      </a:cubicBezTo>
                      <a:cubicBezTo>
                        <a:pt x="28" y="44"/>
                        <a:pt x="71" y="74"/>
                        <a:pt x="117" y="74"/>
                      </a:cubicBezTo>
                      <a:cubicBezTo>
                        <a:pt x="164" y="74"/>
                        <a:pt x="207" y="44"/>
                        <a:pt x="224" y="0"/>
                      </a:cubicBezTo>
                      <a:cubicBezTo>
                        <a:pt x="235" y="4"/>
                        <a:pt x="235" y="4"/>
                        <a:pt x="235" y="4"/>
                      </a:cubicBezTo>
                      <a:cubicBezTo>
                        <a:pt x="217" y="53"/>
                        <a:pt x="169" y="86"/>
                        <a:pt x="117"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70" name="Freeform 36">
                  <a:extLst>
                    <a:ext uri="{FF2B5EF4-FFF2-40B4-BE49-F238E27FC236}">
                      <a16:creationId xmlns:a16="http://schemas.microsoft.com/office/drawing/2014/main" id="{7472125D-2018-48DE-F4F7-349AC717D9E2}"/>
                    </a:ext>
                  </a:extLst>
                </p:cNvPr>
                <p:cNvSpPr>
                  <a:spLocks/>
                </p:cNvSpPr>
                <p:nvPr/>
              </p:nvSpPr>
              <p:spPr bwMode="auto">
                <a:xfrm>
                  <a:off x="3576" y="713"/>
                  <a:ext cx="75" cy="123"/>
                </a:xfrm>
                <a:custGeom>
                  <a:avLst/>
                  <a:gdLst>
                    <a:gd name="T0" fmla="*/ 41 w 51"/>
                    <a:gd name="T1" fmla="*/ 83 h 83"/>
                    <a:gd name="T2" fmla="*/ 0 w 51"/>
                    <a:gd name="T3" fmla="*/ 3 h 83"/>
                    <a:gd name="T4" fmla="*/ 12 w 51"/>
                    <a:gd name="T5" fmla="*/ 0 h 83"/>
                    <a:gd name="T6" fmla="*/ 51 w 51"/>
                    <a:gd name="T7" fmla="*/ 76 h 83"/>
                    <a:gd name="T8" fmla="*/ 41 w 51"/>
                    <a:gd name="T9" fmla="*/ 83 h 83"/>
                  </a:gdLst>
                  <a:ahLst/>
                  <a:cxnLst>
                    <a:cxn ang="0">
                      <a:pos x="T0" y="T1"/>
                    </a:cxn>
                    <a:cxn ang="0">
                      <a:pos x="T2" y="T3"/>
                    </a:cxn>
                    <a:cxn ang="0">
                      <a:pos x="T4" y="T5"/>
                    </a:cxn>
                    <a:cxn ang="0">
                      <a:pos x="T6" y="T7"/>
                    </a:cxn>
                    <a:cxn ang="0">
                      <a:pos x="T8" y="T9"/>
                    </a:cxn>
                  </a:cxnLst>
                  <a:rect l="0" t="0" r="r" b="b"/>
                  <a:pathLst>
                    <a:path w="51" h="83">
                      <a:moveTo>
                        <a:pt x="41" y="83"/>
                      </a:moveTo>
                      <a:cubicBezTo>
                        <a:pt x="22" y="57"/>
                        <a:pt x="8" y="30"/>
                        <a:pt x="0" y="3"/>
                      </a:cubicBezTo>
                      <a:cubicBezTo>
                        <a:pt x="12" y="0"/>
                        <a:pt x="12" y="0"/>
                        <a:pt x="12" y="0"/>
                      </a:cubicBezTo>
                      <a:cubicBezTo>
                        <a:pt x="19" y="25"/>
                        <a:pt x="32" y="51"/>
                        <a:pt x="51" y="76"/>
                      </a:cubicBezTo>
                      <a:lnTo>
                        <a:pt x="41"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71" name="Freeform 37">
                  <a:extLst>
                    <a:ext uri="{FF2B5EF4-FFF2-40B4-BE49-F238E27FC236}">
                      <a16:creationId xmlns:a16="http://schemas.microsoft.com/office/drawing/2014/main" id="{34F304C2-3439-6F68-B7FC-48A6E3BA0D4A}"/>
                    </a:ext>
                  </a:extLst>
                </p:cNvPr>
                <p:cNvSpPr>
                  <a:spLocks/>
                </p:cNvSpPr>
                <p:nvPr/>
              </p:nvSpPr>
              <p:spPr bwMode="auto">
                <a:xfrm>
                  <a:off x="3573" y="468"/>
                  <a:ext cx="78" cy="125"/>
                </a:xfrm>
                <a:custGeom>
                  <a:avLst/>
                  <a:gdLst>
                    <a:gd name="T0" fmla="*/ 11 w 53"/>
                    <a:gd name="T1" fmla="*/ 84 h 84"/>
                    <a:gd name="T2" fmla="*/ 0 w 53"/>
                    <a:gd name="T3" fmla="*/ 81 h 84"/>
                    <a:gd name="T4" fmla="*/ 44 w 53"/>
                    <a:gd name="T5" fmla="*/ 0 h 84"/>
                    <a:gd name="T6" fmla="*/ 53 w 53"/>
                    <a:gd name="T7" fmla="*/ 8 h 84"/>
                    <a:gd name="T8" fmla="*/ 11 w 53"/>
                    <a:gd name="T9" fmla="*/ 84 h 84"/>
                  </a:gdLst>
                  <a:ahLst/>
                  <a:cxnLst>
                    <a:cxn ang="0">
                      <a:pos x="T0" y="T1"/>
                    </a:cxn>
                    <a:cxn ang="0">
                      <a:pos x="T2" y="T3"/>
                    </a:cxn>
                    <a:cxn ang="0">
                      <a:pos x="T4" y="T5"/>
                    </a:cxn>
                    <a:cxn ang="0">
                      <a:pos x="T6" y="T7"/>
                    </a:cxn>
                    <a:cxn ang="0">
                      <a:pos x="T8" y="T9"/>
                    </a:cxn>
                  </a:cxnLst>
                  <a:rect l="0" t="0" r="r" b="b"/>
                  <a:pathLst>
                    <a:path w="53" h="84">
                      <a:moveTo>
                        <a:pt x="11" y="84"/>
                      </a:moveTo>
                      <a:cubicBezTo>
                        <a:pt x="0" y="81"/>
                        <a:pt x="0" y="81"/>
                        <a:pt x="0" y="81"/>
                      </a:cubicBezTo>
                      <a:cubicBezTo>
                        <a:pt x="7" y="52"/>
                        <a:pt x="21" y="25"/>
                        <a:pt x="44" y="0"/>
                      </a:cubicBezTo>
                      <a:cubicBezTo>
                        <a:pt x="53" y="8"/>
                        <a:pt x="53" y="8"/>
                        <a:pt x="53" y="8"/>
                      </a:cubicBezTo>
                      <a:cubicBezTo>
                        <a:pt x="32" y="31"/>
                        <a:pt x="18" y="56"/>
                        <a:pt x="11"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72" name="Freeform 38">
                  <a:extLst>
                    <a:ext uri="{FF2B5EF4-FFF2-40B4-BE49-F238E27FC236}">
                      <a16:creationId xmlns:a16="http://schemas.microsoft.com/office/drawing/2014/main" id="{14E91760-7976-0B84-7881-532D8AC80A77}"/>
                    </a:ext>
                  </a:extLst>
                </p:cNvPr>
                <p:cNvSpPr>
                  <a:spLocks/>
                </p:cNvSpPr>
                <p:nvPr/>
              </p:nvSpPr>
              <p:spPr bwMode="auto">
                <a:xfrm>
                  <a:off x="3653" y="713"/>
                  <a:ext cx="75" cy="123"/>
                </a:xfrm>
                <a:custGeom>
                  <a:avLst/>
                  <a:gdLst>
                    <a:gd name="T0" fmla="*/ 10 w 51"/>
                    <a:gd name="T1" fmla="*/ 83 h 83"/>
                    <a:gd name="T2" fmla="*/ 0 w 51"/>
                    <a:gd name="T3" fmla="*/ 75 h 83"/>
                    <a:gd name="T4" fmla="*/ 39 w 51"/>
                    <a:gd name="T5" fmla="*/ 0 h 83"/>
                    <a:gd name="T6" fmla="*/ 51 w 51"/>
                    <a:gd name="T7" fmla="*/ 3 h 83"/>
                    <a:gd name="T8" fmla="*/ 10 w 51"/>
                    <a:gd name="T9" fmla="*/ 83 h 83"/>
                  </a:gdLst>
                  <a:ahLst/>
                  <a:cxnLst>
                    <a:cxn ang="0">
                      <a:pos x="T0" y="T1"/>
                    </a:cxn>
                    <a:cxn ang="0">
                      <a:pos x="T2" y="T3"/>
                    </a:cxn>
                    <a:cxn ang="0">
                      <a:pos x="T4" y="T5"/>
                    </a:cxn>
                    <a:cxn ang="0">
                      <a:pos x="T6" y="T7"/>
                    </a:cxn>
                    <a:cxn ang="0">
                      <a:pos x="T8" y="T9"/>
                    </a:cxn>
                  </a:cxnLst>
                  <a:rect l="0" t="0" r="r" b="b"/>
                  <a:pathLst>
                    <a:path w="51" h="83">
                      <a:moveTo>
                        <a:pt x="10" y="83"/>
                      </a:moveTo>
                      <a:cubicBezTo>
                        <a:pt x="0" y="75"/>
                        <a:pt x="0" y="75"/>
                        <a:pt x="0" y="75"/>
                      </a:cubicBezTo>
                      <a:cubicBezTo>
                        <a:pt x="19" y="51"/>
                        <a:pt x="32" y="25"/>
                        <a:pt x="39" y="0"/>
                      </a:cubicBezTo>
                      <a:cubicBezTo>
                        <a:pt x="51" y="3"/>
                        <a:pt x="51" y="3"/>
                        <a:pt x="51" y="3"/>
                      </a:cubicBezTo>
                      <a:cubicBezTo>
                        <a:pt x="43" y="30"/>
                        <a:pt x="29" y="57"/>
                        <a:pt x="10"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73" name="Freeform 39">
                  <a:extLst>
                    <a:ext uri="{FF2B5EF4-FFF2-40B4-BE49-F238E27FC236}">
                      <a16:creationId xmlns:a16="http://schemas.microsoft.com/office/drawing/2014/main" id="{B97042FD-0A4E-9224-F614-26B822D96066}"/>
                    </a:ext>
                  </a:extLst>
                </p:cNvPr>
                <p:cNvSpPr>
                  <a:spLocks/>
                </p:cNvSpPr>
                <p:nvPr/>
              </p:nvSpPr>
              <p:spPr bwMode="auto">
                <a:xfrm>
                  <a:off x="3653" y="468"/>
                  <a:ext cx="78" cy="125"/>
                </a:xfrm>
                <a:custGeom>
                  <a:avLst/>
                  <a:gdLst>
                    <a:gd name="T0" fmla="*/ 42 w 53"/>
                    <a:gd name="T1" fmla="*/ 84 h 84"/>
                    <a:gd name="T2" fmla="*/ 0 w 53"/>
                    <a:gd name="T3" fmla="*/ 8 h 84"/>
                    <a:gd name="T4" fmla="*/ 9 w 53"/>
                    <a:gd name="T5" fmla="*/ 0 h 84"/>
                    <a:gd name="T6" fmla="*/ 53 w 53"/>
                    <a:gd name="T7" fmla="*/ 81 h 84"/>
                    <a:gd name="T8" fmla="*/ 42 w 53"/>
                    <a:gd name="T9" fmla="*/ 84 h 84"/>
                  </a:gdLst>
                  <a:ahLst/>
                  <a:cxnLst>
                    <a:cxn ang="0">
                      <a:pos x="T0" y="T1"/>
                    </a:cxn>
                    <a:cxn ang="0">
                      <a:pos x="T2" y="T3"/>
                    </a:cxn>
                    <a:cxn ang="0">
                      <a:pos x="T4" y="T5"/>
                    </a:cxn>
                    <a:cxn ang="0">
                      <a:pos x="T6" y="T7"/>
                    </a:cxn>
                    <a:cxn ang="0">
                      <a:pos x="T8" y="T9"/>
                    </a:cxn>
                  </a:cxnLst>
                  <a:rect l="0" t="0" r="r" b="b"/>
                  <a:pathLst>
                    <a:path w="53" h="84">
                      <a:moveTo>
                        <a:pt x="42" y="84"/>
                      </a:moveTo>
                      <a:cubicBezTo>
                        <a:pt x="35" y="56"/>
                        <a:pt x="21" y="31"/>
                        <a:pt x="0" y="8"/>
                      </a:cubicBezTo>
                      <a:cubicBezTo>
                        <a:pt x="9" y="0"/>
                        <a:pt x="9" y="0"/>
                        <a:pt x="9" y="0"/>
                      </a:cubicBezTo>
                      <a:cubicBezTo>
                        <a:pt x="32" y="25"/>
                        <a:pt x="46" y="52"/>
                        <a:pt x="53" y="81"/>
                      </a:cubicBezTo>
                      <a:lnTo>
                        <a:pt x="4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74" name="Rectangle 40">
                  <a:extLst>
                    <a:ext uri="{FF2B5EF4-FFF2-40B4-BE49-F238E27FC236}">
                      <a16:creationId xmlns:a16="http://schemas.microsoft.com/office/drawing/2014/main" id="{D4B75030-59F0-D692-E8EB-25457D96002A}"/>
                    </a:ext>
                  </a:extLst>
                </p:cNvPr>
                <p:cNvSpPr>
                  <a:spLocks noChangeArrowheads="1"/>
                </p:cNvSpPr>
                <p:nvPr/>
              </p:nvSpPr>
              <p:spPr bwMode="auto">
                <a:xfrm>
                  <a:off x="3505" y="741"/>
                  <a:ext cx="29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75" name="Rectangle 41">
                  <a:extLst>
                    <a:ext uri="{FF2B5EF4-FFF2-40B4-BE49-F238E27FC236}">
                      <a16:creationId xmlns:a16="http://schemas.microsoft.com/office/drawing/2014/main" id="{9165E0FE-D1B1-7D13-0AFA-1CEE2A4CD773}"/>
                    </a:ext>
                  </a:extLst>
                </p:cNvPr>
                <p:cNvSpPr>
                  <a:spLocks noChangeArrowheads="1"/>
                </p:cNvSpPr>
                <p:nvPr/>
              </p:nvSpPr>
              <p:spPr bwMode="auto">
                <a:xfrm>
                  <a:off x="3503" y="545"/>
                  <a:ext cx="29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76" name="Freeform 42">
                  <a:extLst>
                    <a:ext uri="{FF2B5EF4-FFF2-40B4-BE49-F238E27FC236}">
                      <a16:creationId xmlns:a16="http://schemas.microsoft.com/office/drawing/2014/main" id="{F1B805C9-AFAE-4510-84BB-561D859B614C}"/>
                    </a:ext>
                  </a:extLst>
                </p:cNvPr>
                <p:cNvSpPr>
                  <a:spLocks/>
                </p:cNvSpPr>
                <p:nvPr/>
              </p:nvSpPr>
              <p:spPr bwMode="auto">
                <a:xfrm>
                  <a:off x="3517" y="608"/>
                  <a:ext cx="65" cy="88"/>
                </a:xfrm>
                <a:custGeom>
                  <a:avLst/>
                  <a:gdLst>
                    <a:gd name="T0" fmla="*/ 15 w 44"/>
                    <a:gd name="T1" fmla="*/ 60 h 60"/>
                    <a:gd name="T2" fmla="*/ 14 w 44"/>
                    <a:gd name="T3" fmla="*/ 60 h 60"/>
                    <a:gd name="T4" fmla="*/ 9 w 44"/>
                    <a:gd name="T5" fmla="*/ 55 h 60"/>
                    <a:gd name="T6" fmla="*/ 1 w 44"/>
                    <a:gd name="T7" fmla="*/ 7 h 60"/>
                    <a:gd name="T8" fmla="*/ 6 w 44"/>
                    <a:gd name="T9" fmla="*/ 0 h 60"/>
                    <a:gd name="T10" fmla="*/ 13 w 44"/>
                    <a:gd name="T11" fmla="*/ 5 h 60"/>
                    <a:gd name="T12" fmla="*/ 16 w 44"/>
                    <a:gd name="T13" fmla="*/ 28 h 60"/>
                    <a:gd name="T14" fmla="*/ 22 w 44"/>
                    <a:gd name="T15" fmla="*/ 24 h 60"/>
                    <a:gd name="T16" fmla="*/ 22 w 44"/>
                    <a:gd name="T17" fmla="*/ 24 h 60"/>
                    <a:gd name="T18" fmla="*/ 28 w 44"/>
                    <a:gd name="T19" fmla="*/ 28 h 60"/>
                    <a:gd name="T20" fmla="*/ 32 w 44"/>
                    <a:gd name="T21" fmla="*/ 5 h 60"/>
                    <a:gd name="T22" fmla="*/ 38 w 44"/>
                    <a:gd name="T23" fmla="*/ 0 h 60"/>
                    <a:gd name="T24" fmla="*/ 43 w 44"/>
                    <a:gd name="T25" fmla="*/ 7 h 60"/>
                    <a:gd name="T26" fmla="*/ 36 w 44"/>
                    <a:gd name="T27" fmla="*/ 55 h 60"/>
                    <a:gd name="T28" fmla="*/ 30 w 44"/>
                    <a:gd name="T29" fmla="*/ 60 h 60"/>
                    <a:gd name="T30" fmla="*/ 24 w 44"/>
                    <a:gd name="T31" fmla="*/ 56 h 60"/>
                    <a:gd name="T32" fmla="*/ 22 w 44"/>
                    <a:gd name="T33" fmla="*/ 50 h 60"/>
                    <a:gd name="T34" fmla="*/ 20 w 44"/>
                    <a:gd name="T35" fmla="*/ 56 h 60"/>
                    <a:gd name="T36" fmla="*/ 15 w 44"/>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60">
                      <a:moveTo>
                        <a:pt x="15" y="60"/>
                      </a:moveTo>
                      <a:cubicBezTo>
                        <a:pt x="14" y="60"/>
                        <a:pt x="14" y="60"/>
                        <a:pt x="14" y="60"/>
                      </a:cubicBezTo>
                      <a:cubicBezTo>
                        <a:pt x="11" y="60"/>
                        <a:pt x="9" y="58"/>
                        <a:pt x="9" y="55"/>
                      </a:cubicBezTo>
                      <a:cubicBezTo>
                        <a:pt x="1" y="7"/>
                        <a:pt x="1" y="7"/>
                        <a:pt x="1" y="7"/>
                      </a:cubicBezTo>
                      <a:cubicBezTo>
                        <a:pt x="0" y="4"/>
                        <a:pt x="3" y="1"/>
                        <a:pt x="6" y="0"/>
                      </a:cubicBezTo>
                      <a:cubicBezTo>
                        <a:pt x="9" y="0"/>
                        <a:pt x="12" y="2"/>
                        <a:pt x="13" y="5"/>
                      </a:cubicBezTo>
                      <a:cubicBezTo>
                        <a:pt x="16" y="28"/>
                        <a:pt x="16" y="28"/>
                        <a:pt x="16" y="28"/>
                      </a:cubicBezTo>
                      <a:cubicBezTo>
                        <a:pt x="17" y="26"/>
                        <a:pt x="20" y="24"/>
                        <a:pt x="22" y="24"/>
                      </a:cubicBezTo>
                      <a:cubicBezTo>
                        <a:pt x="22" y="24"/>
                        <a:pt x="22" y="24"/>
                        <a:pt x="22" y="24"/>
                      </a:cubicBezTo>
                      <a:cubicBezTo>
                        <a:pt x="25" y="24"/>
                        <a:pt x="27" y="26"/>
                        <a:pt x="28" y="28"/>
                      </a:cubicBezTo>
                      <a:cubicBezTo>
                        <a:pt x="32" y="5"/>
                        <a:pt x="32" y="5"/>
                        <a:pt x="32" y="5"/>
                      </a:cubicBezTo>
                      <a:cubicBezTo>
                        <a:pt x="32" y="2"/>
                        <a:pt x="35" y="0"/>
                        <a:pt x="38" y="0"/>
                      </a:cubicBezTo>
                      <a:cubicBezTo>
                        <a:pt x="42" y="1"/>
                        <a:pt x="44" y="4"/>
                        <a:pt x="43" y="7"/>
                      </a:cubicBezTo>
                      <a:cubicBezTo>
                        <a:pt x="36" y="55"/>
                        <a:pt x="36" y="55"/>
                        <a:pt x="36" y="55"/>
                      </a:cubicBezTo>
                      <a:cubicBezTo>
                        <a:pt x="35" y="58"/>
                        <a:pt x="33" y="60"/>
                        <a:pt x="30" y="60"/>
                      </a:cubicBezTo>
                      <a:cubicBezTo>
                        <a:pt x="27" y="60"/>
                        <a:pt x="25" y="59"/>
                        <a:pt x="24" y="56"/>
                      </a:cubicBezTo>
                      <a:cubicBezTo>
                        <a:pt x="22" y="50"/>
                        <a:pt x="22" y="50"/>
                        <a:pt x="22" y="50"/>
                      </a:cubicBezTo>
                      <a:cubicBezTo>
                        <a:pt x="20" y="56"/>
                        <a:pt x="20" y="56"/>
                        <a:pt x="20" y="56"/>
                      </a:cubicBezTo>
                      <a:cubicBezTo>
                        <a:pt x="19" y="59"/>
                        <a:pt x="17" y="60"/>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77" name="Freeform 43">
                  <a:extLst>
                    <a:ext uri="{FF2B5EF4-FFF2-40B4-BE49-F238E27FC236}">
                      <a16:creationId xmlns:a16="http://schemas.microsoft.com/office/drawing/2014/main" id="{B48EED59-8AB1-7630-09FD-88B7FE802934}"/>
                    </a:ext>
                  </a:extLst>
                </p:cNvPr>
                <p:cNvSpPr>
                  <a:spLocks/>
                </p:cNvSpPr>
                <p:nvPr/>
              </p:nvSpPr>
              <p:spPr bwMode="auto">
                <a:xfrm>
                  <a:off x="3625" y="608"/>
                  <a:ext cx="63" cy="88"/>
                </a:xfrm>
                <a:custGeom>
                  <a:avLst/>
                  <a:gdLst>
                    <a:gd name="T0" fmla="*/ 14 w 43"/>
                    <a:gd name="T1" fmla="*/ 60 h 60"/>
                    <a:gd name="T2" fmla="*/ 13 w 43"/>
                    <a:gd name="T3" fmla="*/ 60 h 60"/>
                    <a:gd name="T4" fmla="*/ 8 w 43"/>
                    <a:gd name="T5" fmla="*/ 55 h 60"/>
                    <a:gd name="T6" fmla="*/ 0 w 43"/>
                    <a:gd name="T7" fmla="*/ 7 h 60"/>
                    <a:gd name="T8" fmla="*/ 5 w 43"/>
                    <a:gd name="T9" fmla="*/ 0 h 60"/>
                    <a:gd name="T10" fmla="*/ 12 w 43"/>
                    <a:gd name="T11" fmla="*/ 5 h 60"/>
                    <a:gd name="T12" fmla="*/ 16 w 43"/>
                    <a:gd name="T13" fmla="*/ 28 h 60"/>
                    <a:gd name="T14" fmla="*/ 21 w 43"/>
                    <a:gd name="T15" fmla="*/ 24 h 60"/>
                    <a:gd name="T16" fmla="*/ 21 w 43"/>
                    <a:gd name="T17" fmla="*/ 24 h 60"/>
                    <a:gd name="T18" fmla="*/ 27 w 43"/>
                    <a:gd name="T19" fmla="*/ 28 h 60"/>
                    <a:gd name="T20" fmla="*/ 31 w 43"/>
                    <a:gd name="T21" fmla="*/ 5 h 60"/>
                    <a:gd name="T22" fmla="*/ 38 w 43"/>
                    <a:gd name="T23" fmla="*/ 0 h 60"/>
                    <a:gd name="T24" fmla="*/ 43 w 43"/>
                    <a:gd name="T25" fmla="*/ 7 h 60"/>
                    <a:gd name="T26" fmla="*/ 35 w 43"/>
                    <a:gd name="T27" fmla="*/ 55 h 60"/>
                    <a:gd name="T28" fmla="*/ 30 w 43"/>
                    <a:gd name="T29" fmla="*/ 60 h 60"/>
                    <a:gd name="T30" fmla="*/ 23 w 43"/>
                    <a:gd name="T31" fmla="*/ 56 h 60"/>
                    <a:gd name="T32" fmla="*/ 21 w 43"/>
                    <a:gd name="T33" fmla="*/ 50 h 60"/>
                    <a:gd name="T34" fmla="*/ 19 w 43"/>
                    <a:gd name="T35" fmla="*/ 56 h 60"/>
                    <a:gd name="T36" fmla="*/ 14 w 43"/>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60">
                      <a:moveTo>
                        <a:pt x="14" y="60"/>
                      </a:moveTo>
                      <a:cubicBezTo>
                        <a:pt x="14" y="60"/>
                        <a:pt x="13" y="60"/>
                        <a:pt x="13" y="60"/>
                      </a:cubicBezTo>
                      <a:cubicBezTo>
                        <a:pt x="11" y="60"/>
                        <a:pt x="8" y="58"/>
                        <a:pt x="8" y="55"/>
                      </a:cubicBezTo>
                      <a:cubicBezTo>
                        <a:pt x="0" y="7"/>
                        <a:pt x="0" y="7"/>
                        <a:pt x="0" y="7"/>
                      </a:cubicBezTo>
                      <a:cubicBezTo>
                        <a:pt x="0" y="4"/>
                        <a:pt x="2" y="1"/>
                        <a:pt x="5" y="0"/>
                      </a:cubicBezTo>
                      <a:cubicBezTo>
                        <a:pt x="8" y="0"/>
                        <a:pt x="12" y="2"/>
                        <a:pt x="12" y="5"/>
                      </a:cubicBezTo>
                      <a:cubicBezTo>
                        <a:pt x="16" y="28"/>
                        <a:pt x="16" y="28"/>
                        <a:pt x="16" y="28"/>
                      </a:cubicBezTo>
                      <a:cubicBezTo>
                        <a:pt x="17" y="26"/>
                        <a:pt x="19" y="24"/>
                        <a:pt x="21" y="24"/>
                      </a:cubicBezTo>
                      <a:cubicBezTo>
                        <a:pt x="21" y="24"/>
                        <a:pt x="21" y="24"/>
                        <a:pt x="21" y="24"/>
                      </a:cubicBezTo>
                      <a:cubicBezTo>
                        <a:pt x="24" y="24"/>
                        <a:pt x="26" y="26"/>
                        <a:pt x="27" y="28"/>
                      </a:cubicBezTo>
                      <a:cubicBezTo>
                        <a:pt x="31" y="5"/>
                        <a:pt x="31" y="5"/>
                        <a:pt x="31" y="5"/>
                      </a:cubicBezTo>
                      <a:cubicBezTo>
                        <a:pt x="31" y="2"/>
                        <a:pt x="34" y="0"/>
                        <a:pt x="38" y="0"/>
                      </a:cubicBezTo>
                      <a:cubicBezTo>
                        <a:pt x="41" y="1"/>
                        <a:pt x="43" y="4"/>
                        <a:pt x="43" y="7"/>
                      </a:cubicBezTo>
                      <a:cubicBezTo>
                        <a:pt x="35" y="55"/>
                        <a:pt x="35" y="55"/>
                        <a:pt x="35" y="55"/>
                      </a:cubicBezTo>
                      <a:cubicBezTo>
                        <a:pt x="35" y="58"/>
                        <a:pt x="32" y="60"/>
                        <a:pt x="30" y="60"/>
                      </a:cubicBezTo>
                      <a:cubicBezTo>
                        <a:pt x="27" y="60"/>
                        <a:pt x="24" y="59"/>
                        <a:pt x="23" y="56"/>
                      </a:cubicBezTo>
                      <a:cubicBezTo>
                        <a:pt x="21" y="50"/>
                        <a:pt x="21" y="50"/>
                        <a:pt x="21" y="50"/>
                      </a:cubicBezTo>
                      <a:cubicBezTo>
                        <a:pt x="19" y="56"/>
                        <a:pt x="19" y="56"/>
                        <a:pt x="19" y="56"/>
                      </a:cubicBezTo>
                      <a:cubicBezTo>
                        <a:pt x="19" y="59"/>
                        <a:pt x="16" y="60"/>
                        <a:pt x="1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78" name="Freeform 44">
                  <a:extLst>
                    <a:ext uri="{FF2B5EF4-FFF2-40B4-BE49-F238E27FC236}">
                      <a16:creationId xmlns:a16="http://schemas.microsoft.com/office/drawing/2014/main" id="{ED1D7B64-42DB-E4E0-B945-C3B1AFACEF54}"/>
                    </a:ext>
                  </a:extLst>
                </p:cNvPr>
                <p:cNvSpPr>
                  <a:spLocks/>
                </p:cNvSpPr>
                <p:nvPr/>
              </p:nvSpPr>
              <p:spPr bwMode="auto">
                <a:xfrm>
                  <a:off x="3731" y="608"/>
                  <a:ext cx="64" cy="88"/>
                </a:xfrm>
                <a:custGeom>
                  <a:avLst/>
                  <a:gdLst>
                    <a:gd name="T0" fmla="*/ 29 w 43"/>
                    <a:gd name="T1" fmla="*/ 60 h 60"/>
                    <a:gd name="T2" fmla="*/ 24 w 43"/>
                    <a:gd name="T3" fmla="*/ 56 h 60"/>
                    <a:gd name="T4" fmla="*/ 22 w 43"/>
                    <a:gd name="T5" fmla="*/ 50 h 60"/>
                    <a:gd name="T6" fmla="*/ 20 w 43"/>
                    <a:gd name="T7" fmla="*/ 56 h 60"/>
                    <a:gd name="T8" fmla="*/ 14 w 43"/>
                    <a:gd name="T9" fmla="*/ 60 h 60"/>
                    <a:gd name="T10" fmla="*/ 8 w 43"/>
                    <a:gd name="T11" fmla="*/ 55 h 60"/>
                    <a:gd name="T12" fmla="*/ 1 w 43"/>
                    <a:gd name="T13" fmla="*/ 7 h 60"/>
                    <a:gd name="T14" fmla="*/ 5 w 43"/>
                    <a:gd name="T15" fmla="*/ 0 h 60"/>
                    <a:gd name="T16" fmla="*/ 12 w 43"/>
                    <a:gd name="T17" fmla="*/ 5 h 60"/>
                    <a:gd name="T18" fmla="*/ 16 w 43"/>
                    <a:gd name="T19" fmla="*/ 28 h 60"/>
                    <a:gd name="T20" fmla="*/ 22 w 43"/>
                    <a:gd name="T21" fmla="*/ 24 h 60"/>
                    <a:gd name="T22" fmla="*/ 22 w 43"/>
                    <a:gd name="T23" fmla="*/ 24 h 60"/>
                    <a:gd name="T24" fmla="*/ 27 w 43"/>
                    <a:gd name="T25" fmla="*/ 28 h 60"/>
                    <a:gd name="T26" fmla="*/ 31 w 43"/>
                    <a:gd name="T27" fmla="*/ 5 h 60"/>
                    <a:gd name="T28" fmla="*/ 38 w 43"/>
                    <a:gd name="T29" fmla="*/ 0 h 60"/>
                    <a:gd name="T30" fmla="*/ 43 w 43"/>
                    <a:gd name="T31" fmla="*/ 7 h 60"/>
                    <a:gd name="T32" fmla="*/ 35 w 43"/>
                    <a:gd name="T33" fmla="*/ 55 h 60"/>
                    <a:gd name="T34" fmla="*/ 30 w 43"/>
                    <a:gd name="T35" fmla="*/ 60 h 60"/>
                    <a:gd name="T36" fmla="*/ 29 w 43"/>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60">
                      <a:moveTo>
                        <a:pt x="29" y="60"/>
                      </a:moveTo>
                      <a:cubicBezTo>
                        <a:pt x="27" y="60"/>
                        <a:pt x="24" y="59"/>
                        <a:pt x="24" y="56"/>
                      </a:cubicBezTo>
                      <a:cubicBezTo>
                        <a:pt x="22" y="50"/>
                        <a:pt x="22" y="50"/>
                        <a:pt x="22" y="50"/>
                      </a:cubicBezTo>
                      <a:cubicBezTo>
                        <a:pt x="20" y="56"/>
                        <a:pt x="20" y="56"/>
                        <a:pt x="20" y="56"/>
                      </a:cubicBezTo>
                      <a:cubicBezTo>
                        <a:pt x="19" y="59"/>
                        <a:pt x="16" y="60"/>
                        <a:pt x="14" y="60"/>
                      </a:cubicBezTo>
                      <a:cubicBezTo>
                        <a:pt x="11" y="60"/>
                        <a:pt x="9" y="58"/>
                        <a:pt x="8" y="55"/>
                      </a:cubicBezTo>
                      <a:cubicBezTo>
                        <a:pt x="1" y="7"/>
                        <a:pt x="1" y="7"/>
                        <a:pt x="1" y="7"/>
                      </a:cubicBezTo>
                      <a:cubicBezTo>
                        <a:pt x="0" y="4"/>
                        <a:pt x="2" y="1"/>
                        <a:pt x="5" y="0"/>
                      </a:cubicBezTo>
                      <a:cubicBezTo>
                        <a:pt x="9" y="0"/>
                        <a:pt x="12" y="2"/>
                        <a:pt x="12" y="5"/>
                      </a:cubicBezTo>
                      <a:cubicBezTo>
                        <a:pt x="16" y="28"/>
                        <a:pt x="16" y="28"/>
                        <a:pt x="16" y="28"/>
                      </a:cubicBezTo>
                      <a:cubicBezTo>
                        <a:pt x="17" y="26"/>
                        <a:pt x="19" y="24"/>
                        <a:pt x="22" y="24"/>
                      </a:cubicBezTo>
                      <a:cubicBezTo>
                        <a:pt x="22" y="24"/>
                        <a:pt x="22" y="24"/>
                        <a:pt x="22" y="24"/>
                      </a:cubicBezTo>
                      <a:cubicBezTo>
                        <a:pt x="24" y="24"/>
                        <a:pt x="27" y="26"/>
                        <a:pt x="27" y="28"/>
                      </a:cubicBezTo>
                      <a:cubicBezTo>
                        <a:pt x="31" y="5"/>
                        <a:pt x="31" y="5"/>
                        <a:pt x="31" y="5"/>
                      </a:cubicBezTo>
                      <a:cubicBezTo>
                        <a:pt x="32" y="2"/>
                        <a:pt x="35" y="0"/>
                        <a:pt x="38" y="0"/>
                      </a:cubicBezTo>
                      <a:cubicBezTo>
                        <a:pt x="41" y="1"/>
                        <a:pt x="43" y="4"/>
                        <a:pt x="43" y="7"/>
                      </a:cubicBezTo>
                      <a:cubicBezTo>
                        <a:pt x="35" y="55"/>
                        <a:pt x="35" y="55"/>
                        <a:pt x="35" y="55"/>
                      </a:cubicBezTo>
                      <a:cubicBezTo>
                        <a:pt x="35" y="58"/>
                        <a:pt x="33" y="60"/>
                        <a:pt x="30" y="60"/>
                      </a:cubicBezTo>
                      <a:cubicBezTo>
                        <a:pt x="30" y="60"/>
                        <a:pt x="30" y="60"/>
                        <a:pt x="2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28" name="Group 147">
                <a:extLst>
                  <a:ext uri="{FF2B5EF4-FFF2-40B4-BE49-F238E27FC236}">
                    <a16:creationId xmlns:a16="http://schemas.microsoft.com/office/drawing/2014/main" id="{EA1438CF-A533-9737-73ED-ED1E9AE49946}"/>
                  </a:ext>
                </a:extLst>
              </p:cNvPr>
              <p:cNvGrpSpPr>
                <a:grpSpLocks noChangeAspect="1"/>
              </p:cNvGrpSpPr>
              <p:nvPr/>
            </p:nvGrpSpPr>
            <p:grpSpPr bwMode="auto">
              <a:xfrm>
                <a:off x="10981048" y="6127576"/>
                <a:ext cx="541582" cy="451317"/>
                <a:chOff x="6541" y="1755"/>
                <a:chExt cx="426" cy="355"/>
              </a:xfrm>
              <a:solidFill>
                <a:schemeClr val="tx1"/>
              </a:solidFill>
            </p:grpSpPr>
            <p:sp>
              <p:nvSpPr>
                <p:cNvPr id="260" name="Freeform 148">
                  <a:extLst>
                    <a:ext uri="{FF2B5EF4-FFF2-40B4-BE49-F238E27FC236}">
                      <a16:creationId xmlns:a16="http://schemas.microsoft.com/office/drawing/2014/main" id="{96DBD5A6-B852-E0FD-423D-D3510D9C24E5}"/>
                    </a:ext>
                  </a:extLst>
                </p:cNvPr>
                <p:cNvSpPr>
                  <a:spLocks/>
                </p:cNvSpPr>
                <p:nvPr/>
              </p:nvSpPr>
              <p:spPr bwMode="auto">
                <a:xfrm>
                  <a:off x="6648" y="1895"/>
                  <a:ext cx="63" cy="108"/>
                </a:xfrm>
                <a:custGeom>
                  <a:avLst/>
                  <a:gdLst>
                    <a:gd name="T0" fmla="*/ 6 w 43"/>
                    <a:gd name="T1" fmla="*/ 73 h 73"/>
                    <a:gd name="T2" fmla="*/ 2 w 43"/>
                    <a:gd name="T3" fmla="*/ 71 h 73"/>
                    <a:gd name="T4" fmla="*/ 2 w 43"/>
                    <a:gd name="T5" fmla="*/ 63 h 73"/>
                    <a:gd name="T6" fmla="*/ 28 w 43"/>
                    <a:gd name="T7" fmla="*/ 37 h 73"/>
                    <a:gd name="T8" fmla="*/ 2 w 43"/>
                    <a:gd name="T9" fmla="*/ 11 h 73"/>
                    <a:gd name="T10" fmla="*/ 2 w 43"/>
                    <a:gd name="T11" fmla="*/ 3 h 73"/>
                    <a:gd name="T12" fmla="*/ 11 w 43"/>
                    <a:gd name="T13" fmla="*/ 3 h 73"/>
                    <a:gd name="T14" fmla="*/ 41 w 43"/>
                    <a:gd name="T15" fmla="*/ 33 h 73"/>
                    <a:gd name="T16" fmla="*/ 41 w 43"/>
                    <a:gd name="T17" fmla="*/ 41 h 73"/>
                    <a:gd name="T18" fmla="*/ 11 w 43"/>
                    <a:gd name="T19" fmla="*/ 71 h 73"/>
                    <a:gd name="T20" fmla="*/ 6 w 43"/>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73">
                      <a:moveTo>
                        <a:pt x="6" y="73"/>
                      </a:moveTo>
                      <a:cubicBezTo>
                        <a:pt x="5" y="73"/>
                        <a:pt x="3" y="72"/>
                        <a:pt x="2" y="71"/>
                      </a:cubicBezTo>
                      <a:cubicBezTo>
                        <a:pt x="0" y="69"/>
                        <a:pt x="0" y="65"/>
                        <a:pt x="2" y="63"/>
                      </a:cubicBezTo>
                      <a:cubicBezTo>
                        <a:pt x="28" y="37"/>
                        <a:pt x="28" y="37"/>
                        <a:pt x="28" y="37"/>
                      </a:cubicBezTo>
                      <a:cubicBezTo>
                        <a:pt x="2" y="11"/>
                        <a:pt x="2" y="11"/>
                        <a:pt x="2" y="11"/>
                      </a:cubicBezTo>
                      <a:cubicBezTo>
                        <a:pt x="0" y="9"/>
                        <a:pt x="0" y="5"/>
                        <a:pt x="2" y="3"/>
                      </a:cubicBezTo>
                      <a:cubicBezTo>
                        <a:pt x="5" y="0"/>
                        <a:pt x="8" y="0"/>
                        <a:pt x="11" y="3"/>
                      </a:cubicBezTo>
                      <a:cubicBezTo>
                        <a:pt x="41" y="33"/>
                        <a:pt x="41" y="33"/>
                        <a:pt x="41" y="33"/>
                      </a:cubicBezTo>
                      <a:cubicBezTo>
                        <a:pt x="43" y="35"/>
                        <a:pt x="43" y="39"/>
                        <a:pt x="41" y="41"/>
                      </a:cubicBezTo>
                      <a:cubicBezTo>
                        <a:pt x="11" y="71"/>
                        <a:pt x="11" y="71"/>
                        <a:pt x="11" y="71"/>
                      </a:cubicBezTo>
                      <a:cubicBezTo>
                        <a:pt x="10" y="72"/>
                        <a:pt x="8" y="73"/>
                        <a:pt x="6"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61" name="Freeform 149">
                  <a:extLst>
                    <a:ext uri="{FF2B5EF4-FFF2-40B4-BE49-F238E27FC236}">
                      <a16:creationId xmlns:a16="http://schemas.microsoft.com/office/drawing/2014/main" id="{1F414B67-BEB0-C890-DEED-F9EC67BE6FD3}"/>
                    </a:ext>
                  </a:extLst>
                </p:cNvPr>
                <p:cNvSpPr>
                  <a:spLocks/>
                </p:cNvSpPr>
                <p:nvPr/>
              </p:nvSpPr>
              <p:spPr bwMode="auto">
                <a:xfrm>
                  <a:off x="6754" y="1950"/>
                  <a:ext cx="89" cy="18"/>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9"/>
                        <a:pt x="0" y="6"/>
                      </a:cubicBezTo>
                      <a:cubicBezTo>
                        <a:pt x="0" y="3"/>
                        <a:pt x="3" y="0"/>
                        <a:pt x="6" y="0"/>
                      </a:cubicBezTo>
                      <a:cubicBezTo>
                        <a:pt x="54" y="0"/>
                        <a:pt x="54" y="0"/>
                        <a:pt x="54" y="0"/>
                      </a:cubicBezTo>
                      <a:cubicBezTo>
                        <a:pt x="58" y="0"/>
                        <a:pt x="60" y="3"/>
                        <a:pt x="60" y="6"/>
                      </a:cubicBezTo>
                      <a:cubicBezTo>
                        <a:pt x="60" y="9"/>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62" name="Freeform 150">
                  <a:extLst>
                    <a:ext uri="{FF2B5EF4-FFF2-40B4-BE49-F238E27FC236}">
                      <a16:creationId xmlns:a16="http://schemas.microsoft.com/office/drawing/2014/main" id="{BB44FD2D-06B0-AD56-17B0-894F01B484E5}"/>
                    </a:ext>
                  </a:extLst>
                </p:cNvPr>
                <p:cNvSpPr>
                  <a:spLocks noEditPoints="1"/>
                </p:cNvSpPr>
                <p:nvPr/>
              </p:nvSpPr>
              <p:spPr bwMode="auto">
                <a:xfrm>
                  <a:off x="6772" y="1790"/>
                  <a:ext cx="35" cy="36"/>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12 h 24"/>
                    <a:gd name="T12" fmla="*/ 12 w 24"/>
                    <a:gd name="T13" fmla="*/ 12 h 24"/>
                    <a:gd name="T14" fmla="*/ 12 w 24"/>
                    <a:gd name="T15" fmla="*/ 12 h 24"/>
                    <a:gd name="T16" fmla="*/ 12 w 24"/>
                    <a:gd name="T17" fmla="*/ 12 h 24"/>
                    <a:gd name="T18" fmla="*/ 12 w 24"/>
                    <a:gd name="T19" fmla="*/ 12 h 24"/>
                    <a:gd name="T20" fmla="*/ 12 w 24"/>
                    <a:gd name="T21" fmla="*/ 12 h 24"/>
                    <a:gd name="T22" fmla="*/ 12 w 24"/>
                    <a:gd name="T23" fmla="*/ 12 h 24"/>
                    <a:gd name="T24" fmla="*/ 12 w 24"/>
                    <a:gd name="T25" fmla="*/ 12 h 24"/>
                    <a:gd name="T26" fmla="*/ 12 w 24"/>
                    <a:gd name="T27" fmla="*/ 12 h 24"/>
                    <a:gd name="T28" fmla="*/ 12 w 24"/>
                    <a:gd name="T29" fmla="*/ 12 h 24"/>
                    <a:gd name="T30" fmla="*/ 12 w 24"/>
                    <a:gd name="T31" fmla="*/ 12 h 24"/>
                    <a:gd name="T32" fmla="*/ 12 w 24"/>
                    <a:gd name="T33"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24">
                      <a:moveTo>
                        <a:pt x="12" y="24"/>
                      </a:moveTo>
                      <a:cubicBezTo>
                        <a:pt x="6" y="24"/>
                        <a:pt x="0" y="18"/>
                        <a:pt x="0" y="12"/>
                      </a:cubicBezTo>
                      <a:cubicBezTo>
                        <a:pt x="0" y="5"/>
                        <a:pt x="6" y="0"/>
                        <a:pt x="12" y="0"/>
                      </a:cubicBezTo>
                      <a:cubicBezTo>
                        <a:pt x="19" y="0"/>
                        <a:pt x="24" y="5"/>
                        <a:pt x="24" y="12"/>
                      </a:cubicBezTo>
                      <a:cubicBezTo>
                        <a:pt x="24" y="18"/>
                        <a:pt x="19" y="24"/>
                        <a:pt x="12" y="24"/>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63" name="Freeform 151">
                  <a:extLst>
                    <a:ext uri="{FF2B5EF4-FFF2-40B4-BE49-F238E27FC236}">
                      <a16:creationId xmlns:a16="http://schemas.microsoft.com/office/drawing/2014/main" id="{0EB41E0E-DF4D-239B-7FC4-D164AB91B35B}"/>
                    </a:ext>
                  </a:extLst>
                </p:cNvPr>
                <p:cNvSpPr>
                  <a:spLocks noEditPoints="1"/>
                </p:cNvSpPr>
                <p:nvPr/>
              </p:nvSpPr>
              <p:spPr bwMode="auto">
                <a:xfrm>
                  <a:off x="6825" y="1790"/>
                  <a:ext cx="36" cy="36"/>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12 h 24"/>
                    <a:gd name="T12" fmla="*/ 12 w 24"/>
                    <a:gd name="T13" fmla="*/ 12 h 24"/>
                    <a:gd name="T14" fmla="*/ 12 w 24"/>
                    <a:gd name="T15" fmla="*/ 12 h 24"/>
                    <a:gd name="T16" fmla="*/ 12 w 24"/>
                    <a:gd name="T17" fmla="*/ 12 h 24"/>
                    <a:gd name="T18" fmla="*/ 12 w 24"/>
                    <a:gd name="T19" fmla="*/ 12 h 24"/>
                    <a:gd name="T20" fmla="*/ 12 w 24"/>
                    <a:gd name="T21" fmla="*/ 12 h 24"/>
                    <a:gd name="T22" fmla="*/ 12 w 24"/>
                    <a:gd name="T23" fmla="*/ 12 h 24"/>
                    <a:gd name="T24" fmla="*/ 12 w 24"/>
                    <a:gd name="T25" fmla="*/ 12 h 24"/>
                    <a:gd name="T26" fmla="*/ 12 w 24"/>
                    <a:gd name="T27" fmla="*/ 12 h 24"/>
                    <a:gd name="T28" fmla="*/ 12 w 24"/>
                    <a:gd name="T29" fmla="*/ 12 h 24"/>
                    <a:gd name="T30" fmla="*/ 12 w 24"/>
                    <a:gd name="T31" fmla="*/ 12 h 24"/>
                    <a:gd name="T32" fmla="*/ 12 w 24"/>
                    <a:gd name="T33"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24">
                      <a:moveTo>
                        <a:pt x="12" y="24"/>
                      </a:moveTo>
                      <a:cubicBezTo>
                        <a:pt x="6" y="24"/>
                        <a:pt x="0" y="18"/>
                        <a:pt x="0" y="12"/>
                      </a:cubicBezTo>
                      <a:cubicBezTo>
                        <a:pt x="0" y="5"/>
                        <a:pt x="6" y="0"/>
                        <a:pt x="12" y="0"/>
                      </a:cubicBezTo>
                      <a:cubicBezTo>
                        <a:pt x="19" y="0"/>
                        <a:pt x="24" y="5"/>
                        <a:pt x="24" y="12"/>
                      </a:cubicBezTo>
                      <a:cubicBezTo>
                        <a:pt x="24" y="18"/>
                        <a:pt x="19" y="24"/>
                        <a:pt x="12" y="24"/>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64" name="Freeform 152">
                  <a:extLst>
                    <a:ext uri="{FF2B5EF4-FFF2-40B4-BE49-F238E27FC236}">
                      <a16:creationId xmlns:a16="http://schemas.microsoft.com/office/drawing/2014/main" id="{1A2D5B6B-5843-68A1-5E3B-D86C78BF1818}"/>
                    </a:ext>
                  </a:extLst>
                </p:cNvPr>
                <p:cNvSpPr>
                  <a:spLocks noEditPoints="1"/>
                </p:cNvSpPr>
                <p:nvPr/>
              </p:nvSpPr>
              <p:spPr bwMode="auto">
                <a:xfrm>
                  <a:off x="6878" y="1790"/>
                  <a:ext cx="36" cy="36"/>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12 h 24"/>
                    <a:gd name="T12" fmla="*/ 12 w 24"/>
                    <a:gd name="T13" fmla="*/ 12 h 24"/>
                    <a:gd name="T14" fmla="*/ 12 w 24"/>
                    <a:gd name="T15" fmla="*/ 12 h 24"/>
                    <a:gd name="T16" fmla="*/ 12 w 24"/>
                    <a:gd name="T17" fmla="*/ 12 h 24"/>
                    <a:gd name="T18" fmla="*/ 12 w 24"/>
                    <a:gd name="T19" fmla="*/ 12 h 24"/>
                    <a:gd name="T20" fmla="*/ 12 w 24"/>
                    <a:gd name="T21" fmla="*/ 12 h 24"/>
                    <a:gd name="T22" fmla="*/ 12 w 24"/>
                    <a:gd name="T23" fmla="*/ 12 h 24"/>
                    <a:gd name="T24" fmla="*/ 12 w 24"/>
                    <a:gd name="T25" fmla="*/ 12 h 24"/>
                    <a:gd name="T26" fmla="*/ 12 w 24"/>
                    <a:gd name="T27" fmla="*/ 12 h 24"/>
                    <a:gd name="T28" fmla="*/ 12 w 24"/>
                    <a:gd name="T29" fmla="*/ 12 h 24"/>
                    <a:gd name="T30" fmla="*/ 12 w 24"/>
                    <a:gd name="T31" fmla="*/ 12 h 24"/>
                    <a:gd name="T32" fmla="*/ 12 w 24"/>
                    <a:gd name="T33"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24">
                      <a:moveTo>
                        <a:pt x="12" y="24"/>
                      </a:moveTo>
                      <a:cubicBezTo>
                        <a:pt x="6" y="24"/>
                        <a:pt x="0" y="18"/>
                        <a:pt x="0" y="12"/>
                      </a:cubicBezTo>
                      <a:cubicBezTo>
                        <a:pt x="0" y="5"/>
                        <a:pt x="6" y="0"/>
                        <a:pt x="12" y="0"/>
                      </a:cubicBezTo>
                      <a:cubicBezTo>
                        <a:pt x="19" y="0"/>
                        <a:pt x="24" y="5"/>
                        <a:pt x="24" y="12"/>
                      </a:cubicBezTo>
                      <a:cubicBezTo>
                        <a:pt x="24" y="18"/>
                        <a:pt x="19" y="24"/>
                        <a:pt x="12" y="24"/>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65" name="Freeform 153">
                  <a:extLst>
                    <a:ext uri="{FF2B5EF4-FFF2-40B4-BE49-F238E27FC236}">
                      <a16:creationId xmlns:a16="http://schemas.microsoft.com/office/drawing/2014/main" id="{856606C2-3FEA-9CD2-16B1-FC3ABED9D477}"/>
                    </a:ext>
                  </a:extLst>
                </p:cNvPr>
                <p:cNvSpPr>
                  <a:spLocks noEditPoints="1"/>
                </p:cNvSpPr>
                <p:nvPr/>
              </p:nvSpPr>
              <p:spPr bwMode="auto">
                <a:xfrm>
                  <a:off x="6541" y="1755"/>
                  <a:ext cx="426" cy="355"/>
                </a:xfrm>
                <a:custGeom>
                  <a:avLst/>
                  <a:gdLst>
                    <a:gd name="T0" fmla="*/ 282 w 288"/>
                    <a:gd name="T1" fmla="*/ 240 h 240"/>
                    <a:gd name="T2" fmla="*/ 6 w 288"/>
                    <a:gd name="T3" fmla="*/ 240 h 240"/>
                    <a:gd name="T4" fmla="*/ 0 w 288"/>
                    <a:gd name="T5" fmla="*/ 234 h 240"/>
                    <a:gd name="T6" fmla="*/ 0 w 288"/>
                    <a:gd name="T7" fmla="*/ 6 h 240"/>
                    <a:gd name="T8" fmla="*/ 6 w 288"/>
                    <a:gd name="T9" fmla="*/ 0 h 240"/>
                    <a:gd name="T10" fmla="*/ 282 w 288"/>
                    <a:gd name="T11" fmla="*/ 0 h 240"/>
                    <a:gd name="T12" fmla="*/ 288 w 288"/>
                    <a:gd name="T13" fmla="*/ 6 h 240"/>
                    <a:gd name="T14" fmla="*/ 288 w 288"/>
                    <a:gd name="T15" fmla="*/ 234 h 240"/>
                    <a:gd name="T16" fmla="*/ 282 w 288"/>
                    <a:gd name="T17" fmla="*/ 240 h 240"/>
                    <a:gd name="T18" fmla="*/ 12 w 288"/>
                    <a:gd name="T19" fmla="*/ 228 h 240"/>
                    <a:gd name="T20" fmla="*/ 276 w 288"/>
                    <a:gd name="T21" fmla="*/ 228 h 240"/>
                    <a:gd name="T22" fmla="*/ 276 w 288"/>
                    <a:gd name="T23" fmla="*/ 12 h 240"/>
                    <a:gd name="T24" fmla="*/ 12 w 288"/>
                    <a:gd name="T25" fmla="*/ 12 h 240"/>
                    <a:gd name="T26" fmla="*/ 12 w 288"/>
                    <a:gd name="T27" fmla="*/ 22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40">
                      <a:moveTo>
                        <a:pt x="282" y="240"/>
                      </a:moveTo>
                      <a:cubicBezTo>
                        <a:pt x="6" y="240"/>
                        <a:pt x="6" y="240"/>
                        <a:pt x="6" y="240"/>
                      </a:cubicBezTo>
                      <a:cubicBezTo>
                        <a:pt x="3" y="240"/>
                        <a:pt x="0" y="237"/>
                        <a:pt x="0" y="234"/>
                      </a:cubicBezTo>
                      <a:cubicBezTo>
                        <a:pt x="0" y="6"/>
                        <a:pt x="0" y="6"/>
                        <a:pt x="0" y="6"/>
                      </a:cubicBezTo>
                      <a:cubicBezTo>
                        <a:pt x="0" y="3"/>
                        <a:pt x="3" y="0"/>
                        <a:pt x="6" y="0"/>
                      </a:cubicBezTo>
                      <a:cubicBezTo>
                        <a:pt x="282" y="0"/>
                        <a:pt x="282" y="0"/>
                        <a:pt x="282" y="0"/>
                      </a:cubicBezTo>
                      <a:cubicBezTo>
                        <a:pt x="286" y="0"/>
                        <a:pt x="288" y="3"/>
                        <a:pt x="288" y="6"/>
                      </a:cubicBezTo>
                      <a:cubicBezTo>
                        <a:pt x="288" y="234"/>
                        <a:pt x="288" y="234"/>
                        <a:pt x="288" y="234"/>
                      </a:cubicBezTo>
                      <a:cubicBezTo>
                        <a:pt x="288" y="237"/>
                        <a:pt x="286" y="240"/>
                        <a:pt x="282" y="240"/>
                      </a:cubicBezTo>
                      <a:close/>
                      <a:moveTo>
                        <a:pt x="12" y="228"/>
                      </a:moveTo>
                      <a:cubicBezTo>
                        <a:pt x="276" y="228"/>
                        <a:pt x="276" y="228"/>
                        <a:pt x="276" y="228"/>
                      </a:cubicBezTo>
                      <a:cubicBezTo>
                        <a:pt x="276" y="12"/>
                        <a:pt x="276" y="12"/>
                        <a:pt x="276" y="12"/>
                      </a:cubicBezTo>
                      <a:cubicBezTo>
                        <a:pt x="12" y="12"/>
                        <a:pt x="12" y="12"/>
                        <a:pt x="12" y="12"/>
                      </a:cubicBezTo>
                      <a:lnTo>
                        <a:pt x="12" y="2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66" name="Freeform 154">
                  <a:extLst>
                    <a:ext uri="{FF2B5EF4-FFF2-40B4-BE49-F238E27FC236}">
                      <a16:creationId xmlns:a16="http://schemas.microsoft.com/office/drawing/2014/main" id="{BA95A8A5-1928-869D-3191-2B2E8A158128}"/>
                    </a:ext>
                  </a:extLst>
                </p:cNvPr>
                <p:cNvSpPr>
                  <a:spLocks/>
                </p:cNvSpPr>
                <p:nvPr/>
              </p:nvSpPr>
              <p:spPr bwMode="auto">
                <a:xfrm>
                  <a:off x="6541" y="1844"/>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3"/>
                        <a:pt x="3" y="0"/>
                        <a:pt x="6" y="0"/>
                      </a:cubicBezTo>
                      <a:cubicBezTo>
                        <a:pt x="282" y="0"/>
                        <a:pt x="282" y="0"/>
                        <a:pt x="282" y="0"/>
                      </a:cubicBezTo>
                      <a:cubicBezTo>
                        <a:pt x="286" y="0"/>
                        <a:pt x="288" y="3"/>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sp>
            <p:nvSpPr>
              <p:cNvPr id="29" name="Rounded Rectangle 4">
                <a:extLst>
                  <a:ext uri="{FF2B5EF4-FFF2-40B4-BE49-F238E27FC236}">
                    <a16:creationId xmlns:a16="http://schemas.microsoft.com/office/drawing/2014/main" id="{F164C9EA-A05E-0FFD-97EB-BCB86557F2BE}"/>
                  </a:ext>
                </a:extLst>
              </p:cNvPr>
              <p:cNvSpPr/>
              <p:nvPr/>
            </p:nvSpPr>
            <p:spPr>
              <a:xfrm>
                <a:off x="6967706" y="4210156"/>
                <a:ext cx="4769666" cy="5701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Black"/>
                    <a:ea typeface="+mn-ea"/>
                    <a:cs typeface="+mn-cs"/>
                  </a:rPr>
                  <a:t>Process APIs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Arial" panose="020B0604020202020204"/>
                    <a:ea typeface="+mn-ea"/>
                    <a:cs typeface="+mn-cs"/>
                  </a:rPr>
                  <a:t>orchestration, composed APIs</a:t>
                </a:r>
                <a:endParaRPr kumimoji="0" lang="en-US" sz="9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0" name="Rounded Rectangle 4">
                <a:extLst>
                  <a:ext uri="{FF2B5EF4-FFF2-40B4-BE49-F238E27FC236}">
                    <a16:creationId xmlns:a16="http://schemas.microsoft.com/office/drawing/2014/main" id="{3CB9A895-3B71-2DF0-114D-4B797EBFEE3F}"/>
                  </a:ext>
                </a:extLst>
              </p:cNvPr>
              <p:cNvSpPr/>
              <p:nvPr/>
            </p:nvSpPr>
            <p:spPr>
              <a:xfrm>
                <a:off x="6967706" y="5185650"/>
                <a:ext cx="4769666" cy="5701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Black"/>
                    <a:ea typeface="+mn-ea"/>
                    <a:cs typeface="+mn-cs"/>
                  </a:rPr>
                  <a:t>System APIs</a:t>
                </a:r>
                <a:br>
                  <a:rPr kumimoji="0" lang="en-US" sz="900" b="1"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GB" sz="900" b="0" i="0" u="none" strike="noStrike" kern="1200" cap="none" spc="0" normalizeH="0" baseline="0" noProof="0" dirty="0">
                    <a:ln>
                      <a:noFill/>
                    </a:ln>
                    <a:solidFill>
                      <a:srgbClr val="FFFFFF"/>
                    </a:solidFill>
                    <a:effectLst/>
                    <a:uLnTx/>
                    <a:uFillTx/>
                    <a:latin typeface="Arial" panose="020B0604020202020204"/>
                    <a:ea typeface="+mn-ea"/>
                    <a:cs typeface="+mn-cs"/>
                  </a:rPr>
                  <a:t>legacy modernization, connectivity, SaaS APIs</a:t>
                </a:r>
                <a:endParaRPr kumimoji="0" lang="en-US" sz="9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31" name="Group 30">
                <a:extLst>
                  <a:ext uri="{FF2B5EF4-FFF2-40B4-BE49-F238E27FC236}">
                    <a16:creationId xmlns:a16="http://schemas.microsoft.com/office/drawing/2014/main" id="{9B2EC3B2-366B-073B-E7A3-D9258C15733C}"/>
                  </a:ext>
                </a:extLst>
              </p:cNvPr>
              <p:cNvGrpSpPr>
                <a:grpSpLocks noChangeAspect="1"/>
              </p:cNvGrpSpPr>
              <p:nvPr/>
            </p:nvGrpSpPr>
            <p:grpSpPr>
              <a:xfrm rot="5400000">
                <a:off x="7457457" y="3073838"/>
                <a:ext cx="252002" cy="94500"/>
                <a:chOff x="3808413" y="3598863"/>
                <a:chExt cx="546100" cy="204787"/>
              </a:xfrm>
              <a:solidFill>
                <a:schemeClr val="tx2"/>
              </a:solidFill>
            </p:grpSpPr>
            <p:sp>
              <p:nvSpPr>
                <p:cNvPr id="257" name="Freeform 375">
                  <a:extLst>
                    <a:ext uri="{FF2B5EF4-FFF2-40B4-BE49-F238E27FC236}">
                      <a16:creationId xmlns:a16="http://schemas.microsoft.com/office/drawing/2014/main" id="{D497F2F4-CF52-D276-8410-B2095428A930}"/>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58" name="Freeform 376">
                  <a:extLst>
                    <a:ext uri="{FF2B5EF4-FFF2-40B4-BE49-F238E27FC236}">
                      <a16:creationId xmlns:a16="http://schemas.microsoft.com/office/drawing/2014/main" id="{5C127941-99C3-4773-8B2F-A58A4328C81C}"/>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59" name="Freeform 377">
                  <a:extLst>
                    <a:ext uri="{FF2B5EF4-FFF2-40B4-BE49-F238E27FC236}">
                      <a16:creationId xmlns:a16="http://schemas.microsoft.com/office/drawing/2014/main" id="{3C9CB92E-E77F-EA3E-BBEA-426906CED9D3}"/>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32" name="Group 31">
                <a:extLst>
                  <a:ext uri="{FF2B5EF4-FFF2-40B4-BE49-F238E27FC236}">
                    <a16:creationId xmlns:a16="http://schemas.microsoft.com/office/drawing/2014/main" id="{D014B51A-F672-033A-823D-4EF86CB69CE8}"/>
                  </a:ext>
                </a:extLst>
              </p:cNvPr>
              <p:cNvGrpSpPr>
                <a:grpSpLocks noChangeAspect="1"/>
              </p:cNvGrpSpPr>
              <p:nvPr/>
            </p:nvGrpSpPr>
            <p:grpSpPr>
              <a:xfrm rot="5400000">
                <a:off x="8359662" y="3073838"/>
                <a:ext cx="252002" cy="94500"/>
                <a:chOff x="3808413" y="3598863"/>
                <a:chExt cx="546100" cy="204787"/>
              </a:xfrm>
              <a:solidFill>
                <a:schemeClr val="tx2"/>
              </a:solidFill>
            </p:grpSpPr>
            <p:sp>
              <p:nvSpPr>
                <p:cNvPr id="254" name="Freeform 375">
                  <a:extLst>
                    <a:ext uri="{FF2B5EF4-FFF2-40B4-BE49-F238E27FC236}">
                      <a16:creationId xmlns:a16="http://schemas.microsoft.com/office/drawing/2014/main" id="{6D961BCC-6CF7-29FF-F7BB-4BB00BF66274}"/>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55" name="Freeform 376">
                  <a:extLst>
                    <a:ext uri="{FF2B5EF4-FFF2-40B4-BE49-F238E27FC236}">
                      <a16:creationId xmlns:a16="http://schemas.microsoft.com/office/drawing/2014/main" id="{5B5C28DE-6071-51CE-0722-13B2D88BFBEA}"/>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56" name="Freeform 377">
                  <a:extLst>
                    <a:ext uri="{FF2B5EF4-FFF2-40B4-BE49-F238E27FC236}">
                      <a16:creationId xmlns:a16="http://schemas.microsoft.com/office/drawing/2014/main" id="{2F18BF4D-659B-0A64-570F-30936217C511}"/>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34" name="Group 33">
                <a:extLst>
                  <a:ext uri="{FF2B5EF4-FFF2-40B4-BE49-F238E27FC236}">
                    <a16:creationId xmlns:a16="http://schemas.microsoft.com/office/drawing/2014/main" id="{B374FCDA-A0BE-B51C-5964-694996242732}"/>
                  </a:ext>
                </a:extLst>
              </p:cNvPr>
              <p:cNvGrpSpPr>
                <a:grpSpLocks noChangeAspect="1"/>
              </p:cNvGrpSpPr>
              <p:nvPr/>
            </p:nvGrpSpPr>
            <p:grpSpPr>
              <a:xfrm rot="5400000">
                <a:off x="9261869" y="3073838"/>
                <a:ext cx="252002" cy="94500"/>
                <a:chOff x="3808413" y="3598863"/>
                <a:chExt cx="546100" cy="204787"/>
              </a:xfrm>
              <a:solidFill>
                <a:schemeClr val="tx2"/>
              </a:solidFill>
            </p:grpSpPr>
            <p:sp>
              <p:nvSpPr>
                <p:cNvPr id="251" name="Freeform 375">
                  <a:extLst>
                    <a:ext uri="{FF2B5EF4-FFF2-40B4-BE49-F238E27FC236}">
                      <a16:creationId xmlns:a16="http://schemas.microsoft.com/office/drawing/2014/main" id="{E253169E-1D8F-62D4-480F-61811D470E17}"/>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52" name="Freeform 376">
                  <a:extLst>
                    <a:ext uri="{FF2B5EF4-FFF2-40B4-BE49-F238E27FC236}">
                      <a16:creationId xmlns:a16="http://schemas.microsoft.com/office/drawing/2014/main" id="{ECD94AEE-23A9-93E8-B352-921A048705DF}"/>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53" name="Freeform 377">
                  <a:extLst>
                    <a:ext uri="{FF2B5EF4-FFF2-40B4-BE49-F238E27FC236}">
                      <a16:creationId xmlns:a16="http://schemas.microsoft.com/office/drawing/2014/main" id="{6627549E-1EF7-3E0C-B22F-41906755DD87}"/>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35" name="Group 34">
                <a:extLst>
                  <a:ext uri="{FF2B5EF4-FFF2-40B4-BE49-F238E27FC236}">
                    <a16:creationId xmlns:a16="http://schemas.microsoft.com/office/drawing/2014/main" id="{4CAC4CFB-7D41-7AFC-FF3A-9296A7ECD2FE}"/>
                  </a:ext>
                </a:extLst>
              </p:cNvPr>
              <p:cNvGrpSpPr>
                <a:grpSpLocks noChangeAspect="1"/>
              </p:cNvGrpSpPr>
              <p:nvPr/>
            </p:nvGrpSpPr>
            <p:grpSpPr>
              <a:xfrm rot="5400000">
                <a:off x="10164074" y="3073838"/>
                <a:ext cx="252002" cy="94500"/>
                <a:chOff x="3808413" y="3598863"/>
                <a:chExt cx="546100" cy="204787"/>
              </a:xfrm>
              <a:solidFill>
                <a:schemeClr val="tx2"/>
              </a:solidFill>
            </p:grpSpPr>
            <p:sp>
              <p:nvSpPr>
                <p:cNvPr id="248" name="Freeform 375">
                  <a:extLst>
                    <a:ext uri="{FF2B5EF4-FFF2-40B4-BE49-F238E27FC236}">
                      <a16:creationId xmlns:a16="http://schemas.microsoft.com/office/drawing/2014/main" id="{D0F48252-559C-EFDE-6F9E-A86A6C049871}"/>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49" name="Freeform 376">
                  <a:extLst>
                    <a:ext uri="{FF2B5EF4-FFF2-40B4-BE49-F238E27FC236}">
                      <a16:creationId xmlns:a16="http://schemas.microsoft.com/office/drawing/2014/main" id="{97BD34E5-624A-454F-3226-D26EE7D38144}"/>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50" name="Freeform 377">
                  <a:extLst>
                    <a:ext uri="{FF2B5EF4-FFF2-40B4-BE49-F238E27FC236}">
                      <a16:creationId xmlns:a16="http://schemas.microsoft.com/office/drawing/2014/main" id="{23D89CE4-9AD9-B891-1384-08E1378FD0D6}"/>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36" name="Group 35">
                <a:extLst>
                  <a:ext uri="{FF2B5EF4-FFF2-40B4-BE49-F238E27FC236}">
                    <a16:creationId xmlns:a16="http://schemas.microsoft.com/office/drawing/2014/main" id="{F8226B41-ADB2-AD02-D8E4-D1E2FC3BC073}"/>
                  </a:ext>
                </a:extLst>
              </p:cNvPr>
              <p:cNvGrpSpPr>
                <a:grpSpLocks noChangeAspect="1"/>
              </p:cNvGrpSpPr>
              <p:nvPr/>
            </p:nvGrpSpPr>
            <p:grpSpPr>
              <a:xfrm rot="5400000">
                <a:off x="11066280" y="3073838"/>
                <a:ext cx="252002" cy="94500"/>
                <a:chOff x="3808413" y="3598863"/>
                <a:chExt cx="546100" cy="204787"/>
              </a:xfrm>
              <a:solidFill>
                <a:schemeClr val="tx2"/>
              </a:solidFill>
            </p:grpSpPr>
            <p:sp>
              <p:nvSpPr>
                <p:cNvPr id="245" name="Freeform 375">
                  <a:extLst>
                    <a:ext uri="{FF2B5EF4-FFF2-40B4-BE49-F238E27FC236}">
                      <a16:creationId xmlns:a16="http://schemas.microsoft.com/office/drawing/2014/main" id="{07E73842-63B0-3B20-DBB0-BC6FBD8365B7}"/>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46" name="Freeform 376">
                  <a:extLst>
                    <a:ext uri="{FF2B5EF4-FFF2-40B4-BE49-F238E27FC236}">
                      <a16:creationId xmlns:a16="http://schemas.microsoft.com/office/drawing/2014/main" id="{BDF8C291-134E-160B-C22E-8855ACB184FF}"/>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47" name="Freeform 377">
                  <a:extLst>
                    <a:ext uri="{FF2B5EF4-FFF2-40B4-BE49-F238E27FC236}">
                      <a16:creationId xmlns:a16="http://schemas.microsoft.com/office/drawing/2014/main" id="{8FE7784A-49C3-CBD6-C632-E25D4173986A}"/>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37" name="Group 36">
                <a:extLst>
                  <a:ext uri="{FF2B5EF4-FFF2-40B4-BE49-F238E27FC236}">
                    <a16:creationId xmlns:a16="http://schemas.microsoft.com/office/drawing/2014/main" id="{1889C654-3054-A05E-6EB1-C4057A96B4ED}"/>
                  </a:ext>
                </a:extLst>
              </p:cNvPr>
              <p:cNvGrpSpPr>
                <a:grpSpLocks noChangeAspect="1"/>
              </p:cNvGrpSpPr>
              <p:nvPr/>
            </p:nvGrpSpPr>
            <p:grpSpPr>
              <a:xfrm rot="5400000">
                <a:off x="7405444" y="5876918"/>
                <a:ext cx="252002" cy="94500"/>
                <a:chOff x="3808413" y="3598863"/>
                <a:chExt cx="546100" cy="204787"/>
              </a:xfrm>
              <a:solidFill>
                <a:schemeClr val="tx2"/>
              </a:solidFill>
            </p:grpSpPr>
            <p:sp>
              <p:nvSpPr>
                <p:cNvPr id="242" name="Freeform 375">
                  <a:extLst>
                    <a:ext uri="{FF2B5EF4-FFF2-40B4-BE49-F238E27FC236}">
                      <a16:creationId xmlns:a16="http://schemas.microsoft.com/office/drawing/2014/main" id="{AB8834F5-1EAF-9DC8-BFF4-B07BD5390233}"/>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43" name="Freeform 376">
                  <a:extLst>
                    <a:ext uri="{FF2B5EF4-FFF2-40B4-BE49-F238E27FC236}">
                      <a16:creationId xmlns:a16="http://schemas.microsoft.com/office/drawing/2014/main" id="{27EA5139-6169-405C-E0A5-7ACDBFF63528}"/>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44" name="Freeform 377">
                  <a:extLst>
                    <a:ext uri="{FF2B5EF4-FFF2-40B4-BE49-F238E27FC236}">
                      <a16:creationId xmlns:a16="http://schemas.microsoft.com/office/drawing/2014/main" id="{86D4894C-194E-47C9-F212-1DBCD9EE4098}"/>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38" name="Group 37">
                <a:extLst>
                  <a:ext uri="{FF2B5EF4-FFF2-40B4-BE49-F238E27FC236}">
                    <a16:creationId xmlns:a16="http://schemas.microsoft.com/office/drawing/2014/main" id="{A8938003-D204-9061-A43B-17F545B4016A}"/>
                  </a:ext>
                </a:extLst>
              </p:cNvPr>
              <p:cNvGrpSpPr>
                <a:grpSpLocks noChangeAspect="1"/>
              </p:cNvGrpSpPr>
              <p:nvPr/>
            </p:nvGrpSpPr>
            <p:grpSpPr>
              <a:xfrm rot="5400000">
                <a:off x="8307651" y="5876918"/>
                <a:ext cx="252002" cy="94500"/>
                <a:chOff x="3808413" y="3598863"/>
                <a:chExt cx="546100" cy="204787"/>
              </a:xfrm>
              <a:solidFill>
                <a:schemeClr val="tx2"/>
              </a:solidFill>
            </p:grpSpPr>
            <p:sp>
              <p:nvSpPr>
                <p:cNvPr id="239" name="Freeform 375">
                  <a:extLst>
                    <a:ext uri="{FF2B5EF4-FFF2-40B4-BE49-F238E27FC236}">
                      <a16:creationId xmlns:a16="http://schemas.microsoft.com/office/drawing/2014/main" id="{2201ABA8-0096-702C-545C-132AAF912469}"/>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40" name="Freeform 376">
                  <a:extLst>
                    <a:ext uri="{FF2B5EF4-FFF2-40B4-BE49-F238E27FC236}">
                      <a16:creationId xmlns:a16="http://schemas.microsoft.com/office/drawing/2014/main" id="{20C5E68F-DD6F-633F-2F69-A95BD9233782}"/>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41" name="Freeform 377">
                  <a:extLst>
                    <a:ext uri="{FF2B5EF4-FFF2-40B4-BE49-F238E27FC236}">
                      <a16:creationId xmlns:a16="http://schemas.microsoft.com/office/drawing/2014/main" id="{47700B46-8DFD-6413-4A6E-FFF8FEBEF45F}"/>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39" name="Group 38">
                <a:extLst>
                  <a:ext uri="{FF2B5EF4-FFF2-40B4-BE49-F238E27FC236}">
                    <a16:creationId xmlns:a16="http://schemas.microsoft.com/office/drawing/2014/main" id="{1EC0135A-BF69-5A40-A9A0-F342968D79FD}"/>
                  </a:ext>
                </a:extLst>
              </p:cNvPr>
              <p:cNvGrpSpPr>
                <a:grpSpLocks noChangeAspect="1"/>
              </p:cNvGrpSpPr>
              <p:nvPr/>
            </p:nvGrpSpPr>
            <p:grpSpPr>
              <a:xfrm rot="5400000">
                <a:off x="9209856" y="5876918"/>
                <a:ext cx="252002" cy="94500"/>
                <a:chOff x="3808413" y="3598863"/>
                <a:chExt cx="546100" cy="204787"/>
              </a:xfrm>
              <a:solidFill>
                <a:schemeClr val="tx2"/>
              </a:solidFill>
            </p:grpSpPr>
            <p:sp>
              <p:nvSpPr>
                <p:cNvPr id="236" name="Freeform 375">
                  <a:extLst>
                    <a:ext uri="{FF2B5EF4-FFF2-40B4-BE49-F238E27FC236}">
                      <a16:creationId xmlns:a16="http://schemas.microsoft.com/office/drawing/2014/main" id="{746BDD02-9F8B-3E48-E091-1250939D5FCA}"/>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37" name="Freeform 376">
                  <a:extLst>
                    <a:ext uri="{FF2B5EF4-FFF2-40B4-BE49-F238E27FC236}">
                      <a16:creationId xmlns:a16="http://schemas.microsoft.com/office/drawing/2014/main" id="{4B3C8A26-CC27-C5AE-C8DB-40628B0BD71B}"/>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38" name="Freeform 377">
                  <a:extLst>
                    <a:ext uri="{FF2B5EF4-FFF2-40B4-BE49-F238E27FC236}">
                      <a16:creationId xmlns:a16="http://schemas.microsoft.com/office/drawing/2014/main" id="{D6EB4317-E81E-8AEC-78C0-6EAAB5321BE8}"/>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40" name="Group 39">
                <a:extLst>
                  <a:ext uri="{FF2B5EF4-FFF2-40B4-BE49-F238E27FC236}">
                    <a16:creationId xmlns:a16="http://schemas.microsoft.com/office/drawing/2014/main" id="{9192A66C-0AE9-A20B-C4B6-ACF3F1282D9A}"/>
                  </a:ext>
                </a:extLst>
              </p:cNvPr>
              <p:cNvGrpSpPr>
                <a:grpSpLocks noChangeAspect="1"/>
              </p:cNvGrpSpPr>
              <p:nvPr/>
            </p:nvGrpSpPr>
            <p:grpSpPr>
              <a:xfrm rot="5400000">
                <a:off x="10112063" y="5876918"/>
                <a:ext cx="252002" cy="94500"/>
                <a:chOff x="3808413" y="3598863"/>
                <a:chExt cx="546100" cy="204787"/>
              </a:xfrm>
              <a:solidFill>
                <a:schemeClr val="tx2"/>
              </a:solidFill>
            </p:grpSpPr>
            <p:sp>
              <p:nvSpPr>
                <p:cNvPr id="233" name="Freeform 375">
                  <a:extLst>
                    <a:ext uri="{FF2B5EF4-FFF2-40B4-BE49-F238E27FC236}">
                      <a16:creationId xmlns:a16="http://schemas.microsoft.com/office/drawing/2014/main" id="{BECA1E55-278E-1B89-99B4-30DC945A3951}"/>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34" name="Freeform 376">
                  <a:extLst>
                    <a:ext uri="{FF2B5EF4-FFF2-40B4-BE49-F238E27FC236}">
                      <a16:creationId xmlns:a16="http://schemas.microsoft.com/office/drawing/2014/main" id="{EACC7A97-97A6-04C9-18D1-1B4883D8EAB8}"/>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35" name="Freeform 377">
                  <a:extLst>
                    <a:ext uri="{FF2B5EF4-FFF2-40B4-BE49-F238E27FC236}">
                      <a16:creationId xmlns:a16="http://schemas.microsoft.com/office/drawing/2014/main" id="{BE45E4F0-65BC-6208-6FF8-3A1F6FD48DE9}"/>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41" name="Group 40">
                <a:extLst>
                  <a:ext uri="{FF2B5EF4-FFF2-40B4-BE49-F238E27FC236}">
                    <a16:creationId xmlns:a16="http://schemas.microsoft.com/office/drawing/2014/main" id="{549EF57C-2C1F-299B-8445-F0CA1399BDFD}"/>
                  </a:ext>
                </a:extLst>
              </p:cNvPr>
              <p:cNvGrpSpPr>
                <a:grpSpLocks noChangeAspect="1"/>
              </p:cNvGrpSpPr>
              <p:nvPr/>
            </p:nvGrpSpPr>
            <p:grpSpPr>
              <a:xfrm rot="5400000">
                <a:off x="11014267" y="5876918"/>
                <a:ext cx="252002" cy="94500"/>
                <a:chOff x="3808413" y="3598863"/>
                <a:chExt cx="546100" cy="204787"/>
              </a:xfrm>
              <a:solidFill>
                <a:schemeClr val="tx2"/>
              </a:solidFill>
            </p:grpSpPr>
            <p:sp>
              <p:nvSpPr>
                <p:cNvPr id="230" name="Freeform 375">
                  <a:extLst>
                    <a:ext uri="{FF2B5EF4-FFF2-40B4-BE49-F238E27FC236}">
                      <a16:creationId xmlns:a16="http://schemas.microsoft.com/office/drawing/2014/main" id="{2F55969A-5285-AA80-7D41-DE79AD66B24D}"/>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31" name="Freeform 376">
                  <a:extLst>
                    <a:ext uri="{FF2B5EF4-FFF2-40B4-BE49-F238E27FC236}">
                      <a16:creationId xmlns:a16="http://schemas.microsoft.com/office/drawing/2014/main" id="{14DFED90-23C2-E94E-359A-29DC1C2B5A89}"/>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32" name="Freeform 377">
                  <a:extLst>
                    <a:ext uri="{FF2B5EF4-FFF2-40B4-BE49-F238E27FC236}">
                      <a16:creationId xmlns:a16="http://schemas.microsoft.com/office/drawing/2014/main" id="{CD12AE77-A517-A4FE-6665-098424CBD896}"/>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42" name="Group 41">
                <a:extLst>
                  <a:ext uri="{FF2B5EF4-FFF2-40B4-BE49-F238E27FC236}">
                    <a16:creationId xmlns:a16="http://schemas.microsoft.com/office/drawing/2014/main" id="{7121299E-E2CD-3AAF-AF16-5EB3B13899B9}"/>
                  </a:ext>
                </a:extLst>
              </p:cNvPr>
              <p:cNvGrpSpPr>
                <a:grpSpLocks noChangeAspect="1"/>
              </p:cNvGrpSpPr>
              <p:nvPr/>
            </p:nvGrpSpPr>
            <p:grpSpPr>
              <a:xfrm rot="5400000">
                <a:off x="7904039" y="4934206"/>
                <a:ext cx="252002" cy="94500"/>
                <a:chOff x="3808413" y="3598863"/>
                <a:chExt cx="546100" cy="204787"/>
              </a:xfrm>
              <a:solidFill>
                <a:schemeClr val="tx2"/>
              </a:solidFill>
            </p:grpSpPr>
            <p:sp>
              <p:nvSpPr>
                <p:cNvPr id="227" name="Freeform 375">
                  <a:extLst>
                    <a:ext uri="{FF2B5EF4-FFF2-40B4-BE49-F238E27FC236}">
                      <a16:creationId xmlns:a16="http://schemas.microsoft.com/office/drawing/2014/main" id="{D310486B-421E-B1B0-69BE-0B4CE135DA8B}"/>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28" name="Freeform 376">
                  <a:extLst>
                    <a:ext uri="{FF2B5EF4-FFF2-40B4-BE49-F238E27FC236}">
                      <a16:creationId xmlns:a16="http://schemas.microsoft.com/office/drawing/2014/main" id="{613A722E-D8B3-9086-E7FA-61055A3CC3A4}"/>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29" name="Freeform 377">
                  <a:extLst>
                    <a:ext uri="{FF2B5EF4-FFF2-40B4-BE49-F238E27FC236}">
                      <a16:creationId xmlns:a16="http://schemas.microsoft.com/office/drawing/2014/main" id="{42FF5535-18A1-6F9A-7258-8EC26ED85E57}"/>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43" name="Group 42">
                <a:extLst>
                  <a:ext uri="{FF2B5EF4-FFF2-40B4-BE49-F238E27FC236}">
                    <a16:creationId xmlns:a16="http://schemas.microsoft.com/office/drawing/2014/main" id="{72E61308-54F7-50D1-1AB8-893759D6A9D6}"/>
                  </a:ext>
                </a:extLst>
              </p:cNvPr>
              <p:cNvGrpSpPr>
                <a:grpSpLocks noChangeAspect="1"/>
              </p:cNvGrpSpPr>
              <p:nvPr/>
            </p:nvGrpSpPr>
            <p:grpSpPr>
              <a:xfrm rot="5400000">
                <a:off x="8806244" y="4934206"/>
                <a:ext cx="252002" cy="94500"/>
                <a:chOff x="3808413" y="3598863"/>
                <a:chExt cx="546100" cy="204787"/>
              </a:xfrm>
              <a:solidFill>
                <a:schemeClr val="tx2"/>
              </a:solidFill>
            </p:grpSpPr>
            <p:sp>
              <p:nvSpPr>
                <p:cNvPr id="224" name="Freeform 375">
                  <a:extLst>
                    <a:ext uri="{FF2B5EF4-FFF2-40B4-BE49-F238E27FC236}">
                      <a16:creationId xmlns:a16="http://schemas.microsoft.com/office/drawing/2014/main" id="{3868DCD0-C207-0FFA-8751-D9E6F2132C37}"/>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25" name="Freeform 376">
                  <a:extLst>
                    <a:ext uri="{FF2B5EF4-FFF2-40B4-BE49-F238E27FC236}">
                      <a16:creationId xmlns:a16="http://schemas.microsoft.com/office/drawing/2014/main" id="{9E086B31-6E29-2522-F05D-D2F79F6FC119}"/>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26" name="Freeform 377">
                  <a:extLst>
                    <a:ext uri="{FF2B5EF4-FFF2-40B4-BE49-F238E27FC236}">
                      <a16:creationId xmlns:a16="http://schemas.microsoft.com/office/drawing/2014/main" id="{3420DFEA-B9B0-118C-3C55-CFD98572B46E}"/>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44" name="Group 43">
                <a:extLst>
                  <a:ext uri="{FF2B5EF4-FFF2-40B4-BE49-F238E27FC236}">
                    <a16:creationId xmlns:a16="http://schemas.microsoft.com/office/drawing/2014/main" id="{9663ABBC-428B-19A9-6F99-C74F944607DA}"/>
                  </a:ext>
                </a:extLst>
              </p:cNvPr>
              <p:cNvGrpSpPr>
                <a:grpSpLocks noChangeAspect="1"/>
              </p:cNvGrpSpPr>
              <p:nvPr/>
            </p:nvGrpSpPr>
            <p:grpSpPr>
              <a:xfrm rot="5400000">
                <a:off x="9708451" y="4934206"/>
                <a:ext cx="252002" cy="94500"/>
                <a:chOff x="3808413" y="3598863"/>
                <a:chExt cx="546100" cy="204787"/>
              </a:xfrm>
              <a:solidFill>
                <a:schemeClr val="tx2"/>
              </a:solidFill>
            </p:grpSpPr>
            <p:sp>
              <p:nvSpPr>
                <p:cNvPr id="221" name="Freeform 375">
                  <a:extLst>
                    <a:ext uri="{FF2B5EF4-FFF2-40B4-BE49-F238E27FC236}">
                      <a16:creationId xmlns:a16="http://schemas.microsoft.com/office/drawing/2014/main" id="{7C9C16A8-CEC7-A905-48B8-83B545EF9791}"/>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22" name="Freeform 376">
                  <a:extLst>
                    <a:ext uri="{FF2B5EF4-FFF2-40B4-BE49-F238E27FC236}">
                      <a16:creationId xmlns:a16="http://schemas.microsoft.com/office/drawing/2014/main" id="{9B6FE76D-266C-73E8-6FC5-8C1E0C649876}"/>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23" name="Freeform 377">
                  <a:extLst>
                    <a:ext uri="{FF2B5EF4-FFF2-40B4-BE49-F238E27FC236}">
                      <a16:creationId xmlns:a16="http://schemas.microsoft.com/office/drawing/2014/main" id="{F06DBD36-9E7A-B129-B878-8086EC7F01B5}"/>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45" name="Group 44">
                <a:extLst>
                  <a:ext uri="{FF2B5EF4-FFF2-40B4-BE49-F238E27FC236}">
                    <a16:creationId xmlns:a16="http://schemas.microsoft.com/office/drawing/2014/main" id="{0E59EF82-29E7-37A7-B6BB-7D50EAD204D9}"/>
                  </a:ext>
                </a:extLst>
              </p:cNvPr>
              <p:cNvGrpSpPr>
                <a:grpSpLocks noChangeAspect="1"/>
              </p:cNvGrpSpPr>
              <p:nvPr/>
            </p:nvGrpSpPr>
            <p:grpSpPr>
              <a:xfrm rot="5400000">
                <a:off x="10610656" y="4934206"/>
                <a:ext cx="252002" cy="94500"/>
                <a:chOff x="3808413" y="3598863"/>
                <a:chExt cx="546100" cy="204787"/>
              </a:xfrm>
              <a:solidFill>
                <a:schemeClr val="tx2"/>
              </a:solidFill>
            </p:grpSpPr>
            <p:sp>
              <p:nvSpPr>
                <p:cNvPr id="218" name="Freeform 375">
                  <a:extLst>
                    <a:ext uri="{FF2B5EF4-FFF2-40B4-BE49-F238E27FC236}">
                      <a16:creationId xmlns:a16="http://schemas.microsoft.com/office/drawing/2014/main" id="{612109B4-690C-1119-4920-B9AA6048545B}"/>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19" name="Freeform 376">
                  <a:extLst>
                    <a:ext uri="{FF2B5EF4-FFF2-40B4-BE49-F238E27FC236}">
                      <a16:creationId xmlns:a16="http://schemas.microsoft.com/office/drawing/2014/main" id="{46E5D3E2-0119-247C-5C7C-6AFE021DC425}"/>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20" name="Freeform 377">
                  <a:extLst>
                    <a:ext uri="{FF2B5EF4-FFF2-40B4-BE49-F238E27FC236}">
                      <a16:creationId xmlns:a16="http://schemas.microsoft.com/office/drawing/2014/main" id="{9637A5D5-1C9C-14EF-876F-77E5491C359F}"/>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46" name="Group 45">
                <a:extLst>
                  <a:ext uri="{FF2B5EF4-FFF2-40B4-BE49-F238E27FC236}">
                    <a16:creationId xmlns:a16="http://schemas.microsoft.com/office/drawing/2014/main" id="{0133BF5E-056A-B7D2-0C80-7381BC796D1D}"/>
                  </a:ext>
                </a:extLst>
              </p:cNvPr>
              <p:cNvGrpSpPr>
                <a:grpSpLocks noChangeAspect="1"/>
              </p:cNvGrpSpPr>
              <p:nvPr/>
            </p:nvGrpSpPr>
            <p:grpSpPr>
              <a:xfrm rot="5400000">
                <a:off x="8463018" y="3987999"/>
                <a:ext cx="252002" cy="94500"/>
                <a:chOff x="3808413" y="3598863"/>
                <a:chExt cx="546100" cy="204787"/>
              </a:xfrm>
              <a:solidFill>
                <a:schemeClr val="tx2"/>
              </a:solidFill>
            </p:grpSpPr>
            <p:sp>
              <p:nvSpPr>
                <p:cNvPr id="215" name="Freeform 375">
                  <a:extLst>
                    <a:ext uri="{FF2B5EF4-FFF2-40B4-BE49-F238E27FC236}">
                      <a16:creationId xmlns:a16="http://schemas.microsoft.com/office/drawing/2014/main" id="{4DC61C25-C136-7F36-261C-AA17FC2B67EE}"/>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16" name="Freeform 376">
                  <a:extLst>
                    <a:ext uri="{FF2B5EF4-FFF2-40B4-BE49-F238E27FC236}">
                      <a16:creationId xmlns:a16="http://schemas.microsoft.com/office/drawing/2014/main" id="{8445E1D2-594A-E95B-4115-A450F288129A}"/>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17" name="Freeform 377">
                  <a:extLst>
                    <a:ext uri="{FF2B5EF4-FFF2-40B4-BE49-F238E27FC236}">
                      <a16:creationId xmlns:a16="http://schemas.microsoft.com/office/drawing/2014/main" id="{B48EE207-6DB1-E405-B272-DD349F724DFA}"/>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47" name="Group 46">
                <a:extLst>
                  <a:ext uri="{FF2B5EF4-FFF2-40B4-BE49-F238E27FC236}">
                    <a16:creationId xmlns:a16="http://schemas.microsoft.com/office/drawing/2014/main" id="{4F1B9164-04DD-3C87-ED18-B72F451E3A08}"/>
                  </a:ext>
                </a:extLst>
              </p:cNvPr>
              <p:cNvGrpSpPr>
                <a:grpSpLocks noChangeAspect="1"/>
              </p:cNvGrpSpPr>
              <p:nvPr/>
            </p:nvGrpSpPr>
            <p:grpSpPr>
              <a:xfrm rot="5400000">
                <a:off x="9365223" y="3987999"/>
                <a:ext cx="252002" cy="94500"/>
                <a:chOff x="3808413" y="3598863"/>
                <a:chExt cx="546100" cy="204787"/>
              </a:xfrm>
              <a:solidFill>
                <a:schemeClr val="tx2"/>
              </a:solidFill>
            </p:grpSpPr>
            <p:sp>
              <p:nvSpPr>
                <p:cNvPr id="212" name="Freeform 375">
                  <a:extLst>
                    <a:ext uri="{FF2B5EF4-FFF2-40B4-BE49-F238E27FC236}">
                      <a16:creationId xmlns:a16="http://schemas.microsoft.com/office/drawing/2014/main" id="{5E68C9D0-89D7-F78F-C482-2AB9A018FBF2}"/>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13" name="Freeform 376">
                  <a:extLst>
                    <a:ext uri="{FF2B5EF4-FFF2-40B4-BE49-F238E27FC236}">
                      <a16:creationId xmlns:a16="http://schemas.microsoft.com/office/drawing/2014/main" id="{67F668DA-F2E1-63A8-DB83-29263433BE75}"/>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14" name="Freeform 377">
                  <a:extLst>
                    <a:ext uri="{FF2B5EF4-FFF2-40B4-BE49-F238E27FC236}">
                      <a16:creationId xmlns:a16="http://schemas.microsoft.com/office/drawing/2014/main" id="{392650CC-F999-7600-1DC0-EAC1915C5000}"/>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48" name="Group 47">
                <a:extLst>
                  <a:ext uri="{FF2B5EF4-FFF2-40B4-BE49-F238E27FC236}">
                    <a16:creationId xmlns:a16="http://schemas.microsoft.com/office/drawing/2014/main" id="{F2CB2BB8-588C-78B8-E961-5E40DCF5269D}"/>
                  </a:ext>
                </a:extLst>
              </p:cNvPr>
              <p:cNvGrpSpPr>
                <a:grpSpLocks noChangeAspect="1"/>
              </p:cNvGrpSpPr>
              <p:nvPr/>
            </p:nvGrpSpPr>
            <p:grpSpPr>
              <a:xfrm rot="5400000">
                <a:off x="10267430" y="3987999"/>
                <a:ext cx="252002" cy="94500"/>
                <a:chOff x="3808413" y="3598863"/>
                <a:chExt cx="546100" cy="204787"/>
              </a:xfrm>
              <a:solidFill>
                <a:schemeClr val="tx2"/>
              </a:solidFill>
            </p:grpSpPr>
            <p:sp>
              <p:nvSpPr>
                <p:cNvPr id="209" name="Freeform 375">
                  <a:extLst>
                    <a:ext uri="{FF2B5EF4-FFF2-40B4-BE49-F238E27FC236}">
                      <a16:creationId xmlns:a16="http://schemas.microsoft.com/office/drawing/2014/main" id="{A5FB4E0E-7F23-C6B3-7B82-4DF19A410C2F}"/>
                    </a:ext>
                  </a:extLst>
                </p:cNvPr>
                <p:cNvSpPr>
                  <a:spLocks noChangeArrowheads="1"/>
                </p:cNvSpPr>
                <p:nvPr/>
              </p:nvSpPr>
              <p:spPr bwMode="auto">
                <a:xfrm>
                  <a:off x="4103688" y="3598863"/>
                  <a:ext cx="250825" cy="204787"/>
                </a:xfrm>
                <a:custGeom>
                  <a:avLst/>
                  <a:gdLst>
                    <a:gd name="T0" fmla="*/ 473 w 695"/>
                    <a:gd name="T1" fmla="*/ 567 h 568"/>
                    <a:gd name="T2" fmla="*/ 473 w 695"/>
                    <a:gd name="T3" fmla="*/ 567 h 568"/>
                    <a:gd name="T4" fmla="*/ 157 w 695"/>
                    <a:gd name="T5" fmla="*/ 567 h 568"/>
                    <a:gd name="T6" fmla="*/ 0 w 695"/>
                    <a:gd name="T7" fmla="*/ 409 h 568"/>
                    <a:gd name="T8" fmla="*/ 31 w 695"/>
                    <a:gd name="T9" fmla="*/ 377 h 568"/>
                    <a:gd name="T10" fmla="*/ 63 w 695"/>
                    <a:gd name="T11" fmla="*/ 409 h 568"/>
                    <a:gd name="T12" fmla="*/ 157 w 695"/>
                    <a:gd name="T13" fmla="*/ 504 h 568"/>
                    <a:gd name="T14" fmla="*/ 473 w 695"/>
                    <a:gd name="T15" fmla="*/ 504 h 568"/>
                    <a:gd name="T16" fmla="*/ 631 w 695"/>
                    <a:gd name="T17" fmla="*/ 346 h 568"/>
                    <a:gd name="T18" fmla="*/ 631 w 695"/>
                    <a:gd name="T19" fmla="*/ 221 h 568"/>
                    <a:gd name="T20" fmla="*/ 473 w 695"/>
                    <a:gd name="T21" fmla="*/ 63 h 568"/>
                    <a:gd name="T22" fmla="*/ 157 w 695"/>
                    <a:gd name="T23" fmla="*/ 63 h 568"/>
                    <a:gd name="T24" fmla="*/ 63 w 695"/>
                    <a:gd name="T25" fmla="*/ 158 h 568"/>
                    <a:gd name="T26" fmla="*/ 31 w 695"/>
                    <a:gd name="T27" fmla="*/ 189 h 568"/>
                    <a:gd name="T28" fmla="*/ 0 w 695"/>
                    <a:gd name="T29" fmla="*/ 158 h 568"/>
                    <a:gd name="T30" fmla="*/ 157 w 695"/>
                    <a:gd name="T31" fmla="*/ 0 h 568"/>
                    <a:gd name="T32" fmla="*/ 473 w 695"/>
                    <a:gd name="T33" fmla="*/ 0 h 568"/>
                    <a:gd name="T34" fmla="*/ 694 w 695"/>
                    <a:gd name="T35" fmla="*/ 221 h 568"/>
                    <a:gd name="T36" fmla="*/ 694 w 695"/>
                    <a:gd name="T37" fmla="*/ 346 h 568"/>
                    <a:gd name="T38" fmla="*/ 473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473" y="567"/>
                      </a:moveTo>
                      <a:lnTo>
                        <a:pt x="473" y="567"/>
                      </a:lnTo>
                      <a:cubicBezTo>
                        <a:pt x="157" y="567"/>
                        <a:pt x="157" y="567"/>
                        <a:pt x="157" y="567"/>
                      </a:cubicBezTo>
                      <a:cubicBezTo>
                        <a:pt x="68" y="567"/>
                        <a:pt x="0" y="499"/>
                        <a:pt x="0" y="409"/>
                      </a:cubicBezTo>
                      <a:cubicBezTo>
                        <a:pt x="0" y="393"/>
                        <a:pt x="15" y="377"/>
                        <a:pt x="31" y="377"/>
                      </a:cubicBezTo>
                      <a:cubicBezTo>
                        <a:pt x="46" y="377"/>
                        <a:pt x="63" y="393"/>
                        <a:pt x="63" y="409"/>
                      </a:cubicBezTo>
                      <a:cubicBezTo>
                        <a:pt x="63" y="462"/>
                        <a:pt x="105" y="504"/>
                        <a:pt x="157" y="504"/>
                      </a:cubicBezTo>
                      <a:cubicBezTo>
                        <a:pt x="473" y="504"/>
                        <a:pt x="473" y="504"/>
                        <a:pt x="473" y="504"/>
                      </a:cubicBezTo>
                      <a:cubicBezTo>
                        <a:pt x="562" y="504"/>
                        <a:pt x="631" y="435"/>
                        <a:pt x="631" y="346"/>
                      </a:cubicBezTo>
                      <a:cubicBezTo>
                        <a:pt x="631" y="221"/>
                        <a:pt x="631" y="221"/>
                        <a:pt x="631" y="221"/>
                      </a:cubicBezTo>
                      <a:cubicBezTo>
                        <a:pt x="631" y="137"/>
                        <a:pt x="562" y="63"/>
                        <a:pt x="473" y="63"/>
                      </a:cubicBezTo>
                      <a:cubicBezTo>
                        <a:pt x="157" y="63"/>
                        <a:pt x="157" y="63"/>
                        <a:pt x="157" y="63"/>
                      </a:cubicBezTo>
                      <a:cubicBezTo>
                        <a:pt x="105" y="63"/>
                        <a:pt x="63" y="105"/>
                        <a:pt x="63" y="158"/>
                      </a:cubicBezTo>
                      <a:cubicBezTo>
                        <a:pt x="63" y="178"/>
                        <a:pt x="46" y="189"/>
                        <a:pt x="31" y="189"/>
                      </a:cubicBezTo>
                      <a:cubicBezTo>
                        <a:pt x="15" y="189"/>
                        <a:pt x="0" y="178"/>
                        <a:pt x="0" y="158"/>
                      </a:cubicBezTo>
                      <a:cubicBezTo>
                        <a:pt x="0" y="73"/>
                        <a:pt x="68" y="0"/>
                        <a:pt x="157" y="0"/>
                      </a:cubicBezTo>
                      <a:cubicBezTo>
                        <a:pt x="473" y="0"/>
                        <a:pt x="473" y="0"/>
                        <a:pt x="473" y="0"/>
                      </a:cubicBezTo>
                      <a:cubicBezTo>
                        <a:pt x="594" y="0"/>
                        <a:pt x="694" y="100"/>
                        <a:pt x="694" y="221"/>
                      </a:cubicBezTo>
                      <a:cubicBezTo>
                        <a:pt x="694" y="346"/>
                        <a:pt x="694" y="346"/>
                        <a:pt x="694" y="346"/>
                      </a:cubicBezTo>
                      <a:cubicBezTo>
                        <a:pt x="694" y="467"/>
                        <a:pt x="594" y="567"/>
                        <a:pt x="473"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10" name="Freeform 376">
                  <a:extLst>
                    <a:ext uri="{FF2B5EF4-FFF2-40B4-BE49-F238E27FC236}">
                      <a16:creationId xmlns:a16="http://schemas.microsoft.com/office/drawing/2014/main" id="{179959DE-B472-1878-BB95-85A21A24D162}"/>
                    </a:ext>
                  </a:extLst>
                </p:cNvPr>
                <p:cNvSpPr>
                  <a:spLocks noChangeArrowheads="1"/>
                </p:cNvSpPr>
                <p:nvPr/>
              </p:nvSpPr>
              <p:spPr bwMode="auto">
                <a:xfrm>
                  <a:off x="3808413" y="3598863"/>
                  <a:ext cx="250825" cy="204787"/>
                </a:xfrm>
                <a:custGeom>
                  <a:avLst/>
                  <a:gdLst>
                    <a:gd name="T0" fmla="*/ 536 w 695"/>
                    <a:gd name="T1" fmla="*/ 567 h 568"/>
                    <a:gd name="T2" fmla="*/ 536 w 695"/>
                    <a:gd name="T3" fmla="*/ 567 h 568"/>
                    <a:gd name="T4" fmla="*/ 221 w 695"/>
                    <a:gd name="T5" fmla="*/ 567 h 568"/>
                    <a:gd name="T6" fmla="*/ 0 w 695"/>
                    <a:gd name="T7" fmla="*/ 346 h 568"/>
                    <a:gd name="T8" fmla="*/ 0 w 695"/>
                    <a:gd name="T9" fmla="*/ 221 h 568"/>
                    <a:gd name="T10" fmla="*/ 221 w 695"/>
                    <a:gd name="T11" fmla="*/ 0 h 568"/>
                    <a:gd name="T12" fmla="*/ 536 w 695"/>
                    <a:gd name="T13" fmla="*/ 0 h 568"/>
                    <a:gd name="T14" fmla="*/ 694 w 695"/>
                    <a:gd name="T15" fmla="*/ 158 h 568"/>
                    <a:gd name="T16" fmla="*/ 663 w 695"/>
                    <a:gd name="T17" fmla="*/ 189 h 568"/>
                    <a:gd name="T18" fmla="*/ 631 w 695"/>
                    <a:gd name="T19" fmla="*/ 158 h 568"/>
                    <a:gd name="T20" fmla="*/ 536 w 695"/>
                    <a:gd name="T21" fmla="*/ 63 h 568"/>
                    <a:gd name="T22" fmla="*/ 221 w 695"/>
                    <a:gd name="T23" fmla="*/ 63 h 568"/>
                    <a:gd name="T24" fmla="*/ 63 w 695"/>
                    <a:gd name="T25" fmla="*/ 221 h 568"/>
                    <a:gd name="T26" fmla="*/ 63 w 695"/>
                    <a:gd name="T27" fmla="*/ 346 h 568"/>
                    <a:gd name="T28" fmla="*/ 221 w 695"/>
                    <a:gd name="T29" fmla="*/ 504 h 568"/>
                    <a:gd name="T30" fmla="*/ 536 w 695"/>
                    <a:gd name="T31" fmla="*/ 504 h 568"/>
                    <a:gd name="T32" fmla="*/ 631 w 695"/>
                    <a:gd name="T33" fmla="*/ 409 h 568"/>
                    <a:gd name="T34" fmla="*/ 663 w 695"/>
                    <a:gd name="T35" fmla="*/ 377 h 568"/>
                    <a:gd name="T36" fmla="*/ 694 w 695"/>
                    <a:gd name="T37" fmla="*/ 409 h 568"/>
                    <a:gd name="T38" fmla="*/ 536 w 695"/>
                    <a:gd name="T39" fmla="*/ 567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5" h="568">
                      <a:moveTo>
                        <a:pt x="536" y="567"/>
                      </a:moveTo>
                      <a:lnTo>
                        <a:pt x="536" y="567"/>
                      </a:lnTo>
                      <a:cubicBezTo>
                        <a:pt x="221" y="567"/>
                        <a:pt x="221" y="567"/>
                        <a:pt x="221" y="567"/>
                      </a:cubicBezTo>
                      <a:cubicBezTo>
                        <a:pt x="100" y="567"/>
                        <a:pt x="0" y="467"/>
                        <a:pt x="0" y="346"/>
                      </a:cubicBezTo>
                      <a:cubicBezTo>
                        <a:pt x="0" y="221"/>
                        <a:pt x="0" y="221"/>
                        <a:pt x="0" y="221"/>
                      </a:cubicBezTo>
                      <a:cubicBezTo>
                        <a:pt x="0" y="100"/>
                        <a:pt x="100" y="0"/>
                        <a:pt x="221" y="0"/>
                      </a:cubicBezTo>
                      <a:cubicBezTo>
                        <a:pt x="536" y="0"/>
                        <a:pt x="536" y="0"/>
                        <a:pt x="536" y="0"/>
                      </a:cubicBezTo>
                      <a:cubicBezTo>
                        <a:pt x="626" y="0"/>
                        <a:pt x="694" y="73"/>
                        <a:pt x="694" y="158"/>
                      </a:cubicBezTo>
                      <a:cubicBezTo>
                        <a:pt x="694" y="178"/>
                        <a:pt x="678" y="189"/>
                        <a:pt x="663" y="189"/>
                      </a:cubicBezTo>
                      <a:cubicBezTo>
                        <a:pt x="647" y="189"/>
                        <a:pt x="631" y="178"/>
                        <a:pt x="631" y="158"/>
                      </a:cubicBezTo>
                      <a:cubicBezTo>
                        <a:pt x="631" y="105"/>
                        <a:pt x="589" y="63"/>
                        <a:pt x="536" y="63"/>
                      </a:cubicBezTo>
                      <a:cubicBezTo>
                        <a:pt x="221" y="63"/>
                        <a:pt x="221" y="63"/>
                        <a:pt x="221" y="63"/>
                      </a:cubicBezTo>
                      <a:cubicBezTo>
                        <a:pt x="131" y="63"/>
                        <a:pt x="63" y="137"/>
                        <a:pt x="63" y="221"/>
                      </a:cubicBezTo>
                      <a:cubicBezTo>
                        <a:pt x="63" y="346"/>
                        <a:pt x="63" y="346"/>
                        <a:pt x="63" y="346"/>
                      </a:cubicBezTo>
                      <a:cubicBezTo>
                        <a:pt x="63" y="435"/>
                        <a:pt x="131" y="504"/>
                        <a:pt x="221" y="504"/>
                      </a:cubicBezTo>
                      <a:cubicBezTo>
                        <a:pt x="536" y="504"/>
                        <a:pt x="536" y="504"/>
                        <a:pt x="536" y="504"/>
                      </a:cubicBezTo>
                      <a:cubicBezTo>
                        <a:pt x="589" y="504"/>
                        <a:pt x="631" y="462"/>
                        <a:pt x="631" y="409"/>
                      </a:cubicBezTo>
                      <a:cubicBezTo>
                        <a:pt x="631" y="393"/>
                        <a:pt x="647" y="377"/>
                        <a:pt x="663" y="377"/>
                      </a:cubicBezTo>
                      <a:cubicBezTo>
                        <a:pt x="678" y="377"/>
                        <a:pt x="694" y="393"/>
                        <a:pt x="694" y="409"/>
                      </a:cubicBezTo>
                      <a:cubicBezTo>
                        <a:pt x="694" y="499"/>
                        <a:pt x="626" y="567"/>
                        <a:pt x="536" y="5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11" name="Freeform 377">
                  <a:extLst>
                    <a:ext uri="{FF2B5EF4-FFF2-40B4-BE49-F238E27FC236}">
                      <a16:creationId xmlns:a16="http://schemas.microsoft.com/office/drawing/2014/main" id="{2053C40B-9E9E-F325-8F65-CACD128CE3BF}"/>
                    </a:ext>
                  </a:extLst>
                </p:cNvPr>
                <p:cNvSpPr>
                  <a:spLocks noChangeArrowheads="1"/>
                </p:cNvSpPr>
                <p:nvPr/>
              </p:nvSpPr>
              <p:spPr bwMode="auto">
                <a:xfrm>
                  <a:off x="3944938" y="3689350"/>
                  <a:ext cx="273050" cy="22225"/>
                </a:xfrm>
                <a:custGeom>
                  <a:avLst/>
                  <a:gdLst>
                    <a:gd name="T0" fmla="*/ 724 w 757"/>
                    <a:gd name="T1" fmla="*/ 62 h 63"/>
                    <a:gd name="T2" fmla="*/ 724 w 757"/>
                    <a:gd name="T3" fmla="*/ 62 h 63"/>
                    <a:gd name="T4" fmla="*/ 31 w 757"/>
                    <a:gd name="T5" fmla="*/ 62 h 63"/>
                    <a:gd name="T6" fmla="*/ 0 w 757"/>
                    <a:gd name="T7" fmla="*/ 32 h 63"/>
                    <a:gd name="T8" fmla="*/ 31 w 757"/>
                    <a:gd name="T9" fmla="*/ 0 h 63"/>
                    <a:gd name="T10" fmla="*/ 724 w 757"/>
                    <a:gd name="T11" fmla="*/ 0 h 63"/>
                    <a:gd name="T12" fmla="*/ 756 w 757"/>
                    <a:gd name="T13" fmla="*/ 32 h 63"/>
                    <a:gd name="T14" fmla="*/ 724 w 757"/>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63">
                      <a:moveTo>
                        <a:pt x="724" y="62"/>
                      </a:moveTo>
                      <a:lnTo>
                        <a:pt x="724" y="62"/>
                      </a:lnTo>
                      <a:cubicBezTo>
                        <a:pt x="31" y="62"/>
                        <a:pt x="31" y="62"/>
                        <a:pt x="31" y="62"/>
                      </a:cubicBezTo>
                      <a:cubicBezTo>
                        <a:pt x="15" y="62"/>
                        <a:pt x="0" y="52"/>
                        <a:pt x="0" y="32"/>
                      </a:cubicBezTo>
                      <a:cubicBezTo>
                        <a:pt x="0" y="16"/>
                        <a:pt x="15" y="0"/>
                        <a:pt x="31" y="0"/>
                      </a:cubicBezTo>
                      <a:cubicBezTo>
                        <a:pt x="724" y="0"/>
                        <a:pt x="724" y="0"/>
                        <a:pt x="724" y="0"/>
                      </a:cubicBezTo>
                      <a:cubicBezTo>
                        <a:pt x="740" y="0"/>
                        <a:pt x="756" y="16"/>
                        <a:pt x="756" y="32"/>
                      </a:cubicBezTo>
                      <a:cubicBezTo>
                        <a:pt x="756" y="52"/>
                        <a:pt x="740" y="62"/>
                        <a:pt x="724"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93000"/>
                    </a:lnSpc>
                    <a:spcBef>
                      <a:spcPts val="0"/>
                    </a:spcBef>
                    <a:spcAft>
                      <a:spcPts val="0"/>
                    </a:spcAft>
                    <a:buClr>
                      <a:srgbClr val="000000"/>
                    </a:buClr>
                    <a:buSzPct val="100000"/>
                    <a:buFont typeface="Times New Roman" charset="0"/>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49" name="Group 40">
                <a:extLst>
                  <a:ext uri="{FF2B5EF4-FFF2-40B4-BE49-F238E27FC236}">
                    <a16:creationId xmlns:a16="http://schemas.microsoft.com/office/drawing/2014/main" id="{B816EEF0-672C-D700-480D-3DEA8C43CE94}"/>
                  </a:ext>
                </a:extLst>
              </p:cNvPr>
              <p:cNvGrpSpPr>
                <a:grpSpLocks noChangeAspect="1"/>
              </p:cNvGrpSpPr>
              <p:nvPr/>
            </p:nvGrpSpPr>
            <p:grpSpPr bwMode="auto">
              <a:xfrm>
                <a:off x="4008257" y="3252240"/>
                <a:ext cx="363268" cy="309723"/>
                <a:chOff x="4653" y="690"/>
                <a:chExt cx="441" cy="376"/>
              </a:xfrm>
              <a:solidFill>
                <a:schemeClr val="tx1"/>
              </a:solidFill>
            </p:grpSpPr>
            <p:sp>
              <p:nvSpPr>
                <p:cNvPr id="203" name="Freeform 41">
                  <a:extLst>
                    <a:ext uri="{FF2B5EF4-FFF2-40B4-BE49-F238E27FC236}">
                      <a16:creationId xmlns:a16="http://schemas.microsoft.com/office/drawing/2014/main" id="{CCAD9ECC-BE40-A55D-106A-D025AC249B83}"/>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04" name="Freeform 42">
                  <a:extLst>
                    <a:ext uri="{FF2B5EF4-FFF2-40B4-BE49-F238E27FC236}">
                      <a16:creationId xmlns:a16="http://schemas.microsoft.com/office/drawing/2014/main" id="{58DF3E3D-D55C-5C03-0BE2-35CEED622EFC}"/>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05" name="Freeform 43">
                  <a:extLst>
                    <a:ext uri="{FF2B5EF4-FFF2-40B4-BE49-F238E27FC236}">
                      <a16:creationId xmlns:a16="http://schemas.microsoft.com/office/drawing/2014/main" id="{08078CDE-96B2-6C90-1A3B-F242C22BC2A7}"/>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06" name="Freeform 44">
                  <a:extLst>
                    <a:ext uri="{FF2B5EF4-FFF2-40B4-BE49-F238E27FC236}">
                      <a16:creationId xmlns:a16="http://schemas.microsoft.com/office/drawing/2014/main" id="{4BA47089-8F4D-7C43-FB3A-75B3DE8BFE3F}"/>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07" name="Freeform 45">
                  <a:extLst>
                    <a:ext uri="{FF2B5EF4-FFF2-40B4-BE49-F238E27FC236}">
                      <a16:creationId xmlns:a16="http://schemas.microsoft.com/office/drawing/2014/main" id="{7888D4B5-61F5-5DF3-9E81-7C10F19F9922}"/>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08" name="Freeform 46">
                  <a:extLst>
                    <a:ext uri="{FF2B5EF4-FFF2-40B4-BE49-F238E27FC236}">
                      <a16:creationId xmlns:a16="http://schemas.microsoft.com/office/drawing/2014/main" id="{1ED55FC7-D5BC-F126-68AF-551596C69FD3}"/>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50" name="Group 147">
                <a:extLst>
                  <a:ext uri="{FF2B5EF4-FFF2-40B4-BE49-F238E27FC236}">
                    <a16:creationId xmlns:a16="http://schemas.microsoft.com/office/drawing/2014/main" id="{853D1F63-8393-C204-9155-5047D8B8A931}"/>
                  </a:ext>
                </a:extLst>
              </p:cNvPr>
              <p:cNvGrpSpPr>
                <a:grpSpLocks noChangeAspect="1"/>
              </p:cNvGrpSpPr>
              <p:nvPr/>
            </p:nvGrpSpPr>
            <p:grpSpPr bwMode="auto">
              <a:xfrm>
                <a:off x="5230074" y="5785655"/>
                <a:ext cx="439626" cy="366357"/>
                <a:chOff x="6541" y="1755"/>
                <a:chExt cx="426" cy="355"/>
              </a:xfrm>
              <a:solidFill>
                <a:schemeClr val="tx1"/>
              </a:solidFill>
            </p:grpSpPr>
            <p:sp>
              <p:nvSpPr>
                <p:cNvPr id="196" name="Freeform 148">
                  <a:extLst>
                    <a:ext uri="{FF2B5EF4-FFF2-40B4-BE49-F238E27FC236}">
                      <a16:creationId xmlns:a16="http://schemas.microsoft.com/office/drawing/2014/main" id="{02E466E3-8CE8-C5CF-1877-ED33FBE14C37}"/>
                    </a:ext>
                  </a:extLst>
                </p:cNvPr>
                <p:cNvSpPr>
                  <a:spLocks/>
                </p:cNvSpPr>
                <p:nvPr/>
              </p:nvSpPr>
              <p:spPr bwMode="auto">
                <a:xfrm>
                  <a:off x="6648" y="1895"/>
                  <a:ext cx="63" cy="108"/>
                </a:xfrm>
                <a:custGeom>
                  <a:avLst/>
                  <a:gdLst>
                    <a:gd name="T0" fmla="*/ 6 w 43"/>
                    <a:gd name="T1" fmla="*/ 73 h 73"/>
                    <a:gd name="T2" fmla="*/ 2 w 43"/>
                    <a:gd name="T3" fmla="*/ 71 h 73"/>
                    <a:gd name="T4" fmla="*/ 2 w 43"/>
                    <a:gd name="T5" fmla="*/ 63 h 73"/>
                    <a:gd name="T6" fmla="*/ 28 w 43"/>
                    <a:gd name="T7" fmla="*/ 37 h 73"/>
                    <a:gd name="T8" fmla="*/ 2 w 43"/>
                    <a:gd name="T9" fmla="*/ 11 h 73"/>
                    <a:gd name="T10" fmla="*/ 2 w 43"/>
                    <a:gd name="T11" fmla="*/ 3 h 73"/>
                    <a:gd name="T12" fmla="*/ 11 w 43"/>
                    <a:gd name="T13" fmla="*/ 3 h 73"/>
                    <a:gd name="T14" fmla="*/ 41 w 43"/>
                    <a:gd name="T15" fmla="*/ 33 h 73"/>
                    <a:gd name="T16" fmla="*/ 41 w 43"/>
                    <a:gd name="T17" fmla="*/ 41 h 73"/>
                    <a:gd name="T18" fmla="*/ 11 w 43"/>
                    <a:gd name="T19" fmla="*/ 71 h 73"/>
                    <a:gd name="T20" fmla="*/ 6 w 43"/>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73">
                      <a:moveTo>
                        <a:pt x="6" y="73"/>
                      </a:moveTo>
                      <a:cubicBezTo>
                        <a:pt x="5" y="73"/>
                        <a:pt x="3" y="72"/>
                        <a:pt x="2" y="71"/>
                      </a:cubicBezTo>
                      <a:cubicBezTo>
                        <a:pt x="0" y="69"/>
                        <a:pt x="0" y="65"/>
                        <a:pt x="2" y="63"/>
                      </a:cubicBezTo>
                      <a:cubicBezTo>
                        <a:pt x="28" y="37"/>
                        <a:pt x="28" y="37"/>
                        <a:pt x="28" y="37"/>
                      </a:cubicBezTo>
                      <a:cubicBezTo>
                        <a:pt x="2" y="11"/>
                        <a:pt x="2" y="11"/>
                        <a:pt x="2" y="11"/>
                      </a:cubicBezTo>
                      <a:cubicBezTo>
                        <a:pt x="0" y="9"/>
                        <a:pt x="0" y="5"/>
                        <a:pt x="2" y="3"/>
                      </a:cubicBezTo>
                      <a:cubicBezTo>
                        <a:pt x="5" y="0"/>
                        <a:pt x="8" y="0"/>
                        <a:pt x="11" y="3"/>
                      </a:cubicBezTo>
                      <a:cubicBezTo>
                        <a:pt x="41" y="33"/>
                        <a:pt x="41" y="33"/>
                        <a:pt x="41" y="33"/>
                      </a:cubicBezTo>
                      <a:cubicBezTo>
                        <a:pt x="43" y="35"/>
                        <a:pt x="43" y="39"/>
                        <a:pt x="41" y="41"/>
                      </a:cubicBezTo>
                      <a:cubicBezTo>
                        <a:pt x="11" y="71"/>
                        <a:pt x="11" y="71"/>
                        <a:pt x="11" y="71"/>
                      </a:cubicBezTo>
                      <a:cubicBezTo>
                        <a:pt x="10" y="72"/>
                        <a:pt x="8" y="73"/>
                        <a:pt x="6"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97" name="Freeform 149">
                  <a:extLst>
                    <a:ext uri="{FF2B5EF4-FFF2-40B4-BE49-F238E27FC236}">
                      <a16:creationId xmlns:a16="http://schemas.microsoft.com/office/drawing/2014/main" id="{65235AD8-589F-31B1-B9B9-60B5CD9FE605}"/>
                    </a:ext>
                  </a:extLst>
                </p:cNvPr>
                <p:cNvSpPr>
                  <a:spLocks/>
                </p:cNvSpPr>
                <p:nvPr/>
              </p:nvSpPr>
              <p:spPr bwMode="auto">
                <a:xfrm>
                  <a:off x="6754" y="1950"/>
                  <a:ext cx="89" cy="18"/>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9"/>
                        <a:pt x="0" y="6"/>
                      </a:cubicBezTo>
                      <a:cubicBezTo>
                        <a:pt x="0" y="3"/>
                        <a:pt x="3" y="0"/>
                        <a:pt x="6" y="0"/>
                      </a:cubicBezTo>
                      <a:cubicBezTo>
                        <a:pt x="54" y="0"/>
                        <a:pt x="54" y="0"/>
                        <a:pt x="54" y="0"/>
                      </a:cubicBezTo>
                      <a:cubicBezTo>
                        <a:pt x="58" y="0"/>
                        <a:pt x="60" y="3"/>
                        <a:pt x="60" y="6"/>
                      </a:cubicBezTo>
                      <a:cubicBezTo>
                        <a:pt x="60" y="9"/>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98" name="Freeform 150">
                  <a:extLst>
                    <a:ext uri="{FF2B5EF4-FFF2-40B4-BE49-F238E27FC236}">
                      <a16:creationId xmlns:a16="http://schemas.microsoft.com/office/drawing/2014/main" id="{E188CB93-25DA-D116-C2BA-C3E7D55034C9}"/>
                    </a:ext>
                  </a:extLst>
                </p:cNvPr>
                <p:cNvSpPr>
                  <a:spLocks noEditPoints="1"/>
                </p:cNvSpPr>
                <p:nvPr/>
              </p:nvSpPr>
              <p:spPr bwMode="auto">
                <a:xfrm>
                  <a:off x="6772" y="1790"/>
                  <a:ext cx="35" cy="36"/>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12 h 24"/>
                    <a:gd name="T12" fmla="*/ 12 w 24"/>
                    <a:gd name="T13" fmla="*/ 12 h 24"/>
                    <a:gd name="T14" fmla="*/ 12 w 24"/>
                    <a:gd name="T15" fmla="*/ 12 h 24"/>
                    <a:gd name="T16" fmla="*/ 12 w 24"/>
                    <a:gd name="T17" fmla="*/ 12 h 24"/>
                    <a:gd name="T18" fmla="*/ 12 w 24"/>
                    <a:gd name="T19" fmla="*/ 12 h 24"/>
                    <a:gd name="T20" fmla="*/ 12 w 24"/>
                    <a:gd name="T21" fmla="*/ 12 h 24"/>
                    <a:gd name="T22" fmla="*/ 12 w 24"/>
                    <a:gd name="T23" fmla="*/ 12 h 24"/>
                    <a:gd name="T24" fmla="*/ 12 w 24"/>
                    <a:gd name="T25" fmla="*/ 12 h 24"/>
                    <a:gd name="T26" fmla="*/ 12 w 24"/>
                    <a:gd name="T27" fmla="*/ 12 h 24"/>
                    <a:gd name="T28" fmla="*/ 12 w 24"/>
                    <a:gd name="T29" fmla="*/ 12 h 24"/>
                    <a:gd name="T30" fmla="*/ 12 w 24"/>
                    <a:gd name="T31" fmla="*/ 12 h 24"/>
                    <a:gd name="T32" fmla="*/ 12 w 24"/>
                    <a:gd name="T33"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24">
                      <a:moveTo>
                        <a:pt x="12" y="24"/>
                      </a:moveTo>
                      <a:cubicBezTo>
                        <a:pt x="6" y="24"/>
                        <a:pt x="0" y="18"/>
                        <a:pt x="0" y="12"/>
                      </a:cubicBezTo>
                      <a:cubicBezTo>
                        <a:pt x="0" y="5"/>
                        <a:pt x="6" y="0"/>
                        <a:pt x="12" y="0"/>
                      </a:cubicBezTo>
                      <a:cubicBezTo>
                        <a:pt x="19" y="0"/>
                        <a:pt x="24" y="5"/>
                        <a:pt x="24" y="12"/>
                      </a:cubicBezTo>
                      <a:cubicBezTo>
                        <a:pt x="24" y="18"/>
                        <a:pt x="19" y="24"/>
                        <a:pt x="12" y="24"/>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99" name="Freeform 151">
                  <a:extLst>
                    <a:ext uri="{FF2B5EF4-FFF2-40B4-BE49-F238E27FC236}">
                      <a16:creationId xmlns:a16="http://schemas.microsoft.com/office/drawing/2014/main" id="{FF1A054E-33B7-9E4D-6343-102F6EA1B238}"/>
                    </a:ext>
                  </a:extLst>
                </p:cNvPr>
                <p:cNvSpPr>
                  <a:spLocks noEditPoints="1"/>
                </p:cNvSpPr>
                <p:nvPr/>
              </p:nvSpPr>
              <p:spPr bwMode="auto">
                <a:xfrm>
                  <a:off x="6825" y="1790"/>
                  <a:ext cx="36" cy="36"/>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12 h 24"/>
                    <a:gd name="T12" fmla="*/ 12 w 24"/>
                    <a:gd name="T13" fmla="*/ 12 h 24"/>
                    <a:gd name="T14" fmla="*/ 12 w 24"/>
                    <a:gd name="T15" fmla="*/ 12 h 24"/>
                    <a:gd name="T16" fmla="*/ 12 w 24"/>
                    <a:gd name="T17" fmla="*/ 12 h 24"/>
                    <a:gd name="T18" fmla="*/ 12 w 24"/>
                    <a:gd name="T19" fmla="*/ 12 h 24"/>
                    <a:gd name="T20" fmla="*/ 12 w 24"/>
                    <a:gd name="T21" fmla="*/ 12 h 24"/>
                    <a:gd name="T22" fmla="*/ 12 w 24"/>
                    <a:gd name="T23" fmla="*/ 12 h 24"/>
                    <a:gd name="T24" fmla="*/ 12 w 24"/>
                    <a:gd name="T25" fmla="*/ 12 h 24"/>
                    <a:gd name="T26" fmla="*/ 12 w 24"/>
                    <a:gd name="T27" fmla="*/ 12 h 24"/>
                    <a:gd name="T28" fmla="*/ 12 w 24"/>
                    <a:gd name="T29" fmla="*/ 12 h 24"/>
                    <a:gd name="T30" fmla="*/ 12 w 24"/>
                    <a:gd name="T31" fmla="*/ 12 h 24"/>
                    <a:gd name="T32" fmla="*/ 12 w 24"/>
                    <a:gd name="T33"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24">
                      <a:moveTo>
                        <a:pt x="12" y="24"/>
                      </a:moveTo>
                      <a:cubicBezTo>
                        <a:pt x="6" y="24"/>
                        <a:pt x="0" y="18"/>
                        <a:pt x="0" y="12"/>
                      </a:cubicBezTo>
                      <a:cubicBezTo>
                        <a:pt x="0" y="5"/>
                        <a:pt x="6" y="0"/>
                        <a:pt x="12" y="0"/>
                      </a:cubicBezTo>
                      <a:cubicBezTo>
                        <a:pt x="19" y="0"/>
                        <a:pt x="24" y="5"/>
                        <a:pt x="24" y="12"/>
                      </a:cubicBezTo>
                      <a:cubicBezTo>
                        <a:pt x="24" y="18"/>
                        <a:pt x="19" y="24"/>
                        <a:pt x="12" y="24"/>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00" name="Freeform 152">
                  <a:extLst>
                    <a:ext uri="{FF2B5EF4-FFF2-40B4-BE49-F238E27FC236}">
                      <a16:creationId xmlns:a16="http://schemas.microsoft.com/office/drawing/2014/main" id="{A57075A9-88E3-9BD1-4B09-1996B4CFC10E}"/>
                    </a:ext>
                  </a:extLst>
                </p:cNvPr>
                <p:cNvSpPr>
                  <a:spLocks noEditPoints="1"/>
                </p:cNvSpPr>
                <p:nvPr/>
              </p:nvSpPr>
              <p:spPr bwMode="auto">
                <a:xfrm>
                  <a:off x="6878" y="1790"/>
                  <a:ext cx="36" cy="36"/>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12 h 24"/>
                    <a:gd name="T12" fmla="*/ 12 w 24"/>
                    <a:gd name="T13" fmla="*/ 12 h 24"/>
                    <a:gd name="T14" fmla="*/ 12 w 24"/>
                    <a:gd name="T15" fmla="*/ 12 h 24"/>
                    <a:gd name="T16" fmla="*/ 12 w 24"/>
                    <a:gd name="T17" fmla="*/ 12 h 24"/>
                    <a:gd name="T18" fmla="*/ 12 w 24"/>
                    <a:gd name="T19" fmla="*/ 12 h 24"/>
                    <a:gd name="T20" fmla="*/ 12 w 24"/>
                    <a:gd name="T21" fmla="*/ 12 h 24"/>
                    <a:gd name="T22" fmla="*/ 12 w 24"/>
                    <a:gd name="T23" fmla="*/ 12 h 24"/>
                    <a:gd name="T24" fmla="*/ 12 w 24"/>
                    <a:gd name="T25" fmla="*/ 12 h 24"/>
                    <a:gd name="T26" fmla="*/ 12 w 24"/>
                    <a:gd name="T27" fmla="*/ 12 h 24"/>
                    <a:gd name="T28" fmla="*/ 12 w 24"/>
                    <a:gd name="T29" fmla="*/ 12 h 24"/>
                    <a:gd name="T30" fmla="*/ 12 w 24"/>
                    <a:gd name="T31" fmla="*/ 12 h 24"/>
                    <a:gd name="T32" fmla="*/ 12 w 24"/>
                    <a:gd name="T33"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24">
                      <a:moveTo>
                        <a:pt x="12" y="24"/>
                      </a:moveTo>
                      <a:cubicBezTo>
                        <a:pt x="6" y="24"/>
                        <a:pt x="0" y="18"/>
                        <a:pt x="0" y="12"/>
                      </a:cubicBezTo>
                      <a:cubicBezTo>
                        <a:pt x="0" y="5"/>
                        <a:pt x="6" y="0"/>
                        <a:pt x="12" y="0"/>
                      </a:cubicBezTo>
                      <a:cubicBezTo>
                        <a:pt x="19" y="0"/>
                        <a:pt x="24" y="5"/>
                        <a:pt x="24" y="12"/>
                      </a:cubicBezTo>
                      <a:cubicBezTo>
                        <a:pt x="24" y="18"/>
                        <a:pt x="19" y="24"/>
                        <a:pt x="12" y="24"/>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moveTo>
                        <a:pt x="12" y="12"/>
                      </a:moveTo>
                      <a:cubicBezTo>
                        <a:pt x="12" y="12"/>
                        <a:pt x="12" y="12"/>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01" name="Freeform 153">
                  <a:extLst>
                    <a:ext uri="{FF2B5EF4-FFF2-40B4-BE49-F238E27FC236}">
                      <a16:creationId xmlns:a16="http://schemas.microsoft.com/office/drawing/2014/main" id="{8BAE9790-B93F-B8D1-81F6-506CC407925C}"/>
                    </a:ext>
                  </a:extLst>
                </p:cNvPr>
                <p:cNvSpPr>
                  <a:spLocks noEditPoints="1"/>
                </p:cNvSpPr>
                <p:nvPr/>
              </p:nvSpPr>
              <p:spPr bwMode="auto">
                <a:xfrm>
                  <a:off x="6541" y="1755"/>
                  <a:ext cx="426" cy="355"/>
                </a:xfrm>
                <a:custGeom>
                  <a:avLst/>
                  <a:gdLst>
                    <a:gd name="T0" fmla="*/ 282 w 288"/>
                    <a:gd name="T1" fmla="*/ 240 h 240"/>
                    <a:gd name="T2" fmla="*/ 6 w 288"/>
                    <a:gd name="T3" fmla="*/ 240 h 240"/>
                    <a:gd name="T4" fmla="*/ 0 w 288"/>
                    <a:gd name="T5" fmla="*/ 234 h 240"/>
                    <a:gd name="T6" fmla="*/ 0 w 288"/>
                    <a:gd name="T7" fmla="*/ 6 h 240"/>
                    <a:gd name="T8" fmla="*/ 6 w 288"/>
                    <a:gd name="T9" fmla="*/ 0 h 240"/>
                    <a:gd name="T10" fmla="*/ 282 w 288"/>
                    <a:gd name="T11" fmla="*/ 0 h 240"/>
                    <a:gd name="T12" fmla="*/ 288 w 288"/>
                    <a:gd name="T13" fmla="*/ 6 h 240"/>
                    <a:gd name="T14" fmla="*/ 288 w 288"/>
                    <a:gd name="T15" fmla="*/ 234 h 240"/>
                    <a:gd name="T16" fmla="*/ 282 w 288"/>
                    <a:gd name="T17" fmla="*/ 240 h 240"/>
                    <a:gd name="T18" fmla="*/ 12 w 288"/>
                    <a:gd name="T19" fmla="*/ 228 h 240"/>
                    <a:gd name="T20" fmla="*/ 276 w 288"/>
                    <a:gd name="T21" fmla="*/ 228 h 240"/>
                    <a:gd name="T22" fmla="*/ 276 w 288"/>
                    <a:gd name="T23" fmla="*/ 12 h 240"/>
                    <a:gd name="T24" fmla="*/ 12 w 288"/>
                    <a:gd name="T25" fmla="*/ 12 h 240"/>
                    <a:gd name="T26" fmla="*/ 12 w 288"/>
                    <a:gd name="T27" fmla="*/ 22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40">
                      <a:moveTo>
                        <a:pt x="282" y="240"/>
                      </a:moveTo>
                      <a:cubicBezTo>
                        <a:pt x="6" y="240"/>
                        <a:pt x="6" y="240"/>
                        <a:pt x="6" y="240"/>
                      </a:cubicBezTo>
                      <a:cubicBezTo>
                        <a:pt x="3" y="240"/>
                        <a:pt x="0" y="237"/>
                        <a:pt x="0" y="234"/>
                      </a:cubicBezTo>
                      <a:cubicBezTo>
                        <a:pt x="0" y="6"/>
                        <a:pt x="0" y="6"/>
                        <a:pt x="0" y="6"/>
                      </a:cubicBezTo>
                      <a:cubicBezTo>
                        <a:pt x="0" y="3"/>
                        <a:pt x="3" y="0"/>
                        <a:pt x="6" y="0"/>
                      </a:cubicBezTo>
                      <a:cubicBezTo>
                        <a:pt x="282" y="0"/>
                        <a:pt x="282" y="0"/>
                        <a:pt x="282" y="0"/>
                      </a:cubicBezTo>
                      <a:cubicBezTo>
                        <a:pt x="286" y="0"/>
                        <a:pt x="288" y="3"/>
                        <a:pt x="288" y="6"/>
                      </a:cubicBezTo>
                      <a:cubicBezTo>
                        <a:pt x="288" y="234"/>
                        <a:pt x="288" y="234"/>
                        <a:pt x="288" y="234"/>
                      </a:cubicBezTo>
                      <a:cubicBezTo>
                        <a:pt x="288" y="237"/>
                        <a:pt x="286" y="240"/>
                        <a:pt x="282" y="240"/>
                      </a:cubicBezTo>
                      <a:close/>
                      <a:moveTo>
                        <a:pt x="12" y="228"/>
                      </a:moveTo>
                      <a:cubicBezTo>
                        <a:pt x="276" y="228"/>
                        <a:pt x="276" y="228"/>
                        <a:pt x="276" y="228"/>
                      </a:cubicBezTo>
                      <a:cubicBezTo>
                        <a:pt x="276" y="12"/>
                        <a:pt x="276" y="12"/>
                        <a:pt x="276" y="12"/>
                      </a:cubicBezTo>
                      <a:cubicBezTo>
                        <a:pt x="12" y="12"/>
                        <a:pt x="12" y="12"/>
                        <a:pt x="12" y="12"/>
                      </a:cubicBezTo>
                      <a:lnTo>
                        <a:pt x="12" y="2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202" name="Freeform 154">
                  <a:extLst>
                    <a:ext uri="{FF2B5EF4-FFF2-40B4-BE49-F238E27FC236}">
                      <a16:creationId xmlns:a16="http://schemas.microsoft.com/office/drawing/2014/main" id="{678E94D8-DC3E-8439-181B-5B5AE45A678E}"/>
                    </a:ext>
                  </a:extLst>
                </p:cNvPr>
                <p:cNvSpPr>
                  <a:spLocks/>
                </p:cNvSpPr>
                <p:nvPr/>
              </p:nvSpPr>
              <p:spPr bwMode="auto">
                <a:xfrm>
                  <a:off x="6541" y="1844"/>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3"/>
                        <a:pt x="3" y="0"/>
                        <a:pt x="6" y="0"/>
                      </a:cubicBezTo>
                      <a:cubicBezTo>
                        <a:pt x="282" y="0"/>
                        <a:pt x="282" y="0"/>
                        <a:pt x="282" y="0"/>
                      </a:cubicBezTo>
                      <a:cubicBezTo>
                        <a:pt x="286" y="0"/>
                        <a:pt x="288" y="3"/>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51" name="Group 159">
                <a:extLst>
                  <a:ext uri="{FF2B5EF4-FFF2-40B4-BE49-F238E27FC236}">
                    <a16:creationId xmlns:a16="http://schemas.microsoft.com/office/drawing/2014/main" id="{55F5D5B0-A275-A99F-2FFB-1E19332EDA3C}"/>
                  </a:ext>
                </a:extLst>
              </p:cNvPr>
              <p:cNvGrpSpPr>
                <a:grpSpLocks noChangeAspect="1"/>
              </p:cNvGrpSpPr>
              <p:nvPr/>
            </p:nvGrpSpPr>
            <p:grpSpPr bwMode="auto">
              <a:xfrm>
                <a:off x="4371523" y="3131343"/>
                <a:ext cx="325964" cy="412049"/>
                <a:chOff x="3480" y="3000"/>
                <a:chExt cx="337" cy="426"/>
              </a:xfrm>
              <a:solidFill>
                <a:schemeClr val="tx1"/>
              </a:solidFill>
            </p:grpSpPr>
            <p:sp>
              <p:nvSpPr>
                <p:cNvPr id="186" name="Freeform 160">
                  <a:extLst>
                    <a:ext uri="{FF2B5EF4-FFF2-40B4-BE49-F238E27FC236}">
                      <a16:creationId xmlns:a16="http://schemas.microsoft.com/office/drawing/2014/main" id="{4DFC24D5-60B9-5454-567D-B6A8E1B14C41}"/>
                    </a:ext>
                  </a:extLst>
                </p:cNvPr>
                <p:cNvSpPr>
                  <a:spLocks noEditPoints="1"/>
                </p:cNvSpPr>
                <p:nvPr/>
              </p:nvSpPr>
              <p:spPr bwMode="auto">
                <a:xfrm>
                  <a:off x="3480" y="3142"/>
                  <a:ext cx="195" cy="284"/>
                </a:xfrm>
                <a:custGeom>
                  <a:avLst/>
                  <a:gdLst>
                    <a:gd name="T0" fmla="*/ 126 w 132"/>
                    <a:gd name="T1" fmla="*/ 192 h 192"/>
                    <a:gd name="T2" fmla="*/ 6 w 132"/>
                    <a:gd name="T3" fmla="*/ 192 h 192"/>
                    <a:gd name="T4" fmla="*/ 0 w 132"/>
                    <a:gd name="T5" fmla="*/ 186 h 192"/>
                    <a:gd name="T6" fmla="*/ 0 w 132"/>
                    <a:gd name="T7" fmla="*/ 6 h 192"/>
                    <a:gd name="T8" fmla="*/ 6 w 132"/>
                    <a:gd name="T9" fmla="*/ 0 h 192"/>
                    <a:gd name="T10" fmla="*/ 126 w 132"/>
                    <a:gd name="T11" fmla="*/ 0 h 192"/>
                    <a:gd name="T12" fmla="*/ 132 w 132"/>
                    <a:gd name="T13" fmla="*/ 6 h 192"/>
                    <a:gd name="T14" fmla="*/ 132 w 132"/>
                    <a:gd name="T15" fmla="*/ 186 h 192"/>
                    <a:gd name="T16" fmla="*/ 126 w 132"/>
                    <a:gd name="T17" fmla="*/ 192 h 192"/>
                    <a:gd name="T18" fmla="*/ 12 w 132"/>
                    <a:gd name="T19" fmla="*/ 180 h 192"/>
                    <a:gd name="T20" fmla="*/ 120 w 132"/>
                    <a:gd name="T21" fmla="*/ 180 h 192"/>
                    <a:gd name="T22" fmla="*/ 120 w 132"/>
                    <a:gd name="T23" fmla="*/ 12 h 192"/>
                    <a:gd name="T24" fmla="*/ 12 w 132"/>
                    <a:gd name="T25" fmla="*/ 12 h 192"/>
                    <a:gd name="T26" fmla="*/ 12 w 132"/>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92">
                      <a:moveTo>
                        <a:pt x="126" y="192"/>
                      </a:moveTo>
                      <a:cubicBezTo>
                        <a:pt x="6" y="192"/>
                        <a:pt x="6" y="192"/>
                        <a:pt x="6" y="192"/>
                      </a:cubicBezTo>
                      <a:cubicBezTo>
                        <a:pt x="3" y="192"/>
                        <a:pt x="0" y="190"/>
                        <a:pt x="0" y="186"/>
                      </a:cubicBezTo>
                      <a:cubicBezTo>
                        <a:pt x="0" y="6"/>
                        <a:pt x="0" y="6"/>
                        <a:pt x="0" y="6"/>
                      </a:cubicBezTo>
                      <a:cubicBezTo>
                        <a:pt x="0" y="3"/>
                        <a:pt x="3" y="0"/>
                        <a:pt x="6" y="0"/>
                      </a:cubicBezTo>
                      <a:cubicBezTo>
                        <a:pt x="126" y="0"/>
                        <a:pt x="126" y="0"/>
                        <a:pt x="126" y="0"/>
                      </a:cubicBezTo>
                      <a:cubicBezTo>
                        <a:pt x="129" y="0"/>
                        <a:pt x="132" y="3"/>
                        <a:pt x="132" y="6"/>
                      </a:cubicBezTo>
                      <a:cubicBezTo>
                        <a:pt x="132" y="186"/>
                        <a:pt x="132" y="186"/>
                        <a:pt x="132" y="186"/>
                      </a:cubicBezTo>
                      <a:cubicBezTo>
                        <a:pt x="132" y="190"/>
                        <a:pt x="129" y="192"/>
                        <a:pt x="126" y="192"/>
                      </a:cubicBezTo>
                      <a:close/>
                      <a:moveTo>
                        <a:pt x="12" y="180"/>
                      </a:moveTo>
                      <a:cubicBezTo>
                        <a:pt x="120" y="180"/>
                        <a:pt x="120" y="180"/>
                        <a:pt x="120" y="180"/>
                      </a:cubicBezTo>
                      <a:cubicBezTo>
                        <a:pt x="120" y="12"/>
                        <a:pt x="120" y="12"/>
                        <a:pt x="120"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87" name="Freeform 161">
                  <a:extLst>
                    <a:ext uri="{FF2B5EF4-FFF2-40B4-BE49-F238E27FC236}">
                      <a16:creationId xmlns:a16="http://schemas.microsoft.com/office/drawing/2014/main" id="{6C4C0759-13BE-6A21-8B3D-4DF388390DDA}"/>
                    </a:ext>
                  </a:extLst>
                </p:cNvPr>
                <p:cNvSpPr>
                  <a:spLocks noEditPoints="1"/>
                </p:cNvSpPr>
                <p:nvPr/>
              </p:nvSpPr>
              <p:spPr bwMode="auto">
                <a:xfrm>
                  <a:off x="3622" y="3000"/>
                  <a:ext cx="195" cy="426"/>
                </a:xfrm>
                <a:custGeom>
                  <a:avLst/>
                  <a:gdLst>
                    <a:gd name="T0" fmla="*/ 126 w 132"/>
                    <a:gd name="T1" fmla="*/ 288 h 288"/>
                    <a:gd name="T2" fmla="*/ 30 w 132"/>
                    <a:gd name="T3" fmla="*/ 288 h 288"/>
                    <a:gd name="T4" fmla="*/ 24 w 132"/>
                    <a:gd name="T5" fmla="*/ 282 h 288"/>
                    <a:gd name="T6" fmla="*/ 24 w 132"/>
                    <a:gd name="T7" fmla="*/ 108 h 288"/>
                    <a:gd name="T8" fmla="*/ 6 w 132"/>
                    <a:gd name="T9" fmla="*/ 108 h 288"/>
                    <a:gd name="T10" fmla="*/ 0 w 132"/>
                    <a:gd name="T11" fmla="*/ 102 h 288"/>
                    <a:gd name="T12" fmla="*/ 0 w 132"/>
                    <a:gd name="T13" fmla="*/ 6 h 288"/>
                    <a:gd name="T14" fmla="*/ 6 w 132"/>
                    <a:gd name="T15" fmla="*/ 0 h 288"/>
                    <a:gd name="T16" fmla="*/ 126 w 132"/>
                    <a:gd name="T17" fmla="*/ 0 h 288"/>
                    <a:gd name="T18" fmla="*/ 132 w 132"/>
                    <a:gd name="T19" fmla="*/ 6 h 288"/>
                    <a:gd name="T20" fmla="*/ 132 w 132"/>
                    <a:gd name="T21" fmla="*/ 282 h 288"/>
                    <a:gd name="T22" fmla="*/ 126 w 132"/>
                    <a:gd name="T23" fmla="*/ 288 h 288"/>
                    <a:gd name="T24" fmla="*/ 36 w 132"/>
                    <a:gd name="T25" fmla="*/ 276 h 288"/>
                    <a:gd name="T26" fmla="*/ 120 w 132"/>
                    <a:gd name="T27" fmla="*/ 276 h 288"/>
                    <a:gd name="T28" fmla="*/ 120 w 132"/>
                    <a:gd name="T29" fmla="*/ 12 h 288"/>
                    <a:gd name="T30" fmla="*/ 12 w 132"/>
                    <a:gd name="T31" fmla="*/ 12 h 288"/>
                    <a:gd name="T32" fmla="*/ 12 w 132"/>
                    <a:gd name="T33" fmla="*/ 96 h 288"/>
                    <a:gd name="T34" fmla="*/ 30 w 132"/>
                    <a:gd name="T35" fmla="*/ 96 h 288"/>
                    <a:gd name="T36" fmla="*/ 36 w 132"/>
                    <a:gd name="T37" fmla="*/ 102 h 288"/>
                    <a:gd name="T38" fmla="*/ 36 w 132"/>
                    <a:gd name="T39"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2" h="288">
                      <a:moveTo>
                        <a:pt x="126" y="288"/>
                      </a:moveTo>
                      <a:cubicBezTo>
                        <a:pt x="30" y="288"/>
                        <a:pt x="30" y="288"/>
                        <a:pt x="30" y="288"/>
                      </a:cubicBezTo>
                      <a:cubicBezTo>
                        <a:pt x="27" y="288"/>
                        <a:pt x="24" y="286"/>
                        <a:pt x="24" y="282"/>
                      </a:cubicBezTo>
                      <a:cubicBezTo>
                        <a:pt x="24" y="108"/>
                        <a:pt x="24" y="108"/>
                        <a:pt x="24" y="108"/>
                      </a:cubicBezTo>
                      <a:cubicBezTo>
                        <a:pt x="6" y="108"/>
                        <a:pt x="6" y="108"/>
                        <a:pt x="6" y="108"/>
                      </a:cubicBezTo>
                      <a:cubicBezTo>
                        <a:pt x="3" y="108"/>
                        <a:pt x="0" y="106"/>
                        <a:pt x="0" y="102"/>
                      </a:cubicBezTo>
                      <a:cubicBezTo>
                        <a:pt x="0" y="6"/>
                        <a:pt x="0" y="6"/>
                        <a:pt x="0" y="6"/>
                      </a:cubicBezTo>
                      <a:cubicBezTo>
                        <a:pt x="0" y="3"/>
                        <a:pt x="3" y="0"/>
                        <a:pt x="6" y="0"/>
                      </a:cubicBezTo>
                      <a:cubicBezTo>
                        <a:pt x="126" y="0"/>
                        <a:pt x="126" y="0"/>
                        <a:pt x="126" y="0"/>
                      </a:cubicBezTo>
                      <a:cubicBezTo>
                        <a:pt x="129" y="0"/>
                        <a:pt x="132" y="3"/>
                        <a:pt x="132" y="6"/>
                      </a:cubicBezTo>
                      <a:cubicBezTo>
                        <a:pt x="132" y="282"/>
                        <a:pt x="132" y="282"/>
                        <a:pt x="132" y="282"/>
                      </a:cubicBezTo>
                      <a:cubicBezTo>
                        <a:pt x="132" y="286"/>
                        <a:pt x="129" y="288"/>
                        <a:pt x="126" y="288"/>
                      </a:cubicBezTo>
                      <a:close/>
                      <a:moveTo>
                        <a:pt x="36" y="276"/>
                      </a:moveTo>
                      <a:cubicBezTo>
                        <a:pt x="120" y="276"/>
                        <a:pt x="120" y="276"/>
                        <a:pt x="120" y="276"/>
                      </a:cubicBezTo>
                      <a:cubicBezTo>
                        <a:pt x="120" y="12"/>
                        <a:pt x="120" y="12"/>
                        <a:pt x="120" y="12"/>
                      </a:cubicBezTo>
                      <a:cubicBezTo>
                        <a:pt x="12" y="12"/>
                        <a:pt x="12" y="12"/>
                        <a:pt x="12" y="12"/>
                      </a:cubicBezTo>
                      <a:cubicBezTo>
                        <a:pt x="12" y="96"/>
                        <a:pt x="12" y="96"/>
                        <a:pt x="12" y="96"/>
                      </a:cubicBezTo>
                      <a:cubicBezTo>
                        <a:pt x="30" y="96"/>
                        <a:pt x="30" y="96"/>
                        <a:pt x="30" y="96"/>
                      </a:cubicBezTo>
                      <a:cubicBezTo>
                        <a:pt x="33" y="96"/>
                        <a:pt x="36" y="99"/>
                        <a:pt x="36" y="102"/>
                      </a:cubicBezTo>
                      <a:lnTo>
                        <a:pt x="36"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88" name="Freeform 162">
                  <a:extLst>
                    <a:ext uri="{FF2B5EF4-FFF2-40B4-BE49-F238E27FC236}">
                      <a16:creationId xmlns:a16="http://schemas.microsoft.com/office/drawing/2014/main" id="{AFF8404A-6C35-0DC0-FB53-826B44FEC0AE}"/>
                    </a:ext>
                  </a:extLst>
                </p:cNvPr>
                <p:cNvSpPr>
                  <a:spLocks noEditPoints="1"/>
                </p:cNvSpPr>
                <p:nvPr/>
              </p:nvSpPr>
              <p:spPr bwMode="auto">
                <a:xfrm>
                  <a:off x="3711" y="3355"/>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42 w 48"/>
                    <a:gd name="T11" fmla="*/ 0 h 48"/>
                    <a:gd name="T12" fmla="*/ 48 w 48"/>
                    <a:gd name="T13" fmla="*/ 6 h 48"/>
                    <a:gd name="T14" fmla="*/ 48 w 48"/>
                    <a:gd name="T15" fmla="*/ 42 h 48"/>
                    <a:gd name="T16" fmla="*/ 42 w 48"/>
                    <a:gd name="T17" fmla="*/ 48 h 48"/>
                    <a:gd name="T18" fmla="*/ 12 w 48"/>
                    <a:gd name="T19" fmla="*/ 36 h 48"/>
                    <a:gd name="T20" fmla="*/ 36 w 48"/>
                    <a:gd name="T21" fmla="*/ 36 h 48"/>
                    <a:gd name="T22" fmla="*/ 36 w 48"/>
                    <a:gd name="T23" fmla="*/ 12 h 48"/>
                    <a:gd name="T24" fmla="*/ 12 w 48"/>
                    <a:gd name="T25" fmla="*/ 12 h 48"/>
                    <a:gd name="T26" fmla="*/ 12 w 48"/>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2" y="48"/>
                      </a:moveTo>
                      <a:cubicBezTo>
                        <a:pt x="6" y="48"/>
                        <a:pt x="6" y="48"/>
                        <a:pt x="6" y="48"/>
                      </a:cubicBezTo>
                      <a:cubicBezTo>
                        <a:pt x="3" y="48"/>
                        <a:pt x="0" y="46"/>
                        <a:pt x="0" y="42"/>
                      </a:cubicBezTo>
                      <a:cubicBezTo>
                        <a:pt x="0" y="6"/>
                        <a:pt x="0" y="6"/>
                        <a:pt x="0" y="6"/>
                      </a:cubicBezTo>
                      <a:cubicBezTo>
                        <a:pt x="0" y="3"/>
                        <a:pt x="3" y="0"/>
                        <a:pt x="6" y="0"/>
                      </a:cubicBezTo>
                      <a:cubicBezTo>
                        <a:pt x="42" y="0"/>
                        <a:pt x="42" y="0"/>
                        <a:pt x="42" y="0"/>
                      </a:cubicBezTo>
                      <a:cubicBezTo>
                        <a:pt x="45" y="0"/>
                        <a:pt x="48" y="3"/>
                        <a:pt x="48" y="6"/>
                      </a:cubicBezTo>
                      <a:cubicBezTo>
                        <a:pt x="48" y="42"/>
                        <a:pt x="48" y="42"/>
                        <a:pt x="48" y="42"/>
                      </a:cubicBezTo>
                      <a:cubicBezTo>
                        <a:pt x="48" y="46"/>
                        <a:pt x="45" y="48"/>
                        <a:pt x="42" y="48"/>
                      </a:cubicBezTo>
                      <a:close/>
                      <a:moveTo>
                        <a:pt x="12" y="36"/>
                      </a:moveTo>
                      <a:cubicBezTo>
                        <a:pt x="36" y="36"/>
                        <a:pt x="36" y="36"/>
                        <a:pt x="36" y="36"/>
                      </a:cubicBezTo>
                      <a:cubicBezTo>
                        <a:pt x="36" y="12"/>
                        <a:pt x="36" y="12"/>
                        <a:pt x="36"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89" name="Freeform 163">
                  <a:extLst>
                    <a:ext uri="{FF2B5EF4-FFF2-40B4-BE49-F238E27FC236}">
                      <a16:creationId xmlns:a16="http://schemas.microsoft.com/office/drawing/2014/main" id="{E10AFD91-0FF8-1060-1CA9-5535485C5462}"/>
                    </a:ext>
                  </a:extLst>
                </p:cNvPr>
                <p:cNvSpPr>
                  <a:spLocks noEditPoints="1"/>
                </p:cNvSpPr>
                <p:nvPr/>
              </p:nvSpPr>
              <p:spPr bwMode="auto">
                <a:xfrm>
                  <a:off x="3515" y="3355"/>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42 w 48"/>
                    <a:gd name="T11" fmla="*/ 0 h 48"/>
                    <a:gd name="T12" fmla="*/ 48 w 48"/>
                    <a:gd name="T13" fmla="*/ 6 h 48"/>
                    <a:gd name="T14" fmla="*/ 48 w 48"/>
                    <a:gd name="T15" fmla="*/ 42 h 48"/>
                    <a:gd name="T16" fmla="*/ 42 w 48"/>
                    <a:gd name="T17" fmla="*/ 48 h 48"/>
                    <a:gd name="T18" fmla="*/ 12 w 48"/>
                    <a:gd name="T19" fmla="*/ 36 h 48"/>
                    <a:gd name="T20" fmla="*/ 36 w 48"/>
                    <a:gd name="T21" fmla="*/ 36 h 48"/>
                    <a:gd name="T22" fmla="*/ 36 w 48"/>
                    <a:gd name="T23" fmla="*/ 12 h 48"/>
                    <a:gd name="T24" fmla="*/ 12 w 48"/>
                    <a:gd name="T25" fmla="*/ 12 h 48"/>
                    <a:gd name="T26" fmla="*/ 12 w 48"/>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2" y="48"/>
                      </a:moveTo>
                      <a:cubicBezTo>
                        <a:pt x="6" y="48"/>
                        <a:pt x="6" y="48"/>
                        <a:pt x="6" y="48"/>
                      </a:cubicBezTo>
                      <a:cubicBezTo>
                        <a:pt x="3" y="48"/>
                        <a:pt x="0" y="46"/>
                        <a:pt x="0" y="42"/>
                      </a:cubicBezTo>
                      <a:cubicBezTo>
                        <a:pt x="0" y="6"/>
                        <a:pt x="0" y="6"/>
                        <a:pt x="0" y="6"/>
                      </a:cubicBezTo>
                      <a:cubicBezTo>
                        <a:pt x="0" y="3"/>
                        <a:pt x="3" y="0"/>
                        <a:pt x="6" y="0"/>
                      </a:cubicBezTo>
                      <a:cubicBezTo>
                        <a:pt x="42" y="0"/>
                        <a:pt x="42" y="0"/>
                        <a:pt x="42" y="0"/>
                      </a:cubicBezTo>
                      <a:cubicBezTo>
                        <a:pt x="45" y="0"/>
                        <a:pt x="48" y="3"/>
                        <a:pt x="48" y="6"/>
                      </a:cubicBezTo>
                      <a:cubicBezTo>
                        <a:pt x="48" y="42"/>
                        <a:pt x="48" y="42"/>
                        <a:pt x="48" y="42"/>
                      </a:cubicBezTo>
                      <a:cubicBezTo>
                        <a:pt x="48" y="46"/>
                        <a:pt x="45" y="48"/>
                        <a:pt x="42" y="48"/>
                      </a:cubicBezTo>
                      <a:close/>
                      <a:moveTo>
                        <a:pt x="12" y="36"/>
                      </a:moveTo>
                      <a:cubicBezTo>
                        <a:pt x="36" y="36"/>
                        <a:pt x="36" y="36"/>
                        <a:pt x="36" y="36"/>
                      </a:cubicBezTo>
                      <a:cubicBezTo>
                        <a:pt x="36" y="12"/>
                        <a:pt x="36" y="12"/>
                        <a:pt x="36"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90" name="Freeform 164">
                  <a:extLst>
                    <a:ext uri="{FF2B5EF4-FFF2-40B4-BE49-F238E27FC236}">
                      <a16:creationId xmlns:a16="http://schemas.microsoft.com/office/drawing/2014/main" id="{26295BDB-88AF-782A-9164-49A85F12107F}"/>
                    </a:ext>
                  </a:extLst>
                </p:cNvPr>
                <p:cNvSpPr>
                  <a:spLocks/>
                </p:cNvSpPr>
                <p:nvPr/>
              </p:nvSpPr>
              <p:spPr bwMode="auto">
                <a:xfrm>
                  <a:off x="3480" y="317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10"/>
                        <a:pt x="5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91" name="Freeform 165">
                  <a:extLst>
                    <a:ext uri="{FF2B5EF4-FFF2-40B4-BE49-F238E27FC236}">
                      <a16:creationId xmlns:a16="http://schemas.microsoft.com/office/drawing/2014/main" id="{B29ADC82-00DF-4C4B-306D-007568B297B1}"/>
                    </a:ext>
                  </a:extLst>
                </p:cNvPr>
                <p:cNvSpPr>
                  <a:spLocks/>
                </p:cNvSpPr>
                <p:nvPr/>
              </p:nvSpPr>
              <p:spPr bwMode="auto">
                <a:xfrm>
                  <a:off x="3480" y="3213"/>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92" name="Freeform 166">
                  <a:extLst>
                    <a:ext uri="{FF2B5EF4-FFF2-40B4-BE49-F238E27FC236}">
                      <a16:creationId xmlns:a16="http://schemas.microsoft.com/office/drawing/2014/main" id="{B5C7B119-9316-4005-CE88-3916A3041CC4}"/>
                    </a:ext>
                  </a:extLst>
                </p:cNvPr>
                <p:cNvSpPr>
                  <a:spLocks/>
                </p:cNvSpPr>
                <p:nvPr/>
              </p:nvSpPr>
              <p:spPr bwMode="auto">
                <a:xfrm>
                  <a:off x="3622" y="3071"/>
                  <a:ext cx="89" cy="18"/>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10"/>
                        <a:pt x="5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93" name="Freeform 167">
                  <a:extLst>
                    <a:ext uri="{FF2B5EF4-FFF2-40B4-BE49-F238E27FC236}">
                      <a16:creationId xmlns:a16="http://schemas.microsoft.com/office/drawing/2014/main" id="{977B16E7-1BAE-6BA2-1301-1A544F6E2B0F}"/>
                    </a:ext>
                  </a:extLst>
                </p:cNvPr>
                <p:cNvSpPr>
                  <a:spLocks/>
                </p:cNvSpPr>
                <p:nvPr/>
              </p:nvSpPr>
              <p:spPr bwMode="auto">
                <a:xfrm>
                  <a:off x="3622" y="3036"/>
                  <a:ext cx="124" cy="18"/>
                </a:xfrm>
                <a:custGeom>
                  <a:avLst/>
                  <a:gdLst>
                    <a:gd name="T0" fmla="*/ 78 w 84"/>
                    <a:gd name="T1" fmla="*/ 12 h 12"/>
                    <a:gd name="T2" fmla="*/ 6 w 84"/>
                    <a:gd name="T3" fmla="*/ 12 h 12"/>
                    <a:gd name="T4" fmla="*/ 0 w 84"/>
                    <a:gd name="T5" fmla="*/ 6 h 12"/>
                    <a:gd name="T6" fmla="*/ 6 w 84"/>
                    <a:gd name="T7" fmla="*/ 0 h 12"/>
                    <a:gd name="T8" fmla="*/ 78 w 84"/>
                    <a:gd name="T9" fmla="*/ 0 h 12"/>
                    <a:gd name="T10" fmla="*/ 84 w 84"/>
                    <a:gd name="T11" fmla="*/ 6 h 12"/>
                    <a:gd name="T12" fmla="*/ 78 w 8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4" h="12">
                      <a:moveTo>
                        <a:pt x="78" y="12"/>
                      </a:moveTo>
                      <a:cubicBezTo>
                        <a:pt x="6" y="12"/>
                        <a:pt x="6" y="12"/>
                        <a:pt x="6" y="12"/>
                      </a:cubicBezTo>
                      <a:cubicBezTo>
                        <a:pt x="3" y="12"/>
                        <a:pt x="0" y="10"/>
                        <a:pt x="0" y="6"/>
                      </a:cubicBezTo>
                      <a:cubicBezTo>
                        <a:pt x="0" y="3"/>
                        <a:pt x="3" y="0"/>
                        <a:pt x="6" y="0"/>
                      </a:cubicBezTo>
                      <a:cubicBezTo>
                        <a:pt x="78" y="0"/>
                        <a:pt x="78" y="0"/>
                        <a:pt x="78" y="0"/>
                      </a:cubicBezTo>
                      <a:cubicBezTo>
                        <a:pt x="81" y="0"/>
                        <a:pt x="84" y="3"/>
                        <a:pt x="84" y="6"/>
                      </a:cubicBezTo>
                      <a:cubicBezTo>
                        <a:pt x="84" y="10"/>
                        <a:pt x="81"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94" name="Freeform 168">
                  <a:extLst>
                    <a:ext uri="{FF2B5EF4-FFF2-40B4-BE49-F238E27FC236}">
                      <a16:creationId xmlns:a16="http://schemas.microsoft.com/office/drawing/2014/main" id="{26DDD71D-9E93-FBFB-EF63-B913C12F02AE}"/>
                    </a:ext>
                  </a:extLst>
                </p:cNvPr>
                <p:cNvSpPr>
                  <a:spLocks/>
                </p:cNvSpPr>
                <p:nvPr/>
              </p:nvSpPr>
              <p:spPr bwMode="auto">
                <a:xfrm>
                  <a:off x="3622" y="3107"/>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95" name="Freeform 169">
                  <a:extLst>
                    <a:ext uri="{FF2B5EF4-FFF2-40B4-BE49-F238E27FC236}">
                      <a16:creationId xmlns:a16="http://schemas.microsoft.com/office/drawing/2014/main" id="{778860B1-849B-09D3-9560-5CB4DDEBD70A}"/>
                    </a:ext>
                  </a:extLst>
                </p:cNvPr>
                <p:cNvSpPr>
                  <a:spLocks/>
                </p:cNvSpPr>
                <p:nvPr/>
              </p:nvSpPr>
              <p:spPr bwMode="auto">
                <a:xfrm>
                  <a:off x="3480" y="3249"/>
                  <a:ext cx="53" cy="17"/>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10"/>
                        <a:pt x="33"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52" name="Group 16">
                <a:extLst>
                  <a:ext uri="{FF2B5EF4-FFF2-40B4-BE49-F238E27FC236}">
                    <a16:creationId xmlns:a16="http://schemas.microsoft.com/office/drawing/2014/main" id="{F1E3CFD6-E98E-9D1E-AB3E-2829F1B68ADE}"/>
                  </a:ext>
                </a:extLst>
              </p:cNvPr>
              <p:cNvGrpSpPr>
                <a:grpSpLocks noChangeAspect="1"/>
              </p:cNvGrpSpPr>
              <p:nvPr/>
            </p:nvGrpSpPr>
            <p:grpSpPr bwMode="auto">
              <a:xfrm>
                <a:off x="3102303" y="2628454"/>
                <a:ext cx="274282" cy="273472"/>
                <a:chOff x="3589" y="1912"/>
                <a:chExt cx="339" cy="338"/>
              </a:xfrm>
              <a:solidFill>
                <a:schemeClr val="tx1"/>
              </a:solidFill>
            </p:grpSpPr>
            <p:sp>
              <p:nvSpPr>
                <p:cNvPr id="183" name="Freeform 17">
                  <a:extLst>
                    <a:ext uri="{FF2B5EF4-FFF2-40B4-BE49-F238E27FC236}">
                      <a16:creationId xmlns:a16="http://schemas.microsoft.com/office/drawing/2014/main" id="{21EBFF34-B213-7D84-C733-443DED02ACC7}"/>
                    </a:ext>
                  </a:extLst>
                </p:cNvPr>
                <p:cNvSpPr>
                  <a:spLocks noEditPoints="1"/>
                </p:cNvSpPr>
                <p:nvPr/>
              </p:nvSpPr>
              <p:spPr bwMode="auto">
                <a:xfrm>
                  <a:off x="3589" y="1912"/>
                  <a:ext cx="339" cy="338"/>
                </a:xfrm>
                <a:custGeom>
                  <a:avLst/>
                  <a:gdLst>
                    <a:gd name="T0" fmla="*/ 195 w 241"/>
                    <a:gd name="T1" fmla="*/ 241 h 241"/>
                    <a:gd name="T2" fmla="*/ 46 w 241"/>
                    <a:gd name="T3" fmla="*/ 241 h 241"/>
                    <a:gd name="T4" fmla="*/ 0 w 241"/>
                    <a:gd name="T5" fmla="*/ 195 h 241"/>
                    <a:gd name="T6" fmla="*/ 0 w 241"/>
                    <a:gd name="T7" fmla="*/ 46 h 241"/>
                    <a:gd name="T8" fmla="*/ 46 w 241"/>
                    <a:gd name="T9" fmla="*/ 0 h 241"/>
                    <a:gd name="T10" fmla="*/ 195 w 241"/>
                    <a:gd name="T11" fmla="*/ 0 h 241"/>
                    <a:gd name="T12" fmla="*/ 241 w 241"/>
                    <a:gd name="T13" fmla="*/ 46 h 241"/>
                    <a:gd name="T14" fmla="*/ 241 w 241"/>
                    <a:gd name="T15" fmla="*/ 195 h 241"/>
                    <a:gd name="T16" fmla="*/ 195 w 241"/>
                    <a:gd name="T17" fmla="*/ 241 h 241"/>
                    <a:gd name="T18" fmla="*/ 46 w 241"/>
                    <a:gd name="T19" fmla="*/ 13 h 241"/>
                    <a:gd name="T20" fmla="*/ 13 w 241"/>
                    <a:gd name="T21" fmla="*/ 46 h 241"/>
                    <a:gd name="T22" fmla="*/ 13 w 241"/>
                    <a:gd name="T23" fmla="*/ 195 h 241"/>
                    <a:gd name="T24" fmla="*/ 46 w 241"/>
                    <a:gd name="T25" fmla="*/ 228 h 241"/>
                    <a:gd name="T26" fmla="*/ 195 w 241"/>
                    <a:gd name="T27" fmla="*/ 228 h 241"/>
                    <a:gd name="T28" fmla="*/ 228 w 241"/>
                    <a:gd name="T29" fmla="*/ 195 h 241"/>
                    <a:gd name="T30" fmla="*/ 228 w 241"/>
                    <a:gd name="T31" fmla="*/ 46 h 241"/>
                    <a:gd name="T32" fmla="*/ 195 w 241"/>
                    <a:gd name="T33" fmla="*/ 13 h 241"/>
                    <a:gd name="T34" fmla="*/ 46 w 241"/>
                    <a:gd name="T35" fmla="*/ 13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1" h="241">
                      <a:moveTo>
                        <a:pt x="195" y="241"/>
                      </a:moveTo>
                      <a:cubicBezTo>
                        <a:pt x="46" y="241"/>
                        <a:pt x="46" y="241"/>
                        <a:pt x="46" y="241"/>
                      </a:cubicBezTo>
                      <a:cubicBezTo>
                        <a:pt x="20" y="241"/>
                        <a:pt x="0" y="220"/>
                        <a:pt x="0" y="195"/>
                      </a:cubicBezTo>
                      <a:cubicBezTo>
                        <a:pt x="0" y="46"/>
                        <a:pt x="0" y="46"/>
                        <a:pt x="0" y="46"/>
                      </a:cubicBezTo>
                      <a:cubicBezTo>
                        <a:pt x="0" y="20"/>
                        <a:pt x="20" y="0"/>
                        <a:pt x="46" y="0"/>
                      </a:cubicBezTo>
                      <a:cubicBezTo>
                        <a:pt x="195" y="0"/>
                        <a:pt x="195" y="0"/>
                        <a:pt x="195" y="0"/>
                      </a:cubicBezTo>
                      <a:cubicBezTo>
                        <a:pt x="220" y="0"/>
                        <a:pt x="241" y="20"/>
                        <a:pt x="241" y="46"/>
                      </a:cubicBezTo>
                      <a:cubicBezTo>
                        <a:pt x="241" y="195"/>
                        <a:pt x="241" y="195"/>
                        <a:pt x="241" y="195"/>
                      </a:cubicBezTo>
                      <a:cubicBezTo>
                        <a:pt x="241" y="220"/>
                        <a:pt x="220" y="241"/>
                        <a:pt x="195" y="241"/>
                      </a:cubicBezTo>
                      <a:close/>
                      <a:moveTo>
                        <a:pt x="46" y="13"/>
                      </a:moveTo>
                      <a:cubicBezTo>
                        <a:pt x="28" y="13"/>
                        <a:pt x="13" y="28"/>
                        <a:pt x="13" y="46"/>
                      </a:cubicBezTo>
                      <a:cubicBezTo>
                        <a:pt x="13" y="195"/>
                        <a:pt x="13" y="195"/>
                        <a:pt x="13" y="195"/>
                      </a:cubicBezTo>
                      <a:cubicBezTo>
                        <a:pt x="13" y="213"/>
                        <a:pt x="28" y="228"/>
                        <a:pt x="46" y="228"/>
                      </a:cubicBezTo>
                      <a:cubicBezTo>
                        <a:pt x="195" y="228"/>
                        <a:pt x="195" y="228"/>
                        <a:pt x="195" y="228"/>
                      </a:cubicBezTo>
                      <a:cubicBezTo>
                        <a:pt x="213" y="228"/>
                        <a:pt x="228" y="213"/>
                        <a:pt x="228" y="195"/>
                      </a:cubicBezTo>
                      <a:cubicBezTo>
                        <a:pt x="228" y="46"/>
                        <a:pt x="228" y="46"/>
                        <a:pt x="228" y="46"/>
                      </a:cubicBezTo>
                      <a:cubicBezTo>
                        <a:pt x="228" y="28"/>
                        <a:pt x="213" y="13"/>
                        <a:pt x="195" y="13"/>
                      </a:cubicBezTo>
                      <a:lnTo>
                        <a:pt x="46"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84" name="Freeform 18">
                  <a:extLst>
                    <a:ext uri="{FF2B5EF4-FFF2-40B4-BE49-F238E27FC236}">
                      <a16:creationId xmlns:a16="http://schemas.microsoft.com/office/drawing/2014/main" id="{881256C2-DDED-6063-4E31-32D8A05E82D4}"/>
                    </a:ext>
                  </a:extLst>
                </p:cNvPr>
                <p:cNvSpPr>
                  <a:spLocks noEditPoints="1"/>
                </p:cNvSpPr>
                <p:nvPr/>
              </p:nvSpPr>
              <p:spPr bwMode="auto">
                <a:xfrm>
                  <a:off x="3651" y="1973"/>
                  <a:ext cx="215" cy="215"/>
                </a:xfrm>
                <a:custGeom>
                  <a:avLst/>
                  <a:gdLst>
                    <a:gd name="T0" fmla="*/ 76 w 153"/>
                    <a:gd name="T1" fmla="*/ 153 h 153"/>
                    <a:gd name="T2" fmla="*/ 0 w 153"/>
                    <a:gd name="T3" fmla="*/ 76 h 153"/>
                    <a:gd name="T4" fmla="*/ 76 w 153"/>
                    <a:gd name="T5" fmla="*/ 0 h 153"/>
                    <a:gd name="T6" fmla="*/ 153 w 153"/>
                    <a:gd name="T7" fmla="*/ 76 h 153"/>
                    <a:gd name="T8" fmla="*/ 76 w 153"/>
                    <a:gd name="T9" fmla="*/ 153 h 153"/>
                    <a:gd name="T10" fmla="*/ 76 w 153"/>
                    <a:gd name="T11" fmla="*/ 14 h 153"/>
                    <a:gd name="T12" fmla="*/ 14 w 153"/>
                    <a:gd name="T13" fmla="*/ 76 h 153"/>
                    <a:gd name="T14" fmla="*/ 76 w 153"/>
                    <a:gd name="T15" fmla="*/ 139 h 153"/>
                    <a:gd name="T16" fmla="*/ 139 w 153"/>
                    <a:gd name="T17" fmla="*/ 76 h 153"/>
                    <a:gd name="T18" fmla="*/ 76 w 153"/>
                    <a:gd name="T19" fmla="*/ 14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 h="153">
                      <a:moveTo>
                        <a:pt x="76" y="153"/>
                      </a:moveTo>
                      <a:cubicBezTo>
                        <a:pt x="34" y="153"/>
                        <a:pt x="0" y="118"/>
                        <a:pt x="0" y="76"/>
                      </a:cubicBezTo>
                      <a:cubicBezTo>
                        <a:pt x="0" y="34"/>
                        <a:pt x="34" y="0"/>
                        <a:pt x="76" y="0"/>
                      </a:cubicBezTo>
                      <a:cubicBezTo>
                        <a:pt x="118" y="0"/>
                        <a:pt x="153" y="34"/>
                        <a:pt x="153" y="76"/>
                      </a:cubicBezTo>
                      <a:cubicBezTo>
                        <a:pt x="153" y="118"/>
                        <a:pt x="118" y="153"/>
                        <a:pt x="76" y="153"/>
                      </a:cubicBezTo>
                      <a:close/>
                      <a:moveTo>
                        <a:pt x="76" y="14"/>
                      </a:moveTo>
                      <a:cubicBezTo>
                        <a:pt x="42" y="14"/>
                        <a:pt x="14" y="42"/>
                        <a:pt x="14" y="76"/>
                      </a:cubicBezTo>
                      <a:cubicBezTo>
                        <a:pt x="14" y="111"/>
                        <a:pt x="42" y="139"/>
                        <a:pt x="76" y="139"/>
                      </a:cubicBezTo>
                      <a:cubicBezTo>
                        <a:pt x="111" y="139"/>
                        <a:pt x="139" y="111"/>
                        <a:pt x="139" y="76"/>
                      </a:cubicBezTo>
                      <a:cubicBezTo>
                        <a:pt x="139" y="42"/>
                        <a:pt x="111" y="14"/>
                        <a:pt x="7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85" name="Freeform 19">
                  <a:extLst>
                    <a:ext uri="{FF2B5EF4-FFF2-40B4-BE49-F238E27FC236}">
                      <a16:creationId xmlns:a16="http://schemas.microsoft.com/office/drawing/2014/main" id="{326F3D07-88F6-8157-D51E-EEB12F89005F}"/>
                    </a:ext>
                  </a:extLst>
                </p:cNvPr>
                <p:cNvSpPr>
                  <a:spLocks noEditPoints="1"/>
                </p:cNvSpPr>
                <p:nvPr/>
              </p:nvSpPr>
              <p:spPr bwMode="auto">
                <a:xfrm>
                  <a:off x="3841" y="1947"/>
                  <a:ext cx="50" cy="50"/>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1 h 36"/>
                    <a:gd name="T12" fmla="*/ 11 w 36"/>
                    <a:gd name="T13" fmla="*/ 18 h 36"/>
                    <a:gd name="T14" fmla="*/ 18 w 36"/>
                    <a:gd name="T15" fmla="*/ 25 h 36"/>
                    <a:gd name="T16" fmla="*/ 25 w 36"/>
                    <a:gd name="T17" fmla="*/ 18 h 36"/>
                    <a:gd name="T18" fmla="*/ 18 w 36"/>
                    <a:gd name="T19" fmla="*/ 1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8"/>
                        <a:pt x="8" y="0"/>
                        <a:pt x="18" y="0"/>
                      </a:cubicBezTo>
                      <a:cubicBezTo>
                        <a:pt x="28" y="0"/>
                        <a:pt x="36" y="8"/>
                        <a:pt x="36" y="18"/>
                      </a:cubicBezTo>
                      <a:cubicBezTo>
                        <a:pt x="36" y="28"/>
                        <a:pt x="28" y="36"/>
                        <a:pt x="18" y="36"/>
                      </a:cubicBezTo>
                      <a:close/>
                      <a:moveTo>
                        <a:pt x="18" y="11"/>
                      </a:moveTo>
                      <a:cubicBezTo>
                        <a:pt x="14" y="11"/>
                        <a:pt x="11" y="14"/>
                        <a:pt x="11" y="18"/>
                      </a:cubicBezTo>
                      <a:cubicBezTo>
                        <a:pt x="11" y="22"/>
                        <a:pt x="14" y="25"/>
                        <a:pt x="18" y="25"/>
                      </a:cubicBezTo>
                      <a:cubicBezTo>
                        <a:pt x="22" y="25"/>
                        <a:pt x="25" y="22"/>
                        <a:pt x="25" y="18"/>
                      </a:cubicBezTo>
                      <a:cubicBezTo>
                        <a:pt x="25" y="14"/>
                        <a:pt x="22" y="11"/>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53" name="Group 226">
                <a:extLst>
                  <a:ext uri="{FF2B5EF4-FFF2-40B4-BE49-F238E27FC236}">
                    <a16:creationId xmlns:a16="http://schemas.microsoft.com/office/drawing/2014/main" id="{B3A83EBF-6B04-060D-3B91-31E73BF779A8}"/>
                  </a:ext>
                </a:extLst>
              </p:cNvPr>
              <p:cNvGrpSpPr>
                <a:grpSpLocks noChangeAspect="1"/>
              </p:cNvGrpSpPr>
              <p:nvPr/>
            </p:nvGrpSpPr>
            <p:grpSpPr bwMode="auto">
              <a:xfrm>
                <a:off x="4564445" y="5826738"/>
                <a:ext cx="319496" cy="350011"/>
                <a:chOff x="2437" y="456"/>
                <a:chExt cx="356" cy="390"/>
              </a:xfrm>
              <a:solidFill>
                <a:schemeClr val="tx1"/>
              </a:solidFill>
            </p:grpSpPr>
            <p:sp>
              <p:nvSpPr>
                <p:cNvPr id="179" name="Freeform 227">
                  <a:extLst>
                    <a:ext uri="{FF2B5EF4-FFF2-40B4-BE49-F238E27FC236}">
                      <a16:creationId xmlns:a16="http://schemas.microsoft.com/office/drawing/2014/main" id="{BC38DEE1-FBA0-3824-8E20-B71B59D7C919}"/>
                    </a:ext>
                  </a:extLst>
                </p:cNvPr>
                <p:cNvSpPr>
                  <a:spLocks noEditPoints="1"/>
                </p:cNvSpPr>
                <p:nvPr/>
              </p:nvSpPr>
              <p:spPr bwMode="auto">
                <a:xfrm>
                  <a:off x="2437" y="456"/>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2" y="108"/>
                        <a:pt x="0" y="84"/>
                        <a:pt x="0" y="54"/>
                      </a:cubicBezTo>
                      <a:cubicBezTo>
                        <a:pt x="0" y="23"/>
                        <a:pt x="52"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80" name="Freeform 228">
                  <a:extLst>
                    <a:ext uri="{FF2B5EF4-FFF2-40B4-BE49-F238E27FC236}">
                      <a16:creationId xmlns:a16="http://schemas.microsoft.com/office/drawing/2014/main" id="{63B3B9DD-EAF5-4610-AA8C-C1D545A84E55}"/>
                    </a:ext>
                  </a:extLst>
                </p:cNvPr>
                <p:cNvSpPr>
                  <a:spLocks/>
                </p:cNvSpPr>
                <p:nvPr/>
              </p:nvSpPr>
              <p:spPr bwMode="auto">
                <a:xfrm>
                  <a:off x="2437" y="598"/>
                  <a:ext cx="356" cy="89"/>
                </a:xfrm>
                <a:custGeom>
                  <a:avLst/>
                  <a:gdLst>
                    <a:gd name="T0" fmla="*/ 120 w 240"/>
                    <a:gd name="T1" fmla="*/ 60 h 60"/>
                    <a:gd name="T2" fmla="*/ 0 w 240"/>
                    <a:gd name="T3" fmla="*/ 6 h 60"/>
                    <a:gd name="T4" fmla="*/ 6 w 240"/>
                    <a:gd name="T5" fmla="*/ 0 h 60"/>
                    <a:gd name="T6" fmla="*/ 12 w 240"/>
                    <a:gd name="T7" fmla="*/ 6 h 60"/>
                    <a:gd name="T8" fmla="*/ 120 w 240"/>
                    <a:gd name="T9" fmla="*/ 48 h 60"/>
                    <a:gd name="T10" fmla="*/ 228 w 240"/>
                    <a:gd name="T11" fmla="*/ 6 h 60"/>
                    <a:gd name="T12" fmla="*/ 234 w 240"/>
                    <a:gd name="T13" fmla="*/ 0 h 60"/>
                    <a:gd name="T14" fmla="*/ 240 w 240"/>
                    <a:gd name="T15" fmla="*/ 6 h 60"/>
                    <a:gd name="T16" fmla="*/ 120 w 240"/>
                    <a:gd name="T1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60">
                      <a:moveTo>
                        <a:pt x="120" y="60"/>
                      </a:moveTo>
                      <a:cubicBezTo>
                        <a:pt x="52" y="60"/>
                        <a:pt x="0" y="36"/>
                        <a:pt x="0" y="6"/>
                      </a:cubicBezTo>
                      <a:cubicBezTo>
                        <a:pt x="0" y="2"/>
                        <a:pt x="2" y="0"/>
                        <a:pt x="6" y="0"/>
                      </a:cubicBezTo>
                      <a:cubicBezTo>
                        <a:pt x="9" y="0"/>
                        <a:pt x="12" y="2"/>
                        <a:pt x="12" y="6"/>
                      </a:cubicBezTo>
                      <a:cubicBezTo>
                        <a:pt x="12" y="26"/>
                        <a:pt x="56" y="48"/>
                        <a:pt x="120" y="48"/>
                      </a:cubicBezTo>
                      <a:cubicBezTo>
                        <a:pt x="183" y="48"/>
                        <a:pt x="228" y="26"/>
                        <a:pt x="228" y="6"/>
                      </a:cubicBezTo>
                      <a:cubicBezTo>
                        <a:pt x="228" y="2"/>
                        <a:pt x="230" y="0"/>
                        <a:pt x="234" y="0"/>
                      </a:cubicBezTo>
                      <a:cubicBezTo>
                        <a:pt x="237" y="0"/>
                        <a:pt x="240" y="2"/>
                        <a:pt x="240" y="6"/>
                      </a:cubicBezTo>
                      <a:cubicBezTo>
                        <a:pt x="240" y="36"/>
                        <a:pt x="187"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81" name="Freeform 229">
                  <a:extLst>
                    <a:ext uri="{FF2B5EF4-FFF2-40B4-BE49-F238E27FC236}">
                      <a16:creationId xmlns:a16="http://schemas.microsoft.com/office/drawing/2014/main" id="{E8F32FC6-A1B3-962F-F59D-B0B36821D58C}"/>
                    </a:ext>
                  </a:extLst>
                </p:cNvPr>
                <p:cNvSpPr>
                  <a:spLocks/>
                </p:cNvSpPr>
                <p:nvPr/>
              </p:nvSpPr>
              <p:spPr bwMode="auto">
                <a:xfrm>
                  <a:off x="2437" y="678"/>
                  <a:ext cx="356" cy="88"/>
                </a:xfrm>
                <a:custGeom>
                  <a:avLst/>
                  <a:gdLst>
                    <a:gd name="T0" fmla="*/ 120 w 240"/>
                    <a:gd name="T1" fmla="*/ 60 h 60"/>
                    <a:gd name="T2" fmla="*/ 0 w 240"/>
                    <a:gd name="T3" fmla="*/ 6 h 60"/>
                    <a:gd name="T4" fmla="*/ 6 w 240"/>
                    <a:gd name="T5" fmla="*/ 0 h 60"/>
                    <a:gd name="T6" fmla="*/ 12 w 240"/>
                    <a:gd name="T7" fmla="*/ 6 h 60"/>
                    <a:gd name="T8" fmla="*/ 120 w 240"/>
                    <a:gd name="T9" fmla="*/ 48 h 60"/>
                    <a:gd name="T10" fmla="*/ 228 w 240"/>
                    <a:gd name="T11" fmla="*/ 6 h 60"/>
                    <a:gd name="T12" fmla="*/ 234 w 240"/>
                    <a:gd name="T13" fmla="*/ 0 h 60"/>
                    <a:gd name="T14" fmla="*/ 240 w 240"/>
                    <a:gd name="T15" fmla="*/ 6 h 60"/>
                    <a:gd name="T16" fmla="*/ 120 w 240"/>
                    <a:gd name="T1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60">
                      <a:moveTo>
                        <a:pt x="120" y="60"/>
                      </a:moveTo>
                      <a:cubicBezTo>
                        <a:pt x="52" y="60"/>
                        <a:pt x="0" y="36"/>
                        <a:pt x="0" y="6"/>
                      </a:cubicBezTo>
                      <a:cubicBezTo>
                        <a:pt x="0" y="2"/>
                        <a:pt x="2" y="0"/>
                        <a:pt x="6" y="0"/>
                      </a:cubicBezTo>
                      <a:cubicBezTo>
                        <a:pt x="9" y="0"/>
                        <a:pt x="12" y="2"/>
                        <a:pt x="12" y="6"/>
                      </a:cubicBezTo>
                      <a:cubicBezTo>
                        <a:pt x="12" y="26"/>
                        <a:pt x="56" y="48"/>
                        <a:pt x="120" y="48"/>
                      </a:cubicBezTo>
                      <a:cubicBezTo>
                        <a:pt x="183" y="48"/>
                        <a:pt x="228" y="26"/>
                        <a:pt x="228" y="6"/>
                      </a:cubicBezTo>
                      <a:cubicBezTo>
                        <a:pt x="228" y="2"/>
                        <a:pt x="230" y="0"/>
                        <a:pt x="234" y="0"/>
                      </a:cubicBezTo>
                      <a:cubicBezTo>
                        <a:pt x="237" y="0"/>
                        <a:pt x="240" y="2"/>
                        <a:pt x="240" y="6"/>
                      </a:cubicBezTo>
                      <a:cubicBezTo>
                        <a:pt x="240" y="36"/>
                        <a:pt x="187"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82" name="Freeform 230">
                  <a:extLst>
                    <a:ext uri="{FF2B5EF4-FFF2-40B4-BE49-F238E27FC236}">
                      <a16:creationId xmlns:a16="http://schemas.microsoft.com/office/drawing/2014/main" id="{F46C59A4-DE74-1239-E883-B5C534E1CFCA}"/>
                    </a:ext>
                  </a:extLst>
                </p:cNvPr>
                <p:cNvSpPr>
                  <a:spLocks/>
                </p:cNvSpPr>
                <p:nvPr/>
              </p:nvSpPr>
              <p:spPr bwMode="auto">
                <a:xfrm>
                  <a:off x="2437" y="527"/>
                  <a:ext cx="356" cy="319"/>
                </a:xfrm>
                <a:custGeom>
                  <a:avLst/>
                  <a:gdLst>
                    <a:gd name="T0" fmla="*/ 120 w 240"/>
                    <a:gd name="T1" fmla="*/ 216 h 216"/>
                    <a:gd name="T2" fmla="*/ 0 w 240"/>
                    <a:gd name="T3" fmla="*/ 162 h 216"/>
                    <a:gd name="T4" fmla="*/ 0 w 240"/>
                    <a:gd name="T5" fmla="*/ 6 h 216"/>
                    <a:gd name="T6" fmla="*/ 6 w 240"/>
                    <a:gd name="T7" fmla="*/ 0 h 216"/>
                    <a:gd name="T8" fmla="*/ 12 w 240"/>
                    <a:gd name="T9" fmla="*/ 6 h 216"/>
                    <a:gd name="T10" fmla="*/ 12 w 240"/>
                    <a:gd name="T11" fmla="*/ 162 h 216"/>
                    <a:gd name="T12" fmla="*/ 120 w 240"/>
                    <a:gd name="T13" fmla="*/ 204 h 216"/>
                    <a:gd name="T14" fmla="*/ 228 w 240"/>
                    <a:gd name="T15" fmla="*/ 162 h 216"/>
                    <a:gd name="T16" fmla="*/ 228 w 240"/>
                    <a:gd name="T17" fmla="*/ 6 h 216"/>
                    <a:gd name="T18" fmla="*/ 234 w 240"/>
                    <a:gd name="T19" fmla="*/ 0 h 216"/>
                    <a:gd name="T20" fmla="*/ 240 w 240"/>
                    <a:gd name="T21" fmla="*/ 6 h 216"/>
                    <a:gd name="T22" fmla="*/ 240 w 240"/>
                    <a:gd name="T23" fmla="*/ 162 h 216"/>
                    <a:gd name="T24" fmla="*/ 120 w 240"/>
                    <a:gd name="T25"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0" h="216">
                      <a:moveTo>
                        <a:pt x="120" y="216"/>
                      </a:moveTo>
                      <a:cubicBezTo>
                        <a:pt x="52" y="216"/>
                        <a:pt x="0" y="192"/>
                        <a:pt x="0" y="162"/>
                      </a:cubicBezTo>
                      <a:cubicBezTo>
                        <a:pt x="0" y="6"/>
                        <a:pt x="0" y="6"/>
                        <a:pt x="0" y="6"/>
                      </a:cubicBezTo>
                      <a:cubicBezTo>
                        <a:pt x="0" y="2"/>
                        <a:pt x="2" y="0"/>
                        <a:pt x="6" y="0"/>
                      </a:cubicBezTo>
                      <a:cubicBezTo>
                        <a:pt x="9" y="0"/>
                        <a:pt x="12" y="2"/>
                        <a:pt x="12" y="6"/>
                      </a:cubicBezTo>
                      <a:cubicBezTo>
                        <a:pt x="12" y="162"/>
                        <a:pt x="12" y="162"/>
                        <a:pt x="12" y="162"/>
                      </a:cubicBezTo>
                      <a:cubicBezTo>
                        <a:pt x="12" y="182"/>
                        <a:pt x="56" y="204"/>
                        <a:pt x="120" y="204"/>
                      </a:cubicBezTo>
                      <a:cubicBezTo>
                        <a:pt x="183" y="204"/>
                        <a:pt x="228" y="182"/>
                        <a:pt x="228" y="162"/>
                      </a:cubicBezTo>
                      <a:cubicBezTo>
                        <a:pt x="228" y="6"/>
                        <a:pt x="228" y="6"/>
                        <a:pt x="228" y="6"/>
                      </a:cubicBezTo>
                      <a:cubicBezTo>
                        <a:pt x="228" y="2"/>
                        <a:pt x="230" y="0"/>
                        <a:pt x="234" y="0"/>
                      </a:cubicBezTo>
                      <a:cubicBezTo>
                        <a:pt x="237" y="0"/>
                        <a:pt x="240" y="2"/>
                        <a:pt x="240" y="6"/>
                      </a:cubicBezTo>
                      <a:cubicBezTo>
                        <a:pt x="240" y="162"/>
                        <a:pt x="240" y="162"/>
                        <a:pt x="240" y="162"/>
                      </a:cubicBezTo>
                      <a:cubicBezTo>
                        <a:pt x="240" y="192"/>
                        <a:pt x="187" y="216"/>
                        <a:pt x="120" y="2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grpSp>
          <p:grpSp>
            <p:nvGrpSpPr>
              <p:cNvPr id="54" name="Group 32">
                <a:extLst>
                  <a:ext uri="{FF2B5EF4-FFF2-40B4-BE49-F238E27FC236}">
                    <a16:creationId xmlns:a16="http://schemas.microsoft.com/office/drawing/2014/main" id="{F06DC53D-EFB1-AC9C-790F-29307BE3171E}"/>
                  </a:ext>
                </a:extLst>
              </p:cNvPr>
              <p:cNvGrpSpPr>
                <a:grpSpLocks noChangeAspect="1"/>
              </p:cNvGrpSpPr>
              <p:nvPr/>
            </p:nvGrpSpPr>
            <p:grpSpPr bwMode="auto">
              <a:xfrm>
                <a:off x="1573151" y="5743168"/>
                <a:ext cx="395779" cy="496476"/>
                <a:chOff x="397" y="442"/>
                <a:chExt cx="338" cy="424"/>
              </a:xfrm>
              <a:solidFill>
                <a:schemeClr val="tx1"/>
              </a:solidFill>
            </p:grpSpPr>
            <p:sp>
              <p:nvSpPr>
                <p:cNvPr id="169" name="Freeform 33">
                  <a:extLst>
                    <a:ext uri="{FF2B5EF4-FFF2-40B4-BE49-F238E27FC236}">
                      <a16:creationId xmlns:a16="http://schemas.microsoft.com/office/drawing/2014/main" id="{134CD103-1771-808B-07FD-5A0095F2B320}"/>
                    </a:ext>
                  </a:extLst>
                </p:cNvPr>
                <p:cNvSpPr>
                  <a:spLocks/>
                </p:cNvSpPr>
                <p:nvPr/>
              </p:nvSpPr>
              <p:spPr bwMode="auto">
                <a:xfrm>
                  <a:off x="557" y="760"/>
                  <a:ext cx="18" cy="106"/>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69"/>
                        <a:pt x="0" y="66"/>
                      </a:cubicBezTo>
                      <a:cubicBezTo>
                        <a:pt x="0" y="6"/>
                        <a:pt x="0" y="6"/>
                        <a:pt x="0" y="6"/>
                      </a:cubicBezTo>
                      <a:cubicBezTo>
                        <a:pt x="0" y="3"/>
                        <a:pt x="3" y="0"/>
                        <a:pt x="6" y="0"/>
                      </a:cubicBezTo>
                      <a:cubicBezTo>
                        <a:pt x="10" y="0"/>
                        <a:pt x="12" y="3"/>
                        <a:pt x="12" y="6"/>
                      </a:cubicBezTo>
                      <a:cubicBezTo>
                        <a:pt x="12" y="66"/>
                        <a:pt x="12" y="66"/>
                        <a:pt x="12" y="66"/>
                      </a:cubicBezTo>
                      <a:cubicBezTo>
                        <a:pt x="12" y="69"/>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70" name="Freeform 34">
                  <a:extLst>
                    <a:ext uri="{FF2B5EF4-FFF2-40B4-BE49-F238E27FC236}">
                      <a16:creationId xmlns:a16="http://schemas.microsoft.com/office/drawing/2014/main" id="{A6A23D6B-DC3F-85C1-D964-6D0CAC2CEF8E}"/>
                    </a:ext>
                  </a:extLst>
                </p:cNvPr>
                <p:cNvSpPr>
                  <a:spLocks/>
                </p:cNvSpPr>
                <p:nvPr/>
              </p:nvSpPr>
              <p:spPr bwMode="auto">
                <a:xfrm>
                  <a:off x="503" y="794"/>
                  <a:ext cx="126" cy="72"/>
                </a:xfrm>
                <a:custGeom>
                  <a:avLst/>
                  <a:gdLst>
                    <a:gd name="T0" fmla="*/ 42 w 85"/>
                    <a:gd name="T1" fmla="*/ 49 h 49"/>
                    <a:gd name="T2" fmla="*/ 38 w 85"/>
                    <a:gd name="T3" fmla="*/ 47 h 49"/>
                    <a:gd name="T4" fmla="*/ 2 w 85"/>
                    <a:gd name="T5" fmla="*/ 11 h 49"/>
                    <a:gd name="T6" fmla="*/ 2 w 85"/>
                    <a:gd name="T7" fmla="*/ 2 h 49"/>
                    <a:gd name="T8" fmla="*/ 11 w 85"/>
                    <a:gd name="T9" fmla="*/ 2 h 49"/>
                    <a:gd name="T10" fmla="*/ 42 w 85"/>
                    <a:gd name="T11" fmla="*/ 34 h 49"/>
                    <a:gd name="T12" fmla="*/ 74 w 85"/>
                    <a:gd name="T13" fmla="*/ 2 h 49"/>
                    <a:gd name="T14" fmla="*/ 83 w 85"/>
                    <a:gd name="T15" fmla="*/ 2 h 49"/>
                    <a:gd name="T16" fmla="*/ 83 w 85"/>
                    <a:gd name="T17" fmla="*/ 11 h 49"/>
                    <a:gd name="T18" fmla="*/ 47 w 85"/>
                    <a:gd name="T19" fmla="*/ 47 h 49"/>
                    <a:gd name="T20" fmla="*/ 42 w 85"/>
                    <a:gd name="T21"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49">
                      <a:moveTo>
                        <a:pt x="42" y="49"/>
                      </a:moveTo>
                      <a:cubicBezTo>
                        <a:pt x="41" y="49"/>
                        <a:pt x="39" y="48"/>
                        <a:pt x="38" y="47"/>
                      </a:cubicBezTo>
                      <a:cubicBezTo>
                        <a:pt x="2" y="11"/>
                        <a:pt x="2" y="11"/>
                        <a:pt x="2" y="11"/>
                      </a:cubicBezTo>
                      <a:cubicBezTo>
                        <a:pt x="0" y="9"/>
                        <a:pt x="0" y="5"/>
                        <a:pt x="2" y="2"/>
                      </a:cubicBezTo>
                      <a:cubicBezTo>
                        <a:pt x="5" y="0"/>
                        <a:pt x="8" y="0"/>
                        <a:pt x="11" y="2"/>
                      </a:cubicBezTo>
                      <a:cubicBezTo>
                        <a:pt x="42" y="34"/>
                        <a:pt x="42" y="34"/>
                        <a:pt x="42" y="34"/>
                      </a:cubicBezTo>
                      <a:cubicBezTo>
                        <a:pt x="74" y="2"/>
                        <a:pt x="74" y="2"/>
                        <a:pt x="74" y="2"/>
                      </a:cubicBezTo>
                      <a:cubicBezTo>
                        <a:pt x="77" y="0"/>
                        <a:pt x="80" y="0"/>
                        <a:pt x="83" y="2"/>
                      </a:cubicBezTo>
                      <a:cubicBezTo>
                        <a:pt x="85" y="5"/>
                        <a:pt x="85" y="9"/>
                        <a:pt x="83" y="11"/>
                      </a:cubicBezTo>
                      <a:cubicBezTo>
                        <a:pt x="47" y="47"/>
                        <a:pt x="47" y="47"/>
                        <a:pt x="47" y="47"/>
                      </a:cubicBezTo>
                      <a:cubicBezTo>
                        <a:pt x="46" y="48"/>
                        <a:pt x="44" y="49"/>
                        <a:pt x="42"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71" name="Freeform 35">
                  <a:extLst>
                    <a:ext uri="{FF2B5EF4-FFF2-40B4-BE49-F238E27FC236}">
                      <a16:creationId xmlns:a16="http://schemas.microsoft.com/office/drawing/2014/main" id="{FBA72EEE-4481-DC19-1257-EB0CD7BA053D}"/>
                    </a:ext>
                  </a:extLst>
                </p:cNvPr>
                <p:cNvSpPr>
                  <a:spLocks/>
                </p:cNvSpPr>
                <p:nvPr/>
              </p:nvSpPr>
              <p:spPr bwMode="auto">
                <a:xfrm>
                  <a:off x="557" y="442"/>
                  <a:ext cx="18" cy="105"/>
                </a:xfrm>
                <a:custGeom>
                  <a:avLst/>
                  <a:gdLst>
                    <a:gd name="T0" fmla="*/ 6 w 12"/>
                    <a:gd name="T1" fmla="*/ 71 h 71"/>
                    <a:gd name="T2" fmla="*/ 0 w 12"/>
                    <a:gd name="T3" fmla="*/ 65 h 71"/>
                    <a:gd name="T4" fmla="*/ 0 w 12"/>
                    <a:gd name="T5" fmla="*/ 6 h 71"/>
                    <a:gd name="T6" fmla="*/ 6 w 12"/>
                    <a:gd name="T7" fmla="*/ 0 h 71"/>
                    <a:gd name="T8" fmla="*/ 12 w 12"/>
                    <a:gd name="T9" fmla="*/ 6 h 71"/>
                    <a:gd name="T10" fmla="*/ 12 w 12"/>
                    <a:gd name="T11" fmla="*/ 65 h 71"/>
                    <a:gd name="T12" fmla="*/ 6 w 12"/>
                    <a:gd name="T13" fmla="*/ 71 h 71"/>
                  </a:gdLst>
                  <a:ahLst/>
                  <a:cxnLst>
                    <a:cxn ang="0">
                      <a:pos x="T0" y="T1"/>
                    </a:cxn>
                    <a:cxn ang="0">
                      <a:pos x="T2" y="T3"/>
                    </a:cxn>
                    <a:cxn ang="0">
                      <a:pos x="T4" y="T5"/>
                    </a:cxn>
                    <a:cxn ang="0">
                      <a:pos x="T6" y="T7"/>
                    </a:cxn>
                    <a:cxn ang="0">
                      <a:pos x="T8" y="T9"/>
                    </a:cxn>
                    <a:cxn ang="0">
                      <a:pos x="T10" y="T11"/>
                    </a:cxn>
                    <a:cxn ang="0">
                      <a:pos x="T12" y="T13"/>
                    </a:cxn>
                  </a:cxnLst>
                  <a:rect l="0" t="0" r="r" b="b"/>
                  <a:pathLst>
                    <a:path w="12" h="71">
                      <a:moveTo>
                        <a:pt x="6" y="71"/>
                      </a:moveTo>
                      <a:cubicBezTo>
                        <a:pt x="3" y="71"/>
                        <a:pt x="0" y="69"/>
                        <a:pt x="0" y="65"/>
                      </a:cubicBezTo>
                      <a:cubicBezTo>
                        <a:pt x="0" y="6"/>
                        <a:pt x="0" y="6"/>
                        <a:pt x="0" y="6"/>
                      </a:cubicBezTo>
                      <a:cubicBezTo>
                        <a:pt x="0" y="3"/>
                        <a:pt x="3" y="0"/>
                        <a:pt x="6" y="0"/>
                      </a:cubicBezTo>
                      <a:cubicBezTo>
                        <a:pt x="10" y="0"/>
                        <a:pt x="12" y="3"/>
                        <a:pt x="12" y="6"/>
                      </a:cubicBezTo>
                      <a:cubicBezTo>
                        <a:pt x="12" y="65"/>
                        <a:pt x="12" y="65"/>
                        <a:pt x="12" y="65"/>
                      </a:cubicBezTo>
                      <a:cubicBezTo>
                        <a:pt x="12" y="69"/>
                        <a:pt x="10" y="71"/>
                        <a:pt x="6"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72" name="Freeform 36">
                  <a:extLst>
                    <a:ext uri="{FF2B5EF4-FFF2-40B4-BE49-F238E27FC236}">
                      <a16:creationId xmlns:a16="http://schemas.microsoft.com/office/drawing/2014/main" id="{2C94FD56-A13C-30E7-2D7D-9B8CCEDDE2BF}"/>
                    </a:ext>
                  </a:extLst>
                </p:cNvPr>
                <p:cNvSpPr>
                  <a:spLocks/>
                </p:cNvSpPr>
                <p:nvPr/>
              </p:nvSpPr>
              <p:spPr bwMode="auto">
                <a:xfrm>
                  <a:off x="503" y="442"/>
                  <a:ext cx="126" cy="72"/>
                </a:xfrm>
                <a:custGeom>
                  <a:avLst/>
                  <a:gdLst>
                    <a:gd name="T0" fmla="*/ 78 w 85"/>
                    <a:gd name="T1" fmla="*/ 48 h 49"/>
                    <a:gd name="T2" fmla="*/ 74 w 85"/>
                    <a:gd name="T3" fmla="*/ 46 h 49"/>
                    <a:gd name="T4" fmla="*/ 42 w 85"/>
                    <a:gd name="T5" fmla="*/ 15 h 49"/>
                    <a:gd name="T6" fmla="*/ 11 w 85"/>
                    <a:gd name="T7" fmla="*/ 46 h 49"/>
                    <a:gd name="T8" fmla="*/ 2 w 85"/>
                    <a:gd name="T9" fmla="*/ 46 h 49"/>
                    <a:gd name="T10" fmla="*/ 2 w 85"/>
                    <a:gd name="T11" fmla="*/ 38 h 49"/>
                    <a:gd name="T12" fmla="*/ 38 w 85"/>
                    <a:gd name="T13" fmla="*/ 2 h 49"/>
                    <a:gd name="T14" fmla="*/ 47 w 85"/>
                    <a:gd name="T15" fmla="*/ 2 h 49"/>
                    <a:gd name="T16" fmla="*/ 83 w 85"/>
                    <a:gd name="T17" fmla="*/ 38 h 49"/>
                    <a:gd name="T18" fmla="*/ 83 w 85"/>
                    <a:gd name="T19" fmla="*/ 46 h 49"/>
                    <a:gd name="T20" fmla="*/ 78 w 85"/>
                    <a:gd name="T21" fmla="*/ 4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49">
                      <a:moveTo>
                        <a:pt x="78" y="48"/>
                      </a:moveTo>
                      <a:cubicBezTo>
                        <a:pt x="77" y="48"/>
                        <a:pt x="75" y="48"/>
                        <a:pt x="74" y="46"/>
                      </a:cubicBezTo>
                      <a:cubicBezTo>
                        <a:pt x="42" y="15"/>
                        <a:pt x="42" y="15"/>
                        <a:pt x="42" y="15"/>
                      </a:cubicBezTo>
                      <a:cubicBezTo>
                        <a:pt x="11" y="46"/>
                        <a:pt x="11" y="46"/>
                        <a:pt x="11" y="46"/>
                      </a:cubicBezTo>
                      <a:cubicBezTo>
                        <a:pt x="8" y="49"/>
                        <a:pt x="5" y="49"/>
                        <a:pt x="2" y="46"/>
                      </a:cubicBezTo>
                      <a:cubicBezTo>
                        <a:pt x="0" y="44"/>
                        <a:pt x="0" y="40"/>
                        <a:pt x="2" y="38"/>
                      </a:cubicBezTo>
                      <a:cubicBezTo>
                        <a:pt x="38" y="2"/>
                        <a:pt x="38" y="2"/>
                        <a:pt x="38" y="2"/>
                      </a:cubicBezTo>
                      <a:cubicBezTo>
                        <a:pt x="41" y="0"/>
                        <a:pt x="44" y="0"/>
                        <a:pt x="47" y="2"/>
                      </a:cubicBezTo>
                      <a:cubicBezTo>
                        <a:pt x="83" y="38"/>
                        <a:pt x="83" y="38"/>
                        <a:pt x="83" y="38"/>
                      </a:cubicBezTo>
                      <a:cubicBezTo>
                        <a:pt x="85" y="40"/>
                        <a:pt x="85" y="44"/>
                        <a:pt x="83" y="46"/>
                      </a:cubicBezTo>
                      <a:cubicBezTo>
                        <a:pt x="82" y="48"/>
                        <a:pt x="80" y="48"/>
                        <a:pt x="78"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73" name="Freeform 37">
                  <a:extLst>
                    <a:ext uri="{FF2B5EF4-FFF2-40B4-BE49-F238E27FC236}">
                      <a16:creationId xmlns:a16="http://schemas.microsoft.com/office/drawing/2014/main" id="{CF1E2B1F-1AE5-5BF1-0839-BAF76EF568A9}"/>
                    </a:ext>
                  </a:extLst>
                </p:cNvPr>
                <p:cNvSpPr>
                  <a:spLocks noEditPoints="1"/>
                </p:cNvSpPr>
                <p:nvPr/>
              </p:nvSpPr>
              <p:spPr bwMode="auto">
                <a:xfrm>
                  <a:off x="397" y="566"/>
                  <a:ext cx="338" cy="177"/>
                </a:xfrm>
                <a:custGeom>
                  <a:avLst/>
                  <a:gdLst>
                    <a:gd name="T0" fmla="*/ 222 w 228"/>
                    <a:gd name="T1" fmla="*/ 120 h 120"/>
                    <a:gd name="T2" fmla="*/ 6 w 228"/>
                    <a:gd name="T3" fmla="*/ 120 h 120"/>
                    <a:gd name="T4" fmla="*/ 0 w 228"/>
                    <a:gd name="T5" fmla="*/ 114 h 120"/>
                    <a:gd name="T6" fmla="*/ 0 w 228"/>
                    <a:gd name="T7" fmla="*/ 6 h 120"/>
                    <a:gd name="T8" fmla="*/ 6 w 228"/>
                    <a:gd name="T9" fmla="*/ 0 h 120"/>
                    <a:gd name="T10" fmla="*/ 222 w 228"/>
                    <a:gd name="T11" fmla="*/ 0 h 120"/>
                    <a:gd name="T12" fmla="*/ 228 w 228"/>
                    <a:gd name="T13" fmla="*/ 6 h 120"/>
                    <a:gd name="T14" fmla="*/ 228 w 228"/>
                    <a:gd name="T15" fmla="*/ 114 h 120"/>
                    <a:gd name="T16" fmla="*/ 222 w 228"/>
                    <a:gd name="T17" fmla="*/ 120 h 120"/>
                    <a:gd name="T18" fmla="*/ 12 w 228"/>
                    <a:gd name="T19" fmla="*/ 108 h 120"/>
                    <a:gd name="T20" fmla="*/ 216 w 228"/>
                    <a:gd name="T21" fmla="*/ 108 h 120"/>
                    <a:gd name="T22" fmla="*/ 216 w 228"/>
                    <a:gd name="T23" fmla="*/ 12 h 120"/>
                    <a:gd name="T24" fmla="*/ 12 w 228"/>
                    <a:gd name="T25" fmla="*/ 12 h 120"/>
                    <a:gd name="T26" fmla="*/ 12 w 228"/>
                    <a:gd name="T2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8" h="120">
                      <a:moveTo>
                        <a:pt x="222" y="120"/>
                      </a:moveTo>
                      <a:cubicBezTo>
                        <a:pt x="6" y="120"/>
                        <a:pt x="6" y="120"/>
                        <a:pt x="6" y="120"/>
                      </a:cubicBezTo>
                      <a:cubicBezTo>
                        <a:pt x="3" y="120"/>
                        <a:pt x="0" y="118"/>
                        <a:pt x="0" y="114"/>
                      </a:cubicBezTo>
                      <a:cubicBezTo>
                        <a:pt x="0" y="6"/>
                        <a:pt x="0" y="6"/>
                        <a:pt x="0" y="6"/>
                      </a:cubicBezTo>
                      <a:cubicBezTo>
                        <a:pt x="0" y="3"/>
                        <a:pt x="3" y="0"/>
                        <a:pt x="6" y="0"/>
                      </a:cubicBezTo>
                      <a:cubicBezTo>
                        <a:pt x="222" y="0"/>
                        <a:pt x="222" y="0"/>
                        <a:pt x="222" y="0"/>
                      </a:cubicBezTo>
                      <a:cubicBezTo>
                        <a:pt x="226" y="0"/>
                        <a:pt x="228" y="3"/>
                        <a:pt x="228" y="6"/>
                      </a:cubicBezTo>
                      <a:cubicBezTo>
                        <a:pt x="228" y="114"/>
                        <a:pt x="228" y="114"/>
                        <a:pt x="228" y="114"/>
                      </a:cubicBezTo>
                      <a:cubicBezTo>
                        <a:pt x="228" y="118"/>
                        <a:pt x="226" y="120"/>
                        <a:pt x="222" y="120"/>
                      </a:cubicBezTo>
                      <a:close/>
                      <a:moveTo>
                        <a:pt x="12" y="108"/>
                      </a:moveTo>
                      <a:cubicBezTo>
                        <a:pt x="216" y="108"/>
                        <a:pt x="216" y="108"/>
                        <a:pt x="216" y="108"/>
                      </a:cubicBezTo>
                      <a:cubicBezTo>
                        <a:pt x="216" y="12"/>
                        <a:pt x="216" y="12"/>
                        <a:pt x="216" y="12"/>
                      </a:cubicBezTo>
                      <a:cubicBezTo>
                        <a:pt x="12" y="12"/>
                        <a:pt x="12" y="12"/>
                        <a:pt x="12" y="12"/>
                      </a:cubicBezTo>
                      <a:lnTo>
                        <a:pt x="1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74" name="Freeform 38">
                  <a:extLst>
                    <a:ext uri="{FF2B5EF4-FFF2-40B4-BE49-F238E27FC236}">
                      <a16:creationId xmlns:a16="http://schemas.microsoft.com/office/drawing/2014/main" id="{7DDC50A6-B404-9543-489A-1EF47C1534CC}"/>
                    </a:ext>
                  </a:extLst>
                </p:cNvPr>
                <p:cNvSpPr>
                  <a:spLocks/>
                </p:cNvSpPr>
                <p:nvPr/>
              </p:nvSpPr>
              <p:spPr bwMode="auto">
                <a:xfrm>
                  <a:off x="450" y="601"/>
                  <a:ext cx="65" cy="107"/>
                </a:xfrm>
                <a:custGeom>
                  <a:avLst/>
                  <a:gdLst>
                    <a:gd name="T0" fmla="*/ 6 w 44"/>
                    <a:gd name="T1" fmla="*/ 72 h 72"/>
                    <a:gd name="T2" fmla="*/ 0 w 44"/>
                    <a:gd name="T3" fmla="*/ 66 h 72"/>
                    <a:gd name="T4" fmla="*/ 0 w 44"/>
                    <a:gd name="T5" fmla="*/ 6 h 72"/>
                    <a:gd name="T6" fmla="*/ 6 w 44"/>
                    <a:gd name="T7" fmla="*/ 0 h 72"/>
                    <a:gd name="T8" fmla="*/ 38 w 44"/>
                    <a:gd name="T9" fmla="*/ 0 h 72"/>
                    <a:gd name="T10" fmla="*/ 44 w 44"/>
                    <a:gd name="T11" fmla="*/ 6 h 72"/>
                    <a:gd name="T12" fmla="*/ 38 w 44"/>
                    <a:gd name="T13" fmla="*/ 12 h 72"/>
                    <a:gd name="T14" fmla="*/ 12 w 44"/>
                    <a:gd name="T15" fmla="*/ 12 h 72"/>
                    <a:gd name="T16" fmla="*/ 12 w 44"/>
                    <a:gd name="T17" fmla="*/ 66 h 72"/>
                    <a:gd name="T18" fmla="*/ 6 w 44"/>
                    <a:gd name="T19"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2">
                      <a:moveTo>
                        <a:pt x="6" y="72"/>
                      </a:moveTo>
                      <a:cubicBezTo>
                        <a:pt x="3" y="72"/>
                        <a:pt x="0" y="70"/>
                        <a:pt x="0" y="66"/>
                      </a:cubicBezTo>
                      <a:cubicBezTo>
                        <a:pt x="0" y="6"/>
                        <a:pt x="0" y="6"/>
                        <a:pt x="0" y="6"/>
                      </a:cubicBezTo>
                      <a:cubicBezTo>
                        <a:pt x="0" y="3"/>
                        <a:pt x="3" y="0"/>
                        <a:pt x="6" y="0"/>
                      </a:cubicBezTo>
                      <a:cubicBezTo>
                        <a:pt x="38" y="0"/>
                        <a:pt x="38" y="0"/>
                        <a:pt x="38" y="0"/>
                      </a:cubicBezTo>
                      <a:cubicBezTo>
                        <a:pt x="41" y="0"/>
                        <a:pt x="44" y="3"/>
                        <a:pt x="44" y="6"/>
                      </a:cubicBezTo>
                      <a:cubicBezTo>
                        <a:pt x="44" y="10"/>
                        <a:pt x="41" y="12"/>
                        <a:pt x="38" y="12"/>
                      </a:cubicBezTo>
                      <a:cubicBezTo>
                        <a:pt x="12" y="12"/>
                        <a:pt x="12" y="12"/>
                        <a:pt x="12" y="12"/>
                      </a:cubicBezTo>
                      <a:cubicBezTo>
                        <a:pt x="12" y="66"/>
                        <a:pt x="12" y="66"/>
                        <a:pt x="12" y="66"/>
                      </a:cubicBezTo>
                      <a:cubicBezTo>
                        <a:pt x="12" y="70"/>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75" name="Freeform 39">
                  <a:extLst>
                    <a:ext uri="{FF2B5EF4-FFF2-40B4-BE49-F238E27FC236}">
                      <a16:creationId xmlns:a16="http://schemas.microsoft.com/office/drawing/2014/main" id="{9C00820A-0A34-C357-E4FB-9E890142B146}"/>
                    </a:ext>
                  </a:extLst>
                </p:cNvPr>
                <p:cNvSpPr>
                  <a:spLocks/>
                </p:cNvSpPr>
                <p:nvPr/>
              </p:nvSpPr>
              <p:spPr bwMode="auto">
                <a:xfrm>
                  <a:off x="459" y="655"/>
                  <a:ext cx="44" cy="17"/>
                </a:xfrm>
                <a:custGeom>
                  <a:avLst/>
                  <a:gdLst>
                    <a:gd name="T0" fmla="*/ 24 w 30"/>
                    <a:gd name="T1" fmla="*/ 12 h 12"/>
                    <a:gd name="T2" fmla="*/ 6 w 30"/>
                    <a:gd name="T3" fmla="*/ 12 h 12"/>
                    <a:gd name="T4" fmla="*/ 0 w 30"/>
                    <a:gd name="T5" fmla="*/ 6 h 12"/>
                    <a:gd name="T6" fmla="*/ 6 w 30"/>
                    <a:gd name="T7" fmla="*/ 0 h 12"/>
                    <a:gd name="T8" fmla="*/ 24 w 30"/>
                    <a:gd name="T9" fmla="*/ 0 h 12"/>
                    <a:gd name="T10" fmla="*/ 30 w 30"/>
                    <a:gd name="T11" fmla="*/ 6 h 12"/>
                    <a:gd name="T12" fmla="*/ 24 w 3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0" h="12">
                      <a:moveTo>
                        <a:pt x="24" y="12"/>
                      </a:moveTo>
                      <a:cubicBezTo>
                        <a:pt x="6" y="12"/>
                        <a:pt x="6" y="12"/>
                        <a:pt x="6" y="12"/>
                      </a:cubicBezTo>
                      <a:cubicBezTo>
                        <a:pt x="3" y="12"/>
                        <a:pt x="0" y="10"/>
                        <a:pt x="0" y="6"/>
                      </a:cubicBezTo>
                      <a:cubicBezTo>
                        <a:pt x="0" y="3"/>
                        <a:pt x="3" y="0"/>
                        <a:pt x="6" y="0"/>
                      </a:cubicBezTo>
                      <a:cubicBezTo>
                        <a:pt x="24" y="0"/>
                        <a:pt x="24" y="0"/>
                        <a:pt x="24" y="0"/>
                      </a:cubicBezTo>
                      <a:cubicBezTo>
                        <a:pt x="28" y="0"/>
                        <a:pt x="30" y="3"/>
                        <a:pt x="30" y="6"/>
                      </a:cubicBezTo>
                      <a:cubicBezTo>
                        <a:pt x="30" y="10"/>
                        <a:pt x="28"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76" name="Freeform 40">
                  <a:extLst>
                    <a:ext uri="{FF2B5EF4-FFF2-40B4-BE49-F238E27FC236}">
                      <a16:creationId xmlns:a16="http://schemas.microsoft.com/office/drawing/2014/main" id="{E7B47647-F7A6-C015-20AF-065B99727FFB}"/>
                    </a:ext>
                  </a:extLst>
                </p:cNvPr>
                <p:cNvSpPr>
                  <a:spLocks noEditPoints="1"/>
                </p:cNvSpPr>
                <p:nvPr/>
              </p:nvSpPr>
              <p:spPr bwMode="auto">
                <a:xfrm>
                  <a:off x="610" y="601"/>
                  <a:ext cx="71" cy="107"/>
                </a:xfrm>
                <a:custGeom>
                  <a:avLst/>
                  <a:gdLst>
                    <a:gd name="T0" fmla="*/ 6 w 48"/>
                    <a:gd name="T1" fmla="*/ 72 h 72"/>
                    <a:gd name="T2" fmla="*/ 0 w 48"/>
                    <a:gd name="T3" fmla="*/ 66 h 72"/>
                    <a:gd name="T4" fmla="*/ 0 w 48"/>
                    <a:gd name="T5" fmla="*/ 6 h 72"/>
                    <a:gd name="T6" fmla="*/ 6 w 48"/>
                    <a:gd name="T7" fmla="*/ 0 h 72"/>
                    <a:gd name="T8" fmla="*/ 23 w 48"/>
                    <a:gd name="T9" fmla="*/ 0 h 72"/>
                    <a:gd name="T10" fmla="*/ 48 w 48"/>
                    <a:gd name="T11" fmla="*/ 24 h 72"/>
                    <a:gd name="T12" fmla="*/ 24 w 48"/>
                    <a:gd name="T13" fmla="*/ 48 h 72"/>
                    <a:gd name="T14" fmla="*/ 12 w 48"/>
                    <a:gd name="T15" fmla="*/ 48 h 72"/>
                    <a:gd name="T16" fmla="*/ 12 w 48"/>
                    <a:gd name="T17" fmla="*/ 66 h 72"/>
                    <a:gd name="T18" fmla="*/ 6 w 48"/>
                    <a:gd name="T19" fmla="*/ 72 h 72"/>
                    <a:gd name="T20" fmla="*/ 12 w 48"/>
                    <a:gd name="T21" fmla="*/ 36 h 72"/>
                    <a:gd name="T22" fmla="*/ 24 w 48"/>
                    <a:gd name="T23" fmla="*/ 36 h 72"/>
                    <a:gd name="T24" fmla="*/ 36 w 48"/>
                    <a:gd name="T25" fmla="*/ 24 h 72"/>
                    <a:gd name="T26" fmla="*/ 23 w 48"/>
                    <a:gd name="T27" fmla="*/ 12 h 72"/>
                    <a:gd name="T28" fmla="*/ 12 w 48"/>
                    <a:gd name="T29" fmla="*/ 12 h 72"/>
                    <a:gd name="T30" fmla="*/ 12 w 48"/>
                    <a:gd name="T31"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 h="72">
                      <a:moveTo>
                        <a:pt x="6" y="72"/>
                      </a:moveTo>
                      <a:cubicBezTo>
                        <a:pt x="3" y="72"/>
                        <a:pt x="0" y="70"/>
                        <a:pt x="0" y="66"/>
                      </a:cubicBezTo>
                      <a:cubicBezTo>
                        <a:pt x="0" y="6"/>
                        <a:pt x="0" y="6"/>
                        <a:pt x="0" y="6"/>
                      </a:cubicBezTo>
                      <a:cubicBezTo>
                        <a:pt x="0" y="3"/>
                        <a:pt x="3" y="0"/>
                        <a:pt x="6" y="0"/>
                      </a:cubicBezTo>
                      <a:cubicBezTo>
                        <a:pt x="23" y="0"/>
                        <a:pt x="23" y="0"/>
                        <a:pt x="23" y="0"/>
                      </a:cubicBezTo>
                      <a:cubicBezTo>
                        <a:pt x="40" y="0"/>
                        <a:pt x="48" y="12"/>
                        <a:pt x="48" y="24"/>
                      </a:cubicBezTo>
                      <a:cubicBezTo>
                        <a:pt x="48" y="36"/>
                        <a:pt x="40" y="48"/>
                        <a:pt x="24" y="48"/>
                      </a:cubicBezTo>
                      <a:cubicBezTo>
                        <a:pt x="12" y="48"/>
                        <a:pt x="12" y="48"/>
                        <a:pt x="12" y="48"/>
                      </a:cubicBezTo>
                      <a:cubicBezTo>
                        <a:pt x="12" y="66"/>
                        <a:pt x="12" y="66"/>
                        <a:pt x="12" y="66"/>
                      </a:cubicBezTo>
                      <a:cubicBezTo>
                        <a:pt x="12" y="70"/>
                        <a:pt x="10" y="72"/>
                        <a:pt x="6" y="72"/>
                      </a:cubicBezTo>
                      <a:close/>
                      <a:moveTo>
                        <a:pt x="12" y="36"/>
                      </a:moveTo>
                      <a:cubicBezTo>
                        <a:pt x="24" y="36"/>
                        <a:pt x="24" y="36"/>
                        <a:pt x="24" y="36"/>
                      </a:cubicBezTo>
                      <a:cubicBezTo>
                        <a:pt x="33" y="36"/>
                        <a:pt x="36" y="29"/>
                        <a:pt x="36" y="24"/>
                      </a:cubicBezTo>
                      <a:cubicBezTo>
                        <a:pt x="36" y="20"/>
                        <a:pt x="34" y="12"/>
                        <a:pt x="23"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77" name="Freeform 41">
                  <a:extLst>
                    <a:ext uri="{FF2B5EF4-FFF2-40B4-BE49-F238E27FC236}">
                      <a16:creationId xmlns:a16="http://schemas.microsoft.com/office/drawing/2014/main" id="{C22CCDFE-7154-A96B-81CE-366114C7B3EB}"/>
                    </a:ext>
                  </a:extLst>
                </p:cNvPr>
                <p:cNvSpPr>
                  <a:spLocks/>
                </p:cNvSpPr>
                <p:nvPr/>
              </p:nvSpPr>
              <p:spPr bwMode="auto">
                <a:xfrm>
                  <a:off x="557" y="601"/>
                  <a:ext cx="18" cy="107"/>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70"/>
                        <a:pt x="0" y="66"/>
                      </a:cubicBezTo>
                      <a:cubicBezTo>
                        <a:pt x="0" y="6"/>
                        <a:pt x="0" y="6"/>
                        <a:pt x="0" y="6"/>
                      </a:cubicBezTo>
                      <a:cubicBezTo>
                        <a:pt x="0" y="3"/>
                        <a:pt x="3" y="0"/>
                        <a:pt x="6" y="0"/>
                      </a:cubicBezTo>
                      <a:cubicBezTo>
                        <a:pt x="10" y="0"/>
                        <a:pt x="12" y="3"/>
                        <a:pt x="12" y="6"/>
                      </a:cubicBezTo>
                      <a:cubicBezTo>
                        <a:pt x="12" y="66"/>
                        <a:pt x="12" y="66"/>
                        <a:pt x="12" y="66"/>
                      </a:cubicBezTo>
                      <a:cubicBezTo>
                        <a:pt x="12" y="70"/>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78" name="Freeform 42">
                  <a:extLst>
                    <a:ext uri="{FF2B5EF4-FFF2-40B4-BE49-F238E27FC236}">
                      <a16:creationId xmlns:a16="http://schemas.microsoft.com/office/drawing/2014/main" id="{13032737-3915-3E35-DF1C-A85E160B2B11}"/>
                    </a:ext>
                  </a:extLst>
                </p:cNvPr>
                <p:cNvSpPr>
                  <a:spLocks/>
                </p:cNvSpPr>
                <p:nvPr/>
              </p:nvSpPr>
              <p:spPr bwMode="auto">
                <a:xfrm>
                  <a:off x="530" y="601"/>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6" y="0"/>
                        <a:pt x="48" y="3"/>
                        <a:pt x="48" y="6"/>
                      </a:cubicBezTo>
                      <a:cubicBezTo>
                        <a:pt x="48" y="10"/>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55" name="Group 161">
                <a:extLst>
                  <a:ext uri="{FF2B5EF4-FFF2-40B4-BE49-F238E27FC236}">
                    <a16:creationId xmlns:a16="http://schemas.microsoft.com/office/drawing/2014/main" id="{05D3C55E-3A4C-FDC9-C257-4B89CBBCF90B}"/>
                  </a:ext>
                </a:extLst>
              </p:cNvPr>
              <p:cNvGrpSpPr>
                <a:grpSpLocks noChangeAspect="1"/>
              </p:cNvGrpSpPr>
              <p:nvPr/>
            </p:nvGrpSpPr>
            <p:grpSpPr bwMode="auto">
              <a:xfrm>
                <a:off x="2399208" y="3234832"/>
                <a:ext cx="320974" cy="335958"/>
                <a:chOff x="6550" y="2997"/>
                <a:chExt cx="407" cy="426"/>
              </a:xfrm>
              <a:solidFill>
                <a:schemeClr val="tx1"/>
              </a:solidFill>
            </p:grpSpPr>
            <p:sp>
              <p:nvSpPr>
                <p:cNvPr id="159" name="Freeform 162">
                  <a:extLst>
                    <a:ext uri="{FF2B5EF4-FFF2-40B4-BE49-F238E27FC236}">
                      <a16:creationId xmlns:a16="http://schemas.microsoft.com/office/drawing/2014/main" id="{27903A1B-C3FC-65F6-6F8B-753CFE7C144D}"/>
                    </a:ext>
                  </a:extLst>
                </p:cNvPr>
                <p:cNvSpPr>
                  <a:spLocks noEditPoints="1"/>
                </p:cNvSpPr>
                <p:nvPr/>
              </p:nvSpPr>
              <p:spPr bwMode="auto">
                <a:xfrm>
                  <a:off x="6708" y="2997"/>
                  <a:ext cx="249" cy="426"/>
                </a:xfrm>
                <a:custGeom>
                  <a:avLst/>
                  <a:gdLst>
                    <a:gd name="T0" fmla="*/ 138 w 168"/>
                    <a:gd name="T1" fmla="*/ 288 h 288"/>
                    <a:gd name="T2" fmla="*/ 30 w 168"/>
                    <a:gd name="T3" fmla="*/ 288 h 288"/>
                    <a:gd name="T4" fmla="*/ 0 w 168"/>
                    <a:gd name="T5" fmla="*/ 258 h 288"/>
                    <a:gd name="T6" fmla="*/ 0 w 168"/>
                    <a:gd name="T7" fmla="*/ 30 h 288"/>
                    <a:gd name="T8" fmla="*/ 30 w 168"/>
                    <a:gd name="T9" fmla="*/ 0 h 288"/>
                    <a:gd name="T10" fmla="*/ 138 w 168"/>
                    <a:gd name="T11" fmla="*/ 0 h 288"/>
                    <a:gd name="T12" fmla="*/ 168 w 168"/>
                    <a:gd name="T13" fmla="*/ 30 h 288"/>
                    <a:gd name="T14" fmla="*/ 168 w 168"/>
                    <a:gd name="T15" fmla="*/ 258 h 288"/>
                    <a:gd name="T16" fmla="*/ 138 w 168"/>
                    <a:gd name="T17" fmla="*/ 288 h 288"/>
                    <a:gd name="T18" fmla="*/ 30 w 168"/>
                    <a:gd name="T19" fmla="*/ 12 h 288"/>
                    <a:gd name="T20" fmla="*/ 12 w 168"/>
                    <a:gd name="T21" fmla="*/ 30 h 288"/>
                    <a:gd name="T22" fmla="*/ 12 w 168"/>
                    <a:gd name="T23" fmla="*/ 258 h 288"/>
                    <a:gd name="T24" fmla="*/ 30 w 168"/>
                    <a:gd name="T25" fmla="*/ 276 h 288"/>
                    <a:gd name="T26" fmla="*/ 138 w 168"/>
                    <a:gd name="T27" fmla="*/ 276 h 288"/>
                    <a:gd name="T28" fmla="*/ 156 w 168"/>
                    <a:gd name="T29" fmla="*/ 258 h 288"/>
                    <a:gd name="T30" fmla="*/ 156 w 168"/>
                    <a:gd name="T31" fmla="*/ 30 h 288"/>
                    <a:gd name="T32" fmla="*/ 138 w 168"/>
                    <a:gd name="T33" fmla="*/ 12 h 288"/>
                    <a:gd name="T34" fmla="*/ 30 w 168"/>
                    <a:gd name="T35"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8" h="288">
                      <a:moveTo>
                        <a:pt x="138" y="288"/>
                      </a:moveTo>
                      <a:cubicBezTo>
                        <a:pt x="30" y="288"/>
                        <a:pt x="30" y="288"/>
                        <a:pt x="30" y="288"/>
                      </a:cubicBezTo>
                      <a:cubicBezTo>
                        <a:pt x="13" y="288"/>
                        <a:pt x="0" y="275"/>
                        <a:pt x="0" y="258"/>
                      </a:cubicBezTo>
                      <a:cubicBezTo>
                        <a:pt x="0" y="30"/>
                        <a:pt x="0" y="30"/>
                        <a:pt x="0" y="30"/>
                      </a:cubicBezTo>
                      <a:cubicBezTo>
                        <a:pt x="0" y="14"/>
                        <a:pt x="13" y="0"/>
                        <a:pt x="30" y="0"/>
                      </a:cubicBezTo>
                      <a:cubicBezTo>
                        <a:pt x="138" y="0"/>
                        <a:pt x="138" y="0"/>
                        <a:pt x="138" y="0"/>
                      </a:cubicBezTo>
                      <a:cubicBezTo>
                        <a:pt x="154" y="0"/>
                        <a:pt x="168" y="14"/>
                        <a:pt x="168" y="30"/>
                      </a:cubicBezTo>
                      <a:cubicBezTo>
                        <a:pt x="168" y="258"/>
                        <a:pt x="168" y="258"/>
                        <a:pt x="168" y="258"/>
                      </a:cubicBezTo>
                      <a:cubicBezTo>
                        <a:pt x="168" y="275"/>
                        <a:pt x="154" y="288"/>
                        <a:pt x="138" y="288"/>
                      </a:cubicBezTo>
                      <a:close/>
                      <a:moveTo>
                        <a:pt x="30" y="12"/>
                      </a:moveTo>
                      <a:cubicBezTo>
                        <a:pt x="20" y="12"/>
                        <a:pt x="12" y="20"/>
                        <a:pt x="12" y="30"/>
                      </a:cubicBezTo>
                      <a:cubicBezTo>
                        <a:pt x="12" y="258"/>
                        <a:pt x="12" y="258"/>
                        <a:pt x="12" y="258"/>
                      </a:cubicBezTo>
                      <a:cubicBezTo>
                        <a:pt x="12" y="268"/>
                        <a:pt x="20" y="276"/>
                        <a:pt x="30" y="276"/>
                      </a:cubicBezTo>
                      <a:cubicBezTo>
                        <a:pt x="138" y="276"/>
                        <a:pt x="138" y="276"/>
                        <a:pt x="138" y="276"/>
                      </a:cubicBezTo>
                      <a:cubicBezTo>
                        <a:pt x="148" y="276"/>
                        <a:pt x="156" y="268"/>
                        <a:pt x="156" y="258"/>
                      </a:cubicBezTo>
                      <a:cubicBezTo>
                        <a:pt x="156" y="30"/>
                        <a:pt x="156" y="30"/>
                        <a:pt x="156" y="30"/>
                      </a:cubicBezTo>
                      <a:cubicBezTo>
                        <a:pt x="156" y="20"/>
                        <a:pt x="148" y="12"/>
                        <a:pt x="138"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60" name="Freeform 163">
                  <a:extLst>
                    <a:ext uri="{FF2B5EF4-FFF2-40B4-BE49-F238E27FC236}">
                      <a16:creationId xmlns:a16="http://schemas.microsoft.com/office/drawing/2014/main" id="{080D1ADA-1716-66E8-9418-CAB922995E9B}"/>
                    </a:ext>
                  </a:extLst>
                </p:cNvPr>
                <p:cNvSpPr>
                  <a:spLocks/>
                </p:cNvSpPr>
                <p:nvPr/>
              </p:nvSpPr>
              <p:spPr bwMode="auto">
                <a:xfrm>
                  <a:off x="6708" y="3068"/>
                  <a:ext cx="249" cy="18"/>
                </a:xfrm>
                <a:custGeom>
                  <a:avLst/>
                  <a:gdLst>
                    <a:gd name="T0" fmla="*/ 162 w 168"/>
                    <a:gd name="T1" fmla="*/ 12 h 12"/>
                    <a:gd name="T2" fmla="*/ 6 w 168"/>
                    <a:gd name="T3" fmla="*/ 12 h 12"/>
                    <a:gd name="T4" fmla="*/ 0 w 168"/>
                    <a:gd name="T5" fmla="*/ 6 h 12"/>
                    <a:gd name="T6" fmla="*/ 6 w 168"/>
                    <a:gd name="T7" fmla="*/ 0 h 12"/>
                    <a:gd name="T8" fmla="*/ 162 w 168"/>
                    <a:gd name="T9" fmla="*/ 0 h 12"/>
                    <a:gd name="T10" fmla="*/ 168 w 168"/>
                    <a:gd name="T11" fmla="*/ 6 h 12"/>
                    <a:gd name="T12" fmla="*/ 162 w 16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68" h="12">
                      <a:moveTo>
                        <a:pt x="162" y="12"/>
                      </a:moveTo>
                      <a:cubicBezTo>
                        <a:pt x="6" y="12"/>
                        <a:pt x="6" y="12"/>
                        <a:pt x="6" y="12"/>
                      </a:cubicBezTo>
                      <a:cubicBezTo>
                        <a:pt x="3" y="12"/>
                        <a:pt x="0" y="10"/>
                        <a:pt x="0" y="6"/>
                      </a:cubicBezTo>
                      <a:cubicBezTo>
                        <a:pt x="0" y="3"/>
                        <a:pt x="3" y="0"/>
                        <a:pt x="6" y="0"/>
                      </a:cubicBezTo>
                      <a:cubicBezTo>
                        <a:pt x="162" y="0"/>
                        <a:pt x="162" y="0"/>
                        <a:pt x="162" y="0"/>
                      </a:cubicBezTo>
                      <a:cubicBezTo>
                        <a:pt x="165" y="0"/>
                        <a:pt x="168" y="3"/>
                        <a:pt x="168" y="6"/>
                      </a:cubicBezTo>
                      <a:cubicBezTo>
                        <a:pt x="168" y="10"/>
                        <a:pt x="165" y="12"/>
                        <a:pt x="16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61" name="Freeform 164">
                  <a:extLst>
                    <a:ext uri="{FF2B5EF4-FFF2-40B4-BE49-F238E27FC236}">
                      <a16:creationId xmlns:a16="http://schemas.microsoft.com/office/drawing/2014/main" id="{871DEB9F-EADA-BFCB-7162-52A50B80D428}"/>
                    </a:ext>
                  </a:extLst>
                </p:cNvPr>
                <p:cNvSpPr>
                  <a:spLocks/>
                </p:cNvSpPr>
                <p:nvPr/>
              </p:nvSpPr>
              <p:spPr bwMode="auto">
                <a:xfrm>
                  <a:off x="6708" y="3334"/>
                  <a:ext cx="249" cy="18"/>
                </a:xfrm>
                <a:custGeom>
                  <a:avLst/>
                  <a:gdLst>
                    <a:gd name="T0" fmla="*/ 162 w 168"/>
                    <a:gd name="T1" fmla="*/ 12 h 12"/>
                    <a:gd name="T2" fmla="*/ 6 w 168"/>
                    <a:gd name="T3" fmla="*/ 12 h 12"/>
                    <a:gd name="T4" fmla="*/ 0 w 168"/>
                    <a:gd name="T5" fmla="*/ 6 h 12"/>
                    <a:gd name="T6" fmla="*/ 6 w 168"/>
                    <a:gd name="T7" fmla="*/ 0 h 12"/>
                    <a:gd name="T8" fmla="*/ 162 w 168"/>
                    <a:gd name="T9" fmla="*/ 0 h 12"/>
                    <a:gd name="T10" fmla="*/ 168 w 168"/>
                    <a:gd name="T11" fmla="*/ 6 h 12"/>
                    <a:gd name="T12" fmla="*/ 162 w 16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68" h="12">
                      <a:moveTo>
                        <a:pt x="162" y="12"/>
                      </a:moveTo>
                      <a:cubicBezTo>
                        <a:pt x="6" y="12"/>
                        <a:pt x="6" y="12"/>
                        <a:pt x="6" y="12"/>
                      </a:cubicBezTo>
                      <a:cubicBezTo>
                        <a:pt x="3" y="12"/>
                        <a:pt x="0" y="10"/>
                        <a:pt x="0" y="6"/>
                      </a:cubicBezTo>
                      <a:cubicBezTo>
                        <a:pt x="0" y="3"/>
                        <a:pt x="3" y="0"/>
                        <a:pt x="6" y="0"/>
                      </a:cubicBezTo>
                      <a:cubicBezTo>
                        <a:pt x="162" y="0"/>
                        <a:pt x="162" y="0"/>
                        <a:pt x="162" y="0"/>
                      </a:cubicBezTo>
                      <a:cubicBezTo>
                        <a:pt x="165" y="0"/>
                        <a:pt x="168" y="3"/>
                        <a:pt x="168" y="6"/>
                      </a:cubicBezTo>
                      <a:cubicBezTo>
                        <a:pt x="168" y="10"/>
                        <a:pt x="165" y="12"/>
                        <a:pt x="16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62" name="Freeform 165">
                  <a:extLst>
                    <a:ext uri="{FF2B5EF4-FFF2-40B4-BE49-F238E27FC236}">
                      <a16:creationId xmlns:a16="http://schemas.microsoft.com/office/drawing/2014/main" id="{5E7894D5-655F-4A8C-CD27-A068D196E417}"/>
                    </a:ext>
                  </a:extLst>
                </p:cNvPr>
                <p:cNvSpPr>
                  <a:spLocks/>
                </p:cNvSpPr>
                <p:nvPr/>
              </p:nvSpPr>
              <p:spPr bwMode="auto">
                <a:xfrm>
                  <a:off x="6779" y="3032"/>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63" name="Oval 166">
                  <a:extLst>
                    <a:ext uri="{FF2B5EF4-FFF2-40B4-BE49-F238E27FC236}">
                      <a16:creationId xmlns:a16="http://schemas.microsoft.com/office/drawing/2014/main" id="{5B26CF9C-FBDE-5B88-F9EC-403A31F7F878}"/>
                    </a:ext>
                  </a:extLst>
                </p:cNvPr>
                <p:cNvSpPr>
                  <a:spLocks noChangeArrowheads="1"/>
                </p:cNvSpPr>
                <p:nvPr/>
              </p:nvSpPr>
              <p:spPr bwMode="auto">
                <a:xfrm>
                  <a:off x="6815" y="3361"/>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64" name="Freeform 167">
                  <a:extLst>
                    <a:ext uri="{FF2B5EF4-FFF2-40B4-BE49-F238E27FC236}">
                      <a16:creationId xmlns:a16="http://schemas.microsoft.com/office/drawing/2014/main" id="{AAB06974-9149-35F5-F827-C685385C9612}"/>
                    </a:ext>
                  </a:extLst>
                </p:cNvPr>
                <p:cNvSpPr>
                  <a:spLocks/>
                </p:cNvSpPr>
                <p:nvPr/>
              </p:nvSpPr>
              <p:spPr bwMode="auto">
                <a:xfrm>
                  <a:off x="6616" y="3053"/>
                  <a:ext cx="95" cy="314"/>
                </a:xfrm>
                <a:custGeom>
                  <a:avLst/>
                  <a:gdLst>
                    <a:gd name="T0" fmla="*/ 54 w 64"/>
                    <a:gd name="T1" fmla="*/ 212 h 212"/>
                    <a:gd name="T2" fmla="*/ 55 w 64"/>
                    <a:gd name="T3" fmla="*/ 0 h 212"/>
                    <a:gd name="T4" fmla="*/ 63 w 64"/>
                    <a:gd name="T5" fmla="*/ 8 h 212"/>
                    <a:gd name="T6" fmla="*/ 64 w 64"/>
                    <a:gd name="T7" fmla="*/ 204 h 212"/>
                    <a:gd name="T8" fmla="*/ 54 w 64"/>
                    <a:gd name="T9" fmla="*/ 212 h 212"/>
                  </a:gdLst>
                  <a:ahLst/>
                  <a:cxnLst>
                    <a:cxn ang="0">
                      <a:pos x="T0" y="T1"/>
                    </a:cxn>
                    <a:cxn ang="0">
                      <a:pos x="T2" y="T3"/>
                    </a:cxn>
                    <a:cxn ang="0">
                      <a:pos x="T4" y="T5"/>
                    </a:cxn>
                    <a:cxn ang="0">
                      <a:pos x="T6" y="T7"/>
                    </a:cxn>
                    <a:cxn ang="0">
                      <a:pos x="T8" y="T9"/>
                    </a:cxn>
                  </a:cxnLst>
                  <a:rect l="0" t="0" r="r" b="b"/>
                  <a:pathLst>
                    <a:path w="64" h="212">
                      <a:moveTo>
                        <a:pt x="54" y="212"/>
                      </a:moveTo>
                      <a:cubicBezTo>
                        <a:pt x="0" y="139"/>
                        <a:pt x="0" y="60"/>
                        <a:pt x="55" y="0"/>
                      </a:cubicBezTo>
                      <a:cubicBezTo>
                        <a:pt x="63" y="8"/>
                        <a:pt x="63" y="8"/>
                        <a:pt x="63" y="8"/>
                      </a:cubicBezTo>
                      <a:cubicBezTo>
                        <a:pt x="12" y="64"/>
                        <a:pt x="12" y="136"/>
                        <a:pt x="64" y="204"/>
                      </a:cubicBezTo>
                      <a:lnTo>
                        <a:pt x="54" y="2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65" name="Rectangle 168">
                  <a:extLst>
                    <a:ext uri="{FF2B5EF4-FFF2-40B4-BE49-F238E27FC236}">
                      <a16:creationId xmlns:a16="http://schemas.microsoft.com/office/drawing/2014/main" id="{5B92A378-91A8-B0D2-7D69-C9785254C210}"/>
                    </a:ext>
                  </a:extLst>
                </p:cNvPr>
                <p:cNvSpPr>
                  <a:spLocks noChangeArrowheads="1"/>
                </p:cNvSpPr>
                <p:nvPr/>
              </p:nvSpPr>
              <p:spPr bwMode="auto">
                <a:xfrm>
                  <a:off x="6573" y="3263"/>
                  <a:ext cx="14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66" name="Rectangle 169">
                  <a:extLst>
                    <a:ext uri="{FF2B5EF4-FFF2-40B4-BE49-F238E27FC236}">
                      <a16:creationId xmlns:a16="http://schemas.microsoft.com/office/drawing/2014/main" id="{AAB03609-CBC9-CFF3-3704-4126AEB1199A}"/>
                    </a:ext>
                  </a:extLst>
                </p:cNvPr>
                <p:cNvSpPr>
                  <a:spLocks noChangeArrowheads="1"/>
                </p:cNvSpPr>
                <p:nvPr/>
              </p:nvSpPr>
              <p:spPr bwMode="auto">
                <a:xfrm>
                  <a:off x="6581" y="3121"/>
                  <a:ext cx="13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67" name="Rectangle 170">
                  <a:extLst>
                    <a:ext uri="{FF2B5EF4-FFF2-40B4-BE49-F238E27FC236}">
                      <a16:creationId xmlns:a16="http://schemas.microsoft.com/office/drawing/2014/main" id="{4C799BC9-F096-74F5-95FF-119E51A8FAB7}"/>
                    </a:ext>
                  </a:extLst>
                </p:cNvPr>
                <p:cNvSpPr>
                  <a:spLocks noChangeArrowheads="1"/>
                </p:cNvSpPr>
                <p:nvPr/>
              </p:nvSpPr>
              <p:spPr bwMode="auto">
                <a:xfrm>
                  <a:off x="6559" y="3192"/>
                  <a:ext cx="15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68" name="Freeform 171">
                  <a:extLst>
                    <a:ext uri="{FF2B5EF4-FFF2-40B4-BE49-F238E27FC236}">
                      <a16:creationId xmlns:a16="http://schemas.microsoft.com/office/drawing/2014/main" id="{CDF0943A-B93B-77E3-BFEB-8392909B9566}"/>
                    </a:ext>
                  </a:extLst>
                </p:cNvPr>
                <p:cNvSpPr>
                  <a:spLocks noEditPoints="1"/>
                </p:cNvSpPr>
                <p:nvPr/>
              </p:nvSpPr>
              <p:spPr bwMode="auto">
                <a:xfrm>
                  <a:off x="6550" y="3050"/>
                  <a:ext cx="176" cy="320"/>
                </a:xfrm>
                <a:custGeom>
                  <a:avLst/>
                  <a:gdLst>
                    <a:gd name="T0" fmla="*/ 108 w 119"/>
                    <a:gd name="T1" fmla="*/ 216 h 216"/>
                    <a:gd name="T2" fmla="*/ 0 w 119"/>
                    <a:gd name="T3" fmla="*/ 106 h 216"/>
                    <a:gd name="T4" fmla="*/ 108 w 119"/>
                    <a:gd name="T5" fmla="*/ 0 h 216"/>
                    <a:gd name="T6" fmla="*/ 111 w 119"/>
                    <a:gd name="T7" fmla="*/ 0 h 216"/>
                    <a:gd name="T8" fmla="*/ 113 w 119"/>
                    <a:gd name="T9" fmla="*/ 0 h 216"/>
                    <a:gd name="T10" fmla="*/ 119 w 119"/>
                    <a:gd name="T11" fmla="*/ 6 h 216"/>
                    <a:gd name="T12" fmla="*/ 119 w 119"/>
                    <a:gd name="T13" fmla="*/ 210 h 216"/>
                    <a:gd name="T14" fmla="*/ 113 w 119"/>
                    <a:gd name="T15" fmla="*/ 216 h 216"/>
                    <a:gd name="T16" fmla="*/ 112 w 119"/>
                    <a:gd name="T17" fmla="*/ 216 h 216"/>
                    <a:gd name="T18" fmla="*/ 108 w 119"/>
                    <a:gd name="T19" fmla="*/ 216 h 216"/>
                    <a:gd name="T20" fmla="*/ 107 w 119"/>
                    <a:gd name="T21" fmla="*/ 12 h 216"/>
                    <a:gd name="T22" fmla="*/ 12 w 119"/>
                    <a:gd name="T23" fmla="*/ 106 h 216"/>
                    <a:gd name="T24" fmla="*/ 107 w 119"/>
                    <a:gd name="T25" fmla="*/ 204 h 216"/>
                    <a:gd name="T26" fmla="*/ 107 w 119"/>
                    <a:gd name="T27" fmla="*/ 1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16">
                      <a:moveTo>
                        <a:pt x="108" y="216"/>
                      </a:moveTo>
                      <a:cubicBezTo>
                        <a:pt x="49" y="216"/>
                        <a:pt x="0" y="167"/>
                        <a:pt x="0" y="106"/>
                      </a:cubicBezTo>
                      <a:cubicBezTo>
                        <a:pt x="0" y="47"/>
                        <a:pt x="48" y="0"/>
                        <a:pt x="108" y="0"/>
                      </a:cubicBezTo>
                      <a:cubicBezTo>
                        <a:pt x="109" y="0"/>
                        <a:pt x="110" y="0"/>
                        <a:pt x="111" y="0"/>
                      </a:cubicBezTo>
                      <a:cubicBezTo>
                        <a:pt x="112" y="0"/>
                        <a:pt x="113" y="0"/>
                        <a:pt x="113" y="0"/>
                      </a:cubicBezTo>
                      <a:cubicBezTo>
                        <a:pt x="116" y="1"/>
                        <a:pt x="119" y="3"/>
                        <a:pt x="119" y="6"/>
                      </a:cubicBezTo>
                      <a:cubicBezTo>
                        <a:pt x="119" y="210"/>
                        <a:pt x="119" y="210"/>
                        <a:pt x="119" y="210"/>
                      </a:cubicBezTo>
                      <a:cubicBezTo>
                        <a:pt x="119" y="213"/>
                        <a:pt x="116" y="216"/>
                        <a:pt x="113" y="216"/>
                      </a:cubicBezTo>
                      <a:cubicBezTo>
                        <a:pt x="112" y="216"/>
                        <a:pt x="112" y="216"/>
                        <a:pt x="112" y="216"/>
                      </a:cubicBezTo>
                      <a:cubicBezTo>
                        <a:pt x="110" y="216"/>
                        <a:pt x="109" y="216"/>
                        <a:pt x="108" y="216"/>
                      </a:cubicBezTo>
                      <a:close/>
                      <a:moveTo>
                        <a:pt x="107" y="12"/>
                      </a:moveTo>
                      <a:cubicBezTo>
                        <a:pt x="54" y="13"/>
                        <a:pt x="12" y="54"/>
                        <a:pt x="12" y="106"/>
                      </a:cubicBezTo>
                      <a:cubicBezTo>
                        <a:pt x="12" y="160"/>
                        <a:pt x="55" y="204"/>
                        <a:pt x="107" y="204"/>
                      </a:cubicBezTo>
                      <a:lnTo>
                        <a:pt x="107"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sp>
            <p:nvSpPr>
              <p:cNvPr id="56" name="Freeform 147">
                <a:extLst>
                  <a:ext uri="{FF2B5EF4-FFF2-40B4-BE49-F238E27FC236}">
                    <a16:creationId xmlns:a16="http://schemas.microsoft.com/office/drawing/2014/main" id="{937B3646-0050-5B74-4F21-E8A0FE746E03}"/>
                  </a:ext>
                </a:extLst>
              </p:cNvPr>
              <p:cNvSpPr>
                <a:spLocks noChangeAspect="1" noEditPoints="1"/>
              </p:cNvSpPr>
              <p:nvPr/>
            </p:nvSpPr>
            <p:spPr bwMode="auto">
              <a:xfrm>
                <a:off x="794388" y="5785655"/>
                <a:ext cx="448101" cy="281511"/>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nvGrpSpPr>
              <p:cNvPr id="57" name="Group 56">
                <a:extLst>
                  <a:ext uri="{FF2B5EF4-FFF2-40B4-BE49-F238E27FC236}">
                    <a16:creationId xmlns:a16="http://schemas.microsoft.com/office/drawing/2014/main" id="{F00DF645-815C-5B79-5CF7-0011488C5C9D}"/>
                  </a:ext>
                </a:extLst>
              </p:cNvPr>
              <p:cNvGrpSpPr>
                <a:grpSpLocks noChangeAspect="1"/>
              </p:cNvGrpSpPr>
              <p:nvPr/>
            </p:nvGrpSpPr>
            <p:grpSpPr>
              <a:xfrm>
                <a:off x="5339664" y="3961440"/>
                <a:ext cx="256891" cy="386311"/>
                <a:chOff x="7464425" y="4670426"/>
                <a:chExt cx="419100" cy="630238"/>
              </a:xfrm>
              <a:solidFill>
                <a:schemeClr val="tx1"/>
              </a:solidFill>
            </p:grpSpPr>
            <p:sp>
              <p:nvSpPr>
                <p:cNvPr id="157" name="Freeform 29">
                  <a:extLst>
                    <a:ext uri="{FF2B5EF4-FFF2-40B4-BE49-F238E27FC236}">
                      <a16:creationId xmlns:a16="http://schemas.microsoft.com/office/drawing/2014/main" id="{B2701404-F92D-2AAA-E8FA-D7A73C06B48C}"/>
                    </a:ext>
                  </a:extLst>
                </p:cNvPr>
                <p:cNvSpPr>
                  <a:spLocks noEditPoints="1"/>
                </p:cNvSpPr>
                <p:nvPr/>
              </p:nvSpPr>
              <p:spPr bwMode="auto">
                <a:xfrm>
                  <a:off x="7464425" y="4670426"/>
                  <a:ext cx="419100" cy="630238"/>
                </a:xfrm>
                <a:custGeom>
                  <a:avLst/>
                  <a:gdLst>
                    <a:gd name="T0" fmla="*/ 55 w 64"/>
                    <a:gd name="T1" fmla="*/ 20 h 96"/>
                    <a:gd name="T2" fmla="*/ 52 w 64"/>
                    <a:gd name="T3" fmla="*/ 14 h 96"/>
                    <a:gd name="T4" fmla="*/ 52 w 64"/>
                    <a:gd name="T5" fmla="*/ 2 h 96"/>
                    <a:gd name="T6" fmla="*/ 50 w 64"/>
                    <a:gd name="T7" fmla="*/ 0 h 96"/>
                    <a:gd name="T8" fmla="*/ 14 w 64"/>
                    <a:gd name="T9" fmla="*/ 0 h 96"/>
                    <a:gd name="T10" fmla="*/ 12 w 64"/>
                    <a:gd name="T11" fmla="*/ 2 h 96"/>
                    <a:gd name="T12" fmla="*/ 12 w 64"/>
                    <a:gd name="T13" fmla="*/ 14 h 96"/>
                    <a:gd name="T14" fmla="*/ 9 w 64"/>
                    <a:gd name="T15" fmla="*/ 20 h 96"/>
                    <a:gd name="T16" fmla="*/ 0 w 64"/>
                    <a:gd name="T17" fmla="*/ 30 h 96"/>
                    <a:gd name="T18" fmla="*/ 0 w 64"/>
                    <a:gd name="T19" fmla="*/ 66 h 96"/>
                    <a:gd name="T20" fmla="*/ 9 w 64"/>
                    <a:gd name="T21" fmla="*/ 76 h 96"/>
                    <a:gd name="T22" fmla="*/ 12 w 64"/>
                    <a:gd name="T23" fmla="*/ 82 h 96"/>
                    <a:gd name="T24" fmla="*/ 12 w 64"/>
                    <a:gd name="T25" fmla="*/ 94 h 96"/>
                    <a:gd name="T26" fmla="*/ 14 w 64"/>
                    <a:gd name="T27" fmla="*/ 96 h 96"/>
                    <a:gd name="T28" fmla="*/ 50 w 64"/>
                    <a:gd name="T29" fmla="*/ 96 h 96"/>
                    <a:gd name="T30" fmla="*/ 52 w 64"/>
                    <a:gd name="T31" fmla="*/ 94 h 96"/>
                    <a:gd name="T32" fmla="*/ 52 w 64"/>
                    <a:gd name="T33" fmla="*/ 82 h 96"/>
                    <a:gd name="T34" fmla="*/ 55 w 64"/>
                    <a:gd name="T35" fmla="*/ 76 h 96"/>
                    <a:gd name="T36" fmla="*/ 64 w 64"/>
                    <a:gd name="T37" fmla="*/ 66 h 96"/>
                    <a:gd name="T38" fmla="*/ 64 w 64"/>
                    <a:gd name="T39" fmla="*/ 30 h 96"/>
                    <a:gd name="T40" fmla="*/ 55 w 64"/>
                    <a:gd name="T41" fmla="*/ 20 h 96"/>
                    <a:gd name="T42" fmla="*/ 15 w 64"/>
                    <a:gd name="T43" fmla="*/ 16 h 96"/>
                    <a:gd name="T44" fmla="*/ 49 w 64"/>
                    <a:gd name="T45" fmla="*/ 16 h 96"/>
                    <a:gd name="T46" fmla="*/ 51 w 64"/>
                    <a:gd name="T47" fmla="*/ 20 h 96"/>
                    <a:gd name="T48" fmla="*/ 13 w 64"/>
                    <a:gd name="T49" fmla="*/ 20 h 96"/>
                    <a:gd name="T50" fmla="*/ 15 w 64"/>
                    <a:gd name="T51" fmla="*/ 16 h 96"/>
                    <a:gd name="T52" fmla="*/ 16 w 64"/>
                    <a:gd name="T53" fmla="*/ 4 h 96"/>
                    <a:gd name="T54" fmla="*/ 48 w 64"/>
                    <a:gd name="T55" fmla="*/ 4 h 96"/>
                    <a:gd name="T56" fmla="*/ 48 w 64"/>
                    <a:gd name="T57" fmla="*/ 12 h 96"/>
                    <a:gd name="T58" fmla="*/ 16 w 64"/>
                    <a:gd name="T59" fmla="*/ 12 h 96"/>
                    <a:gd name="T60" fmla="*/ 16 w 64"/>
                    <a:gd name="T61" fmla="*/ 4 h 96"/>
                    <a:gd name="T62" fmla="*/ 49 w 64"/>
                    <a:gd name="T63" fmla="*/ 80 h 96"/>
                    <a:gd name="T64" fmla="*/ 15 w 64"/>
                    <a:gd name="T65" fmla="*/ 80 h 96"/>
                    <a:gd name="T66" fmla="*/ 13 w 64"/>
                    <a:gd name="T67" fmla="*/ 76 h 96"/>
                    <a:gd name="T68" fmla="*/ 51 w 64"/>
                    <a:gd name="T69" fmla="*/ 76 h 96"/>
                    <a:gd name="T70" fmla="*/ 49 w 64"/>
                    <a:gd name="T71" fmla="*/ 80 h 96"/>
                    <a:gd name="T72" fmla="*/ 48 w 64"/>
                    <a:gd name="T73" fmla="*/ 92 h 96"/>
                    <a:gd name="T74" fmla="*/ 16 w 64"/>
                    <a:gd name="T75" fmla="*/ 92 h 96"/>
                    <a:gd name="T76" fmla="*/ 16 w 64"/>
                    <a:gd name="T77" fmla="*/ 84 h 96"/>
                    <a:gd name="T78" fmla="*/ 48 w 64"/>
                    <a:gd name="T79" fmla="*/ 84 h 96"/>
                    <a:gd name="T80" fmla="*/ 48 w 64"/>
                    <a:gd name="T81" fmla="*/ 92 h 96"/>
                    <a:gd name="T82" fmla="*/ 60 w 64"/>
                    <a:gd name="T83" fmla="*/ 66 h 96"/>
                    <a:gd name="T84" fmla="*/ 54 w 64"/>
                    <a:gd name="T85" fmla="*/ 72 h 96"/>
                    <a:gd name="T86" fmla="*/ 10 w 64"/>
                    <a:gd name="T87" fmla="*/ 72 h 96"/>
                    <a:gd name="T88" fmla="*/ 4 w 64"/>
                    <a:gd name="T89" fmla="*/ 66 h 96"/>
                    <a:gd name="T90" fmla="*/ 4 w 64"/>
                    <a:gd name="T91" fmla="*/ 30 h 96"/>
                    <a:gd name="T92" fmla="*/ 10 w 64"/>
                    <a:gd name="T93" fmla="*/ 24 h 96"/>
                    <a:gd name="T94" fmla="*/ 54 w 64"/>
                    <a:gd name="T95" fmla="*/ 24 h 96"/>
                    <a:gd name="T96" fmla="*/ 60 w 64"/>
                    <a:gd name="T97" fmla="*/ 30 h 96"/>
                    <a:gd name="T98" fmla="*/ 60 w 64"/>
                    <a:gd name="T99" fmla="*/ 6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4" h="96">
                      <a:moveTo>
                        <a:pt x="55" y="20"/>
                      </a:moveTo>
                      <a:cubicBezTo>
                        <a:pt x="52" y="14"/>
                        <a:pt x="52" y="14"/>
                        <a:pt x="52" y="14"/>
                      </a:cubicBezTo>
                      <a:cubicBezTo>
                        <a:pt x="52" y="2"/>
                        <a:pt x="52" y="2"/>
                        <a:pt x="52" y="2"/>
                      </a:cubicBezTo>
                      <a:cubicBezTo>
                        <a:pt x="52" y="1"/>
                        <a:pt x="51" y="0"/>
                        <a:pt x="50" y="0"/>
                      </a:cubicBezTo>
                      <a:cubicBezTo>
                        <a:pt x="14" y="0"/>
                        <a:pt x="14" y="0"/>
                        <a:pt x="14" y="0"/>
                      </a:cubicBezTo>
                      <a:cubicBezTo>
                        <a:pt x="13" y="0"/>
                        <a:pt x="12" y="1"/>
                        <a:pt x="12" y="2"/>
                      </a:cubicBezTo>
                      <a:cubicBezTo>
                        <a:pt x="12" y="14"/>
                        <a:pt x="12" y="14"/>
                        <a:pt x="12" y="14"/>
                      </a:cubicBezTo>
                      <a:cubicBezTo>
                        <a:pt x="9" y="20"/>
                        <a:pt x="9" y="20"/>
                        <a:pt x="9" y="20"/>
                      </a:cubicBezTo>
                      <a:cubicBezTo>
                        <a:pt x="4" y="21"/>
                        <a:pt x="0" y="25"/>
                        <a:pt x="0" y="30"/>
                      </a:cubicBezTo>
                      <a:cubicBezTo>
                        <a:pt x="0" y="66"/>
                        <a:pt x="0" y="66"/>
                        <a:pt x="0" y="66"/>
                      </a:cubicBezTo>
                      <a:cubicBezTo>
                        <a:pt x="0" y="71"/>
                        <a:pt x="4" y="75"/>
                        <a:pt x="9" y="76"/>
                      </a:cubicBezTo>
                      <a:cubicBezTo>
                        <a:pt x="12" y="82"/>
                        <a:pt x="12" y="82"/>
                        <a:pt x="12" y="82"/>
                      </a:cubicBezTo>
                      <a:cubicBezTo>
                        <a:pt x="12" y="94"/>
                        <a:pt x="12" y="94"/>
                        <a:pt x="12" y="94"/>
                      </a:cubicBezTo>
                      <a:cubicBezTo>
                        <a:pt x="12" y="95"/>
                        <a:pt x="13" y="96"/>
                        <a:pt x="14" y="96"/>
                      </a:cubicBezTo>
                      <a:cubicBezTo>
                        <a:pt x="50" y="96"/>
                        <a:pt x="50" y="96"/>
                        <a:pt x="50" y="96"/>
                      </a:cubicBezTo>
                      <a:cubicBezTo>
                        <a:pt x="51" y="96"/>
                        <a:pt x="52" y="95"/>
                        <a:pt x="52" y="94"/>
                      </a:cubicBezTo>
                      <a:cubicBezTo>
                        <a:pt x="52" y="82"/>
                        <a:pt x="52" y="82"/>
                        <a:pt x="52" y="82"/>
                      </a:cubicBezTo>
                      <a:cubicBezTo>
                        <a:pt x="55" y="76"/>
                        <a:pt x="55" y="76"/>
                        <a:pt x="55" y="76"/>
                      </a:cubicBezTo>
                      <a:cubicBezTo>
                        <a:pt x="60" y="75"/>
                        <a:pt x="64" y="71"/>
                        <a:pt x="64" y="66"/>
                      </a:cubicBezTo>
                      <a:cubicBezTo>
                        <a:pt x="64" y="30"/>
                        <a:pt x="64" y="30"/>
                        <a:pt x="64" y="30"/>
                      </a:cubicBezTo>
                      <a:cubicBezTo>
                        <a:pt x="64" y="25"/>
                        <a:pt x="60" y="21"/>
                        <a:pt x="55" y="20"/>
                      </a:cubicBezTo>
                      <a:close/>
                      <a:moveTo>
                        <a:pt x="15" y="16"/>
                      </a:moveTo>
                      <a:cubicBezTo>
                        <a:pt x="49" y="16"/>
                        <a:pt x="49" y="16"/>
                        <a:pt x="49" y="16"/>
                      </a:cubicBezTo>
                      <a:cubicBezTo>
                        <a:pt x="51" y="20"/>
                        <a:pt x="51" y="20"/>
                        <a:pt x="51" y="20"/>
                      </a:cubicBezTo>
                      <a:cubicBezTo>
                        <a:pt x="13" y="20"/>
                        <a:pt x="13" y="20"/>
                        <a:pt x="13" y="20"/>
                      </a:cubicBezTo>
                      <a:lnTo>
                        <a:pt x="15" y="16"/>
                      </a:lnTo>
                      <a:close/>
                      <a:moveTo>
                        <a:pt x="16" y="4"/>
                      </a:moveTo>
                      <a:cubicBezTo>
                        <a:pt x="48" y="4"/>
                        <a:pt x="48" y="4"/>
                        <a:pt x="48" y="4"/>
                      </a:cubicBezTo>
                      <a:cubicBezTo>
                        <a:pt x="48" y="12"/>
                        <a:pt x="48" y="12"/>
                        <a:pt x="48" y="12"/>
                      </a:cubicBezTo>
                      <a:cubicBezTo>
                        <a:pt x="16" y="12"/>
                        <a:pt x="16" y="12"/>
                        <a:pt x="16" y="12"/>
                      </a:cubicBezTo>
                      <a:lnTo>
                        <a:pt x="16" y="4"/>
                      </a:lnTo>
                      <a:close/>
                      <a:moveTo>
                        <a:pt x="49" y="80"/>
                      </a:moveTo>
                      <a:cubicBezTo>
                        <a:pt x="15" y="80"/>
                        <a:pt x="15" y="80"/>
                        <a:pt x="15" y="80"/>
                      </a:cubicBezTo>
                      <a:cubicBezTo>
                        <a:pt x="13" y="76"/>
                        <a:pt x="13" y="76"/>
                        <a:pt x="13" y="76"/>
                      </a:cubicBezTo>
                      <a:cubicBezTo>
                        <a:pt x="51" y="76"/>
                        <a:pt x="51" y="76"/>
                        <a:pt x="51" y="76"/>
                      </a:cubicBezTo>
                      <a:lnTo>
                        <a:pt x="49" y="80"/>
                      </a:lnTo>
                      <a:close/>
                      <a:moveTo>
                        <a:pt x="48" y="92"/>
                      </a:moveTo>
                      <a:cubicBezTo>
                        <a:pt x="16" y="92"/>
                        <a:pt x="16" y="92"/>
                        <a:pt x="16" y="92"/>
                      </a:cubicBezTo>
                      <a:cubicBezTo>
                        <a:pt x="16" y="84"/>
                        <a:pt x="16" y="84"/>
                        <a:pt x="16" y="84"/>
                      </a:cubicBezTo>
                      <a:cubicBezTo>
                        <a:pt x="48" y="84"/>
                        <a:pt x="48" y="84"/>
                        <a:pt x="48" y="84"/>
                      </a:cubicBezTo>
                      <a:lnTo>
                        <a:pt x="48" y="92"/>
                      </a:lnTo>
                      <a:close/>
                      <a:moveTo>
                        <a:pt x="60" y="66"/>
                      </a:moveTo>
                      <a:cubicBezTo>
                        <a:pt x="60" y="69"/>
                        <a:pt x="57" y="72"/>
                        <a:pt x="54" y="72"/>
                      </a:cubicBezTo>
                      <a:cubicBezTo>
                        <a:pt x="10" y="72"/>
                        <a:pt x="10" y="72"/>
                        <a:pt x="10" y="72"/>
                      </a:cubicBezTo>
                      <a:cubicBezTo>
                        <a:pt x="7" y="72"/>
                        <a:pt x="4" y="69"/>
                        <a:pt x="4" y="66"/>
                      </a:cubicBezTo>
                      <a:cubicBezTo>
                        <a:pt x="4" y="30"/>
                        <a:pt x="4" y="30"/>
                        <a:pt x="4" y="30"/>
                      </a:cubicBezTo>
                      <a:cubicBezTo>
                        <a:pt x="4" y="27"/>
                        <a:pt x="7" y="24"/>
                        <a:pt x="10" y="24"/>
                      </a:cubicBezTo>
                      <a:cubicBezTo>
                        <a:pt x="54" y="24"/>
                        <a:pt x="54" y="24"/>
                        <a:pt x="54" y="24"/>
                      </a:cubicBezTo>
                      <a:cubicBezTo>
                        <a:pt x="57" y="24"/>
                        <a:pt x="60" y="27"/>
                        <a:pt x="60" y="30"/>
                      </a:cubicBezTo>
                      <a:lnTo>
                        <a:pt x="60"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58" name="Freeform 30">
                  <a:extLst>
                    <a:ext uri="{FF2B5EF4-FFF2-40B4-BE49-F238E27FC236}">
                      <a16:creationId xmlns:a16="http://schemas.microsoft.com/office/drawing/2014/main" id="{FCDA4079-16B0-86BA-F4CF-7F2B8823890A}"/>
                    </a:ext>
                  </a:extLst>
                </p:cNvPr>
                <p:cNvSpPr>
                  <a:spLocks noEditPoints="1"/>
                </p:cNvSpPr>
                <p:nvPr/>
              </p:nvSpPr>
              <p:spPr bwMode="auto">
                <a:xfrm>
                  <a:off x="7569200" y="4881563"/>
                  <a:ext cx="184150" cy="209550"/>
                </a:xfrm>
                <a:custGeom>
                  <a:avLst/>
                  <a:gdLst>
                    <a:gd name="T0" fmla="*/ 26 w 28"/>
                    <a:gd name="T1" fmla="*/ 0 h 32"/>
                    <a:gd name="T2" fmla="*/ 10 w 28"/>
                    <a:gd name="T3" fmla="*/ 4 h 32"/>
                    <a:gd name="T4" fmla="*/ 8 w 28"/>
                    <a:gd name="T5" fmla="*/ 6 h 32"/>
                    <a:gd name="T6" fmla="*/ 8 w 28"/>
                    <a:gd name="T7" fmla="*/ 20 h 32"/>
                    <a:gd name="T8" fmla="*/ 2 w 28"/>
                    <a:gd name="T9" fmla="*/ 20 h 32"/>
                    <a:gd name="T10" fmla="*/ 0 w 28"/>
                    <a:gd name="T11" fmla="*/ 22 h 32"/>
                    <a:gd name="T12" fmla="*/ 0 w 28"/>
                    <a:gd name="T13" fmla="*/ 30 h 32"/>
                    <a:gd name="T14" fmla="*/ 2 w 28"/>
                    <a:gd name="T15" fmla="*/ 32 h 32"/>
                    <a:gd name="T16" fmla="*/ 10 w 28"/>
                    <a:gd name="T17" fmla="*/ 32 h 32"/>
                    <a:gd name="T18" fmla="*/ 12 w 28"/>
                    <a:gd name="T19" fmla="*/ 30 h 32"/>
                    <a:gd name="T20" fmla="*/ 12 w 28"/>
                    <a:gd name="T21" fmla="*/ 22 h 32"/>
                    <a:gd name="T22" fmla="*/ 12 w 28"/>
                    <a:gd name="T23" fmla="*/ 8 h 32"/>
                    <a:gd name="T24" fmla="*/ 24 w 28"/>
                    <a:gd name="T25" fmla="*/ 5 h 32"/>
                    <a:gd name="T26" fmla="*/ 24 w 28"/>
                    <a:gd name="T27" fmla="*/ 16 h 32"/>
                    <a:gd name="T28" fmla="*/ 18 w 28"/>
                    <a:gd name="T29" fmla="*/ 16 h 32"/>
                    <a:gd name="T30" fmla="*/ 16 w 28"/>
                    <a:gd name="T31" fmla="*/ 18 h 32"/>
                    <a:gd name="T32" fmla="*/ 16 w 28"/>
                    <a:gd name="T33" fmla="*/ 26 h 32"/>
                    <a:gd name="T34" fmla="*/ 18 w 28"/>
                    <a:gd name="T35" fmla="*/ 28 h 32"/>
                    <a:gd name="T36" fmla="*/ 26 w 28"/>
                    <a:gd name="T37" fmla="*/ 28 h 32"/>
                    <a:gd name="T38" fmla="*/ 28 w 28"/>
                    <a:gd name="T39" fmla="*/ 26 h 32"/>
                    <a:gd name="T40" fmla="*/ 28 w 28"/>
                    <a:gd name="T41" fmla="*/ 18 h 32"/>
                    <a:gd name="T42" fmla="*/ 28 w 28"/>
                    <a:gd name="T43" fmla="*/ 2 h 32"/>
                    <a:gd name="T44" fmla="*/ 27 w 28"/>
                    <a:gd name="T45" fmla="*/ 0 h 32"/>
                    <a:gd name="T46" fmla="*/ 26 w 28"/>
                    <a:gd name="T47" fmla="*/ 0 h 32"/>
                    <a:gd name="T48" fmla="*/ 8 w 28"/>
                    <a:gd name="T49" fmla="*/ 28 h 32"/>
                    <a:gd name="T50" fmla="*/ 4 w 28"/>
                    <a:gd name="T51" fmla="*/ 28 h 32"/>
                    <a:gd name="T52" fmla="*/ 4 w 28"/>
                    <a:gd name="T53" fmla="*/ 24 h 32"/>
                    <a:gd name="T54" fmla="*/ 8 w 28"/>
                    <a:gd name="T55" fmla="*/ 24 h 32"/>
                    <a:gd name="T56" fmla="*/ 8 w 28"/>
                    <a:gd name="T57" fmla="*/ 28 h 32"/>
                    <a:gd name="T58" fmla="*/ 24 w 28"/>
                    <a:gd name="T59" fmla="*/ 24 h 32"/>
                    <a:gd name="T60" fmla="*/ 20 w 28"/>
                    <a:gd name="T61" fmla="*/ 24 h 32"/>
                    <a:gd name="T62" fmla="*/ 20 w 28"/>
                    <a:gd name="T63" fmla="*/ 20 h 32"/>
                    <a:gd name="T64" fmla="*/ 24 w 28"/>
                    <a:gd name="T65" fmla="*/ 20 h 32"/>
                    <a:gd name="T66" fmla="*/ 24 w 28"/>
                    <a:gd name="T67" fmla="*/ 2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32">
                      <a:moveTo>
                        <a:pt x="26" y="0"/>
                      </a:moveTo>
                      <a:cubicBezTo>
                        <a:pt x="10" y="4"/>
                        <a:pt x="10" y="4"/>
                        <a:pt x="10" y="4"/>
                      </a:cubicBezTo>
                      <a:cubicBezTo>
                        <a:pt x="9" y="4"/>
                        <a:pt x="8" y="5"/>
                        <a:pt x="8" y="6"/>
                      </a:cubicBezTo>
                      <a:cubicBezTo>
                        <a:pt x="8" y="20"/>
                        <a:pt x="8" y="20"/>
                        <a:pt x="8" y="20"/>
                      </a:cubicBezTo>
                      <a:cubicBezTo>
                        <a:pt x="2" y="20"/>
                        <a:pt x="2" y="20"/>
                        <a:pt x="2" y="20"/>
                      </a:cubicBezTo>
                      <a:cubicBezTo>
                        <a:pt x="1" y="20"/>
                        <a:pt x="0" y="21"/>
                        <a:pt x="0" y="22"/>
                      </a:cubicBezTo>
                      <a:cubicBezTo>
                        <a:pt x="0" y="30"/>
                        <a:pt x="0" y="30"/>
                        <a:pt x="0" y="30"/>
                      </a:cubicBezTo>
                      <a:cubicBezTo>
                        <a:pt x="0" y="31"/>
                        <a:pt x="1" y="32"/>
                        <a:pt x="2" y="32"/>
                      </a:cubicBezTo>
                      <a:cubicBezTo>
                        <a:pt x="10" y="32"/>
                        <a:pt x="10" y="32"/>
                        <a:pt x="10" y="32"/>
                      </a:cubicBezTo>
                      <a:cubicBezTo>
                        <a:pt x="11" y="32"/>
                        <a:pt x="12" y="31"/>
                        <a:pt x="12" y="30"/>
                      </a:cubicBezTo>
                      <a:cubicBezTo>
                        <a:pt x="12" y="22"/>
                        <a:pt x="12" y="22"/>
                        <a:pt x="12" y="22"/>
                      </a:cubicBezTo>
                      <a:cubicBezTo>
                        <a:pt x="12" y="8"/>
                        <a:pt x="12" y="8"/>
                        <a:pt x="12" y="8"/>
                      </a:cubicBezTo>
                      <a:cubicBezTo>
                        <a:pt x="24" y="5"/>
                        <a:pt x="24" y="5"/>
                        <a:pt x="24" y="5"/>
                      </a:cubicBezTo>
                      <a:cubicBezTo>
                        <a:pt x="24" y="16"/>
                        <a:pt x="24" y="16"/>
                        <a:pt x="24" y="16"/>
                      </a:cubicBezTo>
                      <a:cubicBezTo>
                        <a:pt x="18" y="16"/>
                        <a:pt x="18" y="16"/>
                        <a:pt x="18" y="16"/>
                      </a:cubicBezTo>
                      <a:cubicBezTo>
                        <a:pt x="17" y="16"/>
                        <a:pt x="16" y="17"/>
                        <a:pt x="16" y="18"/>
                      </a:cubicBezTo>
                      <a:cubicBezTo>
                        <a:pt x="16" y="26"/>
                        <a:pt x="16" y="26"/>
                        <a:pt x="16" y="26"/>
                      </a:cubicBezTo>
                      <a:cubicBezTo>
                        <a:pt x="16" y="27"/>
                        <a:pt x="17" y="28"/>
                        <a:pt x="18" y="28"/>
                      </a:cubicBezTo>
                      <a:cubicBezTo>
                        <a:pt x="26" y="28"/>
                        <a:pt x="26" y="28"/>
                        <a:pt x="26" y="28"/>
                      </a:cubicBezTo>
                      <a:cubicBezTo>
                        <a:pt x="27" y="28"/>
                        <a:pt x="28" y="27"/>
                        <a:pt x="28" y="26"/>
                      </a:cubicBezTo>
                      <a:cubicBezTo>
                        <a:pt x="28" y="18"/>
                        <a:pt x="28" y="18"/>
                        <a:pt x="28" y="18"/>
                      </a:cubicBezTo>
                      <a:cubicBezTo>
                        <a:pt x="28" y="2"/>
                        <a:pt x="28" y="2"/>
                        <a:pt x="28" y="2"/>
                      </a:cubicBezTo>
                      <a:cubicBezTo>
                        <a:pt x="28" y="1"/>
                        <a:pt x="28" y="1"/>
                        <a:pt x="27" y="0"/>
                      </a:cubicBezTo>
                      <a:cubicBezTo>
                        <a:pt x="27" y="0"/>
                        <a:pt x="26" y="0"/>
                        <a:pt x="26" y="0"/>
                      </a:cubicBezTo>
                      <a:close/>
                      <a:moveTo>
                        <a:pt x="8" y="28"/>
                      </a:moveTo>
                      <a:cubicBezTo>
                        <a:pt x="4" y="28"/>
                        <a:pt x="4" y="28"/>
                        <a:pt x="4" y="28"/>
                      </a:cubicBezTo>
                      <a:cubicBezTo>
                        <a:pt x="4" y="24"/>
                        <a:pt x="4" y="24"/>
                        <a:pt x="4" y="24"/>
                      </a:cubicBezTo>
                      <a:cubicBezTo>
                        <a:pt x="8" y="24"/>
                        <a:pt x="8" y="24"/>
                        <a:pt x="8" y="24"/>
                      </a:cubicBezTo>
                      <a:lnTo>
                        <a:pt x="8" y="28"/>
                      </a:lnTo>
                      <a:close/>
                      <a:moveTo>
                        <a:pt x="24" y="24"/>
                      </a:moveTo>
                      <a:cubicBezTo>
                        <a:pt x="20" y="24"/>
                        <a:pt x="20" y="24"/>
                        <a:pt x="20" y="24"/>
                      </a:cubicBezTo>
                      <a:cubicBezTo>
                        <a:pt x="20" y="20"/>
                        <a:pt x="20" y="20"/>
                        <a:pt x="20" y="20"/>
                      </a:cubicBezTo>
                      <a:cubicBezTo>
                        <a:pt x="24" y="20"/>
                        <a:pt x="24" y="20"/>
                        <a:pt x="24" y="20"/>
                      </a:cubicBezTo>
                      <a:lnTo>
                        <a:pt x="2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58" name="Group 32">
                <a:extLst>
                  <a:ext uri="{FF2B5EF4-FFF2-40B4-BE49-F238E27FC236}">
                    <a16:creationId xmlns:a16="http://schemas.microsoft.com/office/drawing/2014/main" id="{537E90AD-FE40-0B38-5CAE-3BF1805E6DBC}"/>
                  </a:ext>
                </a:extLst>
              </p:cNvPr>
              <p:cNvGrpSpPr>
                <a:grpSpLocks noChangeAspect="1"/>
              </p:cNvGrpSpPr>
              <p:nvPr/>
            </p:nvGrpSpPr>
            <p:grpSpPr bwMode="auto">
              <a:xfrm>
                <a:off x="2720188" y="3269531"/>
                <a:ext cx="324890" cy="283707"/>
                <a:chOff x="3438" y="466"/>
                <a:chExt cx="426" cy="372"/>
              </a:xfrm>
              <a:solidFill>
                <a:schemeClr val="tx1"/>
              </a:solidFill>
            </p:grpSpPr>
            <p:sp>
              <p:nvSpPr>
                <p:cNvPr id="145" name="Freeform 33">
                  <a:extLst>
                    <a:ext uri="{FF2B5EF4-FFF2-40B4-BE49-F238E27FC236}">
                      <a16:creationId xmlns:a16="http://schemas.microsoft.com/office/drawing/2014/main" id="{D5EF6022-3FED-657F-225A-6EF874990F38}"/>
                    </a:ext>
                  </a:extLst>
                </p:cNvPr>
                <p:cNvSpPr>
                  <a:spLocks noEditPoints="1"/>
                </p:cNvSpPr>
                <p:nvPr/>
              </p:nvSpPr>
              <p:spPr bwMode="auto">
                <a:xfrm>
                  <a:off x="3438" y="581"/>
                  <a:ext cx="426" cy="142"/>
                </a:xfrm>
                <a:custGeom>
                  <a:avLst/>
                  <a:gdLst>
                    <a:gd name="T0" fmla="*/ 282 w 288"/>
                    <a:gd name="T1" fmla="*/ 96 h 96"/>
                    <a:gd name="T2" fmla="*/ 6 w 288"/>
                    <a:gd name="T3" fmla="*/ 96 h 96"/>
                    <a:gd name="T4" fmla="*/ 0 w 288"/>
                    <a:gd name="T5" fmla="*/ 90 h 96"/>
                    <a:gd name="T6" fmla="*/ 0 w 288"/>
                    <a:gd name="T7" fmla="*/ 6 h 96"/>
                    <a:gd name="T8" fmla="*/ 6 w 288"/>
                    <a:gd name="T9" fmla="*/ 0 h 96"/>
                    <a:gd name="T10" fmla="*/ 282 w 288"/>
                    <a:gd name="T11" fmla="*/ 0 h 96"/>
                    <a:gd name="T12" fmla="*/ 288 w 288"/>
                    <a:gd name="T13" fmla="*/ 6 h 96"/>
                    <a:gd name="T14" fmla="*/ 288 w 288"/>
                    <a:gd name="T15" fmla="*/ 90 h 96"/>
                    <a:gd name="T16" fmla="*/ 282 w 288"/>
                    <a:gd name="T17" fmla="*/ 96 h 96"/>
                    <a:gd name="T18" fmla="*/ 12 w 288"/>
                    <a:gd name="T19" fmla="*/ 84 h 96"/>
                    <a:gd name="T20" fmla="*/ 276 w 288"/>
                    <a:gd name="T21" fmla="*/ 84 h 96"/>
                    <a:gd name="T22" fmla="*/ 276 w 288"/>
                    <a:gd name="T23" fmla="*/ 12 h 96"/>
                    <a:gd name="T24" fmla="*/ 12 w 288"/>
                    <a:gd name="T25" fmla="*/ 12 h 96"/>
                    <a:gd name="T26" fmla="*/ 12 w 288"/>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96">
                      <a:moveTo>
                        <a:pt x="282" y="96"/>
                      </a:moveTo>
                      <a:cubicBezTo>
                        <a:pt x="6" y="96"/>
                        <a:pt x="6" y="96"/>
                        <a:pt x="6" y="96"/>
                      </a:cubicBezTo>
                      <a:cubicBezTo>
                        <a:pt x="3" y="96"/>
                        <a:pt x="0" y="94"/>
                        <a:pt x="0" y="90"/>
                      </a:cubicBezTo>
                      <a:cubicBezTo>
                        <a:pt x="0" y="6"/>
                        <a:pt x="0" y="6"/>
                        <a:pt x="0" y="6"/>
                      </a:cubicBezTo>
                      <a:cubicBezTo>
                        <a:pt x="0" y="3"/>
                        <a:pt x="3" y="0"/>
                        <a:pt x="6" y="0"/>
                      </a:cubicBezTo>
                      <a:cubicBezTo>
                        <a:pt x="282" y="0"/>
                        <a:pt x="282" y="0"/>
                        <a:pt x="282" y="0"/>
                      </a:cubicBezTo>
                      <a:cubicBezTo>
                        <a:pt x="286" y="0"/>
                        <a:pt x="288" y="3"/>
                        <a:pt x="288" y="6"/>
                      </a:cubicBezTo>
                      <a:cubicBezTo>
                        <a:pt x="288" y="90"/>
                        <a:pt x="288" y="90"/>
                        <a:pt x="288" y="90"/>
                      </a:cubicBezTo>
                      <a:cubicBezTo>
                        <a:pt x="288" y="94"/>
                        <a:pt x="286" y="96"/>
                        <a:pt x="282" y="96"/>
                      </a:cubicBezTo>
                      <a:close/>
                      <a:moveTo>
                        <a:pt x="12" y="84"/>
                      </a:moveTo>
                      <a:cubicBezTo>
                        <a:pt x="276" y="84"/>
                        <a:pt x="276" y="84"/>
                        <a:pt x="276" y="84"/>
                      </a:cubicBezTo>
                      <a:cubicBezTo>
                        <a:pt x="276" y="12"/>
                        <a:pt x="276" y="12"/>
                        <a:pt x="276"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46" name="Freeform 34">
                  <a:extLst>
                    <a:ext uri="{FF2B5EF4-FFF2-40B4-BE49-F238E27FC236}">
                      <a16:creationId xmlns:a16="http://schemas.microsoft.com/office/drawing/2014/main" id="{3B2CBF78-665E-0CAA-3D5E-B22EBC46721B}"/>
                    </a:ext>
                  </a:extLst>
                </p:cNvPr>
                <p:cNvSpPr>
                  <a:spLocks/>
                </p:cNvSpPr>
                <p:nvPr/>
              </p:nvSpPr>
              <p:spPr bwMode="auto">
                <a:xfrm>
                  <a:off x="3475" y="466"/>
                  <a:ext cx="352" cy="127"/>
                </a:xfrm>
                <a:custGeom>
                  <a:avLst/>
                  <a:gdLst>
                    <a:gd name="T0" fmla="*/ 226 w 238"/>
                    <a:gd name="T1" fmla="*/ 86 h 86"/>
                    <a:gd name="T2" fmla="*/ 119 w 238"/>
                    <a:gd name="T3" fmla="*/ 12 h 86"/>
                    <a:gd name="T4" fmla="*/ 115 w 238"/>
                    <a:gd name="T5" fmla="*/ 12 h 86"/>
                    <a:gd name="T6" fmla="*/ 12 w 238"/>
                    <a:gd name="T7" fmla="*/ 86 h 86"/>
                    <a:gd name="T8" fmla="*/ 0 w 238"/>
                    <a:gd name="T9" fmla="*/ 82 h 86"/>
                    <a:gd name="T10" fmla="*/ 114 w 238"/>
                    <a:gd name="T11" fmla="*/ 0 h 86"/>
                    <a:gd name="T12" fmla="*/ 119 w 238"/>
                    <a:gd name="T13" fmla="*/ 0 h 86"/>
                    <a:gd name="T14" fmla="*/ 238 w 238"/>
                    <a:gd name="T15" fmla="*/ 82 h 86"/>
                    <a:gd name="T16" fmla="*/ 226 w 238"/>
                    <a:gd name="T1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 h="86">
                      <a:moveTo>
                        <a:pt x="226" y="86"/>
                      </a:moveTo>
                      <a:cubicBezTo>
                        <a:pt x="210" y="42"/>
                        <a:pt x="167" y="12"/>
                        <a:pt x="119" y="12"/>
                      </a:cubicBezTo>
                      <a:cubicBezTo>
                        <a:pt x="118" y="12"/>
                        <a:pt x="116" y="12"/>
                        <a:pt x="115" y="12"/>
                      </a:cubicBezTo>
                      <a:cubicBezTo>
                        <a:pt x="67" y="14"/>
                        <a:pt x="27" y="43"/>
                        <a:pt x="12" y="86"/>
                      </a:cubicBezTo>
                      <a:cubicBezTo>
                        <a:pt x="0" y="82"/>
                        <a:pt x="0" y="82"/>
                        <a:pt x="0" y="82"/>
                      </a:cubicBezTo>
                      <a:cubicBezTo>
                        <a:pt x="17" y="35"/>
                        <a:pt x="62" y="2"/>
                        <a:pt x="114" y="0"/>
                      </a:cubicBezTo>
                      <a:cubicBezTo>
                        <a:pt x="116" y="0"/>
                        <a:pt x="118" y="0"/>
                        <a:pt x="119" y="0"/>
                      </a:cubicBezTo>
                      <a:cubicBezTo>
                        <a:pt x="172" y="0"/>
                        <a:pt x="220" y="33"/>
                        <a:pt x="238" y="82"/>
                      </a:cubicBezTo>
                      <a:lnTo>
                        <a:pt x="226"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47" name="Freeform 35">
                  <a:extLst>
                    <a:ext uri="{FF2B5EF4-FFF2-40B4-BE49-F238E27FC236}">
                      <a16:creationId xmlns:a16="http://schemas.microsoft.com/office/drawing/2014/main" id="{2063043B-CCDE-63DF-846A-03EE5FE6699B}"/>
                    </a:ext>
                  </a:extLst>
                </p:cNvPr>
                <p:cNvSpPr>
                  <a:spLocks/>
                </p:cNvSpPr>
                <p:nvPr/>
              </p:nvSpPr>
              <p:spPr bwMode="auto">
                <a:xfrm>
                  <a:off x="3478" y="711"/>
                  <a:ext cx="348" cy="127"/>
                </a:xfrm>
                <a:custGeom>
                  <a:avLst/>
                  <a:gdLst>
                    <a:gd name="T0" fmla="*/ 117 w 235"/>
                    <a:gd name="T1" fmla="*/ 86 h 86"/>
                    <a:gd name="T2" fmla="*/ 0 w 235"/>
                    <a:gd name="T3" fmla="*/ 4 h 86"/>
                    <a:gd name="T4" fmla="*/ 11 w 235"/>
                    <a:gd name="T5" fmla="*/ 0 h 86"/>
                    <a:gd name="T6" fmla="*/ 117 w 235"/>
                    <a:gd name="T7" fmla="*/ 74 h 86"/>
                    <a:gd name="T8" fmla="*/ 224 w 235"/>
                    <a:gd name="T9" fmla="*/ 0 h 86"/>
                    <a:gd name="T10" fmla="*/ 235 w 235"/>
                    <a:gd name="T11" fmla="*/ 4 h 86"/>
                    <a:gd name="T12" fmla="*/ 117 w 23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235" h="86">
                      <a:moveTo>
                        <a:pt x="117" y="86"/>
                      </a:moveTo>
                      <a:cubicBezTo>
                        <a:pt x="66" y="86"/>
                        <a:pt x="19" y="53"/>
                        <a:pt x="0" y="4"/>
                      </a:cubicBezTo>
                      <a:cubicBezTo>
                        <a:pt x="11" y="0"/>
                        <a:pt x="11" y="0"/>
                        <a:pt x="11" y="0"/>
                      </a:cubicBezTo>
                      <a:cubicBezTo>
                        <a:pt x="28" y="44"/>
                        <a:pt x="71" y="74"/>
                        <a:pt x="117" y="74"/>
                      </a:cubicBezTo>
                      <a:cubicBezTo>
                        <a:pt x="164" y="74"/>
                        <a:pt x="207" y="44"/>
                        <a:pt x="224" y="0"/>
                      </a:cubicBezTo>
                      <a:cubicBezTo>
                        <a:pt x="235" y="4"/>
                        <a:pt x="235" y="4"/>
                        <a:pt x="235" y="4"/>
                      </a:cubicBezTo>
                      <a:cubicBezTo>
                        <a:pt x="217" y="53"/>
                        <a:pt x="169" y="86"/>
                        <a:pt x="117"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48" name="Freeform 36">
                  <a:extLst>
                    <a:ext uri="{FF2B5EF4-FFF2-40B4-BE49-F238E27FC236}">
                      <a16:creationId xmlns:a16="http://schemas.microsoft.com/office/drawing/2014/main" id="{45909404-FFCB-3EBE-CE7F-F1E0CB0F5FF7}"/>
                    </a:ext>
                  </a:extLst>
                </p:cNvPr>
                <p:cNvSpPr>
                  <a:spLocks/>
                </p:cNvSpPr>
                <p:nvPr/>
              </p:nvSpPr>
              <p:spPr bwMode="auto">
                <a:xfrm>
                  <a:off x="3576" y="713"/>
                  <a:ext cx="75" cy="123"/>
                </a:xfrm>
                <a:custGeom>
                  <a:avLst/>
                  <a:gdLst>
                    <a:gd name="T0" fmla="*/ 41 w 51"/>
                    <a:gd name="T1" fmla="*/ 83 h 83"/>
                    <a:gd name="T2" fmla="*/ 0 w 51"/>
                    <a:gd name="T3" fmla="*/ 3 h 83"/>
                    <a:gd name="T4" fmla="*/ 12 w 51"/>
                    <a:gd name="T5" fmla="*/ 0 h 83"/>
                    <a:gd name="T6" fmla="*/ 51 w 51"/>
                    <a:gd name="T7" fmla="*/ 76 h 83"/>
                    <a:gd name="T8" fmla="*/ 41 w 51"/>
                    <a:gd name="T9" fmla="*/ 83 h 83"/>
                  </a:gdLst>
                  <a:ahLst/>
                  <a:cxnLst>
                    <a:cxn ang="0">
                      <a:pos x="T0" y="T1"/>
                    </a:cxn>
                    <a:cxn ang="0">
                      <a:pos x="T2" y="T3"/>
                    </a:cxn>
                    <a:cxn ang="0">
                      <a:pos x="T4" y="T5"/>
                    </a:cxn>
                    <a:cxn ang="0">
                      <a:pos x="T6" y="T7"/>
                    </a:cxn>
                    <a:cxn ang="0">
                      <a:pos x="T8" y="T9"/>
                    </a:cxn>
                  </a:cxnLst>
                  <a:rect l="0" t="0" r="r" b="b"/>
                  <a:pathLst>
                    <a:path w="51" h="83">
                      <a:moveTo>
                        <a:pt x="41" y="83"/>
                      </a:moveTo>
                      <a:cubicBezTo>
                        <a:pt x="22" y="57"/>
                        <a:pt x="8" y="30"/>
                        <a:pt x="0" y="3"/>
                      </a:cubicBezTo>
                      <a:cubicBezTo>
                        <a:pt x="12" y="0"/>
                        <a:pt x="12" y="0"/>
                        <a:pt x="12" y="0"/>
                      </a:cubicBezTo>
                      <a:cubicBezTo>
                        <a:pt x="19" y="25"/>
                        <a:pt x="32" y="51"/>
                        <a:pt x="51" y="76"/>
                      </a:cubicBezTo>
                      <a:lnTo>
                        <a:pt x="41"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49" name="Freeform 37">
                  <a:extLst>
                    <a:ext uri="{FF2B5EF4-FFF2-40B4-BE49-F238E27FC236}">
                      <a16:creationId xmlns:a16="http://schemas.microsoft.com/office/drawing/2014/main" id="{D9376A9E-DB6A-19B0-F86D-2BF2D18CC273}"/>
                    </a:ext>
                  </a:extLst>
                </p:cNvPr>
                <p:cNvSpPr>
                  <a:spLocks/>
                </p:cNvSpPr>
                <p:nvPr/>
              </p:nvSpPr>
              <p:spPr bwMode="auto">
                <a:xfrm>
                  <a:off x="3573" y="468"/>
                  <a:ext cx="78" cy="125"/>
                </a:xfrm>
                <a:custGeom>
                  <a:avLst/>
                  <a:gdLst>
                    <a:gd name="T0" fmla="*/ 11 w 53"/>
                    <a:gd name="T1" fmla="*/ 84 h 84"/>
                    <a:gd name="T2" fmla="*/ 0 w 53"/>
                    <a:gd name="T3" fmla="*/ 81 h 84"/>
                    <a:gd name="T4" fmla="*/ 44 w 53"/>
                    <a:gd name="T5" fmla="*/ 0 h 84"/>
                    <a:gd name="T6" fmla="*/ 53 w 53"/>
                    <a:gd name="T7" fmla="*/ 8 h 84"/>
                    <a:gd name="T8" fmla="*/ 11 w 53"/>
                    <a:gd name="T9" fmla="*/ 84 h 84"/>
                  </a:gdLst>
                  <a:ahLst/>
                  <a:cxnLst>
                    <a:cxn ang="0">
                      <a:pos x="T0" y="T1"/>
                    </a:cxn>
                    <a:cxn ang="0">
                      <a:pos x="T2" y="T3"/>
                    </a:cxn>
                    <a:cxn ang="0">
                      <a:pos x="T4" y="T5"/>
                    </a:cxn>
                    <a:cxn ang="0">
                      <a:pos x="T6" y="T7"/>
                    </a:cxn>
                    <a:cxn ang="0">
                      <a:pos x="T8" y="T9"/>
                    </a:cxn>
                  </a:cxnLst>
                  <a:rect l="0" t="0" r="r" b="b"/>
                  <a:pathLst>
                    <a:path w="53" h="84">
                      <a:moveTo>
                        <a:pt x="11" y="84"/>
                      </a:moveTo>
                      <a:cubicBezTo>
                        <a:pt x="0" y="81"/>
                        <a:pt x="0" y="81"/>
                        <a:pt x="0" y="81"/>
                      </a:cubicBezTo>
                      <a:cubicBezTo>
                        <a:pt x="7" y="52"/>
                        <a:pt x="21" y="25"/>
                        <a:pt x="44" y="0"/>
                      </a:cubicBezTo>
                      <a:cubicBezTo>
                        <a:pt x="53" y="8"/>
                        <a:pt x="53" y="8"/>
                        <a:pt x="53" y="8"/>
                      </a:cubicBezTo>
                      <a:cubicBezTo>
                        <a:pt x="32" y="31"/>
                        <a:pt x="18" y="56"/>
                        <a:pt x="11"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50" name="Freeform 38">
                  <a:extLst>
                    <a:ext uri="{FF2B5EF4-FFF2-40B4-BE49-F238E27FC236}">
                      <a16:creationId xmlns:a16="http://schemas.microsoft.com/office/drawing/2014/main" id="{19946E8A-E0CA-9A0B-9056-266B1D1B1240}"/>
                    </a:ext>
                  </a:extLst>
                </p:cNvPr>
                <p:cNvSpPr>
                  <a:spLocks/>
                </p:cNvSpPr>
                <p:nvPr/>
              </p:nvSpPr>
              <p:spPr bwMode="auto">
                <a:xfrm>
                  <a:off x="3653" y="713"/>
                  <a:ext cx="75" cy="123"/>
                </a:xfrm>
                <a:custGeom>
                  <a:avLst/>
                  <a:gdLst>
                    <a:gd name="T0" fmla="*/ 10 w 51"/>
                    <a:gd name="T1" fmla="*/ 83 h 83"/>
                    <a:gd name="T2" fmla="*/ 0 w 51"/>
                    <a:gd name="T3" fmla="*/ 75 h 83"/>
                    <a:gd name="T4" fmla="*/ 39 w 51"/>
                    <a:gd name="T5" fmla="*/ 0 h 83"/>
                    <a:gd name="T6" fmla="*/ 51 w 51"/>
                    <a:gd name="T7" fmla="*/ 3 h 83"/>
                    <a:gd name="T8" fmla="*/ 10 w 51"/>
                    <a:gd name="T9" fmla="*/ 83 h 83"/>
                  </a:gdLst>
                  <a:ahLst/>
                  <a:cxnLst>
                    <a:cxn ang="0">
                      <a:pos x="T0" y="T1"/>
                    </a:cxn>
                    <a:cxn ang="0">
                      <a:pos x="T2" y="T3"/>
                    </a:cxn>
                    <a:cxn ang="0">
                      <a:pos x="T4" y="T5"/>
                    </a:cxn>
                    <a:cxn ang="0">
                      <a:pos x="T6" y="T7"/>
                    </a:cxn>
                    <a:cxn ang="0">
                      <a:pos x="T8" y="T9"/>
                    </a:cxn>
                  </a:cxnLst>
                  <a:rect l="0" t="0" r="r" b="b"/>
                  <a:pathLst>
                    <a:path w="51" h="83">
                      <a:moveTo>
                        <a:pt x="10" y="83"/>
                      </a:moveTo>
                      <a:cubicBezTo>
                        <a:pt x="0" y="75"/>
                        <a:pt x="0" y="75"/>
                        <a:pt x="0" y="75"/>
                      </a:cubicBezTo>
                      <a:cubicBezTo>
                        <a:pt x="19" y="51"/>
                        <a:pt x="32" y="25"/>
                        <a:pt x="39" y="0"/>
                      </a:cubicBezTo>
                      <a:cubicBezTo>
                        <a:pt x="51" y="3"/>
                        <a:pt x="51" y="3"/>
                        <a:pt x="51" y="3"/>
                      </a:cubicBezTo>
                      <a:cubicBezTo>
                        <a:pt x="43" y="30"/>
                        <a:pt x="29" y="57"/>
                        <a:pt x="10"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51" name="Freeform 39">
                  <a:extLst>
                    <a:ext uri="{FF2B5EF4-FFF2-40B4-BE49-F238E27FC236}">
                      <a16:creationId xmlns:a16="http://schemas.microsoft.com/office/drawing/2014/main" id="{457570C7-8F5E-7285-BD1C-C45C1BA46F2E}"/>
                    </a:ext>
                  </a:extLst>
                </p:cNvPr>
                <p:cNvSpPr>
                  <a:spLocks/>
                </p:cNvSpPr>
                <p:nvPr/>
              </p:nvSpPr>
              <p:spPr bwMode="auto">
                <a:xfrm>
                  <a:off x="3653" y="468"/>
                  <a:ext cx="78" cy="125"/>
                </a:xfrm>
                <a:custGeom>
                  <a:avLst/>
                  <a:gdLst>
                    <a:gd name="T0" fmla="*/ 42 w 53"/>
                    <a:gd name="T1" fmla="*/ 84 h 84"/>
                    <a:gd name="T2" fmla="*/ 0 w 53"/>
                    <a:gd name="T3" fmla="*/ 8 h 84"/>
                    <a:gd name="T4" fmla="*/ 9 w 53"/>
                    <a:gd name="T5" fmla="*/ 0 h 84"/>
                    <a:gd name="T6" fmla="*/ 53 w 53"/>
                    <a:gd name="T7" fmla="*/ 81 h 84"/>
                    <a:gd name="T8" fmla="*/ 42 w 53"/>
                    <a:gd name="T9" fmla="*/ 84 h 84"/>
                  </a:gdLst>
                  <a:ahLst/>
                  <a:cxnLst>
                    <a:cxn ang="0">
                      <a:pos x="T0" y="T1"/>
                    </a:cxn>
                    <a:cxn ang="0">
                      <a:pos x="T2" y="T3"/>
                    </a:cxn>
                    <a:cxn ang="0">
                      <a:pos x="T4" y="T5"/>
                    </a:cxn>
                    <a:cxn ang="0">
                      <a:pos x="T6" y="T7"/>
                    </a:cxn>
                    <a:cxn ang="0">
                      <a:pos x="T8" y="T9"/>
                    </a:cxn>
                  </a:cxnLst>
                  <a:rect l="0" t="0" r="r" b="b"/>
                  <a:pathLst>
                    <a:path w="53" h="84">
                      <a:moveTo>
                        <a:pt x="42" y="84"/>
                      </a:moveTo>
                      <a:cubicBezTo>
                        <a:pt x="35" y="56"/>
                        <a:pt x="21" y="31"/>
                        <a:pt x="0" y="8"/>
                      </a:cubicBezTo>
                      <a:cubicBezTo>
                        <a:pt x="9" y="0"/>
                        <a:pt x="9" y="0"/>
                        <a:pt x="9" y="0"/>
                      </a:cubicBezTo>
                      <a:cubicBezTo>
                        <a:pt x="32" y="25"/>
                        <a:pt x="46" y="52"/>
                        <a:pt x="53" y="81"/>
                      </a:cubicBezTo>
                      <a:lnTo>
                        <a:pt x="4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52" name="Rectangle 40">
                  <a:extLst>
                    <a:ext uri="{FF2B5EF4-FFF2-40B4-BE49-F238E27FC236}">
                      <a16:creationId xmlns:a16="http://schemas.microsoft.com/office/drawing/2014/main" id="{7CB11AA9-D339-02F3-8800-6A073277CE2D}"/>
                    </a:ext>
                  </a:extLst>
                </p:cNvPr>
                <p:cNvSpPr>
                  <a:spLocks noChangeArrowheads="1"/>
                </p:cNvSpPr>
                <p:nvPr/>
              </p:nvSpPr>
              <p:spPr bwMode="auto">
                <a:xfrm>
                  <a:off x="3505" y="741"/>
                  <a:ext cx="29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53" name="Rectangle 41">
                  <a:extLst>
                    <a:ext uri="{FF2B5EF4-FFF2-40B4-BE49-F238E27FC236}">
                      <a16:creationId xmlns:a16="http://schemas.microsoft.com/office/drawing/2014/main" id="{D6630DFC-1EE0-73C4-FABB-B33D0548013C}"/>
                    </a:ext>
                  </a:extLst>
                </p:cNvPr>
                <p:cNvSpPr>
                  <a:spLocks noChangeArrowheads="1"/>
                </p:cNvSpPr>
                <p:nvPr/>
              </p:nvSpPr>
              <p:spPr bwMode="auto">
                <a:xfrm>
                  <a:off x="3503" y="545"/>
                  <a:ext cx="29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54" name="Freeform 42">
                  <a:extLst>
                    <a:ext uri="{FF2B5EF4-FFF2-40B4-BE49-F238E27FC236}">
                      <a16:creationId xmlns:a16="http://schemas.microsoft.com/office/drawing/2014/main" id="{4F0105A1-FDCA-391C-D5F3-CFED6CDFC806}"/>
                    </a:ext>
                  </a:extLst>
                </p:cNvPr>
                <p:cNvSpPr>
                  <a:spLocks/>
                </p:cNvSpPr>
                <p:nvPr/>
              </p:nvSpPr>
              <p:spPr bwMode="auto">
                <a:xfrm>
                  <a:off x="3517" y="608"/>
                  <a:ext cx="65" cy="88"/>
                </a:xfrm>
                <a:custGeom>
                  <a:avLst/>
                  <a:gdLst>
                    <a:gd name="T0" fmla="*/ 15 w 44"/>
                    <a:gd name="T1" fmla="*/ 60 h 60"/>
                    <a:gd name="T2" fmla="*/ 14 w 44"/>
                    <a:gd name="T3" fmla="*/ 60 h 60"/>
                    <a:gd name="T4" fmla="*/ 9 w 44"/>
                    <a:gd name="T5" fmla="*/ 55 h 60"/>
                    <a:gd name="T6" fmla="*/ 1 w 44"/>
                    <a:gd name="T7" fmla="*/ 7 h 60"/>
                    <a:gd name="T8" fmla="*/ 6 w 44"/>
                    <a:gd name="T9" fmla="*/ 0 h 60"/>
                    <a:gd name="T10" fmla="*/ 13 w 44"/>
                    <a:gd name="T11" fmla="*/ 5 h 60"/>
                    <a:gd name="T12" fmla="*/ 16 w 44"/>
                    <a:gd name="T13" fmla="*/ 28 h 60"/>
                    <a:gd name="T14" fmla="*/ 22 w 44"/>
                    <a:gd name="T15" fmla="*/ 24 h 60"/>
                    <a:gd name="T16" fmla="*/ 22 w 44"/>
                    <a:gd name="T17" fmla="*/ 24 h 60"/>
                    <a:gd name="T18" fmla="*/ 28 w 44"/>
                    <a:gd name="T19" fmla="*/ 28 h 60"/>
                    <a:gd name="T20" fmla="*/ 32 w 44"/>
                    <a:gd name="T21" fmla="*/ 5 h 60"/>
                    <a:gd name="T22" fmla="*/ 38 w 44"/>
                    <a:gd name="T23" fmla="*/ 0 h 60"/>
                    <a:gd name="T24" fmla="*/ 43 w 44"/>
                    <a:gd name="T25" fmla="*/ 7 h 60"/>
                    <a:gd name="T26" fmla="*/ 36 w 44"/>
                    <a:gd name="T27" fmla="*/ 55 h 60"/>
                    <a:gd name="T28" fmla="*/ 30 w 44"/>
                    <a:gd name="T29" fmla="*/ 60 h 60"/>
                    <a:gd name="T30" fmla="*/ 24 w 44"/>
                    <a:gd name="T31" fmla="*/ 56 h 60"/>
                    <a:gd name="T32" fmla="*/ 22 w 44"/>
                    <a:gd name="T33" fmla="*/ 50 h 60"/>
                    <a:gd name="T34" fmla="*/ 20 w 44"/>
                    <a:gd name="T35" fmla="*/ 56 h 60"/>
                    <a:gd name="T36" fmla="*/ 15 w 44"/>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60">
                      <a:moveTo>
                        <a:pt x="15" y="60"/>
                      </a:moveTo>
                      <a:cubicBezTo>
                        <a:pt x="14" y="60"/>
                        <a:pt x="14" y="60"/>
                        <a:pt x="14" y="60"/>
                      </a:cubicBezTo>
                      <a:cubicBezTo>
                        <a:pt x="11" y="60"/>
                        <a:pt x="9" y="58"/>
                        <a:pt x="9" y="55"/>
                      </a:cubicBezTo>
                      <a:cubicBezTo>
                        <a:pt x="1" y="7"/>
                        <a:pt x="1" y="7"/>
                        <a:pt x="1" y="7"/>
                      </a:cubicBezTo>
                      <a:cubicBezTo>
                        <a:pt x="0" y="4"/>
                        <a:pt x="3" y="1"/>
                        <a:pt x="6" y="0"/>
                      </a:cubicBezTo>
                      <a:cubicBezTo>
                        <a:pt x="9" y="0"/>
                        <a:pt x="12" y="2"/>
                        <a:pt x="13" y="5"/>
                      </a:cubicBezTo>
                      <a:cubicBezTo>
                        <a:pt x="16" y="28"/>
                        <a:pt x="16" y="28"/>
                        <a:pt x="16" y="28"/>
                      </a:cubicBezTo>
                      <a:cubicBezTo>
                        <a:pt x="17" y="26"/>
                        <a:pt x="20" y="24"/>
                        <a:pt x="22" y="24"/>
                      </a:cubicBezTo>
                      <a:cubicBezTo>
                        <a:pt x="22" y="24"/>
                        <a:pt x="22" y="24"/>
                        <a:pt x="22" y="24"/>
                      </a:cubicBezTo>
                      <a:cubicBezTo>
                        <a:pt x="25" y="24"/>
                        <a:pt x="27" y="26"/>
                        <a:pt x="28" y="28"/>
                      </a:cubicBezTo>
                      <a:cubicBezTo>
                        <a:pt x="32" y="5"/>
                        <a:pt x="32" y="5"/>
                        <a:pt x="32" y="5"/>
                      </a:cubicBezTo>
                      <a:cubicBezTo>
                        <a:pt x="32" y="2"/>
                        <a:pt x="35" y="0"/>
                        <a:pt x="38" y="0"/>
                      </a:cubicBezTo>
                      <a:cubicBezTo>
                        <a:pt x="42" y="1"/>
                        <a:pt x="44" y="4"/>
                        <a:pt x="43" y="7"/>
                      </a:cubicBezTo>
                      <a:cubicBezTo>
                        <a:pt x="36" y="55"/>
                        <a:pt x="36" y="55"/>
                        <a:pt x="36" y="55"/>
                      </a:cubicBezTo>
                      <a:cubicBezTo>
                        <a:pt x="35" y="58"/>
                        <a:pt x="33" y="60"/>
                        <a:pt x="30" y="60"/>
                      </a:cubicBezTo>
                      <a:cubicBezTo>
                        <a:pt x="27" y="60"/>
                        <a:pt x="25" y="59"/>
                        <a:pt x="24" y="56"/>
                      </a:cubicBezTo>
                      <a:cubicBezTo>
                        <a:pt x="22" y="50"/>
                        <a:pt x="22" y="50"/>
                        <a:pt x="22" y="50"/>
                      </a:cubicBezTo>
                      <a:cubicBezTo>
                        <a:pt x="20" y="56"/>
                        <a:pt x="20" y="56"/>
                        <a:pt x="20" y="56"/>
                      </a:cubicBezTo>
                      <a:cubicBezTo>
                        <a:pt x="19" y="59"/>
                        <a:pt x="17" y="60"/>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55" name="Freeform 43">
                  <a:extLst>
                    <a:ext uri="{FF2B5EF4-FFF2-40B4-BE49-F238E27FC236}">
                      <a16:creationId xmlns:a16="http://schemas.microsoft.com/office/drawing/2014/main" id="{B3BC6E47-A2C3-575B-0AD0-8EE31A08B5EB}"/>
                    </a:ext>
                  </a:extLst>
                </p:cNvPr>
                <p:cNvSpPr>
                  <a:spLocks/>
                </p:cNvSpPr>
                <p:nvPr/>
              </p:nvSpPr>
              <p:spPr bwMode="auto">
                <a:xfrm>
                  <a:off x="3625" y="608"/>
                  <a:ext cx="63" cy="88"/>
                </a:xfrm>
                <a:custGeom>
                  <a:avLst/>
                  <a:gdLst>
                    <a:gd name="T0" fmla="*/ 14 w 43"/>
                    <a:gd name="T1" fmla="*/ 60 h 60"/>
                    <a:gd name="T2" fmla="*/ 13 w 43"/>
                    <a:gd name="T3" fmla="*/ 60 h 60"/>
                    <a:gd name="T4" fmla="*/ 8 w 43"/>
                    <a:gd name="T5" fmla="*/ 55 h 60"/>
                    <a:gd name="T6" fmla="*/ 0 w 43"/>
                    <a:gd name="T7" fmla="*/ 7 h 60"/>
                    <a:gd name="T8" fmla="*/ 5 w 43"/>
                    <a:gd name="T9" fmla="*/ 0 h 60"/>
                    <a:gd name="T10" fmla="*/ 12 w 43"/>
                    <a:gd name="T11" fmla="*/ 5 h 60"/>
                    <a:gd name="T12" fmla="*/ 16 w 43"/>
                    <a:gd name="T13" fmla="*/ 28 h 60"/>
                    <a:gd name="T14" fmla="*/ 21 w 43"/>
                    <a:gd name="T15" fmla="*/ 24 h 60"/>
                    <a:gd name="T16" fmla="*/ 21 w 43"/>
                    <a:gd name="T17" fmla="*/ 24 h 60"/>
                    <a:gd name="T18" fmla="*/ 27 w 43"/>
                    <a:gd name="T19" fmla="*/ 28 h 60"/>
                    <a:gd name="T20" fmla="*/ 31 w 43"/>
                    <a:gd name="T21" fmla="*/ 5 h 60"/>
                    <a:gd name="T22" fmla="*/ 38 w 43"/>
                    <a:gd name="T23" fmla="*/ 0 h 60"/>
                    <a:gd name="T24" fmla="*/ 43 w 43"/>
                    <a:gd name="T25" fmla="*/ 7 h 60"/>
                    <a:gd name="T26" fmla="*/ 35 w 43"/>
                    <a:gd name="T27" fmla="*/ 55 h 60"/>
                    <a:gd name="T28" fmla="*/ 30 w 43"/>
                    <a:gd name="T29" fmla="*/ 60 h 60"/>
                    <a:gd name="T30" fmla="*/ 23 w 43"/>
                    <a:gd name="T31" fmla="*/ 56 h 60"/>
                    <a:gd name="T32" fmla="*/ 21 w 43"/>
                    <a:gd name="T33" fmla="*/ 50 h 60"/>
                    <a:gd name="T34" fmla="*/ 19 w 43"/>
                    <a:gd name="T35" fmla="*/ 56 h 60"/>
                    <a:gd name="T36" fmla="*/ 14 w 43"/>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60">
                      <a:moveTo>
                        <a:pt x="14" y="60"/>
                      </a:moveTo>
                      <a:cubicBezTo>
                        <a:pt x="14" y="60"/>
                        <a:pt x="13" y="60"/>
                        <a:pt x="13" y="60"/>
                      </a:cubicBezTo>
                      <a:cubicBezTo>
                        <a:pt x="11" y="60"/>
                        <a:pt x="8" y="58"/>
                        <a:pt x="8" y="55"/>
                      </a:cubicBezTo>
                      <a:cubicBezTo>
                        <a:pt x="0" y="7"/>
                        <a:pt x="0" y="7"/>
                        <a:pt x="0" y="7"/>
                      </a:cubicBezTo>
                      <a:cubicBezTo>
                        <a:pt x="0" y="4"/>
                        <a:pt x="2" y="1"/>
                        <a:pt x="5" y="0"/>
                      </a:cubicBezTo>
                      <a:cubicBezTo>
                        <a:pt x="8" y="0"/>
                        <a:pt x="12" y="2"/>
                        <a:pt x="12" y="5"/>
                      </a:cubicBezTo>
                      <a:cubicBezTo>
                        <a:pt x="16" y="28"/>
                        <a:pt x="16" y="28"/>
                        <a:pt x="16" y="28"/>
                      </a:cubicBezTo>
                      <a:cubicBezTo>
                        <a:pt x="17" y="26"/>
                        <a:pt x="19" y="24"/>
                        <a:pt x="21" y="24"/>
                      </a:cubicBezTo>
                      <a:cubicBezTo>
                        <a:pt x="21" y="24"/>
                        <a:pt x="21" y="24"/>
                        <a:pt x="21" y="24"/>
                      </a:cubicBezTo>
                      <a:cubicBezTo>
                        <a:pt x="24" y="24"/>
                        <a:pt x="26" y="26"/>
                        <a:pt x="27" y="28"/>
                      </a:cubicBezTo>
                      <a:cubicBezTo>
                        <a:pt x="31" y="5"/>
                        <a:pt x="31" y="5"/>
                        <a:pt x="31" y="5"/>
                      </a:cubicBezTo>
                      <a:cubicBezTo>
                        <a:pt x="31" y="2"/>
                        <a:pt x="34" y="0"/>
                        <a:pt x="38" y="0"/>
                      </a:cubicBezTo>
                      <a:cubicBezTo>
                        <a:pt x="41" y="1"/>
                        <a:pt x="43" y="4"/>
                        <a:pt x="43" y="7"/>
                      </a:cubicBezTo>
                      <a:cubicBezTo>
                        <a:pt x="35" y="55"/>
                        <a:pt x="35" y="55"/>
                        <a:pt x="35" y="55"/>
                      </a:cubicBezTo>
                      <a:cubicBezTo>
                        <a:pt x="35" y="58"/>
                        <a:pt x="32" y="60"/>
                        <a:pt x="30" y="60"/>
                      </a:cubicBezTo>
                      <a:cubicBezTo>
                        <a:pt x="27" y="60"/>
                        <a:pt x="24" y="59"/>
                        <a:pt x="23" y="56"/>
                      </a:cubicBezTo>
                      <a:cubicBezTo>
                        <a:pt x="21" y="50"/>
                        <a:pt x="21" y="50"/>
                        <a:pt x="21" y="50"/>
                      </a:cubicBezTo>
                      <a:cubicBezTo>
                        <a:pt x="19" y="56"/>
                        <a:pt x="19" y="56"/>
                        <a:pt x="19" y="56"/>
                      </a:cubicBezTo>
                      <a:cubicBezTo>
                        <a:pt x="19" y="59"/>
                        <a:pt x="16" y="60"/>
                        <a:pt x="1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56" name="Freeform 44">
                  <a:extLst>
                    <a:ext uri="{FF2B5EF4-FFF2-40B4-BE49-F238E27FC236}">
                      <a16:creationId xmlns:a16="http://schemas.microsoft.com/office/drawing/2014/main" id="{968628B3-72EC-49A6-3C4A-EB9DBA75ED71}"/>
                    </a:ext>
                  </a:extLst>
                </p:cNvPr>
                <p:cNvSpPr>
                  <a:spLocks/>
                </p:cNvSpPr>
                <p:nvPr/>
              </p:nvSpPr>
              <p:spPr bwMode="auto">
                <a:xfrm>
                  <a:off x="3731" y="608"/>
                  <a:ext cx="64" cy="88"/>
                </a:xfrm>
                <a:custGeom>
                  <a:avLst/>
                  <a:gdLst>
                    <a:gd name="T0" fmla="*/ 29 w 43"/>
                    <a:gd name="T1" fmla="*/ 60 h 60"/>
                    <a:gd name="T2" fmla="*/ 24 w 43"/>
                    <a:gd name="T3" fmla="*/ 56 h 60"/>
                    <a:gd name="T4" fmla="*/ 22 w 43"/>
                    <a:gd name="T5" fmla="*/ 50 h 60"/>
                    <a:gd name="T6" fmla="*/ 20 w 43"/>
                    <a:gd name="T7" fmla="*/ 56 h 60"/>
                    <a:gd name="T8" fmla="*/ 14 w 43"/>
                    <a:gd name="T9" fmla="*/ 60 h 60"/>
                    <a:gd name="T10" fmla="*/ 8 w 43"/>
                    <a:gd name="T11" fmla="*/ 55 h 60"/>
                    <a:gd name="T12" fmla="*/ 1 w 43"/>
                    <a:gd name="T13" fmla="*/ 7 h 60"/>
                    <a:gd name="T14" fmla="*/ 5 w 43"/>
                    <a:gd name="T15" fmla="*/ 0 h 60"/>
                    <a:gd name="T16" fmla="*/ 12 w 43"/>
                    <a:gd name="T17" fmla="*/ 5 h 60"/>
                    <a:gd name="T18" fmla="*/ 16 w 43"/>
                    <a:gd name="T19" fmla="*/ 28 h 60"/>
                    <a:gd name="T20" fmla="*/ 22 w 43"/>
                    <a:gd name="T21" fmla="*/ 24 h 60"/>
                    <a:gd name="T22" fmla="*/ 22 w 43"/>
                    <a:gd name="T23" fmla="*/ 24 h 60"/>
                    <a:gd name="T24" fmla="*/ 27 w 43"/>
                    <a:gd name="T25" fmla="*/ 28 h 60"/>
                    <a:gd name="T26" fmla="*/ 31 w 43"/>
                    <a:gd name="T27" fmla="*/ 5 h 60"/>
                    <a:gd name="T28" fmla="*/ 38 w 43"/>
                    <a:gd name="T29" fmla="*/ 0 h 60"/>
                    <a:gd name="T30" fmla="*/ 43 w 43"/>
                    <a:gd name="T31" fmla="*/ 7 h 60"/>
                    <a:gd name="T32" fmla="*/ 35 w 43"/>
                    <a:gd name="T33" fmla="*/ 55 h 60"/>
                    <a:gd name="T34" fmla="*/ 30 w 43"/>
                    <a:gd name="T35" fmla="*/ 60 h 60"/>
                    <a:gd name="T36" fmla="*/ 29 w 43"/>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60">
                      <a:moveTo>
                        <a:pt x="29" y="60"/>
                      </a:moveTo>
                      <a:cubicBezTo>
                        <a:pt x="27" y="60"/>
                        <a:pt x="24" y="59"/>
                        <a:pt x="24" y="56"/>
                      </a:cubicBezTo>
                      <a:cubicBezTo>
                        <a:pt x="22" y="50"/>
                        <a:pt x="22" y="50"/>
                        <a:pt x="22" y="50"/>
                      </a:cubicBezTo>
                      <a:cubicBezTo>
                        <a:pt x="20" y="56"/>
                        <a:pt x="20" y="56"/>
                        <a:pt x="20" y="56"/>
                      </a:cubicBezTo>
                      <a:cubicBezTo>
                        <a:pt x="19" y="59"/>
                        <a:pt x="16" y="60"/>
                        <a:pt x="14" y="60"/>
                      </a:cubicBezTo>
                      <a:cubicBezTo>
                        <a:pt x="11" y="60"/>
                        <a:pt x="9" y="58"/>
                        <a:pt x="8" y="55"/>
                      </a:cubicBezTo>
                      <a:cubicBezTo>
                        <a:pt x="1" y="7"/>
                        <a:pt x="1" y="7"/>
                        <a:pt x="1" y="7"/>
                      </a:cubicBezTo>
                      <a:cubicBezTo>
                        <a:pt x="0" y="4"/>
                        <a:pt x="2" y="1"/>
                        <a:pt x="5" y="0"/>
                      </a:cubicBezTo>
                      <a:cubicBezTo>
                        <a:pt x="9" y="0"/>
                        <a:pt x="12" y="2"/>
                        <a:pt x="12" y="5"/>
                      </a:cubicBezTo>
                      <a:cubicBezTo>
                        <a:pt x="16" y="28"/>
                        <a:pt x="16" y="28"/>
                        <a:pt x="16" y="28"/>
                      </a:cubicBezTo>
                      <a:cubicBezTo>
                        <a:pt x="17" y="26"/>
                        <a:pt x="19" y="24"/>
                        <a:pt x="22" y="24"/>
                      </a:cubicBezTo>
                      <a:cubicBezTo>
                        <a:pt x="22" y="24"/>
                        <a:pt x="22" y="24"/>
                        <a:pt x="22" y="24"/>
                      </a:cubicBezTo>
                      <a:cubicBezTo>
                        <a:pt x="24" y="24"/>
                        <a:pt x="27" y="26"/>
                        <a:pt x="27" y="28"/>
                      </a:cubicBezTo>
                      <a:cubicBezTo>
                        <a:pt x="31" y="5"/>
                        <a:pt x="31" y="5"/>
                        <a:pt x="31" y="5"/>
                      </a:cubicBezTo>
                      <a:cubicBezTo>
                        <a:pt x="32" y="2"/>
                        <a:pt x="35" y="0"/>
                        <a:pt x="38" y="0"/>
                      </a:cubicBezTo>
                      <a:cubicBezTo>
                        <a:pt x="41" y="1"/>
                        <a:pt x="43" y="4"/>
                        <a:pt x="43" y="7"/>
                      </a:cubicBezTo>
                      <a:cubicBezTo>
                        <a:pt x="35" y="55"/>
                        <a:pt x="35" y="55"/>
                        <a:pt x="35" y="55"/>
                      </a:cubicBezTo>
                      <a:cubicBezTo>
                        <a:pt x="35" y="58"/>
                        <a:pt x="33" y="60"/>
                        <a:pt x="30" y="60"/>
                      </a:cubicBezTo>
                      <a:cubicBezTo>
                        <a:pt x="30" y="60"/>
                        <a:pt x="30" y="60"/>
                        <a:pt x="2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59" name="Group 40">
                <a:extLst>
                  <a:ext uri="{FF2B5EF4-FFF2-40B4-BE49-F238E27FC236}">
                    <a16:creationId xmlns:a16="http://schemas.microsoft.com/office/drawing/2014/main" id="{8C5AFAD7-1C68-4F74-8A19-0D0FB3C56718}"/>
                  </a:ext>
                </a:extLst>
              </p:cNvPr>
              <p:cNvGrpSpPr>
                <a:grpSpLocks noChangeAspect="1"/>
              </p:cNvGrpSpPr>
              <p:nvPr/>
            </p:nvGrpSpPr>
            <p:grpSpPr bwMode="auto">
              <a:xfrm>
                <a:off x="3556471" y="2613712"/>
                <a:ext cx="308393" cy="307569"/>
                <a:chOff x="6567" y="467"/>
                <a:chExt cx="374" cy="373"/>
              </a:xfrm>
              <a:solidFill>
                <a:schemeClr val="tx1"/>
              </a:solidFill>
            </p:grpSpPr>
            <p:sp>
              <p:nvSpPr>
                <p:cNvPr id="142" name="Freeform 41">
                  <a:extLst>
                    <a:ext uri="{FF2B5EF4-FFF2-40B4-BE49-F238E27FC236}">
                      <a16:creationId xmlns:a16="http://schemas.microsoft.com/office/drawing/2014/main" id="{F4B47D21-3627-4915-82EE-58304D1150EB}"/>
                    </a:ext>
                  </a:extLst>
                </p:cNvPr>
                <p:cNvSpPr>
                  <a:spLocks noEditPoints="1"/>
                </p:cNvSpPr>
                <p:nvPr/>
              </p:nvSpPr>
              <p:spPr bwMode="auto">
                <a:xfrm>
                  <a:off x="6693" y="526"/>
                  <a:ext cx="112" cy="98"/>
                </a:xfrm>
                <a:custGeom>
                  <a:avLst/>
                  <a:gdLst>
                    <a:gd name="T0" fmla="*/ 33 w 76"/>
                    <a:gd name="T1" fmla="*/ 66 h 66"/>
                    <a:gd name="T2" fmla="*/ 6 w 76"/>
                    <a:gd name="T3" fmla="*/ 66 h 66"/>
                    <a:gd name="T4" fmla="*/ 1 w 76"/>
                    <a:gd name="T5" fmla="*/ 64 h 66"/>
                    <a:gd name="T6" fmla="*/ 0 w 76"/>
                    <a:gd name="T7" fmla="*/ 59 h 66"/>
                    <a:gd name="T8" fmla="*/ 13 w 76"/>
                    <a:gd name="T9" fmla="*/ 5 h 66"/>
                    <a:gd name="T10" fmla="*/ 18 w 76"/>
                    <a:gd name="T11" fmla="*/ 0 h 66"/>
                    <a:gd name="T12" fmla="*/ 47 w 76"/>
                    <a:gd name="T13" fmla="*/ 0 h 66"/>
                    <a:gd name="T14" fmla="*/ 63 w 76"/>
                    <a:gd name="T15" fmla="*/ 6 h 66"/>
                    <a:gd name="T16" fmla="*/ 73 w 76"/>
                    <a:gd name="T17" fmla="*/ 35 h 66"/>
                    <a:gd name="T18" fmla="*/ 61 w 76"/>
                    <a:gd name="T19" fmla="*/ 55 h 66"/>
                    <a:gd name="T20" fmla="*/ 54 w 76"/>
                    <a:gd name="T21" fmla="*/ 60 h 66"/>
                    <a:gd name="T22" fmla="*/ 54 w 76"/>
                    <a:gd name="T23" fmla="*/ 60 h 66"/>
                    <a:gd name="T24" fmla="*/ 33 w 76"/>
                    <a:gd name="T25" fmla="*/ 66 h 66"/>
                    <a:gd name="T26" fmla="*/ 51 w 76"/>
                    <a:gd name="T27" fmla="*/ 55 h 66"/>
                    <a:gd name="T28" fmla="*/ 51 w 76"/>
                    <a:gd name="T29" fmla="*/ 55 h 66"/>
                    <a:gd name="T30" fmla="*/ 13 w 76"/>
                    <a:gd name="T31" fmla="*/ 54 h 66"/>
                    <a:gd name="T32" fmla="*/ 33 w 76"/>
                    <a:gd name="T33" fmla="*/ 54 h 66"/>
                    <a:gd name="T34" fmla="*/ 48 w 76"/>
                    <a:gd name="T35" fmla="*/ 50 h 66"/>
                    <a:gd name="T36" fmla="*/ 52 w 76"/>
                    <a:gd name="T37" fmla="*/ 46 h 66"/>
                    <a:gd name="T38" fmla="*/ 61 w 76"/>
                    <a:gd name="T39" fmla="*/ 32 h 66"/>
                    <a:gd name="T40" fmla="*/ 56 w 76"/>
                    <a:gd name="T41" fmla="*/ 15 h 66"/>
                    <a:gd name="T42" fmla="*/ 47 w 76"/>
                    <a:gd name="T43" fmla="*/ 12 h 66"/>
                    <a:gd name="T44" fmla="*/ 23 w 76"/>
                    <a:gd name="T45" fmla="*/ 12 h 66"/>
                    <a:gd name="T46" fmla="*/ 13 w 76"/>
                    <a:gd name="T47" fmla="*/ 5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6" h="66">
                      <a:moveTo>
                        <a:pt x="33" y="66"/>
                      </a:moveTo>
                      <a:cubicBezTo>
                        <a:pt x="6" y="66"/>
                        <a:pt x="6" y="66"/>
                        <a:pt x="6" y="66"/>
                      </a:cubicBezTo>
                      <a:cubicBezTo>
                        <a:pt x="4" y="66"/>
                        <a:pt x="2" y="65"/>
                        <a:pt x="1" y="64"/>
                      </a:cubicBezTo>
                      <a:cubicBezTo>
                        <a:pt x="0" y="62"/>
                        <a:pt x="0" y="61"/>
                        <a:pt x="0" y="59"/>
                      </a:cubicBezTo>
                      <a:cubicBezTo>
                        <a:pt x="13" y="5"/>
                        <a:pt x="13" y="5"/>
                        <a:pt x="13" y="5"/>
                      </a:cubicBezTo>
                      <a:cubicBezTo>
                        <a:pt x="13" y="2"/>
                        <a:pt x="16" y="0"/>
                        <a:pt x="18" y="0"/>
                      </a:cubicBezTo>
                      <a:cubicBezTo>
                        <a:pt x="47" y="0"/>
                        <a:pt x="47" y="0"/>
                        <a:pt x="47" y="0"/>
                      </a:cubicBezTo>
                      <a:cubicBezTo>
                        <a:pt x="53" y="0"/>
                        <a:pt x="59" y="2"/>
                        <a:pt x="63" y="6"/>
                      </a:cubicBezTo>
                      <a:cubicBezTo>
                        <a:pt x="72" y="12"/>
                        <a:pt x="76" y="23"/>
                        <a:pt x="73" y="35"/>
                      </a:cubicBezTo>
                      <a:cubicBezTo>
                        <a:pt x="71" y="42"/>
                        <a:pt x="67" y="49"/>
                        <a:pt x="61" y="55"/>
                      </a:cubicBezTo>
                      <a:cubicBezTo>
                        <a:pt x="59" y="57"/>
                        <a:pt x="56" y="58"/>
                        <a:pt x="54" y="60"/>
                      </a:cubicBezTo>
                      <a:cubicBezTo>
                        <a:pt x="54" y="60"/>
                        <a:pt x="54" y="60"/>
                        <a:pt x="54" y="60"/>
                      </a:cubicBezTo>
                      <a:cubicBezTo>
                        <a:pt x="47" y="64"/>
                        <a:pt x="40" y="66"/>
                        <a:pt x="33" y="66"/>
                      </a:cubicBezTo>
                      <a:close/>
                      <a:moveTo>
                        <a:pt x="51" y="55"/>
                      </a:moveTo>
                      <a:cubicBezTo>
                        <a:pt x="51" y="55"/>
                        <a:pt x="51" y="55"/>
                        <a:pt x="51" y="55"/>
                      </a:cubicBezTo>
                      <a:close/>
                      <a:moveTo>
                        <a:pt x="13" y="54"/>
                      </a:moveTo>
                      <a:cubicBezTo>
                        <a:pt x="33" y="54"/>
                        <a:pt x="33" y="54"/>
                        <a:pt x="33" y="54"/>
                      </a:cubicBezTo>
                      <a:cubicBezTo>
                        <a:pt x="38" y="54"/>
                        <a:pt x="43" y="53"/>
                        <a:pt x="48" y="50"/>
                      </a:cubicBezTo>
                      <a:cubicBezTo>
                        <a:pt x="49" y="49"/>
                        <a:pt x="51" y="47"/>
                        <a:pt x="52" y="46"/>
                      </a:cubicBezTo>
                      <a:cubicBezTo>
                        <a:pt x="57" y="42"/>
                        <a:pt x="60" y="37"/>
                        <a:pt x="61" y="32"/>
                      </a:cubicBezTo>
                      <a:cubicBezTo>
                        <a:pt x="63" y="25"/>
                        <a:pt x="61" y="19"/>
                        <a:pt x="56" y="15"/>
                      </a:cubicBezTo>
                      <a:cubicBezTo>
                        <a:pt x="54" y="13"/>
                        <a:pt x="51" y="12"/>
                        <a:pt x="47" y="12"/>
                      </a:cubicBezTo>
                      <a:cubicBezTo>
                        <a:pt x="23" y="12"/>
                        <a:pt x="23" y="12"/>
                        <a:pt x="23" y="12"/>
                      </a:cubicBezTo>
                      <a:lnTo>
                        <a:pt x="13"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43" name="Freeform 42">
                  <a:extLst>
                    <a:ext uri="{FF2B5EF4-FFF2-40B4-BE49-F238E27FC236}">
                      <a16:creationId xmlns:a16="http://schemas.microsoft.com/office/drawing/2014/main" id="{0DEC5C1B-E20D-DA87-B1A7-74AFDF9713F3}"/>
                    </a:ext>
                  </a:extLst>
                </p:cNvPr>
                <p:cNvSpPr>
                  <a:spLocks noEditPoints="1"/>
                </p:cNvSpPr>
                <p:nvPr/>
              </p:nvSpPr>
              <p:spPr bwMode="auto">
                <a:xfrm>
                  <a:off x="6567" y="467"/>
                  <a:ext cx="323" cy="319"/>
                </a:xfrm>
                <a:custGeom>
                  <a:avLst/>
                  <a:gdLst>
                    <a:gd name="T0" fmla="*/ 65 w 218"/>
                    <a:gd name="T1" fmla="*/ 216 h 216"/>
                    <a:gd name="T2" fmla="*/ 6 w 218"/>
                    <a:gd name="T3" fmla="*/ 216 h 216"/>
                    <a:gd name="T4" fmla="*/ 1 w 218"/>
                    <a:gd name="T5" fmla="*/ 214 h 216"/>
                    <a:gd name="T6" fmla="*/ 0 w 218"/>
                    <a:gd name="T7" fmla="*/ 209 h 216"/>
                    <a:gd name="T8" fmla="*/ 48 w 218"/>
                    <a:gd name="T9" fmla="*/ 5 h 216"/>
                    <a:gd name="T10" fmla="*/ 54 w 218"/>
                    <a:gd name="T11" fmla="*/ 0 h 216"/>
                    <a:gd name="T12" fmla="*/ 154 w 218"/>
                    <a:gd name="T13" fmla="*/ 0 h 216"/>
                    <a:gd name="T14" fmla="*/ 203 w 218"/>
                    <a:gd name="T15" fmla="*/ 22 h 216"/>
                    <a:gd name="T16" fmla="*/ 213 w 218"/>
                    <a:gd name="T17" fmla="*/ 75 h 216"/>
                    <a:gd name="T18" fmla="*/ 124 w 218"/>
                    <a:gd name="T19" fmla="*/ 144 h 216"/>
                    <a:gd name="T20" fmla="*/ 87 w 218"/>
                    <a:gd name="T21" fmla="*/ 144 h 216"/>
                    <a:gd name="T22" fmla="*/ 70 w 218"/>
                    <a:gd name="T23" fmla="*/ 212 h 216"/>
                    <a:gd name="T24" fmla="*/ 65 w 218"/>
                    <a:gd name="T25" fmla="*/ 216 h 216"/>
                    <a:gd name="T26" fmla="*/ 14 w 218"/>
                    <a:gd name="T27" fmla="*/ 204 h 216"/>
                    <a:gd name="T28" fmla="*/ 60 w 218"/>
                    <a:gd name="T29" fmla="*/ 204 h 216"/>
                    <a:gd name="T30" fmla="*/ 77 w 218"/>
                    <a:gd name="T31" fmla="*/ 137 h 216"/>
                    <a:gd name="T32" fmla="*/ 83 w 218"/>
                    <a:gd name="T33" fmla="*/ 132 h 216"/>
                    <a:gd name="T34" fmla="*/ 124 w 218"/>
                    <a:gd name="T35" fmla="*/ 132 h 216"/>
                    <a:gd name="T36" fmla="*/ 201 w 218"/>
                    <a:gd name="T37" fmla="*/ 72 h 216"/>
                    <a:gd name="T38" fmla="*/ 193 w 218"/>
                    <a:gd name="T39" fmla="*/ 30 h 216"/>
                    <a:gd name="T40" fmla="*/ 154 w 218"/>
                    <a:gd name="T41" fmla="*/ 12 h 216"/>
                    <a:gd name="T42" fmla="*/ 59 w 218"/>
                    <a:gd name="T43" fmla="*/ 12 h 216"/>
                    <a:gd name="T44" fmla="*/ 14 w 218"/>
                    <a:gd name="T45"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8" h="216">
                      <a:moveTo>
                        <a:pt x="65" y="216"/>
                      </a:moveTo>
                      <a:cubicBezTo>
                        <a:pt x="6" y="216"/>
                        <a:pt x="6" y="216"/>
                        <a:pt x="6" y="216"/>
                      </a:cubicBezTo>
                      <a:cubicBezTo>
                        <a:pt x="4" y="216"/>
                        <a:pt x="3" y="215"/>
                        <a:pt x="1" y="214"/>
                      </a:cubicBezTo>
                      <a:cubicBezTo>
                        <a:pt x="0" y="213"/>
                        <a:pt x="0" y="211"/>
                        <a:pt x="0" y="209"/>
                      </a:cubicBezTo>
                      <a:cubicBezTo>
                        <a:pt x="48" y="5"/>
                        <a:pt x="48" y="5"/>
                        <a:pt x="48" y="5"/>
                      </a:cubicBezTo>
                      <a:cubicBezTo>
                        <a:pt x="49" y="2"/>
                        <a:pt x="51" y="0"/>
                        <a:pt x="54" y="0"/>
                      </a:cubicBezTo>
                      <a:cubicBezTo>
                        <a:pt x="154" y="0"/>
                        <a:pt x="154" y="0"/>
                        <a:pt x="154" y="0"/>
                      </a:cubicBezTo>
                      <a:cubicBezTo>
                        <a:pt x="173" y="0"/>
                        <a:pt x="192" y="9"/>
                        <a:pt x="203" y="22"/>
                      </a:cubicBezTo>
                      <a:cubicBezTo>
                        <a:pt x="210" y="32"/>
                        <a:pt x="218" y="49"/>
                        <a:pt x="213" y="75"/>
                      </a:cubicBezTo>
                      <a:cubicBezTo>
                        <a:pt x="203" y="117"/>
                        <a:pt x="169" y="144"/>
                        <a:pt x="124" y="144"/>
                      </a:cubicBezTo>
                      <a:cubicBezTo>
                        <a:pt x="87" y="144"/>
                        <a:pt x="87" y="144"/>
                        <a:pt x="87" y="144"/>
                      </a:cubicBezTo>
                      <a:cubicBezTo>
                        <a:pt x="70" y="212"/>
                        <a:pt x="70" y="212"/>
                        <a:pt x="70" y="212"/>
                      </a:cubicBezTo>
                      <a:cubicBezTo>
                        <a:pt x="70" y="214"/>
                        <a:pt x="67" y="216"/>
                        <a:pt x="65" y="216"/>
                      </a:cubicBezTo>
                      <a:close/>
                      <a:moveTo>
                        <a:pt x="14" y="204"/>
                      </a:moveTo>
                      <a:cubicBezTo>
                        <a:pt x="60" y="204"/>
                        <a:pt x="60" y="204"/>
                        <a:pt x="60" y="204"/>
                      </a:cubicBezTo>
                      <a:cubicBezTo>
                        <a:pt x="77" y="137"/>
                        <a:pt x="77" y="137"/>
                        <a:pt x="77" y="137"/>
                      </a:cubicBezTo>
                      <a:cubicBezTo>
                        <a:pt x="77" y="134"/>
                        <a:pt x="80" y="132"/>
                        <a:pt x="83" y="132"/>
                      </a:cubicBezTo>
                      <a:cubicBezTo>
                        <a:pt x="124" y="132"/>
                        <a:pt x="124" y="132"/>
                        <a:pt x="124" y="132"/>
                      </a:cubicBezTo>
                      <a:cubicBezTo>
                        <a:pt x="163" y="132"/>
                        <a:pt x="193" y="109"/>
                        <a:pt x="201" y="72"/>
                      </a:cubicBezTo>
                      <a:cubicBezTo>
                        <a:pt x="205" y="55"/>
                        <a:pt x="202" y="41"/>
                        <a:pt x="193" y="30"/>
                      </a:cubicBezTo>
                      <a:cubicBezTo>
                        <a:pt x="185" y="19"/>
                        <a:pt x="170" y="12"/>
                        <a:pt x="154" y="12"/>
                      </a:cubicBezTo>
                      <a:cubicBezTo>
                        <a:pt x="59" y="12"/>
                        <a:pt x="59" y="12"/>
                        <a:pt x="59" y="12"/>
                      </a:cubicBezTo>
                      <a:lnTo>
                        <a:pt x="14"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44" name="Freeform 43">
                  <a:extLst>
                    <a:ext uri="{FF2B5EF4-FFF2-40B4-BE49-F238E27FC236}">
                      <a16:creationId xmlns:a16="http://schemas.microsoft.com/office/drawing/2014/main" id="{FE95158B-99D1-9A67-4385-D974A6775DF0}"/>
                    </a:ext>
                  </a:extLst>
                </p:cNvPr>
                <p:cNvSpPr>
                  <a:spLocks/>
                </p:cNvSpPr>
                <p:nvPr/>
              </p:nvSpPr>
              <p:spPr bwMode="auto">
                <a:xfrm>
                  <a:off x="6621" y="559"/>
                  <a:ext cx="320" cy="281"/>
                </a:xfrm>
                <a:custGeom>
                  <a:avLst/>
                  <a:gdLst>
                    <a:gd name="T0" fmla="*/ 65 w 217"/>
                    <a:gd name="T1" fmla="*/ 190 h 190"/>
                    <a:gd name="T2" fmla="*/ 6 w 217"/>
                    <a:gd name="T3" fmla="*/ 190 h 190"/>
                    <a:gd name="T4" fmla="*/ 2 w 217"/>
                    <a:gd name="T5" fmla="*/ 188 h 190"/>
                    <a:gd name="T6" fmla="*/ 0 w 217"/>
                    <a:gd name="T7" fmla="*/ 183 h 190"/>
                    <a:gd name="T8" fmla="*/ 5 w 217"/>
                    <a:gd name="T9" fmla="*/ 165 h 190"/>
                    <a:gd name="T10" fmla="*/ 12 w 217"/>
                    <a:gd name="T11" fmla="*/ 161 h 190"/>
                    <a:gd name="T12" fmla="*/ 16 w 217"/>
                    <a:gd name="T13" fmla="*/ 168 h 190"/>
                    <a:gd name="T14" fmla="*/ 14 w 217"/>
                    <a:gd name="T15" fmla="*/ 178 h 190"/>
                    <a:gd name="T16" fmla="*/ 60 w 217"/>
                    <a:gd name="T17" fmla="*/ 178 h 190"/>
                    <a:gd name="T18" fmla="*/ 77 w 217"/>
                    <a:gd name="T19" fmla="*/ 111 h 190"/>
                    <a:gd name="T20" fmla="*/ 83 w 217"/>
                    <a:gd name="T21" fmla="*/ 106 h 190"/>
                    <a:gd name="T22" fmla="*/ 87 w 217"/>
                    <a:gd name="T23" fmla="*/ 106 h 190"/>
                    <a:gd name="T24" fmla="*/ 126 w 217"/>
                    <a:gd name="T25" fmla="*/ 106 h 190"/>
                    <a:gd name="T26" fmla="*/ 201 w 217"/>
                    <a:gd name="T27" fmla="*/ 46 h 190"/>
                    <a:gd name="T28" fmla="*/ 197 w 217"/>
                    <a:gd name="T29" fmla="*/ 10 h 190"/>
                    <a:gd name="T30" fmla="*/ 200 w 217"/>
                    <a:gd name="T31" fmla="*/ 1 h 190"/>
                    <a:gd name="T32" fmla="*/ 208 w 217"/>
                    <a:gd name="T33" fmla="*/ 4 h 190"/>
                    <a:gd name="T34" fmla="*/ 213 w 217"/>
                    <a:gd name="T35" fmla="*/ 49 h 190"/>
                    <a:gd name="T36" fmla="*/ 126 w 217"/>
                    <a:gd name="T37" fmla="*/ 118 h 190"/>
                    <a:gd name="T38" fmla="*/ 88 w 217"/>
                    <a:gd name="T39" fmla="*/ 118 h 190"/>
                    <a:gd name="T40" fmla="*/ 71 w 217"/>
                    <a:gd name="T41" fmla="*/ 186 h 190"/>
                    <a:gd name="T42" fmla="*/ 65 w 217"/>
                    <a:gd name="T43" fmla="*/ 1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7" h="190">
                      <a:moveTo>
                        <a:pt x="65" y="190"/>
                      </a:moveTo>
                      <a:cubicBezTo>
                        <a:pt x="6" y="190"/>
                        <a:pt x="6" y="190"/>
                        <a:pt x="6" y="190"/>
                      </a:cubicBezTo>
                      <a:cubicBezTo>
                        <a:pt x="4" y="190"/>
                        <a:pt x="3" y="190"/>
                        <a:pt x="2" y="188"/>
                      </a:cubicBezTo>
                      <a:cubicBezTo>
                        <a:pt x="0" y="187"/>
                        <a:pt x="0" y="185"/>
                        <a:pt x="0" y="183"/>
                      </a:cubicBezTo>
                      <a:cubicBezTo>
                        <a:pt x="5" y="165"/>
                        <a:pt x="5" y="165"/>
                        <a:pt x="5" y="165"/>
                      </a:cubicBezTo>
                      <a:cubicBezTo>
                        <a:pt x="5" y="162"/>
                        <a:pt x="8" y="160"/>
                        <a:pt x="12" y="161"/>
                      </a:cubicBezTo>
                      <a:cubicBezTo>
                        <a:pt x="15" y="161"/>
                        <a:pt x="17" y="164"/>
                        <a:pt x="16" y="168"/>
                      </a:cubicBezTo>
                      <a:cubicBezTo>
                        <a:pt x="14" y="178"/>
                        <a:pt x="14" y="178"/>
                        <a:pt x="14" y="178"/>
                      </a:cubicBezTo>
                      <a:cubicBezTo>
                        <a:pt x="60" y="178"/>
                        <a:pt x="60" y="178"/>
                        <a:pt x="60" y="178"/>
                      </a:cubicBezTo>
                      <a:cubicBezTo>
                        <a:pt x="77" y="111"/>
                        <a:pt x="77" y="111"/>
                        <a:pt x="77" y="111"/>
                      </a:cubicBezTo>
                      <a:cubicBezTo>
                        <a:pt x="78" y="108"/>
                        <a:pt x="80" y="106"/>
                        <a:pt x="83" y="106"/>
                      </a:cubicBezTo>
                      <a:cubicBezTo>
                        <a:pt x="87" y="106"/>
                        <a:pt x="87" y="106"/>
                        <a:pt x="87" y="106"/>
                      </a:cubicBezTo>
                      <a:cubicBezTo>
                        <a:pt x="97" y="106"/>
                        <a:pt x="123" y="106"/>
                        <a:pt x="126" y="106"/>
                      </a:cubicBezTo>
                      <a:cubicBezTo>
                        <a:pt x="164" y="106"/>
                        <a:pt x="193" y="82"/>
                        <a:pt x="201" y="46"/>
                      </a:cubicBezTo>
                      <a:cubicBezTo>
                        <a:pt x="204" y="32"/>
                        <a:pt x="203" y="20"/>
                        <a:pt x="197" y="10"/>
                      </a:cubicBezTo>
                      <a:cubicBezTo>
                        <a:pt x="196" y="7"/>
                        <a:pt x="197" y="3"/>
                        <a:pt x="200" y="1"/>
                      </a:cubicBezTo>
                      <a:cubicBezTo>
                        <a:pt x="202" y="0"/>
                        <a:pt x="206" y="1"/>
                        <a:pt x="208" y="4"/>
                      </a:cubicBezTo>
                      <a:cubicBezTo>
                        <a:pt x="215" y="16"/>
                        <a:pt x="217" y="32"/>
                        <a:pt x="213" y="49"/>
                      </a:cubicBezTo>
                      <a:cubicBezTo>
                        <a:pt x="204" y="90"/>
                        <a:pt x="170" y="118"/>
                        <a:pt x="126" y="118"/>
                      </a:cubicBezTo>
                      <a:cubicBezTo>
                        <a:pt x="123" y="118"/>
                        <a:pt x="99" y="118"/>
                        <a:pt x="88" y="118"/>
                      </a:cubicBezTo>
                      <a:cubicBezTo>
                        <a:pt x="71" y="186"/>
                        <a:pt x="71" y="186"/>
                        <a:pt x="71" y="186"/>
                      </a:cubicBezTo>
                      <a:cubicBezTo>
                        <a:pt x="70" y="189"/>
                        <a:pt x="68" y="190"/>
                        <a:pt x="65" y="1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60" name="Group 82">
                <a:extLst>
                  <a:ext uri="{FF2B5EF4-FFF2-40B4-BE49-F238E27FC236}">
                    <a16:creationId xmlns:a16="http://schemas.microsoft.com/office/drawing/2014/main" id="{EF52BEDF-8CA6-91A1-E1CF-83877A0B7525}"/>
                  </a:ext>
                </a:extLst>
              </p:cNvPr>
              <p:cNvGrpSpPr>
                <a:grpSpLocks noChangeAspect="1"/>
              </p:cNvGrpSpPr>
              <p:nvPr/>
            </p:nvGrpSpPr>
            <p:grpSpPr bwMode="auto">
              <a:xfrm>
                <a:off x="957677" y="4021640"/>
                <a:ext cx="376783" cy="326545"/>
                <a:chOff x="3453" y="1766"/>
                <a:chExt cx="390" cy="338"/>
              </a:xfrm>
              <a:solidFill>
                <a:schemeClr val="tx1"/>
              </a:solidFill>
            </p:grpSpPr>
            <p:sp>
              <p:nvSpPr>
                <p:cNvPr id="140" name="Freeform 83">
                  <a:extLst>
                    <a:ext uri="{FF2B5EF4-FFF2-40B4-BE49-F238E27FC236}">
                      <a16:creationId xmlns:a16="http://schemas.microsoft.com/office/drawing/2014/main" id="{3D8631B2-E78B-5A5D-0507-0D0CF25538F5}"/>
                    </a:ext>
                  </a:extLst>
                </p:cNvPr>
                <p:cNvSpPr>
                  <a:spLocks noEditPoints="1"/>
                </p:cNvSpPr>
                <p:nvPr/>
              </p:nvSpPr>
              <p:spPr bwMode="auto">
                <a:xfrm>
                  <a:off x="3670" y="1895"/>
                  <a:ext cx="173" cy="209"/>
                </a:xfrm>
                <a:custGeom>
                  <a:avLst/>
                  <a:gdLst>
                    <a:gd name="T0" fmla="*/ 58 w 117"/>
                    <a:gd name="T1" fmla="*/ 142 h 142"/>
                    <a:gd name="T2" fmla="*/ 114 w 117"/>
                    <a:gd name="T3" fmla="*/ 93 h 142"/>
                    <a:gd name="T4" fmla="*/ 76 w 117"/>
                    <a:gd name="T5" fmla="*/ 72 h 142"/>
                    <a:gd name="T6" fmla="*/ 76 w 117"/>
                    <a:gd name="T7" fmla="*/ 63 h 142"/>
                    <a:gd name="T8" fmla="*/ 82 w 117"/>
                    <a:gd name="T9" fmla="*/ 47 h 142"/>
                    <a:gd name="T10" fmla="*/ 82 w 117"/>
                    <a:gd name="T11" fmla="*/ 47 h 142"/>
                    <a:gd name="T12" fmla="*/ 83 w 117"/>
                    <a:gd name="T13" fmla="*/ 29 h 142"/>
                    <a:gd name="T14" fmla="*/ 83 w 117"/>
                    <a:gd name="T15" fmla="*/ 29 h 142"/>
                    <a:gd name="T16" fmla="*/ 61 w 117"/>
                    <a:gd name="T17" fmla="*/ 0 h 142"/>
                    <a:gd name="T18" fmla="*/ 38 w 117"/>
                    <a:gd name="T19" fmla="*/ 8 h 142"/>
                    <a:gd name="T20" fmla="*/ 30 w 117"/>
                    <a:gd name="T21" fmla="*/ 11 h 142"/>
                    <a:gd name="T22" fmla="*/ 29 w 117"/>
                    <a:gd name="T23" fmla="*/ 32 h 142"/>
                    <a:gd name="T24" fmla="*/ 29 w 117"/>
                    <a:gd name="T25" fmla="*/ 43 h 142"/>
                    <a:gd name="T26" fmla="*/ 41 w 117"/>
                    <a:gd name="T27" fmla="*/ 65 h 142"/>
                    <a:gd name="T28" fmla="*/ 41 w 117"/>
                    <a:gd name="T29" fmla="*/ 72 h 142"/>
                    <a:gd name="T30" fmla="*/ 3 w 117"/>
                    <a:gd name="T31" fmla="*/ 93 h 142"/>
                    <a:gd name="T32" fmla="*/ 11 w 117"/>
                    <a:gd name="T33" fmla="*/ 119 h 142"/>
                    <a:gd name="T34" fmla="*/ 39 w 117"/>
                    <a:gd name="T35" fmla="*/ 84 h 142"/>
                    <a:gd name="T36" fmla="*/ 49 w 117"/>
                    <a:gd name="T37" fmla="*/ 81 h 142"/>
                    <a:gd name="T38" fmla="*/ 52 w 117"/>
                    <a:gd name="T39" fmla="*/ 61 h 142"/>
                    <a:gd name="T40" fmla="*/ 40 w 117"/>
                    <a:gd name="T41" fmla="*/ 43 h 142"/>
                    <a:gd name="T42" fmla="*/ 40 w 117"/>
                    <a:gd name="T43" fmla="*/ 28 h 142"/>
                    <a:gd name="T44" fmla="*/ 38 w 117"/>
                    <a:gd name="T45" fmla="*/ 19 h 142"/>
                    <a:gd name="T46" fmla="*/ 41 w 117"/>
                    <a:gd name="T47" fmla="*/ 19 h 142"/>
                    <a:gd name="T48" fmla="*/ 61 w 117"/>
                    <a:gd name="T49" fmla="*/ 11 h 142"/>
                    <a:gd name="T50" fmla="*/ 72 w 117"/>
                    <a:gd name="T51" fmla="*/ 26 h 142"/>
                    <a:gd name="T52" fmla="*/ 75 w 117"/>
                    <a:gd name="T53" fmla="*/ 37 h 142"/>
                    <a:gd name="T54" fmla="*/ 75 w 117"/>
                    <a:gd name="T55" fmla="*/ 38 h 142"/>
                    <a:gd name="T56" fmla="*/ 67 w 117"/>
                    <a:gd name="T57" fmla="*/ 56 h 142"/>
                    <a:gd name="T58" fmla="*/ 65 w 117"/>
                    <a:gd name="T59" fmla="*/ 76 h 142"/>
                    <a:gd name="T60" fmla="*/ 79 w 117"/>
                    <a:gd name="T61" fmla="*/ 84 h 142"/>
                    <a:gd name="T62" fmla="*/ 106 w 117"/>
                    <a:gd name="T63" fmla="*/ 119 h 142"/>
                    <a:gd name="T64" fmla="*/ 106 w 117"/>
                    <a:gd name="T65" fmla="*/ 119 h 142"/>
                    <a:gd name="T66" fmla="*/ 11 w 117"/>
                    <a:gd name="T67" fmla="*/ 119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7" h="142">
                      <a:moveTo>
                        <a:pt x="0" y="123"/>
                      </a:moveTo>
                      <a:cubicBezTo>
                        <a:pt x="0" y="127"/>
                        <a:pt x="24" y="142"/>
                        <a:pt x="58" y="142"/>
                      </a:cubicBezTo>
                      <a:cubicBezTo>
                        <a:pt x="93" y="142"/>
                        <a:pt x="117" y="127"/>
                        <a:pt x="117" y="123"/>
                      </a:cubicBezTo>
                      <a:cubicBezTo>
                        <a:pt x="117" y="121"/>
                        <a:pt x="117" y="103"/>
                        <a:pt x="114" y="93"/>
                      </a:cubicBezTo>
                      <a:cubicBezTo>
                        <a:pt x="112" y="85"/>
                        <a:pt x="99" y="80"/>
                        <a:pt x="82" y="74"/>
                      </a:cubicBezTo>
                      <a:cubicBezTo>
                        <a:pt x="80" y="74"/>
                        <a:pt x="79" y="73"/>
                        <a:pt x="76" y="72"/>
                      </a:cubicBezTo>
                      <a:cubicBezTo>
                        <a:pt x="76" y="72"/>
                        <a:pt x="76" y="72"/>
                        <a:pt x="76" y="72"/>
                      </a:cubicBezTo>
                      <a:cubicBezTo>
                        <a:pt x="76" y="63"/>
                        <a:pt x="76" y="63"/>
                        <a:pt x="76" y="63"/>
                      </a:cubicBezTo>
                      <a:cubicBezTo>
                        <a:pt x="76" y="63"/>
                        <a:pt x="76" y="63"/>
                        <a:pt x="76" y="63"/>
                      </a:cubicBezTo>
                      <a:cubicBezTo>
                        <a:pt x="78" y="61"/>
                        <a:pt x="81" y="56"/>
                        <a:pt x="82" y="47"/>
                      </a:cubicBezTo>
                      <a:cubicBezTo>
                        <a:pt x="82" y="47"/>
                        <a:pt x="82" y="47"/>
                        <a:pt x="82" y="47"/>
                      </a:cubicBezTo>
                      <a:cubicBezTo>
                        <a:pt x="82" y="47"/>
                        <a:pt x="82" y="47"/>
                        <a:pt x="82" y="47"/>
                      </a:cubicBezTo>
                      <a:cubicBezTo>
                        <a:pt x="84" y="45"/>
                        <a:pt x="86" y="41"/>
                        <a:pt x="86" y="37"/>
                      </a:cubicBezTo>
                      <a:cubicBezTo>
                        <a:pt x="86" y="34"/>
                        <a:pt x="85" y="32"/>
                        <a:pt x="83" y="29"/>
                      </a:cubicBezTo>
                      <a:cubicBezTo>
                        <a:pt x="83" y="29"/>
                        <a:pt x="83" y="29"/>
                        <a:pt x="83" y="29"/>
                      </a:cubicBezTo>
                      <a:cubicBezTo>
                        <a:pt x="83" y="29"/>
                        <a:pt x="83" y="29"/>
                        <a:pt x="83" y="29"/>
                      </a:cubicBezTo>
                      <a:cubicBezTo>
                        <a:pt x="87" y="23"/>
                        <a:pt x="87" y="17"/>
                        <a:pt x="86" y="13"/>
                      </a:cubicBezTo>
                      <a:cubicBezTo>
                        <a:pt x="83" y="3"/>
                        <a:pt x="71" y="0"/>
                        <a:pt x="61" y="0"/>
                      </a:cubicBezTo>
                      <a:cubicBezTo>
                        <a:pt x="57" y="0"/>
                        <a:pt x="44" y="0"/>
                        <a:pt x="38" y="8"/>
                      </a:cubicBezTo>
                      <a:cubicBezTo>
                        <a:pt x="38" y="8"/>
                        <a:pt x="38" y="8"/>
                        <a:pt x="38" y="8"/>
                      </a:cubicBezTo>
                      <a:cubicBezTo>
                        <a:pt x="37" y="8"/>
                        <a:pt x="37" y="8"/>
                        <a:pt x="37" y="8"/>
                      </a:cubicBezTo>
                      <a:cubicBezTo>
                        <a:pt x="34" y="9"/>
                        <a:pt x="32" y="10"/>
                        <a:pt x="30" y="11"/>
                      </a:cubicBezTo>
                      <a:cubicBezTo>
                        <a:pt x="25" y="17"/>
                        <a:pt x="28" y="25"/>
                        <a:pt x="29" y="31"/>
                      </a:cubicBezTo>
                      <a:cubicBezTo>
                        <a:pt x="29" y="31"/>
                        <a:pt x="29" y="31"/>
                        <a:pt x="29" y="32"/>
                      </a:cubicBezTo>
                      <a:cubicBezTo>
                        <a:pt x="29" y="32"/>
                        <a:pt x="29" y="32"/>
                        <a:pt x="29" y="32"/>
                      </a:cubicBezTo>
                      <a:cubicBezTo>
                        <a:pt x="29" y="43"/>
                        <a:pt x="29" y="43"/>
                        <a:pt x="29" y="43"/>
                      </a:cubicBezTo>
                      <a:cubicBezTo>
                        <a:pt x="29" y="52"/>
                        <a:pt x="33" y="60"/>
                        <a:pt x="41" y="64"/>
                      </a:cubicBezTo>
                      <a:cubicBezTo>
                        <a:pt x="41" y="65"/>
                        <a:pt x="41" y="65"/>
                        <a:pt x="41" y="65"/>
                      </a:cubicBezTo>
                      <a:cubicBezTo>
                        <a:pt x="41" y="72"/>
                        <a:pt x="41" y="72"/>
                        <a:pt x="41" y="72"/>
                      </a:cubicBezTo>
                      <a:cubicBezTo>
                        <a:pt x="41" y="72"/>
                        <a:pt x="41" y="72"/>
                        <a:pt x="41" y="72"/>
                      </a:cubicBezTo>
                      <a:cubicBezTo>
                        <a:pt x="39" y="73"/>
                        <a:pt x="37" y="74"/>
                        <a:pt x="36" y="74"/>
                      </a:cubicBezTo>
                      <a:cubicBezTo>
                        <a:pt x="19" y="80"/>
                        <a:pt x="5" y="85"/>
                        <a:pt x="3" y="93"/>
                      </a:cubicBezTo>
                      <a:cubicBezTo>
                        <a:pt x="0" y="103"/>
                        <a:pt x="0" y="121"/>
                        <a:pt x="0" y="123"/>
                      </a:cubicBezTo>
                      <a:close/>
                      <a:moveTo>
                        <a:pt x="11" y="119"/>
                      </a:moveTo>
                      <a:cubicBezTo>
                        <a:pt x="11" y="108"/>
                        <a:pt x="12" y="100"/>
                        <a:pt x="13" y="97"/>
                      </a:cubicBezTo>
                      <a:cubicBezTo>
                        <a:pt x="14" y="94"/>
                        <a:pt x="25" y="90"/>
                        <a:pt x="39" y="84"/>
                      </a:cubicBezTo>
                      <a:cubicBezTo>
                        <a:pt x="40" y="84"/>
                        <a:pt x="40" y="84"/>
                        <a:pt x="40" y="84"/>
                      </a:cubicBezTo>
                      <a:cubicBezTo>
                        <a:pt x="42" y="83"/>
                        <a:pt x="45" y="82"/>
                        <a:pt x="49" y="81"/>
                      </a:cubicBezTo>
                      <a:cubicBezTo>
                        <a:pt x="50" y="80"/>
                        <a:pt x="52" y="78"/>
                        <a:pt x="52" y="76"/>
                      </a:cubicBezTo>
                      <a:cubicBezTo>
                        <a:pt x="52" y="61"/>
                        <a:pt x="52" y="61"/>
                        <a:pt x="52" y="61"/>
                      </a:cubicBezTo>
                      <a:cubicBezTo>
                        <a:pt x="52" y="58"/>
                        <a:pt x="50" y="57"/>
                        <a:pt x="48" y="56"/>
                      </a:cubicBezTo>
                      <a:cubicBezTo>
                        <a:pt x="48" y="56"/>
                        <a:pt x="40" y="53"/>
                        <a:pt x="40" y="43"/>
                      </a:cubicBezTo>
                      <a:cubicBezTo>
                        <a:pt x="40" y="31"/>
                        <a:pt x="40" y="31"/>
                        <a:pt x="40" y="31"/>
                      </a:cubicBezTo>
                      <a:cubicBezTo>
                        <a:pt x="40" y="30"/>
                        <a:pt x="40" y="29"/>
                        <a:pt x="40" y="28"/>
                      </a:cubicBezTo>
                      <a:cubicBezTo>
                        <a:pt x="38" y="23"/>
                        <a:pt x="38" y="21"/>
                        <a:pt x="38" y="20"/>
                      </a:cubicBezTo>
                      <a:cubicBezTo>
                        <a:pt x="38" y="19"/>
                        <a:pt x="38" y="19"/>
                        <a:pt x="38" y="19"/>
                      </a:cubicBezTo>
                      <a:cubicBezTo>
                        <a:pt x="39" y="19"/>
                        <a:pt x="39" y="19"/>
                        <a:pt x="39" y="19"/>
                      </a:cubicBezTo>
                      <a:cubicBezTo>
                        <a:pt x="39" y="19"/>
                        <a:pt x="40" y="19"/>
                        <a:pt x="41" y="19"/>
                      </a:cubicBezTo>
                      <a:cubicBezTo>
                        <a:pt x="43" y="20"/>
                        <a:pt x="46" y="18"/>
                        <a:pt x="47" y="15"/>
                      </a:cubicBezTo>
                      <a:cubicBezTo>
                        <a:pt x="47" y="13"/>
                        <a:pt x="53" y="11"/>
                        <a:pt x="61" y="11"/>
                      </a:cubicBezTo>
                      <a:cubicBezTo>
                        <a:pt x="70" y="11"/>
                        <a:pt x="75" y="13"/>
                        <a:pt x="75" y="15"/>
                      </a:cubicBezTo>
                      <a:cubicBezTo>
                        <a:pt x="76" y="19"/>
                        <a:pt x="74" y="24"/>
                        <a:pt x="72" y="26"/>
                      </a:cubicBezTo>
                      <a:cubicBezTo>
                        <a:pt x="71" y="29"/>
                        <a:pt x="70" y="29"/>
                        <a:pt x="70" y="31"/>
                      </a:cubicBezTo>
                      <a:cubicBezTo>
                        <a:pt x="70" y="33"/>
                        <a:pt x="72" y="36"/>
                        <a:pt x="75" y="37"/>
                      </a:cubicBezTo>
                      <a:cubicBezTo>
                        <a:pt x="76" y="37"/>
                        <a:pt x="76" y="37"/>
                        <a:pt x="76" y="37"/>
                      </a:cubicBezTo>
                      <a:cubicBezTo>
                        <a:pt x="75" y="38"/>
                        <a:pt x="75" y="38"/>
                        <a:pt x="75" y="38"/>
                      </a:cubicBezTo>
                      <a:cubicBezTo>
                        <a:pt x="72" y="39"/>
                        <a:pt x="70" y="41"/>
                        <a:pt x="70" y="43"/>
                      </a:cubicBezTo>
                      <a:cubicBezTo>
                        <a:pt x="70" y="52"/>
                        <a:pt x="68" y="56"/>
                        <a:pt x="67" y="56"/>
                      </a:cubicBezTo>
                      <a:cubicBezTo>
                        <a:pt x="66" y="58"/>
                        <a:pt x="65" y="59"/>
                        <a:pt x="65" y="61"/>
                      </a:cubicBezTo>
                      <a:cubicBezTo>
                        <a:pt x="65" y="76"/>
                        <a:pt x="65" y="76"/>
                        <a:pt x="65" y="76"/>
                      </a:cubicBezTo>
                      <a:cubicBezTo>
                        <a:pt x="65" y="78"/>
                        <a:pt x="66" y="80"/>
                        <a:pt x="68" y="81"/>
                      </a:cubicBezTo>
                      <a:cubicBezTo>
                        <a:pt x="71" y="82"/>
                        <a:pt x="75" y="83"/>
                        <a:pt x="79" y="84"/>
                      </a:cubicBezTo>
                      <a:cubicBezTo>
                        <a:pt x="93" y="90"/>
                        <a:pt x="103" y="94"/>
                        <a:pt x="104" y="97"/>
                      </a:cubicBezTo>
                      <a:cubicBezTo>
                        <a:pt x="105" y="100"/>
                        <a:pt x="106" y="108"/>
                        <a:pt x="106" y="119"/>
                      </a:cubicBezTo>
                      <a:cubicBezTo>
                        <a:pt x="106" y="119"/>
                        <a:pt x="106" y="119"/>
                        <a:pt x="106" y="119"/>
                      </a:cubicBezTo>
                      <a:cubicBezTo>
                        <a:pt x="106" y="119"/>
                        <a:pt x="106" y="119"/>
                        <a:pt x="106" y="119"/>
                      </a:cubicBezTo>
                      <a:cubicBezTo>
                        <a:pt x="101" y="122"/>
                        <a:pt x="85" y="131"/>
                        <a:pt x="58" y="131"/>
                      </a:cubicBezTo>
                      <a:cubicBezTo>
                        <a:pt x="32" y="131"/>
                        <a:pt x="16" y="122"/>
                        <a:pt x="11" y="119"/>
                      </a:cubicBezTo>
                      <a:cubicBezTo>
                        <a:pt x="11" y="119"/>
                        <a:pt x="11" y="119"/>
                        <a:pt x="11"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41" name="Freeform 84">
                  <a:extLst>
                    <a:ext uri="{FF2B5EF4-FFF2-40B4-BE49-F238E27FC236}">
                      <a16:creationId xmlns:a16="http://schemas.microsoft.com/office/drawing/2014/main" id="{3245421B-2BEE-01BC-C9EF-C41F18697196}"/>
                    </a:ext>
                  </a:extLst>
                </p:cNvPr>
                <p:cNvSpPr>
                  <a:spLocks noEditPoints="1"/>
                </p:cNvSpPr>
                <p:nvPr/>
              </p:nvSpPr>
              <p:spPr bwMode="auto">
                <a:xfrm>
                  <a:off x="3453" y="1766"/>
                  <a:ext cx="390" cy="264"/>
                </a:xfrm>
                <a:custGeom>
                  <a:avLst/>
                  <a:gdLst>
                    <a:gd name="T0" fmla="*/ 132 w 264"/>
                    <a:gd name="T1" fmla="*/ 167 h 179"/>
                    <a:gd name="T2" fmla="*/ 24 w 264"/>
                    <a:gd name="T3" fmla="*/ 167 h 179"/>
                    <a:gd name="T4" fmla="*/ 12 w 264"/>
                    <a:gd name="T5" fmla="*/ 155 h 179"/>
                    <a:gd name="T6" fmla="*/ 12 w 264"/>
                    <a:gd name="T7" fmla="*/ 24 h 179"/>
                    <a:gd name="T8" fmla="*/ 12 w 264"/>
                    <a:gd name="T9" fmla="*/ 20 h 179"/>
                    <a:gd name="T10" fmla="*/ 128 w 264"/>
                    <a:gd name="T11" fmla="*/ 112 h 179"/>
                    <a:gd name="T12" fmla="*/ 132 w 264"/>
                    <a:gd name="T13" fmla="*/ 113 h 179"/>
                    <a:gd name="T14" fmla="*/ 136 w 264"/>
                    <a:gd name="T15" fmla="*/ 112 h 179"/>
                    <a:gd name="T16" fmla="*/ 251 w 264"/>
                    <a:gd name="T17" fmla="*/ 20 h 179"/>
                    <a:gd name="T18" fmla="*/ 252 w 264"/>
                    <a:gd name="T19" fmla="*/ 24 h 179"/>
                    <a:gd name="T20" fmla="*/ 252 w 264"/>
                    <a:gd name="T21" fmla="*/ 153 h 179"/>
                    <a:gd name="T22" fmla="*/ 264 w 264"/>
                    <a:gd name="T23" fmla="*/ 150 h 179"/>
                    <a:gd name="T24" fmla="*/ 264 w 264"/>
                    <a:gd name="T25" fmla="*/ 24 h 179"/>
                    <a:gd name="T26" fmla="*/ 240 w 264"/>
                    <a:gd name="T27" fmla="*/ 0 h 179"/>
                    <a:gd name="T28" fmla="*/ 24 w 264"/>
                    <a:gd name="T29" fmla="*/ 0 h 179"/>
                    <a:gd name="T30" fmla="*/ 0 w 264"/>
                    <a:gd name="T31" fmla="*/ 24 h 179"/>
                    <a:gd name="T32" fmla="*/ 0 w 264"/>
                    <a:gd name="T33" fmla="*/ 155 h 179"/>
                    <a:gd name="T34" fmla="*/ 24 w 264"/>
                    <a:gd name="T35" fmla="*/ 179 h 179"/>
                    <a:gd name="T36" fmla="*/ 131 w 264"/>
                    <a:gd name="T37" fmla="*/ 179 h 179"/>
                    <a:gd name="T38" fmla="*/ 138 w 264"/>
                    <a:gd name="T39" fmla="*/ 174 h 179"/>
                    <a:gd name="T40" fmla="*/ 132 w 264"/>
                    <a:gd name="T41" fmla="*/ 167 h 179"/>
                    <a:gd name="T42" fmla="*/ 240 w 264"/>
                    <a:gd name="T43" fmla="*/ 12 h 179"/>
                    <a:gd name="T44" fmla="*/ 242 w 264"/>
                    <a:gd name="T45" fmla="*/ 12 h 179"/>
                    <a:gd name="T46" fmla="*/ 132 w 264"/>
                    <a:gd name="T47" fmla="*/ 100 h 179"/>
                    <a:gd name="T48" fmla="*/ 22 w 264"/>
                    <a:gd name="T49" fmla="*/ 12 h 179"/>
                    <a:gd name="T50" fmla="*/ 24 w 264"/>
                    <a:gd name="T51" fmla="*/ 12 h 179"/>
                    <a:gd name="T52" fmla="*/ 240 w 264"/>
                    <a:gd name="T53" fmla="*/ 12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4" h="179">
                      <a:moveTo>
                        <a:pt x="132" y="167"/>
                      </a:moveTo>
                      <a:cubicBezTo>
                        <a:pt x="24" y="167"/>
                        <a:pt x="24" y="167"/>
                        <a:pt x="24" y="167"/>
                      </a:cubicBezTo>
                      <a:cubicBezTo>
                        <a:pt x="17" y="167"/>
                        <a:pt x="12" y="162"/>
                        <a:pt x="12" y="155"/>
                      </a:cubicBezTo>
                      <a:cubicBezTo>
                        <a:pt x="12" y="24"/>
                        <a:pt x="12" y="24"/>
                        <a:pt x="12" y="24"/>
                      </a:cubicBezTo>
                      <a:cubicBezTo>
                        <a:pt x="12" y="22"/>
                        <a:pt x="12" y="21"/>
                        <a:pt x="12" y="20"/>
                      </a:cubicBezTo>
                      <a:cubicBezTo>
                        <a:pt x="128" y="112"/>
                        <a:pt x="128" y="112"/>
                        <a:pt x="128" y="112"/>
                      </a:cubicBezTo>
                      <a:cubicBezTo>
                        <a:pt x="129" y="113"/>
                        <a:pt x="130" y="113"/>
                        <a:pt x="132" y="113"/>
                      </a:cubicBezTo>
                      <a:cubicBezTo>
                        <a:pt x="133" y="113"/>
                        <a:pt x="134" y="113"/>
                        <a:pt x="136" y="112"/>
                      </a:cubicBezTo>
                      <a:cubicBezTo>
                        <a:pt x="251" y="20"/>
                        <a:pt x="251" y="20"/>
                        <a:pt x="251" y="20"/>
                      </a:cubicBezTo>
                      <a:cubicBezTo>
                        <a:pt x="251" y="21"/>
                        <a:pt x="252" y="22"/>
                        <a:pt x="252" y="24"/>
                      </a:cubicBezTo>
                      <a:cubicBezTo>
                        <a:pt x="252" y="153"/>
                        <a:pt x="252" y="153"/>
                        <a:pt x="252" y="153"/>
                      </a:cubicBezTo>
                      <a:cubicBezTo>
                        <a:pt x="257" y="159"/>
                        <a:pt x="264" y="155"/>
                        <a:pt x="264" y="150"/>
                      </a:cubicBezTo>
                      <a:cubicBezTo>
                        <a:pt x="264" y="24"/>
                        <a:pt x="264" y="24"/>
                        <a:pt x="264" y="24"/>
                      </a:cubicBezTo>
                      <a:cubicBezTo>
                        <a:pt x="264" y="10"/>
                        <a:pt x="253" y="0"/>
                        <a:pt x="240" y="0"/>
                      </a:cubicBezTo>
                      <a:cubicBezTo>
                        <a:pt x="24" y="0"/>
                        <a:pt x="24" y="0"/>
                        <a:pt x="24" y="0"/>
                      </a:cubicBezTo>
                      <a:cubicBezTo>
                        <a:pt x="11" y="0"/>
                        <a:pt x="0" y="10"/>
                        <a:pt x="0" y="24"/>
                      </a:cubicBezTo>
                      <a:cubicBezTo>
                        <a:pt x="0" y="155"/>
                        <a:pt x="0" y="155"/>
                        <a:pt x="0" y="155"/>
                      </a:cubicBezTo>
                      <a:cubicBezTo>
                        <a:pt x="0" y="169"/>
                        <a:pt x="11" y="179"/>
                        <a:pt x="24" y="179"/>
                      </a:cubicBezTo>
                      <a:cubicBezTo>
                        <a:pt x="131" y="179"/>
                        <a:pt x="131" y="179"/>
                        <a:pt x="131" y="179"/>
                      </a:cubicBezTo>
                      <a:cubicBezTo>
                        <a:pt x="134" y="179"/>
                        <a:pt x="137" y="177"/>
                        <a:pt x="138" y="174"/>
                      </a:cubicBezTo>
                      <a:cubicBezTo>
                        <a:pt x="138" y="171"/>
                        <a:pt x="135" y="167"/>
                        <a:pt x="132" y="167"/>
                      </a:cubicBezTo>
                      <a:close/>
                      <a:moveTo>
                        <a:pt x="240" y="12"/>
                      </a:moveTo>
                      <a:cubicBezTo>
                        <a:pt x="240" y="12"/>
                        <a:pt x="241" y="12"/>
                        <a:pt x="242" y="12"/>
                      </a:cubicBezTo>
                      <a:cubicBezTo>
                        <a:pt x="132" y="100"/>
                        <a:pt x="132" y="100"/>
                        <a:pt x="132" y="100"/>
                      </a:cubicBezTo>
                      <a:cubicBezTo>
                        <a:pt x="22" y="12"/>
                        <a:pt x="22" y="12"/>
                        <a:pt x="22" y="12"/>
                      </a:cubicBezTo>
                      <a:cubicBezTo>
                        <a:pt x="22" y="12"/>
                        <a:pt x="23" y="12"/>
                        <a:pt x="24" y="12"/>
                      </a:cubicBezTo>
                      <a:lnTo>
                        <a:pt x="24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61" name="Group 48">
                <a:extLst>
                  <a:ext uri="{FF2B5EF4-FFF2-40B4-BE49-F238E27FC236}">
                    <a16:creationId xmlns:a16="http://schemas.microsoft.com/office/drawing/2014/main" id="{11BBB839-22AF-A536-3E92-64576D3A1BE6}"/>
                  </a:ext>
                </a:extLst>
              </p:cNvPr>
              <p:cNvGrpSpPr>
                <a:grpSpLocks noChangeAspect="1"/>
              </p:cNvGrpSpPr>
              <p:nvPr/>
            </p:nvGrpSpPr>
            <p:grpSpPr bwMode="auto">
              <a:xfrm>
                <a:off x="4864621" y="3909242"/>
                <a:ext cx="419368" cy="417408"/>
                <a:chOff x="4478" y="440"/>
                <a:chExt cx="428" cy="426"/>
              </a:xfrm>
              <a:solidFill>
                <a:schemeClr val="tx1"/>
              </a:solidFill>
            </p:grpSpPr>
            <p:sp>
              <p:nvSpPr>
                <p:cNvPr id="121" name="Freeform 49">
                  <a:extLst>
                    <a:ext uri="{FF2B5EF4-FFF2-40B4-BE49-F238E27FC236}">
                      <a16:creationId xmlns:a16="http://schemas.microsoft.com/office/drawing/2014/main" id="{AF86BAF7-5A90-2A76-6539-EDF45688DF1E}"/>
                    </a:ext>
                  </a:extLst>
                </p:cNvPr>
                <p:cNvSpPr>
                  <a:spLocks noEditPoints="1"/>
                </p:cNvSpPr>
                <p:nvPr/>
              </p:nvSpPr>
              <p:spPr bwMode="auto">
                <a:xfrm>
                  <a:off x="4478" y="760"/>
                  <a:ext cx="426" cy="106"/>
                </a:xfrm>
                <a:custGeom>
                  <a:avLst/>
                  <a:gdLst>
                    <a:gd name="T0" fmla="*/ 282 w 288"/>
                    <a:gd name="T1" fmla="*/ 72 h 72"/>
                    <a:gd name="T2" fmla="*/ 6 w 288"/>
                    <a:gd name="T3" fmla="*/ 72 h 72"/>
                    <a:gd name="T4" fmla="*/ 0 w 288"/>
                    <a:gd name="T5" fmla="*/ 66 h 72"/>
                    <a:gd name="T6" fmla="*/ 0 w 288"/>
                    <a:gd name="T7" fmla="*/ 6 h 72"/>
                    <a:gd name="T8" fmla="*/ 6 w 288"/>
                    <a:gd name="T9" fmla="*/ 0 h 72"/>
                    <a:gd name="T10" fmla="*/ 282 w 288"/>
                    <a:gd name="T11" fmla="*/ 0 h 72"/>
                    <a:gd name="T12" fmla="*/ 288 w 288"/>
                    <a:gd name="T13" fmla="*/ 6 h 72"/>
                    <a:gd name="T14" fmla="*/ 288 w 288"/>
                    <a:gd name="T15" fmla="*/ 66 h 72"/>
                    <a:gd name="T16" fmla="*/ 282 w 288"/>
                    <a:gd name="T17" fmla="*/ 72 h 72"/>
                    <a:gd name="T18" fmla="*/ 12 w 288"/>
                    <a:gd name="T19" fmla="*/ 60 h 72"/>
                    <a:gd name="T20" fmla="*/ 276 w 288"/>
                    <a:gd name="T21" fmla="*/ 60 h 72"/>
                    <a:gd name="T22" fmla="*/ 276 w 288"/>
                    <a:gd name="T23" fmla="*/ 12 h 72"/>
                    <a:gd name="T24" fmla="*/ 12 w 288"/>
                    <a:gd name="T25" fmla="*/ 12 h 72"/>
                    <a:gd name="T26" fmla="*/ 12 w 288"/>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72">
                      <a:moveTo>
                        <a:pt x="282" y="72"/>
                      </a:moveTo>
                      <a:cubicBezTo>
                        <a:pt x="6" y="72"/>
                        <a:pt x="6" y="72"/>
                        <a:pt x="6" y="72"/>
                      </a:cubicBezTo>
                      <a:cubicBezTo>
                        <a:pt x="3" y="72"/>
                        <a:pt x="0" y="70"/>
                        <a:pt x="0" y="66"/>
                      </a:cubicBezTo>
                      <a:cubicBezTo>
                        <a:pt x="0" y="6"/>
                        <a:pt x="0" y="6"/>
                        <a:pt x="0" y="6"/>
                      </a:cubicBezTo>
                      <a:cubicBezTo>
                        <a:pt x="0" y="3"/>
                        <a:pt x="3" y="0"/>
                        <a:pt x="6" y="0"/>
                      </a:cubicBezTo>
                      <a:cubicBezTo>
                        <a:pt x="282" y="0"/>
                        <a:pt x="282" y="0"/>
                        <a:pt x="282" y="0"/>
                      </a:cubicBezTo>
                      <a:cubicBezTo>
                        <a:pt x="286" y="0"/>
                        <a:pt x="288" y="3"/>
                        <a:pt x="288" y="6"/>
                      </a:cubicBezTo>
                      <a:cubicBezTo>
                        <a:pt x="288" y="66"/>
                        <a:pt x="288" y="66"/>
                        <a:pt x="288" y="66"/>
                      </a:cubicBezTo>
                      <a:cubicBezTo>
                        <a:pt x="288" y="70"/>
                        <a:pt x="286" y="72"/>
                        <a:pt x="282" y="72"/>
                      </a:cubicBezTo>
                      <a:close/>
                      <a:moveTo>
                        <a:pt x="12" y="60"/>
                      </a:moveTo>
                      <a:cubicBezTo>
                        <a:pt x="276" y="60"/>
                        <a:pt x="276" y="60"/>
                        <a:pt x="276" y="60"/>
                      </a:cubicBezTo>
                      <a:cubicBezTo>
                        <a:pt x="276" y="12"/>
                        <a:pt x="276" y="12"/>
                        <a:pt x="276"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22" name="Freeform 50">
                  <a:extLst>
                    <a:ext uri="{FF2B5EF4-FFF2-40B4-BE49-F238E27FC236}">
                      <a16:creationId xmlns:a16="http://schemas.microsoft.com/office/drawing/2014/main" id="{53556B0A-73FF-1CFB-506A-A7103CC8DB15}"/>
                    </a:ext>
                  </a:extLst>
                </p:cNvPr>
                <p:cNvSpPr>
                  <a:spLocks noEditPoints="1"/>
                </p:cNvSpPr>
                <p:nvPr/>
              </p:nvSpPr>
              <p:spPr bwMode="auto">
                <a:xfrm>
                  <a:off x="4478" y="653"/>
                  <a:ext cx="428" cy="124"/>
                </a:xfrm>
                <a:custGeom>
                  <a:avLst/>
                  <a:gdLst>
                    <a:gd name="T0" fmla="*/ 282 w 289"/>
                    <a:gd name="T1" fmla="*/ 84 h 84"/>
                    <a:gd name="T2" fmla="*/ 6 w 289"/>
                    <a:gd name="T3" fmla="*/ 84 h 84"/>
                    <a:gd name="T4" fmla="*/ 1 w 289"/>
                    <a:gd name="T5" fmla="*/ 82 h 84"/>
                    <a:gd name="T6" fmla="*/ 1 w 289"/>
                    <a:gd name="T7" fmla="*/ 76 h 84"/>
                    <a:gd name="T8" fmla="*/ 37 w 289"/>
                    <a:gd name="T9" fmla="*/ 4 h 84"/>
                    <a:gd name="T10" fmla="*/ 42 w 289"/>
                    <a:gd name="T11" fmla="*/ 0 h 84"/>
                    <a:gd name="T12" fmla="*/ 246 w 289"/>
                    <a:gd name="T13" fmla="*/ 0 h 84"/>
                    <a:gd name="T14" fmla="*/ 252 w 289"/>
                    <a:gd name="T15" fmla="*/ 4 h 84"/>
                    <a:gd name="T16" fmla="*/ 288 w 289"/>
                    <a:gd name="T17" fmla="*/ 76 h 84"/>
                    <a:gd name="T18" fmla="*/ 287 w 289"/>
                    <a:gd name="T19" fmla="*/ 82 h 84"/>
                    <a:gd name="T20" fmla="*/ 282 w 289"/>
                    <a:gd name="T21" fmla="*/ 84 h 84"/>
                    <a:gd name="T22" fmla="*/ 16 w 289"/>
                    <a:gd name="T23" fmla="*/ 72 h 84"/>
                    <a:gd name="T24" fmla="*/ 273 w 289"/>
                    <a:gd name="T25" fmla="*/ 72 h 84"/>
                    <a:gd name="T26" fmla="*/ 243 w 289"/>
                    <a:gd name="T27" fmla="*/ 12 h 84"/>
                    <a:gd name="T28" fmla="*/ 46 w 289"/>
                    <a:gd name="T29" fmla="*/ 12 h 84"/>
                    <a:gd name="T30" fmla="*/ 16 w 289"/>
                    <a:gd name="T31" fmla="*/ 7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84">
                      <a:moveTo>
                        <a:pt x="282" y="84"/>
                      </a:moveTo>
                      <a:cubicBezTo>
                        <a:pt x="6" y="84"/>
                        <a:pt x="6" y="84"/>
                        <a:pt x="6" y="84"/>
                      </a:cubicBezTo>
                      <a:cubicBezTo>
                        <a:pt x="4" y="84"/>
                        <a:pt x="2" y="83"/>
                        <a:pt x="1" y="82"/>
                      </a:cubicBezTo>
                      <a:cubicBezTo>
                        <a:pt x="0" y="80"/>
                        <a:pt x="0" y="78"/>
                        <a:pt x="1" y="76"/>
                      </a:cubicBezTo>
                      <a:cubicBezTo>
                        <a:pt x="37" y="4"/>
                        <a:pt x="37" y="4"/>
                        <a:pt x="37" y="4"/>
                      </a:cubicBezTo>
                      <a:cubicBezTo>
                        <a:pt x="38" y="2"/>
                        <a:pt x="40" y="0"/>
                        <a:pt x="42" y="0"/>
                      </a:cubicBezTo>
                      <a:cubicBezTo>
                        <a:pt x="246" y="0"/>
                        <a:pt x="246" y="0"/>
                        <a:pt x="246" y="0"/>
                      </a:cubicBezTo>
                      <a:cubicBezTo>
                        <a:pt x="249" y="0"/>
                        <a:pt x="251" y="2"/>
                        <a:pt x="252" y="4"/>
                      </a:cubicBezTo>
                      <a:cubicBezTo>
                        <a:pt x="288" y="76"/>
                        <a:pt x="288" y="76"/>
                        <a:pt x="288" y="76"/>
                      </a:cubicBezTo>
                      <a:cubicBezTo>
                        <a:pt x="289" y="78"/>
                        <a:pt x="288" y="80"/>
                        <a:pt x="287" y="82"/>
                      </a:cubicBezTo>
                      <a:cubicBezTo>
                        <a:pt x="286" y="83"/>
                        <a:pt x="284" y="84"/>
                        <a:pt x="282" y="84"/>
                      </a:cubicBezTo>
                      <a:close/>
                      <a:moveTo>
                        <a:pt x="16" y="72"/>
                      </a:moveTo>
                      <a:cubicBezTo>
                        <a:pt x="273" y="72"/>
                        <a:pt x="273" y="72"/>
                        <a:pt x="273" y="72"/>
                      </a:cubicBezTo>
                      <a:cubicBezTo>
                        <a:pt x="243" y="12"/>
                        <a:pt x="243" y="12"/>
                        <a:pt x="243" y="12"/>
                      </a:cubicBezTo>
                      <a:cubicBezTo>
                        <a:pt x="46" y="12"/>
                        <a:pt x="46" y="12"/>
                        <a:pt x="46" y="12"/>
                      </a:cubicBezTo>
                      <a:lnTo>
                        <a:pt x="1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23" name="Freeform 51">
                  <a:extLst>
                    <a:ext uri="{FF2B5EF4-FFF2-40B4-BE49-F238E27FC236}">
                      <a16:creationId xmlns:a16="http://schemas.microsoft.com/office/drawing/2014/main" id="{CF4A2617-BFC5-4DD5-B404-9F5E6F7E8B3E}"/>
                    </a:ext>
                  </a:extLst>
                </p:cNvPr>
                <p:cNvSpPr>
                  <a:spLocks/>
                </p:cNvSpPr>
                <p:nvPr/>
              </p:nvSpPr>
              <p:spPr bwMode="auto">
                <a:xfrm>
                  <a:off x="4620" y="795"/>
                  <a:ext cx="124" cy="36"/>
                </a:xfrm>
                <a:custGeom>
                  <a:avLst/>
                  <a:gdLst>
                    <a:gd name="T0" fmla="*/ 78 w 84"/>
                    <a:gd name="T1" fmla="*/ 24 h 24"/>
                    <a:gd name="T2" fmla="*/ 72 w 84"/>
                    <a:gd name="T3" fmla="*/ 18 h 24"/>
                    <a:gd name="T4" fmla="*/ 72 w 84"/>
                    <a:gd name="T5" fmla="*/ 12 h 24"/>
                    <a:gd name="T6" fmla="*/ 12 w 84"/>
                    <a:gd name="T7" fmla="*/ 12 h 24"/>
                    <a:gd name="T8" fmla="*/ 12 w 84"/>
                    <a:gd name="T9" fmla="*/ 18 h 24"/>
                    <a:gd name="T10" fmla="*/ 6 w 84"/>
                    <a:gd name="T11" fmla="*/ 24 h 24"/>
                    <a:gd name="T12" fmla="*/ 0 w 84"/>
                    <a:gd name="T13" fmla="*/ 18 h 24"/>
                    <a:gd name="T14" fmla="*/ 0 w 84"/>
                    <a:gd name="T15" fmla="*/ 6 h 24"/>
                    <a:gd name="T16" fmla="*/ 6 w 84"/>
                    <a:gd name="T17" fmla="*/ 0 h 24"/>
                    <a:gd name="T18" fmla="*/ 78 w 84"/>
                    <a:gd name="T19" fmla="*/ 0 h 24"/>
                    <a:gd name="T20" fmla="*/ 84 w 84"/>
                    <a:gd name="T21" fmla="*/ 6 h 24"/>
                    <a:gd name="T22" fmla="*/ 84 w 84"/>
                    <a:gd name="T23" fmla="*/ 18 h 24"/>
                    <a:gd name="T24" fmla="*/ 78 w 84"/>
                    <a:gd name="T25"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24">
                      <a:moveTo>
                        <a:pt x="78" y="24"/>
                      </a:moveTo>
                      <a:cubicBezTo>
                        <a:pt x="75" y="24"/>
                        <a:pt x="72" y="22"/>
                        <a:pt x="72" y="18"/>
                      </a:cubicBezTo>
                      <a:cubicBezTo>
                        <a:pt x="72" y="12"/>
                        <a:pt x="72" y="12"/>
                        <a:pt x="72" y="12"/>
                      </a:cubicBezTo>
                      <a:cubicBezTo>
                        <a:pt x="12" y="12"/>
                        <a:pt x="12" y="12"/>
                        <a:pt x="12" y="12"/>
                      </a:cubicBezTo>
                      <a:cubicBezTo>
                        <a:pt x="12" y="18"/>
                        <a:pt x="12" y="18"/>
                        <a:pt x="12" y="18"/>
                      </a:cubicBezTo>
                      <a:cubicBezTo>
                        <a:pt x="12" y="22"/>
                        <a:pt x="10" y="24"/>
                        <a:pt x="6" y="24"/>
                      </a:cubicBezTo>
                      <a:cubicBezTo>
                        <a:pt x="3" y="24"/>
                        <a:pt x="0" y="22"/>
                        <a:pt x="0" y="18"/>
                      </a:cubicBezTo>
                      <a:cubicBezTo>
                        <a:pt x="0" y="6"/>
                        <a:pt x="0" y="6"/>
                        <a:pt x="0" y="6"/>
                      </a:cubicBezTo>
                      <a:cubicBezTo>
                        <a:pt x="0" y="3"/>
                        <a:pt x="3" y="0"/>
                        <a:pt x="6" y="0"/>
                      </a:cubicBezTo>
                      <a:cubicBezTo>
                        <a:pt x="78" y="0"/>
                        <a:pt x="78" y="0"/>
                        <a:pt x="78" y="0"/>
                      </a:cubicBezTo>
                      <a:cubicBezTo>
                        <a:pt x="82" y="0"/>
                        <a:pt x="84" y="3"/>
                        <a:pt x="84" y="6"/>
                      </a:cubicBezTo>
                      <a:cubicBezTo>
                        <a:pt x="84" y="18"/>
                        <a:pt x="84" y="18"/>
                        <a:pt x="84" y="18"/>
                      </a:cubicBezTo>
                      <a:cubicBezTo>
                        <a:pt x="84" y="22"/>
                        <a:pt x="82" y="24"/>
                        <a:pt x="7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24" name="Rectangle 52">
                  <a:extLst>
                    <a:ext uri="{FF2B5EF4-FFF2-40B4-BE49-F238E27FC236}">
                      <a16:creationId xmlns:a16="http://schemas.microsoft.com/office/drawing/2014/main" id="{03C230BE-24AC-2FA6-804B-73B3397B697A}"/>
                    </a:ext>
                  </a:extLst>
                </p:cNvPr>
                <p:cNvSpPr>
                  <a:spLocks noChangeArrowheads="1"/>
                </p:cNvSpPr>
                <p:nvPr/>
              </p:nvSpPr>
              <p:spPr bwMode="auto">
                <a:xfrm>
                  <a:off x="4602" y="72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25" name="Rectangle 53">
                  <a:extLst>
                    <a:ext uri="{FF2B5EF4-FFF2-40B4-BE49-F238E27FC236}">
                      <a16:creationId xmlns:a16="http://schemas.microsoft.com/office/drawing/2014/main" id="{9C7310C6-D9A1-4ADC-31B9-490C264F4314}"/>
                    </a:ext>
                  </a:extLst>
                </p:cNvPr>
                <p:cNvSpPr>
                  <a:spLocks noChangeArrowheads="1"/>
                </p:cNvSpPr>
                <p:nvPr/>
              </p:nvSpPr>
              <p:spPr bwMode="auto">
                <a:xfrm>
                  <a:off x="4549" y="72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26" name="Rectangle 54">
                  <a:extLst>
                    <a:ext uri="{FF2B5EF4-FFF2-40B4-BE49-F238E27FC236}">
                      <a16:creationId xmlns:a16="http://schemas.microsoft.com/office/drawing/2014/main" id="{65928FFC-1419-C656-9C4A-CE8F878EC12E}"/>
                    </a:ext>
                  </a:extLst>
                </p:cNvPr>
                <p:cNvSpPr>
                  <a:spLocks noChangeArrowheads="1"/>
                </p:cNvSpPr>
                <p:nvPr/>
              </p:nvSpPr>
              <p:spPr bwMode="auto">
                <a:xfrm>
                  <a:off x="4655" y="72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27" name="Rectangle 55">
                  <a:extLst>
                    <a:ext uri="{FF2B5EF4-FFF2-40B4-BE49-F238E27FC236}">
                      <a16:creationId xmlns:a16="http://schemas.microsoft.com/office/drawing/2014/main" id="{24845620-1CEF-643B-C7A6-3FDC96EC306B}"/>
                    </a:ext>
                  </a:extLst>
                </p:cNvPr>
                <p:cNvSpPr>
                  <a:spLocks noChangeArrowheads="1"/>
                </p:cNvSpPr>
                <p:nvPr/>
              </p:nvSpPr>
              <p:spPr bwMode="auto">
                <a:xfrm>
                  <a:off x="4709" y="72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28" name="Rectangle 56">
                  <a:extLst>
                    <a:ext uri="{FF2B5EF4-FFF2-40B4-BE49-F238E27FC236}">
                      <a16:creationId xmlns:a16="http://schemas.microsoft.com/office/drawing/2014/main" id="{02350B76-CA66-2937-7D2F-214EECABF05F}"/>
                    </a:ext>
                  </a:extLst>
                </p:cNvPr>
                <p:cNvSpPr>
                  <a:spLocks noChangeArrowheads="1"/>
                </p:cNvSpPr>
                <p:nvPr/>
              </p:nvSpPr>
              <p:spPr bwMode="auto">
                <a:xfrm>
                  <a:off x="4762" y="72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29" name="Rectangle 57">
                  <a:extLst>
                    <a:ext uri="{FF2B5EF4-FFF2-40B4-BE49-F238E27FC236}">
                      <a16:creationId xmlns:a16="http://schemas.microsoft.com/office/drawing/2014/main" id="{AD72CEF0-66D7-BB1F-8226-63A49543E41A}"/>
                    </a:ext>
                  </a:extLst>
                </p:cNvPr>
                <p:cNvSpPr>
                  <a:spLocks noChangeArrowheads="1"/>
                </p:cNvSpPr>
                <p:nvPr/>
              </p:nvSpPr>
              <p:spPr bwMode="auto">
                <a:xfrm>
                  <a:off x="4815" y="72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30" name="Rectangle 58">
                  <a:extLst>
                    <a:ext uri="{FF2B5EF4-FFF2-40B4-BE49-F238E27FC236}">
                      <a16:creationId xmlns:a16="http://schemas.microsoft.com/office/drawing/2014/main" id="{CAB4CF6B-9F77-D5AD-4379-887175B50892}"/>
                    </a:ext>
                  </a:extLst>
                </p:cNvPr>
                <p:cNvSpPr>
                  <a:spLocks noChangeArrowheads="1"/>
                </p:cNvSpPr>
                <p:nvPr/>
              </p:nvSpPr>
              <p:spPr bwMode="auto">
                <a:xfrm>
                  <a:off x="4762" y="689"/>
                  <a:ext cx="1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31" name="Rectangle 59">
                  <a:extLst>
                    <a:ext uri="{FF2B5EF4-FFF2-40B4-BE49-F238E27FC236}">
                      <a16:creationId xmlns:a16="http://schemas.microsoft.com/office/drawing/2014/main" id="{DE4DBF08-B87C-AB6D-F13E-51889FF0FE2F}"/>
                    </a:ext>
                  </a:extLst>
                </p:cNvPr>
                <p:cNvSpPr>
                  <a:spLocks noChangeArrowheads="1"/>
                </p:cNvSpPr>
                <p:nvPr/>
              </p:nvSpPr>
              <p:spPr bwMode="auto">
                <a:xfrm>
                  <a:off x="4709" y="689"/>
                  <a:ext cx="1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32" name="Rectangle 60">
                  <a:extLst>
                    <a:ext uri="{FF2B5EF4-FFF2-40B4-BE49-F238E27FC236}">
                      <a16:creationId xmlns:a16="http://schemas.microsoft.com/office/drawing/2014/main" id="{9F2AECD6-E17A-DA6A-5C8C-A2BCEB965F2C}"/>
                    </a:ext>
                  </a:extLst>
                </p:cNvPr>
                <p:cNvSpPr>
                  <a:spLocks noChangeArrowheads="1"/>
                </p:cNvSpPr>
                <p:nvPr/>
              </p:nvSpPr>
              <p:spPr bwMode="auto">
                <a:xfrm>
                  <a:off x="4655" y="689"/>
                  <a:ext cx="1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33" name="Rectangle 61">
                  <a:extLst>
                    <a:ext uri="{FF2B5EF4-FFF2-40B4-BE49-F238E27FC236}">
                      <a16:creationId xmlns:a16="http://schemas.microsoft.com/office/drawing/2014/main" id="{224DC48F-FE75-BFF9-27BD-50E492636DAB}"/>
                    </a:ext>
                  </a:extLst>
                </p:cNvPr>
                <p:cNvSpPr>
                  <a:spLocks noChangeArrowheads="1"/>
                </p:cNvSpPr>
                <p:nvPr/>
              </p:nvSpPr>
              <p:spPr bwMode="auto">
                <a:xfrm>
                  <a:off x="4602" y="689"/>
                  <a:ext cx="1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34" name="Freeform 62">
                  <a:extLst>
                    <a:ext uri="{FF2B5EF4-FFF2-40B4-BE49-F238E27FC236}">
                      <a16:creationId xmlns:a16="http://schemas.microsoft.com/office/drawing/2014/main" id="{0937789F-06DD-3480-23C4-3CD4EAF5A1AF}"/>
                    </a:ext>
                  </a:extLst>
                </p:cNvPr>
                <p:cNvSpPr>
                  <a:spLocks noEditPoints="1"/>
                </p:cNvSpPr>
                <p:nvPr/>
              </p:nvSpPr>
              <p:spPr bwMode="auto">
                <a:xfrm>
                  <a:off x="4531" y="547"/>
                  <a:ext cx="320" cy="124"/>
                </a:xfrm>
                <a:custGeom>
                  <a:avLst/>
                  <a:gdLst>
                    <a:gd name="T0" fmla="*/ 210 w 216"/>
                    <a:gd name="T1" fmla="*/ 84 h 84"/>
                    <a:gd name="T2" fmla="*/ 6 w 216"/>
                    <a:gd name="T3" fmla="*/ 84 h 84"/>
                    <a:gd name="T4" fmla="*/ 0 w 216"/>
                    <a:gd name="T5" fmla="*/ 78 h 84"/>
                    <a:gd name="T6" fmla="*/ 0 w 216"/>
                    <a:gd name="T7" fmla="*/ 6 h 84"/>
                    <a:gd name="T8" fmla="*/ 6 w 216"/>
                    <a:gd name="T9" fmla="*/ 0 h 84"/>
                    <a:gd name="T10" fmla="*/ 210 w 216"/>
                    <a:gd name="T11" fmla="*/ 0 h 84"/>
                    <a:gd name="T12" fmla="*/ 216 w 216"/>
                    <a:gd name="T13" fmla="*/ 6 h 84"/>
                    <a:gd name="T14" fmla="*/ 216 w 216"/>
                    <a:gd name="T15" fmla="*/ 78 h 84"/>
                    <a:gd name="T16" fmla="*/ 210 w 216"/>
                    <a:gd name="T17" fmla="*/ 84 h 84"/>
                    <a:gd name="T18" fmla="*/ 12 w 216"/>
                    <a:gd name="T19" fmla="*/ 72 h 84"/>
                    <a:gd name="T20" fmla="*/ 204 w 216"/>
                    <a:gd name="T21" fmla="*/ 72 h 84"/>
                    <a:gd name="T22" fmla="*/ 204 w 216"/>
                    <a:gd name="T23" fmla="*/ 12 h 84"/>
                    <a:gd name="T24" fmla="*/ 12 w 216"/>
                    <a:gd name="T25" fmla="*/ 12 h 84"/>
                    <a:gd name="T26" fmla="*/ 12 w 216"/>
                    <a:gd name="T27" fmla="*/ 7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84">
                      <a:moveTo>
                        <a:pt x="210" y="84"/>
                      </a:moveTo>
                      <a:cubicBezTo>
                        <a:pt x="6" y="84"/>
                        <a:pt x="6" y="84"/>
                        <a:pt x="6" y="84"/>
                      </a:cubicBezTo>
                      <a:cubicBezTo>
                        <a:pt x="3" y="84"/>
                        <a:pt x="0" y="82"/>
                        <a:pt x="0" y="78"/>
                      </a:cubicBezTo>
                      <a:cubicBezTo>
                        <a:pt x="0" y="6"/>
                        <a:pt x="0" y="6"/>
                        <a:pt x="0" y="6"/>
                      </a:cubicBezTo>
                      <a:cubicBezTo>
                        <a:pt x="0" y="3"/>
                        <a:pt x="3" y="0"/>
                        <a:pt x="6" y="0"/>
                      </a:cubicBezTo>
                      <a:cubicBezTo>
                        <a:pt x="210" y="0"/>
                        <a:pt x="210" y="0"/>
                        <a:pt x="210" y="0"/>
                      </a:cubicBezTo>
                      <a:cubicBezTo>
                        <a:pt x="214" y="0"/>
                        <a:pt x="216" y="3"/>
                        <a:pt x="216" y="6"/>
                      </a:cubicBezTo>
                      <a:cubicBezTo>
                        <a:pt x="216" y="78"/>
                        <a:pt x="216" y="78"/>
                        <a:pt x="216" y="78"/>
                      </a:cubicBezTo>
                      <a:cubicBezTo>
                        <a:pt x="216" y="82"/>
                        <a:pt x="214" y="84"/>
                        <a:pt x="210" y="84"/>
                      </a:cubicBezTo>
                      <a:close/>
                      <a:moveTo>
                        <a:pt x="12" y="72"/>
                      </a:moveTo>
                      <a:cubicBezTo>
                        <a:pt x="204" y="72"/>
                        <a:pt x="204" y="72"/>
                        <a:pt x="204" y="72"/>
                      </a:cubicBezTo>
                      <a:cubicBezTo>
                        <a:pt x="204" y="12"/>
                        <a:pt x="204" y="12"/>
                        <a:pt x="204" y="12"/>
                      </a:cubicBezTo>
                      <a:cubicBezTo>
                        <a:pt x="12" y="12"/>
                        <a:pt x="12" y="12"/>
                        <a:pt x="12" y="12"/>
                      </a:cubicBezTo>
                      <a:lnTo>
                        <a:pt x="12"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35" name="Freeform 63">
                  <a:extLst>
                    <a:ext uri="{FF2B5EF4-FFF2-40B4-BE49-F238E27FC236}">
                      <a16:creationId xmlns:a16="http://schemas.microsoft.com/office/drawing/2014/main" id="{CAD48B33-210B-59F6-036A-94A8B6ECA2A1}"/>
                    </a:ext>
                  </a:extLst>
                </p:cNvPr>
                <p:cNvSpPr>
                  <a:spLocks noEditPoints="1"/>
                </p:cNvSpPr>
                <p:nvPr/>
              </p:nvSpPr>
              <p:spPr bwMode="auto">
                <a:xfrm>
                  <a:off x="4567" y="582"/>
                  <a:ext cx="115" cy="53"/>
                </a:xfrm>
                <a:custGeom>
                  <a:avLst/>
                  <a:gdLst>
                    <a:gd name="T0" fmla="*/ 72 w 78"/>
                    <a:gd name="T1" fmla="*/ 36 h 36"/>
                    <a:gd name="T2" fmla="*/ 6 w 78"/>
                    <a:gd name="T3" fmla="*/ 36 h 36"/>
                    <a:gd name="T4" fmla="*/ 0 w 78"/>
                    <a:gd name="T5" fmla="*/ 30 h 36"/>
                    <a:gd name="T6" fmla="*/ 0 w 78"/>
                    <a:gd name="T7" fmla="*/ 6 h 36"/>
                    <a:gd name="T8" fmla="*/ 6 w 78"/>
                    <a:gd name="T9" fmla="*/ 0 h 36"/>
                    <a:gd name="T10" fmla="*/ 72 w 78"/>
                    <a:gd name="T11" fmla="*/ 0 h 36"/>
                    <a:gd name="T12" fmla="*/ 78 w 78"/>
                    <a:gd name="T13" fmla="*/ 6 h 36"/>
                    <a:gd name="T14" fmla="*/ 78 w 78"/>
                    <a:gd name="T15" fmla="*/ 30 h 36"/>
                    <a:gd name="T16" fmla="*/ 72 w 78"/>
                    <a:gd name="T17" fmla="*/ 36 h 36"/>
                    <a:gd name="T18" fmla="*/ 12 w 78"/>
                    <a:gd name="T19" fmla="*/ 24 h 36"/>
                    <a:gd name="T20" fmla="*/ 66 w 78"/>
                    <a:gd name="T21" fmla="*/ 24 h 36"/>
                    <a:gd name="T22" fmla="*/ 66 w 78"/>
                    <a:gd name="T23" fmla="*/ 12 h 36"/>
                    <a:gd name="T24" fmla="*/ 12 w 78"/>
                    <a:gd name="T25" fmla="*/ 12 h 36"/>
                    <a:gd name="T26" fmla="*/ 12 w 78"/>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36">
                      <a:moveTo>
                        <a:pt x="72" y="36"/>
                      </a:moveTo>
                      <a:cubicBezTo>
                        <a:pt x="6" y="36"/>
                        <a:pt x="6" y="36"/>
                        <a:pt x="6" y="36"/>
                      </a:cubicBezTo>
                      <a:cubicBezTo>
                        <a:pt x="3" y="36"/>
                        <a:pt x="0" y="34"/>
                        <a:pt x="0" y="30"/>
                      </a:cubicBezTo>
                      <a:cubicBezTo>
                        <a:pt x="0" y="6"/>
                        <a:pt x="0" y="6"/>
                        <a:pt x="0" y="6"/>
                      </a:cubicBezTo>
                      <a:cubicBezTo>
                        <a:pt x="0" y="3"/>
                        <a:pt x="3" y="0"/>
                        <a:pt x="6" y="0"/>
                      </a:cubicBezTo>
                      <a:cubicBezTo>
                        <a:pt x="72" y="0"/>
                        <a:pt x="72" y="0"/>
                        <a:pt x="72" y="0"/>
                      </a:cubicBezTo>
                      <a:cubicBezTo>
                        <a:pt x="76" y="0"/>
                        <a:pt x="78" y="3"/>
                        <a:pt x="78" y="6"/>
                      </a:cubicBezTo>
                      <a:cubicBezTo>
                        <a:pt x="78" y="30"/>
                        <a:pt x="78" y="30"/>
                        <a:pt x="78" y="30"/>
                      </a:cubicBezTo>
                      <a:cubicBezTo>
                        <a:pt x="78" y="34"/>
                        <a:pt x="76" y="36"/>
                        <a:pt x="72" y="36"/>
                      </a:cubicBezTo>
                      <a:close/>
                      <a:moveTo>
                        <a:pt x="12" y="24"/>
                      </a:moveTo>
                      <a:cubicBezTo>
                        <a:pt x="66" y="24"/>
                        <a:pt x="66" y="24"/>
                        <a:pt x="66" y="24"/>
                      </a:cubicBezTo>
                      <a:cubicBezTo>
                        <a:pt x="66" y="12"/>
                        <a:pt x="66" y="12"/>
                        <a:pt x="66"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36" name="Freeform 64">
                  <a:extLst>
                    <a:ext uri="{FF2B5EF4-FFF2-40B4-BE49-F238E27FC236}">
                      <a16:creationId xmlns:a16="http://schemas.microsoft.com/office/drawing/2014/main" id="{E0C364FF-50E1-F292-011F-E589CB2E2B66}"/>
                    </a:ext>
                  </a:extLst>
                </p:cNvPr>
                <p:cNvSpPr>
                  <a:spLocks/>
                </p:cNvSpPr>
                <p:nvPr/>
              </p:nvSpPr>
              <p:spPr bwMode="auto">
                <a:xfrm>
                  <a:off x="4718" y="600"/>
                  <a:ext cx="97" cy="18"/>
                </a:xfrm>
                <a:custGeom>
                  <a:avLst/>
                  <a:gdLst>
                    <a:gd name="T0" fmla="*/ 60 w 66"/>
                    <a:gd name="T1" fmla="*/ 12 h 12"/>
                    <a:gd name="T2" fmla="*/ 6 w 66"/>
                    <a:gd name="T3" fmla="*/ 12 h 12"/>
                    <a:gd name="T4" fmla="*/ 0 w 66"/>
                    <a:gd name="T5" fmla="*/ 6 h 12"/>
                    <a:gd name="T6" fmla="*/ 6 w 66"/>
                    <a:gd name="T7" fmla="*/ 0 h 12"/>
                    <a:gd name="T8" fmla="*/ 60 w 66"/>
                    <a:gd name="T9" fmla="*/ 0 h 12"/>
                    <a:gd name="T10" fmla="*/ 66 w 66"/>
                    <a:gd name="T11" fmla="*/ 6 h 12"/>
                    <a:gd name="T12" fmla="*/ 60 w 6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6" h="12">
                      <a:moveTo>
                        <a:pt x="60" y="12"/>
                      </a:moveTo>
                      <a:cubicBezTo>
                        <a:pt x="6" y="12"/>
                        <a:pt x="6" y="12"/>
                        <a:pt x="6" y="12"/>
                      </a:cubicBezTo>
                      <a:cubicBezTo>
                        <a:pt x="3" y="12"/>
                        <a:pt x="0" y="10"/>
                        <a:pt x="0" y="6"/>
                      </a:cubicBezTo>
                      <a:cubicBezTo>
                        <a:pt x="0" y="3"/>
                        <a:pt x="3" y="0"/>
                        <a:pt x="6" y="0"/>
                      </a:cubicBezTo>
                      <a:cubicBezTo>
                        <a:pt x="60" y="0"/>
                        <a:pt x="60" y="0"/>
                        <a:pt x="60" y="0"/>
                      </a:cubicBezTo>
                      <a:cubicBezTo>
                        <a:pt x="64" y="0"/>
                        <a:pt x="66" y="3"/>
                        <a:pt x="66" y="6"/>
                      </a:cubicBezTo>
                      <a:cubicBezTo>
                        <a:pt x="66" y="10"/>
                        <a:pt x="64" y="12"/>
                        <a:pt x="6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37" name="Freeform 65">
                  <a:extLst>
                    <a:ext uri="{FF2B5EF4-FFF2-40B4-BE49-F238E27FC236}">
                      <a16:creationId xmlns:a16="http://schemas.microsoft.com/office/drawing/2014/main" id="{D82B13C5-DD46-72BA-7D12-BDBCB0A625A9}"/>
                    </a:ext>
                  </a:extLst>
                </p:cNvPr>
                <p:cNvSpPr>
                  <a:spLocks noEditPoints="1"/>
                </p:cNvSpPr>
                <p:nvPr/>
              </p:nvSpPr>
              <p:spPr bwMode="auto">
                <a:xfrm>
                  <a:off x="4567" y="476"/>
                  <a:ext cx="88" cy="88"/>
                </a:xfrm>
                <a:custGeom>
                  <a:avLst/>
                  <a:gdLst>
                    <a:gd name="T0" fmla="*/ 54 w 60"/>
                    <a:gd name="T1" fmla="*/ 60 h 60"/>
                    <a:gd name="T2" fmla="*/ 6 w 60"/>
                    <a:gd name="T3" fmla="*/ 60 h 60"/>
                    <a:gd name="T4" fmla="*/ 0 w 60"/>
                    <a:gd name="T5" fmla="*/ 54 h 60"/>
                    <a:gd name="T6" fmla="*/ 0 w 60"/>
                    <a:gd name="T7" fmla="*/ 18 h 60"/>
                    <a:gd name="T8" fmla="*/ 5 w 60"/>
                    <a:gd name="T9" fmla="*/ 13 h 60"/>
                    <a:gd name="T10" fmla="*/ 53 w 60"/>
                    <a:gd name="T11" fmla="*/ 1 h 60"/>
                    <a:gd name="T12" fmla="*/ 58 w 60"/>
                    <a:gd name="T13" fmla="*/ 2 h 60"/>
                    <a:gd name="T14" fmla="*/ 60 w 60"/>
                    <a:gd name="T15" fmla="*/ 6 h 60"/>
                    <a:gd name="T16" fmla="*/ 60 w 60"/>
                    <a:gd name="T17" fmla="*/ 54 h 60"/>
                    <a:gd name="T18" fmla="*/ 54 w 60"/>
                    <a:gd name="T19" fmla="*/ 60 h 60"/>
                    <a:gd name="T20" fmla="*/ 12 w 60"/>
                    <a:gd name="T21" fmla="*/ 48 h 60"/>
                    <a:gd name="T22" fmla="*/ 48 w 60"/>
                    <a:gd name="T23" fmla="*/ 48 h 60"/>
                    <a:gd name="T24" fmla="*/ 48 w 60"/>
                    <a:gd name="T25" fmla="*/ 14 h 60"/>
                    <a:gd name="T26" fmla="*/ 12 w 60"/>
                    <a:gd name="T27" fmla="*/ 23 h 60"/>
                    <a:gd name="T28" fmla="*/ 12 w 60"/>
                    <a:gd name="T2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 h="60">
                      <a:moveTo>
                        <a:pt x="54" y="60"/>
                      </a:moveTo>
                      <a:cubicBezTo>
                        <a:pt x="6" y="60"/>
                        <a:pt x="6" y="60"/>
                        <a:pt x="6" y="60"/>
                      </a:cubicBezTo>
                      <a:cubicBezTo>
                        <a:pt x="3" y="60"/>
                        <a:pt x="0" y="58"/>
                        <a:pt x="0" y="54"/>
                      </a:cubicBezTo>
                      <a:cubicBezTo>
                        <a:pt x="0" y="18"/>
                        <a:pt x="0" y="18"/>
                        <a:pt x="0" y="18"/>
                      </a:cubicBezTo>
                      <a:cubicBezTo>
                        <a:pt x="0" y="16"/>
                        <a:pt x="2" y="13"/>
                        <a:pt x="5" y="13"/>
                      </a:cubicBezTo>
                      <a:cubicBezTo>
                        <a:pt x="53" y="1"/>
                        <a:pt x="53" y="1"/>
                        <a:pt x="53" y="1"/>
                      </a:cubicBezTo>
                      <a:cubicBezTo>
                        <a:pt x="55" y="0"/>
                        <a:pt x="56" y="1"/>
                        <a:pt x="58" y="2"/>
                      </a:cubicBezTo>
                      <a:cubicBezTo>
                        <a:pt x="59" y="3"/>
                        <a:pt x="60" y="5"/>
                        <a:pt x="60" y="6"/>
                      </a:cubicBezTo>
                      <a:cubicBezTo>
                        <a:pt x="60" y="54"/>
                        <a:pt x="60" y="54"/>
                        <a:pt x="60" y="54"/>
                      </a:cubicBezTo>
                      <a:cubicBezTo>
                        <a:pt x="60" y="58"/>
                        <a:pt x="58" y="60"/>
                        <a:pt x="54" y="60"/>
                      </a:cubicBezTo>
                      <a:close/>
                      <a:moveTo>
                        <a:pt x="12" y="48"/>
                      </a:moveTo>
                      <a:cubicBezTo>
                        <a:pt x="48" y="48"/>
                        <a:pt x="48" y="48"/>
                        <a:pt x="48" y="48"/>
                      </a:cubicBezTo>
                      <a:cubicBezTo>
                        <a:pt x="48" y="14"/>
                        <a:pt x="48" y="14"/>
                        <a:pt x="48" y="14"/>
                      </a:cubicBezTo>
                      <a:cubicBezTo>
                        <a:pt x="12" y="23"/>
                        <a:pt x="12" y="23"/>
                        <a:pt x="12" y="23"/>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38" name="Freeform 66">
                  <a:extLst>
                    <a:ext uri="{FF2B5EF4-FFF2-40B4-BE49-F238E27FC236}">
                      <a16:creationId xmlns:a16="http://schemas.microsoft.com/office/drawing/2014/main" id="{5C3835B1-746B-2F30-4ED7-4802A6882394}"/>
                    </a:ext>
                  </a:extLst>
                </p:cNvPr>
                <p:cNvSpPr>
                  <a:spLocks noEditPoints="1"/>
                </p:cNvSpPr>
                <p:nvPr/>
              </p:nvSpPr>
              <p:spPr bwMode="auto">
                <a:xfrm>
                  <a:off x="4727" y="440"/>
                  <a:ext cx="124" cy="71"/>
                </a:xfrm>
                <a:custGeom>
                  <a:avLst/>
                  <a:gdLst>
                    <a:gd name="T0" fmla="*/ 66 w 84"/>
                    <a:gd name="T1" fmla="*/ 48 h 48"/>
                    <a:gd name="T2" fmla="*/ 18 w 84"/>
                    <a:gd name="T3" fmla="*/ 48 h 48"/>
                    <a:gd name="T4" fmla="*/ 0 w 84"/>
                    <a:gd name="T5" fmla="*/ 30 h 48"/>
                    <a:gd name="T6" fmla="*/ 0 w 84"/>
                    <a:gd name="T7" fmla="*/ 18 h 48"/>
                    <a:gd name="T8" fmla="*/ 18 w 84"/>
                    <a:gd name="T9" fmla="*/ 0 h 48"/>
                    <a:gd name="T10" fmla="*/ 66 w 84"/>
                    <a:gd name="T11" fmla="*/ 0 h 48"/>
                    <a:gd name="T12" fmla="*/ 84 w 84"/>
                    <a:gd name="T13" fmla="*/ 18 h 48"/>
                    <a:gd name="T14" fmla="*/ 84 w 84"/>
                    <a:gd name="T15" fmla="*/ 30 h 48"/>
                    <a:gd name="T16" fmla="*/ 66 w 84"/>
                    <a:gd name="T17" fmla="*/ 48 h 48"/>
                    <a:gd name="T18" fmla="*/ 18 w 84"/>
                    <a:gd name="T19" fmla="*/ 12 h 48"/>
                    <a:gd name="T20" fmla="*/ 12 w 84"/>
                    <a:gd name="T21" fmla="*/ 18 h 48"/>
                    <a:gd name="T22" fmla="*/ 12 w 84"/>
                    <a:gd name="T23" fmla="*/ 30 h 48"/>
                    <a:gd name="T24" fmla="*/ 18 w 84"/>
                    <a:gd name="T25" fmla="*/ 36 h 48"/>
                    <a:gd name="T26" fmla="*/ 66 w 84"/>
                    <a:gd name="T27" fmla="*/ 36 h 48"/>
                    <a:gd name="T28" fmla="*/ 72 w 84"/>
                    <a:gd name="T29" fmla="*/ 30 h 48"/>
                    <a:gd name="T30" fmla="*/ 72 w 84"/>
                    <a:gd name="T31" fmla="*/ 18 h 48"/>
                    <a:gd name="T32" fmla="*/ 66 w 84"/>
                    <a:gd name="T33" fmla="*/ 12 h 48"/>
                    <a:gd name="T34" fmla="*/ 18 w 84"/>
                    <a:gd name="T35"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4" h="48">
                      <a:moveTo>
                        <a:pt x="66" y="48"/>
                      </a:moveTo>
                      <a:cubicBezTo>
                        <a:pt x="18" y="48"/>
                        <a:pt x="18" y="48"/>
                        <a:pt x="18" y="48"/>
                      </a:cubicBezTo>
                      <a:cubicBezTo>
                        <a:pt x="8" y="48"/>
                        <a:pt x="0" y="40"/>
                        <a:pt x="0" y="30"/>
                      </a:cubicBezTo>
                      <a:cubicBezTo>
                        <a:pt x="0" y="18"/>
                        <a:pt x="0" y="18"/>
                        <a:pt x="0" y="18"/>
                      </a:cubicBezTo>
                      <a:cubicBezTo>
                        <a:pt x="0" y="9"/>
                        <a:pt x="8" y="0"/>
                        <a:pt x="18" y="0"/>
                      </a:cubicBezTo>
                      <a:cubicBezTo>
                        <a:pt x="66" y="0"/>
                        <a:pt x="66" y="0"/>
                        <a:pt x="66" y="0"/>
                      </a:cubicBezTo>
                      <a:cubicBezTo>
                        <a:pt x="76" y="0"/>
                        <a:pt x="84" y="9"/>
                        <a:pt x="84" y="18"/>
                      </a:cubicBezTo>
                      <a:cubicBezTo>
                        <a:pt x="84" y="30"/>
                        <a:pt x="84" y="30"/>
                        <a:pt x="84" y="30"/>
                      </a:cubicBezTo>
                      <a:cubicBezTo>
                        <a:pt x="84" y="40"/>
                        <a:pt x="76" y="48"/>
                        <a:pt x="66" y="48"/>
                      </a:cubicBezTo>
                      <a:close/>
                      <a:moveTo>
                        <a:pt x="18" y="12"/>
                      </a:moveTo>
                      <a:cubicBezTo>
                        <a:pt x="15" y="12"/>
                        <a:pt x="12" y="15"/>
                        <a:pt x="12" y="18"/>
                      </a:cubicBezTo>
                      <a:cubicBezTo>
                        <a:pt x="12" y="30"/>
                        <a:pt x="12" y="30"/>
                        <a:pt x="12" y="30"/>
                      </a:cubicBezTo>
                      <a:cubicBezTo>
                        <a:pt x="12" y="34"/>
                        <a:pt x="15" y="36"/>
                        <a:pt x="18" y="36"/>
                      </a:cubicBezTo>
                      <a:cubicBezTo>
                        <a:pt x="66" y="36"/>
                        <a:pt x="66" y="36"/>
                        <a:pt x="66" y="36"/>
                      </a:cubicBezTo>
                      <a:cubicBezTo>
                        <a:pt x="70" y="36"/>
                        <a:pt x="72" y="34"/>
                        <a:pt x="72" y="30"/>
                      </a:cubicBezTo>
                      <a:cubicBezTo>
                        <a:pt x="72" y="18"/>
                        <a:pt x="72" y="18"/>
                        <a:pt x="72" y="18"/>
                      </a:cubicBezTo>
                      <a:cubicBezTo>
                        <a:pt x="72" y="15"/>
                        <a:pt x="70" y="12"/>
                        <a:pt x="66" y="12"/>
                      </a:cubicBez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39" name="Freeform 67">
                  <a:extLst>
                    <a:ext uri="{FF2B5EF4-FFF2-40B4-BE49-F238E27FC236}">
                      <a16:creationId xmlns:a16="http://schemas.microsoft.com/office/drawing/2014/main" id="{F097C7A4-6694-1331-DE91-D33BA5C03EA9}"/>
                    </a:ext>
                  </a:extLst>
                </p:cNvPr>
                <p:cNvSpPr>
                  <a:spLocks/>
                </p:cNvSpPr>
                <p:nvPr/>
              </p:nvSpPr>
              <p:spPr bwMode="auto">
                <a:xfrm>
                  <a:off x="4780" y="494"/>
                  <a:ext cx="18" cy="70"/>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10" y="0"/>
                        <a:pt x="12" y="3"/>
                        <a:pt x="12" y="6"/>
                      </a:cubicBezTo>
                      <a:cubicBezTo>
                        <a:pt x="12" y="42"/>
                        <a:pt x="12" y="42"/>
                        <a:pt x="12" y="42"/>
                      </a:cubicBezTo>
                      <a:cubicBezTo>
                        <a:pt x="12" y="46"/>
                        <a:pt x="10"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62" name="Group 213">
                <a:extLst>
                  <a:ext uri="{FF2B5EF4-FFF2-40B4-BE49-F238E27FC236}">
                    <a16:creationId xmlns:a16="http://schemas.microsoft.com/office/drawing/2014/main" id="{27C5FD26-8C6D-A188-2983-30F16A69E58E}"/>
                  </a:ext>
                </a:extLst>
              </p:cNvPr>
              <p:cNvGrpSpPr>
                <a:grpSpLocks noChangeAspect="1"/>
              </p:cNvGrpSpPr>
              <p:nvPr/>
            </p:nvGrpSpPr>
            <p:grpSpPr bwMode="auto">
              <a:xfrm>
                <a:off x="1334429" y="4026842"/>
                <a:ext cx="438734" cy="321343"/>
                <a:chOff x="6719" y="3204"/>
                <a:chExt cx="441" cy="323"/>
              </a:xfrm>
              <a:solidFill>
                <a:schemeClr val="tx1"/>
              </a:solidFill>
            </p:grpSpPr>
            <p:sp>
              <p:nvSpPr>
                <p:cNvPr id="113" name="Freeform 214">
                  <a:extLst>
                    <a:ext uri="{FF2B5EF4-FFF2-40B4-BE49-F238E27FC236}">
                      <a16:creationId xmlns:a16="http://schemas.microsoft.com/office/drawing/2014/main" id="{8848897C-D43E-A074-E6F1-6264F911DC37}"/>
                    </a:ext>
                  </a:extLst>
                </p:cNvPr>
                <p:cNvSpPr>
                  <a:spLocks noEditPoints="1"/>
                </p:cNvSpPr>
                <p:nvPr/>
              </p:nvSpPr>
              <p:spPr bwMode="auto">
                <a:xfrm>
                  <a:off x="6811" y="3419"/>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14" name="Freeform 215">
                  <a:extLst>
                    <a:ext uri="{FF2B5EF4-FFF2-40B4-BE49-F238E27FC236}">
                      <a16:creationId xmlns:a16="http://schemas.microsoft.com/office/drawing/2014/main" id="{67BB53E9-CE28-D572-11DF-257E8657FFDD}"/>
                    </a:ext>
                  </a:extLst>
                </p:cNvPr>
                <p:cNvSpPr>
                  <a:spLocks noEditPoints="1"/>
                </p:cNvSpPr>
                <p:nvPr/>
              </p:nvSpPr>
              <p:spPr bwMode="auto">
                <a:xfrm>
                  <a:off x="7013" y="3419"/>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15" name="Freeform 216">
                  <a:extLst>
                    <a:ext uri="{FF2B5EF4-FFF2-40B4-BE49-F238E27FC236}">
                      <a16:creationId xmlns:a16="http://schemas.microsoft.com/office/drawing/2014/main" id="{08A1D282-9F8B-61EE-91B6-7D79F37560AA}"/>
                    </a:ext>
                  </a:extLst>
                </p:cNvPr>
                <p:cNvSpPr>
                  <a:spLocks/>
                </p:cNvSpPr>
                <p:nvPr/>
              </p:nvSpPr>
              <p:spPr bwMode="auto">
                <a:xfrm>
                  <a:off x="6866" y="3204"/>
                  <a:ext cx="294" cy="269"/>
                </a:xfrm>
                <a:custGeom>
                  <a:avLst/>
                  <a:gdLst>
                    <a:gd name="T0" fmla="*/ 186 w 192"/>
                    <a:gd name="T1" fmla="*/ 180 h 180"/>
                    <a:gd name="T2" fmla="*/ 180 w 192"/>
                    <a:gd name="T3" fmla="*/ 174 h 180"/>
                    <a:gd name="T4" fmla="*/ 180 w 192"/>
                    <a:gd name="T5" fmla="*/ 12 h 180"/>
                    <a:gd name="T6" fmla="*/ 12 w 192"/>
                    <a:gd name="T7" fmla="*/ 12 h 180"/>
                    <a:gd name="T8" fmla="*/ 12 w 192"/>
                    <a:gd name="T9" fmla="*/ 126 h 180"/>
                    <a:gd name="T10" fmla="*/ 6 w 192"/>
                    <a:gd name="T11" fmla="*/ 132 h 180"/>
                    <a:gd name="T12" fmla="*/ 0 w 192"/>
                    <a:gd name="T13" fmla="*/ 126 h 180"/>
                    <a:gd name="T14" fmla="*/ 0 w 192"/>
                    <a:gd name="T15" fmla="*/ 6 h 180"/>
                    <a:gd name="T16" fmla="*/ 6 w 192"/>
                    <a:gd name="T17" fmla="*/ 0 h 180"/>
                    <a:gd name="T18" fmla="*/ 186 w 192"/>
                    <a:gd name="T19" fmla="*/ 0 h 180"/>
                    <a:gd name="T20" fmla="*/ 192 w 192"/>
                    <a:gd name="T21" fmla="*/ 6 h 180"/>
                    <a:gd name="T22" fmla="*/ 192 w 192"/>
                    <a:gd name="T23" fmla="*/ 174 h 180"/>
                    <a:gd name="T24" fmla="*/ 186 w 192"/>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2" h="180">
                      <a:moveTo>
                        <a:pt x="186" y="180"/>
                      </a:moveTo>
                      <a:cubicBezTo>
                        <a:pt x="183" y="180"/>
                        <a:pt x="180" y="177"/>
                        <a:pt x="180" y="174"/>
                      </a:cubicBezTo>
                      <a:cubicBezTo>
                        <a:pt x="180" y="12"/>
                        <a:pt x="180" y="12"/>
                        <a:pt x="180" y="12"/>
                      </a:cubicBezTo>
                      <a:cubicBezTo>
                        <a:pt x="12" y="12"/>
                        <a:pt x="12" y="12"/>
                        <a:pt x="12" y="12"/>
                      </a:cubicBezTo>
                      <a:cubicBezTo>
                        <a:pt x="12" y="126"/>
                        <a:pt x="12" y="126"/>
                        <a:pt x="12" y="126"/>
                      </a:cubicBezTo>
                      <a:cubicBezTo>
                        <a:pt x="12" y="129"/>
                        <a:pt x="10" y="132"/>
                        <a:pt x="6" y="132"/>
                      </a:cubicBezTo>
                      <a:cubicBezTo>
                        <a:pt x="3" y="132"/>
                        <a:pt x="0" y="129"/>
                        <a:pt x="0" y="126"/>
                      </a:cubicBezTo>
                      <a:cubicBezTo>
                        <a:pt x="0" y="6"/>
                        <a:pt x="0" y="6"/>
                        <a:pt x="0" y="6"/>
                      </a:cubicBezTo>
                      <a:cubicBezTo>
                        <a:pt x="0" y="3"/>
                        <a:pt x="3" y="0"/>
                        <a:pt x="6" y="0"/>
                      </a:cubicBezTo>
                      <a:cubicBezTo>
                        <a:pt x="186" y="0"/>
                        <a:pt x="186" y="0"/>
                        <a:pt x="186" y="0"/>
                      </a:cubicBezTo>
                      <a:cubicBezTo>
                        <a:pt x="190" y="0"/>
                        <a:pt x="192" y="3"/>
                        <a:pt x="192" y="6"/>
                      </a:cubicBezTo>
                      <a:cubicBezTo>
                        <a:pt x="192" y="174"/>
                        <a:pt x="192" y="174"/>
                        <a:pt x="192" y="174"/>
                      </a:cubicBezTo>
                      <a:cubicBezTo>
                        <a:pt x="192" y="177"/>
                        <a:pt x="190" y="180"/>
                        <a:pt x="186"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16" name="Freeform 217">
                  <a:extLst>
                    <a:ext uri="{FF2B5EF4-FFF2-40B4-BE49-F238E27FC236}">
                      <a16:creationId xmlns:a16="http://schemas.microsoft.com/office/drawing/2014/main" id="{1A7C2B63-4E51-4D2D-0C84-3EDCEA5D1A2B}"/>
                    </a:ext>
                  </a:extLst>
                </p:cNvPr>
                <p:cNvSpPr>
                  <a:spLocks/>
                </p:cNvSpPr>
                <p:nvPr/>
              </p:nvSpPr>
              <p:spPr bwMode="auto">
                <a:xfrm>
                  <a:off x="6719" y="3276"/>
                  <a:ext cx="165" cy="215"/>
                </a:xfrm>
                <a:custGeom>
                  <a:avLst/>
                  <a:gdLst>
                    <a:gd name="T0" fmla="*/ 6 w 108"/>
                    <a:gd name="T1" fmla="*/ 144 h 144"/>
                    <a:gd name="T2" fmla="*/ 0 w 108"/>
                    <a:gd name="T3" fmla="*/ 138 h 144"/>
                    <a:gd name="T4" fmla="*/ 0 w 108"/>
                    <a:gd name="T5" fmla="*/ 54 h 144"/>
                    <a:gd name="T6" fmla="*/ 54 w 108"/>
                    <a:gd name="T7" fmla="*/ 0 h 144"/>
                    <a:gd name="T8" fmla="*/ 102 w 108"/>
                    <a:gd name="T9" fmla="*/ 0 h 144"/>
                    <a:gd name="T10" fmla="*/ 108 w 108"/>
                    <a:gd name="T11" fmla="*/ 6 h 144"/>
                    <a:gd name="T12" fmla="*/ 102 w 108"/>
                    <a:gd name="T13" fmla="*/ 12 h 144"/>
                    <a:gd name="T14" fmla="*/ 54 w 108"/>
                    <a:gd name="T15" fmla="*/ 12 h 144"/>
                    <a:gd name="T16" fmla="*/ 12 w 108"/>
                    <a:gd name="T17" fmla="*/ 54 h 144"/>
                    <a:gd name="T18" fmla="*/ 12 w 108"/>
                    <a:gd name="T19" fmla="*/ 138 h 144"/>
                    <a:gd name="T20" fmla="*/ 6 w 108"/>
                    <a:gd name="T21"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44">
                      <a:moveTo>
                        <a:pt x="6" y="144"/>
                      </a:moveTo>
                      <a:cubicBezTo>
                        <a:pt x="3" y="144"/>
                        <a:pt x="0" y="141"/>
                        <a:pt x="0" y="138"/>
                      </a:cubicBezTo>
                      <a:cubicBezTo>
                        <a:pt x="0" y="54"/>
                        <a:pt x="0" y="54"/>
                        <a:pt x="0" y="54"/>
                      </a:cubicBezTo>
                      <a:cubicBezTo>
                        <a:pt x="0" y="24"/>
                        <a:pt x="24" y="0"/>
                        <a:pt x="54" y="0"/>
                      </a:cubicBezTo>
                      <a:cubicBezTo>
                        <a:pt x="102" y="0"/>
                        <a:pt x="102" y="0"/>
                        <a:pt x="102" y="0"/>
                      </a:cubicBezTo>
                      <a:cubicBezTo>
                        <a:pt x="106" y="0"/>
                        <a:pt x="108" y="3"/>
                        <a:pt x="108" y="6"/>
                      </a:cubicBezTo>
                      <a:cubicBezTo>
                        <a:pt x="108" y="9"/>
                        <a:pt x="106" y="12"/>
                        <a:pt x="102" y="12"/>
                      </a:cubicBezTo>
                      <a:cubicBezTo>
                        <a:pt x="54" y="12"/>
                        <a:pt x="54" y="12"/>
                        <a:pt x="54" y="12"/>
                      </a:cubicBezTo>
                      <a:cubicBezTo>
                        <a:pt x="31" y="12"/>
                        <a:pt x="12" y="31"/>
                        <a:pt x="12" y="54"/>
                      </a:cubicBezTo>
                      <a:cubicBezTo>
                        <a:pt x="12" y="138"/>
                        <a:pt x="12" y="138"/>
                        <a:pt x="12" y="138"/>
                      </a:cubicBezTo>
                      <a:cubicBezTo>
                        <a:pt x="12" y="141"/>
                        <a:pt x="10" y="144"/>
                        <a:pt x="6"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17" name="Freeform 218">
                  <a:extLst>
                    <a:ext uri="{FF2B5EF4-FFF2-40B4-BE49-F238E27FC236}">
                      <a16:creationId xmlns:a16="http://schemas.microsoft.com/office/drawing/2014/main" id="{75653B98-7B4C-E80C-1616-9D8165670E6B}"/>
                    </a:ext>
                  </a:extLst>
                </p:cNvPr>
                <p:cNvSpPr>
                  <a:spLocks/>
                </p:cNvSpPr>
                <p:nvPr/>
              </p:nvSpPr>
              <p:spPr bwMode="auto">
                <a:xfrm>
                  <a:off x="6940" y="3455"/>
                  <a:ext cx="55"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18" name="Freeform 219">
                  <a:extLst>
                    <a:ext uri="{FF2B5EF4-FFF2-40B4-BE49-F238E27FC236}">
                      <a16:creationId xmlns:a16="http://schemas.microsoft.com/office/drawing/2014/main" id="{1BECC2C4-B1A3-35D3-7433-B17870A3A648}"/>
                    </a:ext>
                  </a:extLst>
                </p:cNvPr>
                <p:cNvSpPr>
                  <a:spLocks/>
                </p:cNvSpPr>
                <p:nvPr/>
              </p:nvSpPr>
              <p:spPr bwMode="auto">
                <a:xfrm>
                  <a:off x="6719" y="3473"/>
                  <a:ext cx="74"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19" name="Freeform 220">
                  <a:extLst>
                    <a:ext uri="{FF2B5EF4-FFF2-40B4-BE49-F238E27FC236}">
                      <a16:creationId xmlns:a16="http://schemas.microsoft.com/office/drawing/2014/main" id="{F7DCDB30-E517-7C16-34FC-D17C54ED9483}"/>
                    </a:ext>
                  </a:extLst>
                </p:cNvPr>
                <p:cNvSpPr>
                  <a:spLocks/>
                </p:cNvSpPr>
                <p:nvPr/>
              </p:nvSpPr>
              <p:spPr bwMode="auto">
                <a:xfrm>
                  <a:off x="6756" y="3312"/>
                  <a:ext cx="92" cy="89"/>
                </a:xfrm>
                <a:custGeom>
                  <a:avLst/>
                  <a:gdLst>
                    <a:gd name="T0" fmla="*/ 6 w 60"/>
                    <a:gd name="T1" fmla="*/ 60 h 60"/>
                    <a:gd name="T2" fmla="*/ 0 w 60"/>
                    <a:gd name="T3" fmla="*/ 54 h 60"/>
                    <a:gd name="T4" fmla="*/ 0 w 60"/>
                    <a:gd name="T5" fmla="*/ 24 h 60"/>
                    <a:gd name="T6" fmla="*/ 24 w 60"/>
                    <a:gd name="T7" fmla="*/ 0 h 60"/>
                    <a:gd name="T8" fmla="*/ 54 w 60"/>
                    <a:gd name="T9" fmla="*/ 0 h 60"/>
                    <a:gd name="T10" fmla="*/ 60 w 60"/>
                    <a:gd name="T11" fmla="*/ 6 h 60"/>
                    <a:gd name="T12" fmla="*/ 54 w 60"/>
                    <a:gd name="T13" fmla="*/ 12 h 60"/>
                    <a:gd name="T14" fmla="*/ 24 w 60"/>
                    <a:gd name="T15" fmla="*/ 12 h 60"/>
                    <a:gd name="T16" fmla="*/ 12 w 60"/>
                    <a:gd name="T17" fmla="*/ 24 h 60"/>
                    <a:gd name="T18" fmla="*/ 12 w 60"/>
                    <a:gd name="T19" fmla="*/ 54 h 60"/>
                    <a:gd name="T20" fmla="*/ 6 w 60"/>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60">
                      <a:moveTo>
                        <a:pt x="6" y="60"/>
                      </a:moveTo>
                      <a:cubicBezTo>
                        <a:pt x="3" y="60"/>
                        <a:pt x="0" y="57"/>
                        <a:pt x="0" y="54"/>
                      </a:cubicBezTo>
                      <a:cubicBezTo>
                        <a:pt x="0" y="24"/>
                        <a:pt x="0" y="24"/>
                        <a:pt x="0" y="24"/>
                      </a:cubicBezTo>
                      <a:cubicBezTo>
                        <a:pt x="0" y="11"/>
                        <a:pt x="11" y="0"/>
                        <a:pt x="24" y="0"/>
                      </a:cubicBezTo>
                      <a:cubicBezTo>
                        <a:pt x="54" y="0"/>
                        <a:pt x="54" y="0"/>
                        <a:pt x="54" y="0"/>
                      </a:cubicBezTo>
                      <a:cubicBezTo>
                        <a:pt x="58" y="0"/>
                        <a:pt x="60" y="3"/>
                        <a:pt x="60" y="6"/>
                      </a:cubicBezTo>
                      <a:cubicBezTo>
                        <a:pt x="60" y="9"/>
                        <a:pt x="58" y="12"/>
                        <a:pt x="54" y="12"/>
                      </a:cubicBezTo>
                      <a:cubicBezTo>
                        <a:pt x="24" y="12"/>
                        <a:pt x="24" y="12"/>
                        <a:pt x="24" y="12"/>
                      </a:cubicBezTo>
                      <a:cubicBezTo>
                        <a:pt x="18" y="12"/>
                        <a:pt x="12" y="17"/>
                        <a:pt x="12" y="24"/>
                      </a:cubicBezTo>
                      <a:cubicBezTo>
                        <a:pt x="12" y="54"/>
                        <a:pt x="12" y="54"/>
                        <a:pt x="12" y="54"/>
                      </a:cubicBezTo>
                      <a:cubicBezTo>
                        <a:pt x="12" y="57"/>
                        <a:pt x="10" y="60"/>
                        <a:pt x="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120" name="Freeform 221">
                  <a:extLst>
                    <a:ext uri="{FF2B5EF4-FFF2-40B4-BE49-F238E27FC236}">
                      <a16:creationId xmlns:a16="http://schemas.microsoft.com/office/drawing/2014/main" id="{25FB969F-1F45-ABC2-1EA5-40977C7A2B26}"/>
                    </a:ext>
                  </a:extLst>
                </p:cNvPr>
                <p:cNvSpPr>
                  <a:spLocks/>
                </p:cNvSpPr>
                <p:nvPr/>
              </p:nvSpPr>
              <p:spPr bwMode="auto">
                <a:xfrm>
                  <a:off x="6719" y="3437"/>
                  <a:ext cx="83" cy="18"/>
                </a:xfrm>
                <a:custGeom>
                  <a:avLst/>
                  <a:gdLst>
                    <a:gd name="T0" fmla="*/ 48 w 54"/>
                    <a:gd name="T1" fmla="*/ 12 h 12"/>
                    <a:gd name="T2" fmla="*/ 6 w 54"/>
                    <a:gd name="T3" fmla="*/ 12 h 12"/>
                    <a:gd name="T4" fmla="*/ 0 w 54"/>
                    <a:gd name="T5" fmla="*/ 6 h 12"/>
                    <a:gd name="T6" fmla="*/ 6 w 54"/>
                    <a:gd name="T7" fmla="*/ 0 h 12"/>
                    <a:gd name="T8" fmla="*/ 48 w 54"/>
                    <a:gd name="T9" fmla="*/ 0 h 12"/>
                    <a:gd name="T10" fmla="*/ 54 w 54"/>
                    <a:gd name="T11" fmla="*/ 6 h 12"/>
                    <a:gd name="T12" fmla="*/ 48 w 5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54" h="12">
                      <a:moveTo>
                        <a:pt x="48" y="12"/>
                      </a:moveTo>
                      <a:cubicBezTo>
                        <a:pt x="6" y="12"/>
                        <a:pt x="6" y="12"/>
                        <a:pt x="6" y="12"/>
                      </a:cubicBezTo>
                      <a:cubicBezTo>
                        <a:pt x="3" y="12"/>
                        <a:pt x="0" y="9"/>
                        <a:pt x="0" y="6"/>
                      </a:cubicBezTo>
                      <a:cubicBezTo>
                        <a:pt x="0" y="3"/>
                        <a:pt x="3" y="0"/>
                        <a:pt x="6" y="0"/>
                      </a:cubicBezTo>
                      <a:cubicBezTo>
                        <a:pt x="48" y="0"/>
                        <a:pt x="48" y="0"/>
                        <a:pt x="48" y="0"/>
                      </a:cubicBezTo>
                      <a:cubicBezTo>
                        <a:pt x="52" y="0"/>
                        <a:pt x="54" y="3"/>
                        <a:pt x="54" y="6"/>
                      </a:cubicBezTo>
                      <a:cubicBezTo>
                        <a:pt x="54" y="9"/>
                        <a:pt x="52"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nvGrpSpPr>
              <p:cNvPr id="63" name="Group 248">
                <a:extLst>
                  <a:ext uri="{FF2B5EF4-FFF2-40B4-BE49-F238E27FC236}">
                    <a16:creationId xmlns:a16="http://schemas.microsoft.com/office/drawing/2014/main" id="{38C544B1-FE01-3169-275F-12DA89C74112}"/>
                  </a:ext>
                </a:extLst>
              </p:cNvPr>
              <p:cNvGrpSpPr>
                <a:grpSpLocks noChangeAspect="1"/>
              </p:cNvGrpSpPr>
              <p:nvPr/>
            </p:nvGrpSpPr>
            <p:grpSpPr bwMode="auto">
              <a:xfrm>
                <a:off x="3443322" y="5795125"/>
                <a:ext cx="422663" cy="420688"/>
                <a:chOff x="351" y="438"/>
                <a:chExt cx="428" cy="426"/>
              </a:xfrm>
              <a:solidFill>
                <a:schemeClr val="tx1"/>
              </a:solidFill>
            </p:grpSpPr>
            <p:sp>
              <p:nvSpPr>
                <p:cNvPr id="97" name="Freeform 249">
                  <a:extLst>
                    <a:ext uri="{FF2B5EF4-FFF2-40B4-BE49-F238E27FC236}">
                      <a16:creationId xmlns:a16="http://schemas.microsoft.com/office/drawing/2014/main" id="{650A7070-A218-FB65-3B2C-070D9519644F}"/>
                    </a:ext>
                  </a:extLst>
                </p:cNvPr>
                <p:cNvSpPr>
                  <a:spLocks noEditPoints="1"/>
                </p:cNvSpPr>
                <p:nvPr/>
              </p:nvSpPr>
              <p:spPr bwMode="auto">
                <a:xfrm>
                  <a:off x="351" y="527"/>
                  <a:ext cx="426" cy="124"/>
                </a:xfrm>
                <a:custGeom>
                  <a:avLst/>
                  <a:gdLst>
                    <a:gd name="T0" fmla="*/ 282 w 288"/>
                    <a:gd name="T1" fmla="*/ 84 h 84"/>
                    <a:gd name="T2" fmla="*/ 6 w 288"/>
                    <a:gd name="T3" fmla="*/ 84 h 84"/>
                    <a:gd name="T4" fmla="*/ 0 w 288"/>
                    <a:gd name="T5" fmla="*/ 78 h 84"/>
                    <a:gd name="T6" fmla="*/ 0 w 288"/>
                    <a:gd name="T7" fmla="*/ 6 h 84"/>
                    <a:gd name="T8" fmla="*/ 6 w 288"/>
                    <a:gd name="T9" fmla="*/ 0 h 84"/>
                    <a:gd name="T10" fmla="*/ 282 w 288"/>
                    <a:gd name="T11" fmla="*/ 0 h 84"/>
                    <a:gd name="T12" fmla="*/ 288 w 288"/>
                    <a:gd name="T13" fmla="*/ 6 h 84"/>
                    <a:gd name="T14" fmla="*/ 288 w 288"/>
                    <a:gd name="T15" fmla="*/ 78 h 84"/>
                    <a:gd name="T16" fmla="*/ 282 w 288"/>
                    <a:gd name="T17" fmla="*/ 84 h 84"/>
                    <a:gd name="T18" fmla="*/ 12 w 288"/>
                    <a:gd name="T19" fmla="*/ 72 h 84"/>
                    <a:gd name="T20" fmla="*/ 276 w 288"/>
                    <a:gd name="T21" fmla="*/ 72 h 84"/>
                    <a:gd name="T22" fmla="*/ 276 w 288"/>
                    <a:gd name="T23" fmla="*/ 12 h 84"/>
                    <a:gd name="T24" fmla="*/ 12 w 288"/>
                    <a:gd name="T25" fmla="*/ 12 h 84"/>
                    <a:gd name="T26" fmla="*/ 12 w 288"/>
                    <a:gd name="T27" fmla="*/ 7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84">
                      <a:moveTo>
                        <a:pt x="282" y="84"/>
                      </a:moveTo>
                      <a:cubicBezTo>
                        <a:pt x="6" y="84"/>
                        <a:pt x="6" y="84"/>
                        <a:pt x="6" y="84"/>
                      </a:cubicBezTo>
                      <a:cubicBezTo>
                        <a:pt x="3" y="84"/>
                        <a:pt x="0" y="81"/>
                        <a:pt x="0" y="78"/>
                      </a:cubicBezTo>
                      <a:cubicBezTo>
                        <a:pt x="0" y="6"/>
                        <a:pt x="0" y="6"/>
                        <a:pt x="0" y="6"/>
                      </a:cubicBezTo>
                      <a:cubicBezTo>
                        <a:pt x="0" y="2"/>
                        <a:pt x="3" y="0"/>
                        <a:pt x="6" y="0"/>
                      </a:cubicBezTo>
                      <a:cubicBezTo>
                        <a:pt x="282" y="0"/>
                        <a:pt x="282" y="0"/>
                        <a:pt x="282" y="0"/>
                      </a:cubicBezTo>
                      <a:cubicBezTo>
                        <a:pt x="286" y="0"/>
                        <a:pt x="288" y="2"/>
                        <a:pt x="288" y="6"/>
                      </a:cubicBezTo>
                      <a:cubicBezTo>
                        <a:pt x="288" y="78"/>
                        <a:pt x="288" y="78"/>
                        <a:pt x="288" y="78"/>
                      </a:cubicBezTo>
                      <a:cubicBezTo>
                        <a:pt x="288" y="81"/>
                        <a:pt x="286" y="84"/>
                        <a:pt x="282" y="84"/>
                      </a:cubicBezTo>
                      <a:close/>
                      <a:moveTo>
                        <a:pt x="12" y="72"/>
                      </a:moveTo>
                      <a:cubicBezTo>
                        <a:pt x="276" y="72"/>
                        <a:pt x="276" y="72"/>
                        <a:pt x="276" y="72"/>
                      </a:cubicBezTo>
                      <a:cubicBezTo>
                        <a:pt x="276" y="12"/>
                        <a:pt x="276" y="12"/>
                        <a:pt x="276" y="12"/>
                      </a:cubicBezTo>
                      <a:cubicBezTo>
                        <a:pt x="12" y="12"/>
                        <a:pt x="12" y="12"/>
                        <a:pt x="12" y="12"/>
                      </a:cubicBezTo>
                      <a:lnTo>
                        <a:pt x="12"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98" name="Freeform 250">
                  <a:extLst>
                    <a:ext uri="{FF2B5EF4-FFF2-40B4-BE49-F238E27FC236}">
                      <a16:creationId xmlns:a16="http://schemas.microsoft.com/office/drawing/2014/main" id="{8DB4049D-139F-2806-8C58-7FF0B949FFF9}"/>
                    </a:ext>
                  </a:extLst>
                </p:cNvPr>
                <p:cNvSpPr>
                  <a:spLocks/>
                </p:cNvSpPr>
                <p:nvPr/>
              </p:nvSpPr>
              <p:spPr bwMode="auto">
                <a:xfrm>
                  <a:off x="351" y="438"/>
                  <a:ext cx="428" cy="106"/>
                </a:xfrm>
                <a:custGeom>
                  <a:avLst/>
                  <a:gdLst>
                    <a:gd name="T0" fmla="*/ 282 w 289"/>
                    <a:gd name="T1" fmla="*/ 72 h 72"/>
                    <a:gd name="T2" fmla="*/ 278 w 289"/>
                    <a:gd name="T3" fmla="*/ 70 h 72"/>
                    <a:gd name="T4" fmla="*/ 208 w 289"/>
                    <a:gd name="T5" fmla="*/ 12 h 72"/>
                    <a:gd name="T6" fmla="*/ 80 w 289"/>
                    <a:gd name="T7" fmla="*/ 12 h 72"/>
                    <a:gd name="T8" fmla="*/ 10 w 289"/>
                    <a:gd name="T9" fmla="*/ 70 h 72"/>
                    <a:gd name="T10" fmla="*/ 2 w 289"/>
                    <a:gd name="T11" fmla="*/ 69 h 72"/>
                    <a:gd name="T12" fmla="*/ 2 w 289"/>
                    <a:gd name="T13" fmla="*/ 61 h 72"/>
                    <a:gd name="T14" fmla="*/ 74 w 289"/>
                    <a:gd name="T15" fmla="*/ 1 h 72"/>
                    <a:gd name="T16" fmla="*/ 78 w 289"/>
                    <a:gd name="T17" fmla="*/ 0 h 72"/>
                    <a:gd name="T18" fmla="*/ 210 w 289"/>
                    <a:gd name="T19" fmla="*/ 0 h 72"/>
                    <a:gd name="T20" fmla="*/ 214 w 289"/>
                    <a:gd name="T21" fmla="*/ 1 h 72"/>
                    <a:gd name="T22" fmla="*/ 286 w 289"/>
                    <a:gd name="T23" fmla="*/ 61 h 72"/>
                    <a:gd name="T24" fmla="*/ 287 w 289"/>
                    <a:gd name="T25" fmla="*/ 69 h 72"/>
                    <a:gd name="T26" fmla="*/ 282 w 289"/>
                    <a:gd name="T27"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72">
                      <a:moveTo>
                        <a:pt x="282" y="72"/>
                      </a:moveTo>
                      <a:cubicBezTo>
                        <a:pt x="281" y="72"/>
                        <a:pt x="280" y="71"/>
                        <a:pt x="278" y="70"/>
                      </a:cubicBezTo>
                      <a:cubicBezTo>
                        <a:pt x="208" y="12"/>
                        <a:pt x="208" y="12"/>
                        <a:pt x="208" y="12"/>
                      </a:cubicBezTo>
                      <a:cubicBezTo>
                        <a:pt x="80" y="12"/>
                        <a:pt x="80" y="12"/>
                        <a:pt x="80" y="12"/>
                      </a:cubicBezTo>
                      <a:cubicBezTo>
                        <a:pt x="10" y="70"/>
                        <a:pt x="10" y="70"/>
                        <a:pt x="10" y="70"/>
                      </a:cubicBezTo>
                      <a:cubicBezTo>
                        <a:pt x="8" y="72"/>
                        <a:pt x="4" y="72"/>
                        <a:pt x="2" y="69"/>
                      </a:cubicBezTo>
                      <a:cubicBezTo>
                        <a:pt x="0" y="67"/>
                        <a:pt x="0" y="63"/>
                        <a:pt x="2" y="61"/>
                      </a:cubicBezTo>
                      <a:cubicBezTo>
                        <a:pt x="74" y="1"/>
                        <a:pt x="74" y="1"/>
                        <a:pt x="74" y="1"/>
                      </a:cubicBezTo>
                      <a:cubicBezTo>
                        <a:pt x="75" y="0"/>
                        <a:pt x="77" y="0"/>
                        <a:pt x="78" y="0"/>
                      </a:cubicBezTo>
                      <a:cubicBezTo>
                        <a:pt x="210" y="0"/>
                        <a:pt x="210" y="0"/>
                        <a:pt x="210" y="0"/>
                      </a:cubicBezTo>
                      <a:cubicBezTo>
                        <a:pt x="212" y="0"/>
                        <a:pt x="213" y="0"/>
                        <a:pt x="214" y="1"/>
                      </a:cubicBezTo>
                      <a:cubicBezTo>
                        <a:pt x="286" y="61"/>
                        <a:pt x="286" y="61"/>
                        <a:pt x="286" y="61"/>
                      </a:cubicBezTo>
                      <a:cubicBezTo>
                        <a:pt x="289" y="63"/>
                        <a:pt x="289" y="67"/>
                        <a:pt x="287" y="69"/>
                      </a:cubicBezTo>
                      <a:cubicBezTo>
                        <a:pt x="286" y="71"/>
                        <a:pt x="284" y="72"/>
                        <a:pt x="282"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99" name="Oval 251">
                  <a:extLst>
                    <a:ext uri="{FF2B5EF4-FFF2-40B4-BE49-F238E27FC236}">
                      <a16:creationId xmlns:a16="http://schemas.microsoft.com/office/drawing/2014/main" id="{56B105A9-86E5-E9A9-06AE-17116EB5B33F}"/>
                    </a:ext>
                  </a:extLst>
                </p:cNvPr>
                <p:cNvSpPr>
                  <a:spLocks noChangeArrowheads="1"/>
                </p:cNvSpPr>
                <p:nvPr/>
              </p:nvSpPr>
              <p:spPr bwMode="auto">
                <a:xfrm>
                  <a:off x="582" y="571"/>
                  <a:ext cx="35"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00" name="Oval 252">
                  <a:extLst>
                    <a:ext uri="{FF2B5EF4-FFF2-40B4-BE49-F238E27FC236}">
                      <a16:creationId xmlns:a16="http://schemas.microsoft.com/office/drawing/2014/main" id="{A3AEA4D2-9B31-D740-64A6-2EA2929D0C54}"/>
                    </a:ext>
                  </a:extLst>
                </p:cNvPr>
                <p:cNvSpPr>
                  <a:spLocks noChangeArrowheads="1"/>
                </p:cNvSpPr>
                <p:nvPr/>
              </p:nvSpPr>
              <p:spPr bwMode="auto">
                <a:xfrm>
                  <a:off x="635" y="571"/>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01" name="Oval 253">
                  <a:extLst>
                    <a:ext uri="{FF2B5EF4-FFF2-40B4-BE49-F238E27FC236}">
                      <a16:creationId xmlns:a16="http://schemas.microsoft.com/office/drawing/2014/main" id="{D856ABE0-AF40-9331-B33B-BD151BE5CCD2}"/>
                    </a:ext>
                  </a:extLst>
                </p:cNvPr>
                <p:cNvSpPr>
                  <a:spLocks noChangeArrowheads="1"/>
                </p:cNvSpPr>
                <p:nvPr/>
              </p:nvSpPr>
              <p:spPr bwMode="auto">
                <a:xfrm>
                  <a:off x="688" y="571"/>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02" name="Freeform 254">
                  <a:extLst>
                    <a:ext uri="{FF2B5EF4-FFF2-40B4-BE49-F238E27FC236}">
                      <a16:creationId xmlns:a16="http://schemas.microsoft.com/office/drawing/2014/main" id="{A388B668-027B-BC3F-70E1-C45078635920}"/>
                    </a:ext>
                  </a:extLst>
                </p:cNvPr>
                <p:cNvSpPr>
                  <a:spLocks noEditPoints="1"/>
                </p:cNvSpPr>
                <p:nvPr/>
              </p:nvSpPr>
              <p:spPr bwMode="auto">
                <a:xfrm>
                  <a:off x="386" y="562"/>
                  <a:ext cx="54" cy="54"/>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8"/>
                        <a:pt x="8" y="0"/>
                        <a:pt x="18" y="0"/>
                      </a:cubicBezTo>
                      <a:cubicBezTo>
                        <a:pt x="28" y="0"/>
                        <a:pt x="36" y="8"/>
                        <a:pt x="36" y="18"/>
                      </a:cubicBezTo>
                      <a:cubicBezTo>
                        <a:pt x="36" y="28"/>
                        <a:pt x="28" y="36"/>
                        <a:pt x="18" y="36"/>
                      </a:cubicBezTo>
                      <a:close/>
                      <a:moveTo>
                        <a:pt x="18" y="12"/>
                      </a:moveTo>
                      <a:cubicBezTo>
                        <a:pt x="15" y="12"/>
                        <a:pt x="12" y="14"/>
                        <a:pt x="12" y="18"/>
                      </a:cubicBezTo>
                      <a:cubicBezTo>
                        <a:pt x="12" y="21"/>
                        <a:pt x="15" y="24"/>
                        <a:pt x="18" y="24"/>
                      </a:cubicBezTo>
                      <a:cubicBezTo>
                        <a:pt x="22" y="24"/>
                        <a:pt x="24" y="21"/>
                        <a:pt x="24" y="18"/>
                      </a:cubicBezTo>
                      <a:cubicBezTo>
                        <a:pt x="24" y="14"/>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03" name="Freeform 255">
                  <a:extLst>
                    <a:ext uri="{FF2B5EF4-FFF2-40B4-BE49-F238E27FC236}">
                      <a16:creationId xmlns:a16="http://schemas.microsoft.com/office/drawing/2014/main" id="{25A170FE-7F73-04A9-D3AF-9256DCEF8BD2}"/>
                    </a:ext>
                  </a:extLst>
                </p:cNvPr>
                <p:cNvSpPr>
                  <a:spLocks/>
                </p:cNvSpPr>
                <p:nvPr/>
              </p:nvSpPr>
              <p:spPr bwMode="auto">
                <a:xfrm>
                  <a:off x="351" y="633"/>
                  <a:ext cx="426" cy="125"/>
                </a:xfrm>
                <a:custGeom>
                  <a:avLst/>
                  <a:gdLst>
                    <a:gd name="T0" fmla="*/ 282 w 288"/>
                    <a:gd name="T1" fmla="*/ 84 h 84"/>
                    <a:gd name="T2" fmla="*/ 6 w 288"/>
                    <a:gd name="T3" fmla="*/ 84 h 84"/>
                    <a:gd name="T4" fmla="*/ 0 w 288"/>
                    <a:gd name="T5" fmla="*/ 78 h 84"/>
                    <a:gd name="T6" fmla="*/ 0 w 288"/>
                    <a:gd name="T7" fmla="*/ 6 h 84"/>
                    <a:gd name="T8" fmla="*/ 6 w 288"/>
                    <a:gd name="T9" fmla="*/ 0 h 84"/>
                    <a:gd name="T10" fmla="*/ 12 w 288"/>
                    <a:gd name="T11" fmla="*/ 6 h 84"/>
                    <a:gd name="T12" fmla="*/ 12 w 288"/>
                    <a:gd name="T13" fmla="*/ 72 h 84"/>
                    <a:gd name="T14" fmla="*/ 276 w 288"/>
                    <a:gd name="T15" fmla="*/ 72 h 84"/>
                    <a:gd name="T16" fmla="*/ 276 w 288"/>
                    <a:gd name="T17" fmla="*/ 6 h 84"/>
                    <a:gd name="T18" fmla="*/ 282 w 288"/>
                    <a:gd name="T19" fmla="*/ 0 h 84"/>
                    <a:gd name="T20" fmla="*/ 288 w 288"/>
                    <a:gd name="T21" fmla="*/ 6 h 84"/>
                    <a:gd name="T22" fmla="*/ 288 w 288"/>
                    <a:gd name="T23" fmla="*/ 78 h 84"/>
                    <a:gd name="T24" fmla="*/ 282 w 288"/>
                    <a:gd name="T2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84">
                      <a:moveTo>
                        <a:pt x="282" y="84"/>
                      </a:moveTo>
                      <a:cubicBezTo>
                        <a:pt x="6" y="84"/>
                        <a:pt x="6" y="84"/>
                        <a:pt x="6" y="84"/>
                      </a:cubicBezTo>
                      <a:cubicBezTo>
                        <a:pt x="3" y="84"/>
                        <a:pt x="0" y="81"/>
                        <a:pt x="0" y="78"/>
                      </a:cubicBezTo>
                      <a:cubicBezTo>
                        <a:pt x="0" y="6"/>
                        <a:pt x="0" y="6"/>
                        <a:pt x="0" y="6"/>
                      </a:cubicBezTo>
                      <a:cubicBezTo>
                        <a:pt x="0" y="2"/>
                        <a:pt x="3" y="0"/>
                        <a:pt x="6" y="0"/>
                      </a:cubicBezTo>
                      <a:cubicBezTo>
                        <a:pt x="10" y="0"/>
                        <a:pt x="12" y="2"/>
                        <a:pt x="12" y="6"/>
                      </a:cubicBezTo>
                      <a:cubicBezTo>
                        <a:pt x="12" y="72"/>
                        <a:pt x="12" y="72"/>
                        <a:pt x="12" y="72"/>
                      </a:cubicBezTo>
                      <a:cubicBezTo>
                        <a:pt x="276" y="72"/>
                        <a:pt x="276" y="72"/>
                        <a:pt x="276" y="72"/>
                      </a:cubicBezTo>
                      <a:cubicBezTo>
                        <a:pt x="276" y="6"/>
                        <a:pt x="276" y="6"/>
                        <a:pt x="276" y="6"/>
                      </a:cubicBezTo>
                      <a:cubicBezTo>
                        <a:pt x="276" y="2"/>
                        <a:pt x="279" y="0"/>
                        <a:pt x="282" y="0"/>
                      </a:cubicBezTo>
                      <a:cubicBezTo>
                        <a:pt x="286" y="0"/>
                        <a:pt x="288" y="2"/>
                        <a:pt x="288" y="6"/>
                      </a:cubicBezTo>
                      <a:cubicBezTo>
                        <a:pt x="288" y="78"/>
                        <a:pt x="288" y="78"/>
                        <a:pt x="288" y="78"/>
                      </a:cubicBezTo>
                      <a:cubicBezTo>
                        <a:pt x="288" y="81"/>
                        <a:pt x="286" y="84"/>
                        <a:pt x="282"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04" name="Oval 256">
                  <a:extLst>
                    <a:ext uri="{FF2B5EF4-FFF2-40B4-BE49-F238E27FC236}">
                      <a16:creationId xmlns:a16="http://schemas.microsoft.com/office/drawing/2014/main" id="{782DE427-F4E2-B12B-D20C-1E266B2D2A8F}"/>
                    </a:ext>
                  </a:extLst>
                </p:cNvPr>
                <p:cNvSpPr>
                  <a:spLocks noChangeArrowheads="1"/>
                </p:cNvSpPr>
                <p:nvPr/>
              </p:nvSpPr>
              <p:spPr bwMode="auto">
                <a:xfrm>
                  <a:off x="582" y="678"/>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05" name="Oval 257">
                  <a:extLst>
                    <a:ext uri="{FF2B5EF4-FFF2-40B4-BE49-F238E27FC236}">
                      <a16:creationId xmlns:a16="http://schemas.microsoft.com/office/drawing/2014/main" id="{33C7BB82-69CA-099C-DEA2-90F142728C66}"/>
                    </a:ext>
                  </a:extLst>
                </p:cNvPr>
                <p:cNvSpPr>
                  <a:spLocks noChangeArrowheads="1"/>
                </p:cNvSpPr>
                <p:nvPr/>
              </p:nvSpPr>
              <p:spPr bwMode="auto">
                <a:xfrm>
                  <a:off x="635" y="678"/>
                  <a:ext cx="36"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06" name="Oval 258">
                  <a:extLst>
                    <a:ext uri="{FF2B5EF4-FFF2-40B4-BE49-F238E27FC236}">
                      <a16:creationId xmlns:a16="http://schemas.microsoft.com/office/drawing/2014/main" id="{8403CE61-3F8D-F12D-6196-1F064871E99F}"/>
                    </a:ext>
                  </a:extLst>
                </p:cNvPr>
                <p:cNvSpPr>
                  <a:spLocks noChangeArrowheads="1"/>
                </p:cNvSpPr>
                <p:nvPr/>
              </p:nvSpPr>
              <p:spPr bwMode="auto">
                <a:xfrm>
                  <a:off x="688" y="678"/>
                  <a:ext cx="36"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07" name="Freeform 259">
                  <a:extLst>
                    <a:ext uri="{FF2B5EF4-FFF2-40B4-BE49-F238E27FC236}">
                      <a16:creationId xmlns:a16="http://schemas.microsoft.com/office/drawing/2014/main" id="{B41EE51D-D28C-738B-B446-7711BE47B65F}"/>
                    </a:ext>
                  </a:extLst>
                </p:cNvPr>
                <p:cNvSpPr>
                  <a:spLocks noEditPoints="1"/>
                </p:cNvSpPr>
                <p:nvPr/>
              </p:nvSpPr>
              <p:spPr bwMode="auto">
                <a:xfrm>
                  <a:off x="386" y="669"/>
                  <a:ext cx="54" cy="53"/>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8"/>
                        <a:pt x="8" y="0"/>
                        <a:pt x="18" y="0"/>
                      </a:cubicBezTo>
                      <a:cubicBezTo>
                        <a:pt x="28" y="0"/>
                        <a:pt x="36" y="8"/>
                        <a:pt x="36" y="18"/>
                      </a:cubicBezTo>
                      <a:cubicBezTo>
                        <a:pt x="36" y="28"/>
                        <a:pt x="28" y="36"/>
                        <a:pt x="18" y="36"/>
                      </a:cubicBezTo>
                      <a:close/>
                      <a:moveTo>
                        <a:pt x="18" y="12"/>
                      </a:moveTo>
                      <a:cubicBezTo>
                        <a:pt x="15" y="12"/>
                        <a:pt x="12" y="14"/>
                        <a:pt x="12" y="18"/>
                      </a:cubicBezTo>
                      <a:cubicBezTo>
                        <a:pt x="12" y="21"/>
                        <a:pt x="15" y="24"/>
                        <a:pt x="18" y="24"/>
                      </a:cubicBezTo>
                      <a:cubicBezTo>
                        <a:pt x="22" y="24"/>
                        <a:pt x="24" y="21"/>
                        <a:pt x="24" y="18"/>
                      </a:cubicBezTo>
                      <a:cubicBezTo>
                        <a:pt x="24" y="14"/>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08" name="Freeform 260">
                  <a:extLst>
                    <a:ext uri="{FF2B5EF4-FFF2-40B4-BE49-F238E27FC236}">
                      <a16:creationId xmlns:a16="http://schemas.microsoft.com/office/drawing/2014/main" id="{4E56775E-0D79-0706-D1CA-6F30CD00EF49}"/>
                    </a:ext>
                  </a:extLst>
                </p:cNvPr>
                <p:cNvSpPr>
                  <a:spLocks/>
                </p:cNvSpPr>
                <p:nvPr/>
              </p:nvSpPr>
              <p:spPr bwMode="auto">
                <a:xfrm>
                  <a:off x="351" y="740"/>
                  <a:ext cx="426" cy="124"/>
                </a:xfrm>
                <a:custGeom>
                  <a:avLst/>
                  <a:gdLst>
                    <a:gd name="T0" fmla="*/ 258 w 288"/>
                    <a:gd name="T1" fmla="*/ 84 h 84"/>
                    <a:gd name="T2" fmla="*/ 30 w 288"/>
                    <a:gd name="T3" fmla="*/ 84 h 84"/>
                    <a:gd name="T4" fmla="*/ 0 w 288"/>
                    <a:gd name="T5" fmla="*/ 54 h 84"/>
                    <a:gd name="T6" fmla="*/ 0 w 288"/>
                    <a:gd name="T7" fmla="*/ 6 h 84"/>
                    <a:gd name="T8" fmla="*/ 6 w 288"/>
                    <a:gd name="T9" fmla="*/ 0 h 84"/>
                    <a:gd name="T10" fmla="*/ 12 w 288"/>
                    <a:gd name="T11" fmla="*/ 6 h 84"/>
                    <a:gd name="T12" fmla="*/ 12 w 288"/>
                    <a:gd name="T13" fmla="*/ 54 h 84"/>
                    <a:gd name="T14" fmla="*/ 30 w 288"/>
                    <a:gd name="T15" fmla="*/ 72 h 84"/>
                    <a:gd name="T16" fmla="*/ 258 w 288"/>
                    <a:gd name="T17" fmla="*/ 72 h 84"/>
                    <a:gd name="T18" fmla="*/ 276 w 288"/>
                    <a:gd name="T19" fmla="*/ 54 h 84"/>
                    <a:gd name="T20" fmla="*/ 276 w 288"/>
                    <a:gd name="T21" fmla="*/ 6 h 84"/>
                    <a:gd name="T22" fmla="*/ 282 w 288"/>
                    <a:gd name="T23" fmla="*/ 0 h 84"/>
                    <a:gd name="T24" fmla="*/ 288 w 288"/>
                    <a:gd name="T25" fmla="*/ 6 h 84"/>
                    <a:gd name="T26" fmla="*/ 288 w 288"/>
                    <a:gd name="T27" fmla="*/ 54 h 84"/>
                    <a:gd name="T28" fmla="*/ 258 w 288"/>
                    <a:gd name="T2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84">
                      <a:moveTo>
                        <a:pt x="258" y="84"/>
                      </a:moveTo>
                      <a:cubicBezTo>
                        <a:pt x="30" y="84"/>
                        <a:pt x="30" y="84"/>
                        <a:pt x="30" y="84"/>
                      </a:cubicBezTo>
                      <a:cubicBezTo>
                        <a:pt x="14" y="84"/>
                        <a:pt x="0" y="70"/>
                        <a:pt x="0" y="54"/>
                      </a:cubicBezTo>
                      <a:cubicBezTo>
                        <a:pt x="0" y="6"/>
                        <a:pt x="0" y="6"/>
                        <a:pt x="0" y="6"/>
                      </a:cubicBezTo>
                      <a:cubicBezTo>
                        <a:pt x="0" y="2"/>
                        <a:pt x="3" y="0"/>
                        <a:pt x="6" y="0"/>
                      </a:cubicBezTo>
                      <a:cubicBezTo>
                        <a:pt x="10" y="0"/>
                        <a:pt x="12" y="2"/>
                        <a:pt x="12" y="6"/>
                      </a:cubicBezTo>
                      <a:cubicBezTo>
                        <a:pt x="12" y="54"/>
                        <a:pt x="12" y="54"/>
                        <a:pt x="12" y="54"/>
                      </a:cubicBezTo>
                      <a:cubicBezTo>
                        <a:pt x="12" y="64"/>
                        <a:pt x="20" y="72"/>
                        <a:pt x="30" y="72"/>
                      </a:cubicBezTo>
                      <a:cubicBezTo>
                        <a:pt x="258" y="72"/>
                        <a:pt x="258" y="72"/>
                        <a:pt x="258" y="72"/>
                      </a:cubicBezTo>
                      <a:cubicBezTo>
                        <a:pt x="268" y="72"/>
                        <a:pt x="276" y="64"/>
                        <a:pt x="276" y="54"/>
                      </a:cubicBezTo>
                      <a:cubicBezTo>
                        <a:pt x="276" y="6"/>
                        <a:pt x="276" y="6"/>
                        <a:pt x="276" y="6"/>
                      </a:cubicBezTo>
                      <a:cubicBezTo>
                        <a:pt x="276" y="2"/>
                        <a:pt x="279" y="0"/>
                        <a:pt x="282" y="0"/>
                      </a:cubicBezTo>
                      <a:cubicBezTo>
                        <a:pt x="286" y="0"/>
                        <a:pt x="288" y="2"/>
                        <a:pt x="288" y="6"/>
                      </a:cubicBezTo>
                      <a:cubicBezTo>
                        <a:pt x="288" y="54"/>
                        <a:pt x="288" y="54"/>
                        <a:pt x="288" y="54"/>
                      </a:cubicBezTo>
                      <a:cubicBezTo>
                        <a:pt x="288" y="70"/>
                        <a:pt x="275" y="84"/>
                        <a:pt x="25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09" name="Oval 261">
                  <a:extLst>
                    <a:ext uri="{FF2B5EF4-FFF2-40B4-BE49-F238E27FC236}">
                      <a16:creationId xmlns:a16="http://schemas.microsoft.com/office/drawing/2014/main" id="{2B4ED876-9443-3768-6F8D-17913ADF8965}"/>
                    </a:ext>
                  </a:extLst>
                </p:cNvPr>
                <p:cNvSpPr>
                  <a:spLocks noChangeArrowheads="1"/>
                </p:cNvSpPr>
                <p:nvPr/>
              </p:nvSpPr>
              <p:spPr bwMode="auto">
                <a:xfrm>
                  <a:off x="582" y="784"/>
                  <a:ext cx="35"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10" name="Oval 262">
                  <a:extLst>
                    <a:ext uri="{FF2B5EF4-FFF2-40B4-BE49-F238E27FC236}">
                      <a16:creationId xmlns:a16="http://schemas.microsoft.com/office/drawing/2014/main" id="{3B73592F-6533-9724-84AE-E1BAB6DD7F04}"/>
                    </a:ext>
                  </a:extLst>
                </p:cNvPr>
                <p:cNvSpPr>
                  <a:spLocks noChangeArrowheads="1"/>
                </p:cNvSpPr>
                <p:nvPr/>
              </p:nvSpPr>
              <p:spPr bwMode="auto">
                <a:xfrm>
                  <a:off x="635" y="784"/>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11" name="Oval 263">
                  <a:extLst>
                    <a:ext uri="{FF2B5EF4-FFF2-40B4-BE49-F238E27FC236}">
                      <a16:creationId xmlns:a16="http://schemas.microsoft.com/office/drawing/2014/main" id="{05670AF9-8FD6-3748-0130-8408BB131350}"/>
                    </a:ext>
                  </a:extLst>
                </p:cNvPr>
                <p:cNvSpPr>
                  <a:spLocks noChangeArrowheads="1"/>
                </p:cNvSpPr>
                <p:nvPr/>
              </p:nvSpPr>
              <p:spPr bwMode="auto">
                <a:xfrm>
                  <a:off x="688" y="784"/>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112" name="Freeform 264">
                  <a:extLst>
                    <a:ext uri="{FF2B5EF4-FFF2-40B4-BE49-F238E27FC236}">
                      <a16:creationId xmlns:a16="http://schemas.microsoft.com/office/drawing/2014/main" id="{65306F2F-7FD1-5C77-E0E9-2E027C94A8FB}"/>
                    </a:ext>
                  </a:extLst>
                </p:cNvPr>
                <p:cNvSpPr>
                  <a:spLocks noEditPoints="1"/>
                </p:cNvSpPr>
                <p:nvPr/>
              </p:nvSpPr>
              <p:spPr bwMode="auto">
                <a:xfrm>
                  <a:off x="386" y="775"/>
                  <a:ext cx="54" cy="54"/>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8"/>
                        <a:pt x="8" y="0"/>
                        <a:pt x="18" y="0"/>
                      </a:cubicBezTo>
                      <a:cubicBezTo>
                        <a:pt x="28" y="0"/>
                        <a:pt x="36" y="8"/>
                        <a:pt x="36" y="18"/>
                      </a:cubicBezTo>
                      <a:cubicBezTo>
                        <a:pt x="36" y="28"/>
                        <a:pt x="28" y="36"/>
                        <a:pt x="18" y="36"/>
                      </a:cubicBezTo>
                      <a:close/>
                      <a:moveTo>
                        <a:pt x="18" y="12"/>
                      </a:moveTo>
                      <a:cubicBezTo>
                        <a:pt x="15" y="12"/>
                        <a:pt x="12" y="14"/>
                        <a:pt x="12" y="18"/>
                      </a:cubicBezTo>
                      <a:cubicBezTo>
                        <a:pt x="12" y="21"/>
                        <a:pt x="15" y="24"/>
                        <a:pt x="18" y="24"/>
                      </a:cubicBezTo>
                      <a:cubicBezTo>
                        <a:pt x="22" y="24"/>
                        <a:pt x="24" y="21"/>
                        <a:pt x="24" y="18"/>
                      </a:cubicBezTo>
                      <a:cubicBezTo>
                        <a:pt x="24" y="14"/>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grpSp>
          <p:grpSp>
            <p:nvGrpSpPr>
              <p:cNvPr id="64" name="Group 226">
                <a:extLst>
                  <a:ext uri="{FF2B5EF4-FFF2-40B4-BE49-F238E27FC236}">
                    <a16:creationId xmlns:a16="http://schemas.microsoft.com/office/drawing/2014/main" id="{04C80226-77A2-369C-9EDC-3BBA5B2B2952}"/>
                  </a:ext>
                </a:extLst>
              </p:cNvPr>
              <p:cNvGrpSpPr>
                <a:grpSpLocks noChangeAspect="1"/>
              </p:cNvGrpSpPr>
              <p:nvPr/>
            </p:nvGrpSpPr>
            <p:grpSpPr bwMode="auto">
              <a:xfrm>
                <a:off x="4209033" y="5826738"/>
                <a:ext cx="319496" cy="350011"/>
                <a:chOff x="2437" y="456"/>
                <a:chExt cx="356" cy="390"/>
              </a:xfrm>
              <a:solidFill>
                <a:schemeClr val="tx1"/>
              </a:solidFill>
            </p:grpSpPr>
            <p:sp>
              <p:nvSpPr>
                <p:cNvPr id="93" name="Freeform 227">
                  <a:extLst>
                    <a:ext uri="{FF2B5EF4-FFF2-40B4-BE49-F238E27FC236}">
                      <a16:creationId xmlns:a16="http://schemas.microsoft.com/office/drawing/2014/main" id="{7EAF45CE-B427-DFBA-74B6-970602F09D8B}"/>
                    </a:ext>
                  </a:extLst>
                </p:cNvPr>
                <p:cNvSpPr>
                  <a:spLocks noEditPoints="1"/>
                </p:cNvSpPr>
                <p:nvPr/>
              </p:nvSpPr>
              <p:spPr bwMode="auto">
                <a:xfrm>
                  <a:off x="2437" y="456"/>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2" y="108"/>
                        <a:pt x="0" y="84"/>
                        <a:pt x="0" y="54"/>
                      </a:cubicBezTo>
                      <a:cubicBezTo>
                        <a:pt x="0" y="23"/>
                        <a:pt x="52"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94" name="Freeform 228">
                  <a:extLst>
                    <a:ext uri="{FF2B5EF4-FFF2-40B4-BE49-F238E27FC236}">
                      <a16:creationId xmlns:a16="http://schemas.microsoft.com/office/drawing/2014/main" id="{1274BDD1-45CA-9DED-7BA6-15FDDB16CBFF}"/>
                    </a:ext>
                  </a:extLst>
                </p:cNvPr>
                <p:cNvSpPr>
                  <a:spLocks/>
                </p:cNvSpPr>
                <p:nvPr/>
              </p:nvSpPr>
              <p:spPr bwMode="auto">
                <a:xfrm>
                  <a:off x="2437" y="598"/>
                  <a:ext cx="356" cy="89"/>
                </a:xfrm>
                <a:custGeom>
                  <a:avLst/>
                  <a:gdLst>
                    <a:gd name="T0" fmla="*/ 120 w 240"/>
                    <a:gd name="T1" fmla="*/ 60 h 60"/>
                    <a:gd name="T2" fmla="*/ 0 w 240"/>
                    <a:gd name="T3" fmla="*/ 6 h 60"/>
                    <a:gd name="T4" fmla="*/ 6 w 240"/>
                    <a:gd name="T5" fmla="*/ 0 h 60"/>
                    <a:gd name="T6" fmla="*/ 12 w 240"/>
                    <a:gd name="T7" fmla="*/ 6 h 60"/>
                    <a:gd name="T8" fmla="*/ 120 w 240"/>
                    <a:gd name="T9" fmla="*/ 48 h 60"/>
                    <a:gd name="T10" fmla="*/ 228 w 240"/>
                    <a:gd name="T11" fmla="*/ 6 h 60"/>
                    <a:gd name="T12" fmla="*/ 234 w 240"/>
                    <a:gd name="T13" fmla="*/ 0 h 60"/>
                    <a:gd name="T14" fmla="*/ 240 w 240"/>
                    <a:gd name="T15" fmla="*/ 6 h 60"/>
                    <a:gd name="T16" fmla="*/ 120 w 240"/>
                    <a:gd name="T1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60">
                      <a:moveTo>
                        <a:pt x="120" y="60"/>
                      </a:moveTo>
                      <a:cubicBezTo>
                        <a:pt x="52" y="60"/>
                        <a:pt x="0" y="36"/>
                        <a:pt x="0" y="6"/>
                      </a:cubicBezTo>
                      <a:cubicBezTo>
                        <a:pt x="0" y="2"/>
                        <a:pt x="2" y="0"/>
                        <a:pt x="6" y="0"/>
                      </a:cubicBezTo>
                      <a:cubicBezTo>
                        <a:pt x="9" y="0"/>
                        <a:pt x="12" y="2"/>
                        <a:pt x="12" y="6"/>
                      </a:cubicBezTo>
                      <a:cubicBezTo>
                        <a:pt x="12" y="26"/>
                        <a:pt x="56" y="48"/>
                        <a:pt x="120" y="48"/>
                      </a:cubicBezTo>
                      <a:cubicBezTo>
                        <a:pt x="183" y="48"/>
                        <a:pt x="228" y="26"/>
                        <a:pt x="228" y="6"/>
                      </a:cubicBezTo>
                      <a:cubicBezTo>
                        <a:pt x="228" y="2"/>
                        <a:pt x="230" y="0"/>
                        <a:pt x="234" y="0"/>
                      </a:cubicBezTo>
                      <a:cubicBezTo>
                        <a:pt x="237" y="0"/>
                        <a:pt x="240" y="2"/>
                        <a:pt x="240" y="6"/>
                      </a:cubicBezTo>
                      <a:cubicBezTo>
                        <a:pt x="240" y="36"/>
                        <a:pt x="187"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95" name="Freeform 229">
                  <a:extLst>
                    <a:ext uri="{FF2B5EF4-FFF2-40B4-BE49-F238E27FC236}">
                      <a16:creationId xmlns:a16="http://schemas.microsoft.com/office/drawing/2014/main" id="{4AAB6235-8928-05B7-678F-FF272E520FD1}"/>
                    </a:ext>
                  </a:extLst>
                </p:cNvPr>
                <p:cNvSpPr>
                  <a:spLocks/>
                </p:cNvSpPr>
                <p:nvPr/>
              </p:nvSpPr>
              <p:spPr bwMode="auto">
                <a:xfrm>
                  <a:off x="2437" y="678"/>
                  <a:ext cx="356" cy="88"/>
                </a:xfrm>
                <a:custGeom>
                  <a:avLst/>
                  <a:gdLst>
                    <a:gd name="T0" fmla="*/ 120 w 240"/>
                    <a:gd name="T1" fmla="*/ 60 h 60"/>
                    <a:gd name="T2" fmla="*/ 0 w 240"/>
                    <a:gd name="T3" fmla="*/ 6 h 60"/>
                    <a:gd name="T4" fmla="*/ 6 w 240"/>
                    <a:gd name="T5" fmla="*/ 0 h 60"/>
                    <a:gd name="T6" fmla="*/ 12 w 240"/>
                    <a:gd name="T7" fmla="*/ 6 h 60"/>
                    <a:gd name="T8" fmla="*/ 120 w 240"/>
                    <a:gd name="T9" fmla="*/ 48 h 60"/>
                    <a:gd name="T10" fmla="*/ 228 w 240"/>
                    <a:gd name="T11" fmla="*/ 6 h 60"/>
                    <a:gd name="T12" fmla="*/ 234 w 240"/>
                    <a:gd name="T13" fmla="*/ 0 h 60"/>
                    <a:gd name="T14" fmla="*/ 240 w 240"/>
                    <a:gd name="T15" fmla="*/ 6 h 60"/>
                    <a:gd name="T16" fmla="*/ 120 w 240"/>
                    <a:gd name="T1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60">
                      <a:moveTo>
                        <a:pt x="120" y="60"/>
                      </a:moveTo>
                      <a:cubicBezTo>
                        <a:pt x="52" y="60"/>
                        <a:pt x="0" y="36"/>
                        <a:pt x="0" y="6"/>
                      </a:cubicBezTo>
                      <a:cubicBezTo>
                        <a:pt x="0" y="2"/>
                        <a:pt x="2" y="0"/>
                        <a:pt x="6" y="0"/>
                      </a:cubicBezTo>
                      <a:cubicBezTo>
                        <a:pt x="9" y="0"/>
                        <a:pt x="12" y="2"/>
                        <a:pt x="12" y="6"/>
                      </a:cubicBezTo>
                      <a:cubicBezTo>
                        <a:pt x="12" y="26"/>
                        <a:pt x="56" y="48"/>
                        <a:pt x="120" y="48"/>
                      </a:cubicBezTo>
                      <a:cubicBezTo>
                        <a:pt x="183" y="48"/>
                        <a:pt x="228" y="26"/>
                        <a:pt x="228" y="6"/>
                      </a:cubicBezTo>
                      <a:cubicBezTo>
                        <a:pt x="228" y="2"/>
                        <a:pt x="230" y="0"/>
                        <a:pt x="234" y="0"/>
                      </a:cubicBezTo>
                      <a:cubicBezTo>
                        <a:pt x="237" y="0"/>
                        <a:pt x="240" y="2"/>
                        <a:pt x="240" y="6"/>
                      </a:cubicBezTo>
                      <a:cubicBezTo>
                        <a:pt x="240" y="36"/>
                        <a:pt x="187"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96" name="Freeform 230">
                  <a:extLst>
                    <a:ext uri="{FF2B5EF4-FFF2-40B4-BE49-F238E27FC236}">
                      <a16:creationId xmlns:a16="http://schemas.microsoft.com/office/drawing/2014/main" id="{D56C1925-EE7D-27AB-056B-6ED791F350D8}"/>
                    </a:ext>
                  </a:extLst>
                </p:cNvPr>
                <p:cNvSpPr>
                  <a:spLocks/>
                </p:cNvSpPr>
                <p:nvPr/>
              </p:nvSpPr>
              <p:spPr bwMode="auto">
                <a:xfrm>
                  <a:off x="2437" y="527"/>
                  <a:ext cx="356" cy="319"/>
                </a:xfrm>
                <a:custGeom>
                  <a:avLst/>
                  <a:gdLst>
                    <a:gd name="T0" fmla="*/ 120 w 240"/>
                    <a:gd name="T1" fmla="*/ 216 h 216"/>
                    <a:gd name="T2" fmla="*/ 0 w 240"/>
                    <a:gd name="T3" fmla="*/ 162 h 216"/>
                    <a:gd name="T4" fmla="*/ 0 w 240"/>
                    <a:gd name="T5" fmla="*/ 6 h 216"/>
                    <a:gd name="T6" fmla="*/ 6 w 240"/>
                    <a:gd name="T7" fmla="*/ 0 h 216"/>
                    <a:gd name="T8" fmla="*/ 12 w 240"/>
                    <a:gd name="T9" fmla="*/ 6 h 216"/>
                    <a:gd name="T10" fmla="*/ 12 w 240"/>
                    <a:gd name="T11" fmla="*/ 162 h 216"/>
                    <a:gd name="T12" fmla="*/ 120 w 240"/>
                    <a:gd name="T13" fmla="*/ 204 h 216"/>
                    <a:gd name="T14" fmla="*/ 228 w 240"/>
                    <a:gd name="T15" fmla="*/ 162 h 216"/>
                    <a:gd name="T16" fmla="*/ 228 w 240"/>
                    <a:gd name="T17" fmla="*/ 6 h 216"/>
                    <a:gd name="T18" fmla="*/ 234 w 240"/>
                    <a:gd name="T19" fmla="*/ 0 h 216"/>
                    <a:gd name="T20" fmla="*/ 240 w 240"/>
                    <a:gd name="T21" fmla="*/ 6 h 216"/>
                    <a:gd name="T22" fmla="*/ 240 w 240"/>
                    <a:gd name="T23" fmla="*/ 162 h 216"/>
                    <a:gd name="T24" fmla="*/ 120 w 240"/>
                    <a:gd name="T25"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0" h="216">
                      <a:moveTo>
                        <a:pt x="120" y="216"/>
                      </a:moveTo>
                      <a:cubicBezTo>
                        <a:pt x="52" y="216"/>
                        <a:pt x="0" y="192"/>
                        <a:pt x="0" y="162"/>
                      </a:cubicBezTo>
                      <a:cubicBezTo>
                        <a:pt x="0" y="6"/>
                        <a:pt x="0" y="6"/>
                        <a:pt x="0" y="6"/>
                      </a:cubicBezTo>
                      <a:cubicBezTo>
                        <a:pt x="0" y="2"/>
                        <a:pt x="2" y="0"/>
                        <a:pt x="6" y="0"/>
                      </a:cubicBezTo>
                      <a:cubicBezTo>
                        <a:pt x="9" y="0"/>
                        <a:pt x="12" y="2"/>
                        <a:pt x="12" y="6"/>
                      </a:cubicBezTo>
                      <a:cubicBezTo>
                        <a:pt x="12" y="162"/>
                        <a:pt x="12" y="162"/>
                        <a:pt x="12" y="162"/>
                      </a:cubicBezTo>
                      <a:cubicBezTo>
                        <a:pt x="12" y="182"/>
                        <a:pt x="56" y="204"/>
                        <a:pt x="120" y="204"/>
                      </a:cubicBezTo>
                      <a:cubicBezTo>
                        <a:pt x="183" y="204"/>
                        <a:pt x="228" y="182"/>
                        <a:pt x="228" y="162"/>
                      </a:cubicBezTo>
                      <a:cubicBezTo>
                        <a:pt x="228" y="6"/>
                        <a:pt x="228" y="6"/>
                        <a:pt x="228" y="6"/>
                      </a:cubicBezTo>
                      <a:cubicBezTo>
                        <a:pt x="228" y="2"/>
                        <a:pt x="230" y="0"/>
                        <a:pt x="234" y="0"/>
                      </a:cubicBezTo>
                      <a:cubicBezTo>
                        <a:pt x="237" y="0"/>
                        <a:pt x="240" y="2"/>
                        <a:pt x="240" y="6"/>
                      </a:cubicBezTo>
                      <a:cubicBezTo>
                        <a:pt x="240" y="162"/>
                        <a:pt x="240" y="162"/>
                        <a:pt x="240" y="162"/>
                      </a:cubicBezTo>
                      <a:cubicBezTo>
                        <a:pt x="240" y="192"/>
                        <a:pt x="187" y="216"/>
                        <a:pt x="120" y="2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grpSp>
          <p:grpSp>
            <p:nvGrpSpPr>
              <p:cNvPr id="65" name="Group 248">
                <a:extLst>
                  <a:ext uri="{FF2B5EF4-FFF2-40B4-BE49-F238E27FC236}">
                    <a16:creationId xmlns:a16="http://schemas.microsoft.com/office/drawing/2014/main" id="{B616BC64-30F8-C0F9-CE7B-38EF83C7C855}"/>
                  </a:ext>
                </a:extLst>
              </p:cNvPr>
              <p:cNvGrpSpPr>
                <a:grpSpLocks noChangeAspect="1"/>
              </p:cNvGrpSpPr>
              <p:nvPr/>
            </p:nvGrpSpPr>
            <p:grpSpPr bwMode="auto">
              <a:xfrm>
                <a:off x="2873986" y="5795125"/>
                <a:ext cx="422663" cy="420688"/>
                <a:chOff x="351" y="438"/>
                <a:chExt cx="428" cy="426"/>
              </a:xfrm>
              <a:solidFill>
                <a:schemeClr val="tx1"/>
              </a:solidFill>
            </p:grpSpPr>
            <p:sp>
              <p:nvSpPr>
                <p:cNvPr id="77" name="Freeform 249">
                  <a:extLst>
                    <a:ext uri="{FF2B5EF4-FFF2-40B4-BE49-F238E27FC236}">
                      <a16:creationId xmlns:a16="http://schemas.microsoft.com/office/drawing/2014/main" id="{1FC983C4-2383-7293-897C-2C9152A5F03F}"/>
                    </a:ext>
                  </a:extLst>
                </p:cNvPr>
                <p:cNvSpPr>
                  <a:spLocks noEditPoints="1"/>
                </p:cNvSpPr>
                <p:nvPr/>
              </p:nvSpPr>
              <p:spPr bwMode="auto">
                <a:xfrm>
                  <a:off x="351" y="527"/>
                  <a:ext cx="426" cy="124"/>
                </a:xfrm>
                <a:custGeom>
                  <a:avLst/>
                  <a:gdLst>
                    <a:gd name="T0" fmla="*/ 282 w 288"/>
                    <a:gd name="T1" fmla="*/ 84 h 84"/>
                    <a:gd name="T2" fmla="*/ 6 w 288"/>
                    <a:gd name="T3" fmla="*/ 84 h 84"/>
                    <a:gd name="T4" fmla="*/ 0 w 288"/>
                    <a:gd name="T5" fmla="*/ 78 h 84"/>
                    <a:gd name="T6" fmla="*/ 0 w 288"/>
                    <a:gd name="T7" fmla="*/ 6 h 84"/>
                    <a:gd name="T8" fmla="*/ 6 w 288"/>
                    <a:gd name="T9" fmla="*/ 0 h 84"/>
                    <a:gd name="T10" fmla="*/ 282 w 288"/>
                    <a:gd name="T11" fmla="*/ 0 h 84"/>
                    <a:gd name="T12" fmla="*/ 288 w 288"/>
                    <a:gd name="T13" fmla="*/ 6 h 84"/>
                    <a:gd name="T14" fmla="*/ 288 w 288"/>
                    <a:gd name="T15" fmla="*/ 78 h 84"/>
                    <a:gd name="T16" fmla="*/ 282 w 288"/>
                    <a:gd name="T17" fmla="*/ 84 h 84"/>
                    <a:gd name="T18" fmla="*/ 12 w 288"/>
                    <a:gd name="T19" fmla="*/ 72 h 84"/>
                    <a:gd name="T20" fmla="*/ 276 w 288"/>
                    <a:gd name="T21" fmla="*/ 72 h 84"/>
                    <a:gd name="T22" fmla="*/ 276 w 288"/>
                    <a:gd name="T23" fmla="*/ 12 h 84"/>
                    <a:gd name="T24" fmla="*/ 12 w 288"/>
                    <a:gd name="T25" fmla="*/ 12 h 84"/>
                    <a:gd name="T26" fmla="*/ 12 w 288"/>
                    <a:gd name="T27" fmla="*/ 7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84">
                      <a:moveTo>
                        <a:pt x="282" y="84"/>
                      </a:moveTo>
                      <a:cubicBezTo>
                        <a:pt x="6" y="84"/>
                        <a:pt x="6" y="84"/>
                        <a:pt x="6" y="84"/>
                      </a:cubicBezTo>
                      <a:cubicBezTo>
                        <a:pt x="3" y="84"/>
                        <a:pt x="0" y="81"/>
                        <a:pt x="0" y="78"/>
                      </a:cubicBezTo>
                      <a:cubicBezTo>
                        <a:pt x="0" y="6"/>
                        <a:pt x="0" y="6"/>
                        <a:pt x="0" y="6"/>
                      </a:cubicBezTo>
                      <a:cubicBezTo>
                        <a:pt x="0" y="2"/>
                        <a:pt x="3" y="0"/>
                        <a:pt x="6" y="0"/>
                      </a:cubicBezTo>
                      <a:cubicBezTo>
                        <a:pt x="282" y="0"/>
                        <a:pt x="282" y="0"/>
                        <a:pt x="282" y="0"/>
                      </a:cubicBezTo>
                      <a:cubicBezTo>
                        <a:pt x="286" y="0"/>
                        <a:pt x="288" y="2"/>
                        <a:pt x="288" y="6"/>
                      </a:cubicBezTo>
                      <a:cubicBezTo>
                        <a:pt x="288" y="78"/>
                        <a:pt x="288" y="78"/>
                        <a:pt x="288" y="78"/>
                      </a:cubicBezTo>
                      <a:cubicBezTo>
                        <a:pt x="288" y="81"/>
                        <a:pt x="286" y="84"/>
                        <a:pt x="282" y="84"/>
                      </a:cubicBezTo>
                      <a:close/>
                      <a:moveTo>
                        <a:pt x="12" y="72"/>
                      </a:moveTo>
                      <a:cubicBezTo>
                        <a:pt x="276" y="72"/>
                        <a:pt x="276" y="72"/>
                        <a:pt x="276" y="72"/>
                      </a:cubicBezTo>
                      <a:cubicBezTo>
                        <a:pt x="276" y="12"/>
                        <a:pt x="276" y="12"/>
                        <a:pt x="276" y="12"/>
                      </a:cubicBezTo>
                      <a:cubicBezTo>
                        <a:pt x="12" y="12"/>
                        <a:pt x="12" y="12"/>
                        <a:pt x="12" y="12"/>
                      </a:cubicBezTo>
                      <a:lnTo>
                        <a:pt x="12"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78" name="Freeform 250">
                  <a:extLst>
                    <a:ext uri="{FF2B5EF4-FFF2-40B4-BE49-F238E27FC236}">
                      <a16:creationId xmlns:a16="http://schemas.microsoft.com/office/drawing/2014/main" id="{D75EA936-6261-6359-BB00-75B893AE8A77}"/>
                    </a:ext>
                  </a:extLst>
                </p:cNvPr>
                <p:cNvSpPr>
                  <a:spLocks/>
                </p:cNvSpPr>
                <p:nvPr/>
              </p:nvSpPr>
              <p:spPr bwMode="auto">
                <a:xfrm>
                  <a:off x="351" y="438"/>
                  <a:ext cx="428" cy="106"/>
                </a:xfrm>
                <a:custGeom>
                  <a:avLst/>
                  <a:gdLst>
                    <a:gd name="T0" fmla="*/ 282 w 289"/>
                    <a:gd name="T1" fmla="*/ 72 h 72"/>
                    <a:gd name="T2" fmla="*/ 278 w 289"/>
                    <a:gd name="T3" fmla="*/ 70 h 72"/>
                    <a:gd name="T4" fmla="*/ 208 w 289"/>
                    <a:gd name="T5" fmla="*/ 12 h 72"/>
                    <a:gd name="T6" fmla="*/ 80 w 289"/>
                    <a:gd name="T7" fmla="*/ 12 h 72"/>
                    <a:gd name="T8" fmla="*/ 10 w 289"/>
                    <a:gd name="T9" fmla="*/ 70 h 72"/>
                    <a:gd name="T10" fmla="*/ 2 w 289"/>
                    <a:gd name="T11" fmla="*/ 69 h 72"/>
                    <a:gd name="T12" fmla="*/ 2 w 289"/>
                    <a:gd name="T13" fmla="*/ 61 h 72"/>
                    <a:gd name="T14" fmla="*/ 74 w 289"/>
                    <a:gd name="T15" fmla="*/ 1 h 72"/>
                    <a:gd name="T16" fmla="*/ 78 w 289"/>
                    <a:gd name="T17" fmla="*/ 0 h 72"/>
                    <a:gd name="T18" fmla="*/ 210 w 289"/>
                    <a:gd name="T19" fmla="*/ 0 h 72"/>
                    <a:gd name="T20" fmla="*/ 214 w 289"/>
                    <a:gd name="T21" fmla="*/ 1 h 72"/>
                    <a:gd name="T22" fmla="*/ 286 w 289"/>
                    <a:gd name="T23" fmla="*/ 61 h 72"/>
                    <a:gd name="T24" fmla="*/ 287 w 289"/>
                    <a:gd name="T25" fmla="*/ 69 h 72"/>
                    <a:gd name="T26" fmla="*/ 282 w 289"/>
                    <a:gd name="T27"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72">
                      <a:moveTo>
                        <a:pt x="282" y="72"/>
                      </a:moveTo>
                      <a:cubicBezTo>
                        <a:pt x="281" y="72"/>
                        <a:pt x="280" y="71"/>
                        <a:pt x="278" y="70"/>
                      </a:cubicBezTo>
                      <a:cubicBezTo>
                        <a:pt x="208" y="12"/>
                        <a:pt x="208" y="12"/>
                        <a:pt x="208" y="12"/>
                      </a:cubicBezTo>
                      <a:cubicBezTo>
                        <a:pt x="80" y="12"/>
                        <a:pt x="80" y="12"/>
                        <a:pt x="80" y="12"/>
                      </a:cubicBezTo>
                      <a:cubicBezTo>
                        <a:pt x="10" y="70"/>
                        <a:pt x="10" y="70"/>
                        <a:pt x="10" y="70"/>
                      </a:cubicBezTo>
                      <a:cubicBezTo>
                        <a:pt x="8" y="72"/>
                        <a:pt x="4" y="72"/>
                        <a:pt x="2" y="69"/>
                      </a:cubicBezTo>
                      <a:cubicBezTo>
                        <a:pt x="0" y="67"/>
                        <a:pt x="0" y="63"/>
                        <a:pt x="2" y="61"/>
                      </a:cubicBezTo>
                      <a:cubicBezTo>
                        <a:pt x="74" y="1"/>
                        <a:pt x="74" y="1"/>
                        <a:pt x="74" y="1"/>
                      </a:cubicBezTo>
                      <a:cubicBezTo>
                        <a:pt x="75" y="0"/>
                        <a:pt x="77" y="0"/>
                        <a:pt x="78" y="0"/>
                      </a:cubicBezTo>
                      <a:cubicBezTo>
                        <a:pt x="210" y="0"/>
                        <a:pt x="210" y="0"/>
                        <a:pt x="210" y="0"/>
                      </a:cubicBezTo>
                      <a:cubicBezTo>
                        <a:pt x="212" y="0"/>
                        <a:pt x="213" y="0"/>
                        <a:pt x="214" y="1"/>
                      </a:cubicBezTo>
                      <a:cubicBezTo>
                        <a:pt x="286" y="61"/>
                        <a:pt x="286" y="61"/>
                        <a:pt x="286" y="61"/>
                      </a:cubicBezTo>
                      <a:cubicBezTo>
                        <a:pt x="289" y="63"/>
                        <a:pt x="289" y="67"/>
                        <a:pt x="287" y="69"/>
                      </a:cubicBezTo>
                      <a:cubicBezTo>
                        <a:pt x="286" y="71"/>
                        <a:pt x="284" y="72"/>
                        <a:pt x="282"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79" name="Oval 251">
                  <a:extLst>
                    <a:ext uri="{FF2B5EF4-FFF2-40B4-BE49-F238E27FC236}">
                      <a16:creationId xmlns:a16="http://schemas.microsoft.com/office/drawing/2014/main" id="{A540B9C4-4BE6-B0B6-9735-19D782921896}"/>
                    </a:ext>
                  </a:extLst>
                </p:cNvPr>
                <p:cNvSpPr>
                  <a:spLocks noChangeArrowheads="1"/>
                </p:cNvSpPr>
                <p:nvPr/>
              </p:nvSpPr>
              <p:spPr bwMode="auto">
                <a:xfrm>
                  <a:off x="582" y="571"/>
                  <a:ext cx="35"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80" name="Oval 252">
                  <a:extLst>
                    <a:ext uri="{FF2B5EF4-FFF2-40B4-BE49-F238E27FC236}">
                      <a16:creationId xmlns:a16="http://schemas.microsoft.com/office/drawing/2014/main" id="{ABD52C9E-8AC0-000F-9649-F942B631889E}"/>
                    </a:ext>
                  </a:extLst>
                </p:cNvPr>
                <p:cNvSpPr>
                  <a:spLocks noChangeArrowheads="1"/>
                </p:cNvSpPr>
                <p:nvPr/>
              </p:nvSpPr>
              <p:spPr bwMode="auto">
                <a:xfrm>
                  <a:off x="635" y="571"/>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81" name="Oval 253">
                  <a:extLst>
                    <a:ext uri="{FF2B5EF4-FFF2-40B4-BE49-F238E27FC236}">
                      <a16:creationId xmlns:a16="http://schemas.microsoft.com/office/drawing/2014/main" id="{39E5A744-6EC7-072C-55E6-F23130D0FA6E}"/>
                    </a:ext>
                  </a:extLst>
                </p:cNvPr>
                <p:cNvSpPr>
                  <a:spLocks noChangeArrowheads="1"/>
                </p:cNvSpPr>
                <p:nvPr/>
              </p:nvSpPr>
              <p:spPr bwMode="auto">
                <a:xfrm>
                  <a:off x="688" y="571"/>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82" name="Freeform 254">
                  <a:extLst>
                    <a:ext uri="{FF2B5EF4-FFF2-40B4-BE49-F238E27FC236}">
                      <a16:creationId xmlns:a16="http://schemas.microsoft.com/office/drawing/2014/main" id="{CCD77872-4006-770F-39BA-B7ED152E69AE}"/>
                    </a:ext>
                  </a:extLst>
                </p:cNvPr>
                <p:cNvSpPr>
                  <a:spLocks noEditPoints="1"/>
                </p:cNvSpPr>
                <p:nvPr/>
              </p:nvSpPr>
              <p:spPr bwMode="auto">
                <a:xfrm>
                  <a:off x="386" y="562"/>
                  <a:ext cx="54" cy="54"/>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8"/>
                        <a:pt x="8" y="0"/>
                        <a:pt x="18" y="0"/>
                      </a:cubicBezTo>
                      <a:cubicBezTo>
                        <a:pt x="28" y="0"/>
                        <a:pt x="36" y="8"/>
                        <a:pt x="36" y="18"/>
                      </a:cubicBezTo>
                      <a:cubicBezTo>
                        <a:pt x="36" y="28"/>
                        <a:pt x="28" y="36"/>
                        <a:pt x="18" y="36"/>
                      </a:cubicBezTo>
                      <a:close/>
                      <a:moveTo>
                        <a:pt x="18" y="12"/>
                      </a:moveTo>
                      <a:cubicBezTo>
                        <a:pt x="15" y="12"/>
                        <a:pt x="12" y="14"/>
                        <a:pt x="12" y="18"/>
                      </a:cubicBezTo>
                      <a:cubicBezTo>
                        <a:pt x="12" y="21"/>
                        <a:pt x="15" y="24"/>
                        <a:pt x="18" y="24"/>
                      </a:cubicBezTo>
                      <a:cubicBezTo>
                        <a:pt x="22" y="24"/>
                        <a:pt x="24" y="21"/>
                        <a:pt x="24" y="18"/>
                      </a:cubicBezTo>
                      <a:cubicBezTo>
                        <a:pt x="24" y="14"/>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83" name="Freeform 255">
                  <a:extLst>
                    <a:ext uri="{FF2B5EF4-FFF2-40B4-BE49-F238E27FC236}">
                      <a16:creationId xmlns:a16="http://schemas.microsoft.com/office/drawing/2014/main" id="{7931D637-2DD9-617C-8AF3-20F443E71149}"/>
                    </a:ext>
                  </a:extLst>
                </p:cNvPr>
                <p:cNvSpPr>
                  <a:spLocks/>
                </p:cNvSpPr>
                <p:nvPr/>
              </p:nvSpPr>
              <p:spPr bwMode="auto">
                <a:xfrm>
                  <a:off x="351" y="633"/>
                  <a:ext cx="426" cy="125"/>
                </a:xfrm>
                <a:custGeom>
                  <a:avLst/>
                  <a:gdLst>
                    <a:gd name="T0" fmla="*/ 282 w 288"/>
                    <a:gd name="T1" fmla="*/ 84 h 84"/>
                    <a:gd name="T2" fmla="*/ 6 w 288"/>
                    <a:gd name="T3" fmla="*/ 84 h 84"/>
                    <a:gd name="T4" fmla="*/ 0 w 288"/>
                    <a:gd name="T5" fmla="*/ 78 h 84"/>
                    <a:gd name="T6" fmla="*/ 0 w 288"/>
                    <a:gd name="T7" fmla="*/ 6 h 84"/>
                    <a:gd name="T8" fmla="*/ 6 w 288"/>
                    <a:gd name="T9" fmla="*/ 0 h 84"/>
                    <a:gd name="T10" fmla="*/ 12 w 288"/>
                    <a:gd name="T11" fmla="*/ 6 h 84"/>
                    <a:gd name="T12" fmla="*/ 12 w 288"/>
                    <a:gd name="T13" fmla="*/ 72 h 84"/>
                    <a:gd name="T14" fmla="*/ 276 w 288"/>
                    <a:gd name="T15" fmla="*/ 72 h 84"/>
                    <a:gd name="T16" fmla="*/ 276 w 288"/>
                    <a:gd name="T17" fmla="*/ 6 h 84"/>
                    <a:gd name="T18" fmla="*/ 282 w 288"/>
                    <a:gd name="T19" fmla="*/ 0 h 84"/>
                    <a:gd name="T20" fmla="*/ 288 w 288"/>
                    <a:gd name="T21" fmla="*/ 6 h 84"/>
                    <a:gd name="T22" fmla="*/ 288 w 288"/>
                    <a:gd name="T23" fmla="*/ 78 h 84"/>
                    <a:gd name="T24" fmla="*/ 282 w 288"/>
                    <a:gd name="T2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84">
                      <a:moveTo>
                        <a:pt x="282" y="84"/>
                      </a:moveTo>
                      <a:cubicBezTo>
                        <a:pt x="6" y="84"/>
                        <a:pt x="6" y="84"/>
                        <a:pt x="6" y="84"/>
                      </a:cubicBezTo>
                      <a:cubicBezTo>
                        <a:pt x="3" y="84"/>
                        <a:pt x="0" y="81"/>
                        <a:pt x="0" y="78"/>
                      </a:cubicBezTo>
                      <a:cubicBezTo>
                        <a:pt x="0" y="6"/>
                        <a:pt x="0" y="6"/>
                        <a:pt x="0" y="6"/>
                      </a:cubicBezTo>
                      <a:cubicBezTo>
                        <a:pt x="0" y="2"/>
                        <a:pt x="3" y="0"/>
                        <a:pt x="6" y="0"/>
                      </a:cubicBezTo>
                      <a:cubicBezTo>
                        <a:pt x="10" y="0"/>
                        <a:pt x="12" y="2"/>
                        <a:pt x="12" y="6"/>
                      </a:cubicBezTo>
                      <a:cubicBezTo>
                        <a:pt x="12" y="72"/>
                        <a:pt x="12" y="72"/>
                        <a:pt x="12" y="72"/>
                      </a:cubicBezTo>
                      <a:cubicBezTo>
                        <a:pt x="276" y="72"/>
                        <a:pt x="276" y="72"/>
                        <a:pt x="276" y="72"/>
                      </a:cubicBezTo>
                      <a:cubicBezTo>
                        <a:pt x="276" y="6"/>
                        <a:pt x="276" y="6"/>
                        <a:pt x="276" y="6"/>
                      </a:cubicBezTo>
                      <a:cubicBezTo>
                        <a:pt x="276" y="2"/>
                        <a:pt x="279" y="0"/>
                        <a:pt x="282" y="0"/>
                      </a:cubicBezTo>
                      <a:cubicBezTo>
                        <a:pt x="286" y="0"/>
                        <a:pt x="288" y="2"/>
                        <a:pt x="288" y="6"/>
                      </a:cubicBezTo>
                      <a:cubicBezTo>
                        <a:pt x="288" y="78"/>
                        <a:pt x="288" y="78"/>
                        <a:pt x="288" y="78"/>
                      </a:cubicBezTo>
                      <a:cubicBezTo>
                        <a:pt x="288" y="81"/>
                        <a:pt x="286" y="84"/>
                        <a:pt x="282"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84" name="Oval 256">
                  <a:extLst>
                    <a:ext uri="{FF2B5EF4-FFF2-40B4-BE49-F238E27FC236}">
                      <a16:creationId xmlns:a16="http://schemas.microsoft.com/office/drawing/2014/main" id="{462571BE-D92E-6D96-73F8-A76D1B5E97C3}"/>
                    </a:ext>
                  </a:extLst>
                </p:cNvPr>
                <p:cNvSpPr>
                  <a:spLocks noChangeArrowheads="1"/>
                </p:cNvSpPr>
                <p:nvPr/>
              </p:nvSpPr>
              <p:spPr bwMode="auto">
                <a:xfrm>
                  <a:off x="582" y="678"/>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85" name="Oval 257">
                  <a:extLst>
                    <a:ext uri="{FF2B5EF4-FFF2-40B4-BE49-F238E27FC236}">
                      <a16:creationId xmlns:a16="http://schemas.microsoft.com/office/drawing/2014/main" id="{C08CCD6A-A11F-C383-D0B1-DCE29FEBA114}"/>
                    </a:ext>
                  </a:extLst>
                </p:cNvPr>
                <p:cNvSpPr>
                  <a:spLocks noChangeArrowheads="1"/>
                </p:cNvSpPr>
                <p:nvPr/>
              </p:nvSpPr>
              <p:spPr bwMode="auto">
                <a:xfrm>
                  <a:off x="635" y="678"/>
                  <a:ext cx="36"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86" name="Oval 258">
                  <a:extLst>
                    <a:ext uri="{FF2B5EF4-FFF2-40B4-BE49-F238E27FC236}">
                      <a16:creationId xmlns:a16="http://schemas.microsoft.com/office/drawing/2014/main" id="{D3776D62-8CA2-FCFD-58B5-288BA6028A2D}"/>
                    </a:ext>
                  </a:extLst>
                </p:cNvPr>
                <p:cNvSpPr>
                  <a:spLocks noChangeArrowheads="1"/>
                </p:cNvSpPr>
                <p:nvPr/>
              </p:nvSpPr>
              <p:spPr bwMode="auto">
                <a:xfrm>
                  <a:off x="688" y="678"/>
                  <a:ext cx="36"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87" name="Freeform 259">
                  <a:extLst>
                    <a:ext uri="{FF2B5EF4-FFF2-40B4-BE49-F238E27FC236}">
                      <a16:creationId xmlns:a16="http://schemas.microsoft.com/office/drawing/2014/main" id="{C38B2113-6360-4C45-63B2-182569B8703C}"/>
                    </a:ext>
                  </a:extLst>
                </p:cNvPr>
                <p:cNvSpPr>
                  <a:spLocks noEditPoints="1"/>
                </p:cNvSpPr>
                <p:nvPr/>
              </p:nvSpPr>
              <p:spPr bwMode="auto">
                <a:xfrm>
                  <a:off x="386" y="669"/>
                  <a:ext cx="54" cy="53"/>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8"/>
                        <a:pt x="8" y="0"/>
                        <a:pt x="18" y="0"/>
                      </a:cubicBezTo>
                      <a:cubicBezTo>
                        <a:pt x="28" y="0"/>
                        <a:pt x="36" y="8"/>
                        <a:pt x="36" y="18"/>
                      </a:cubicBezTo>
                      <a:cubicBezTo>
                        <a:pt x="36" y="28"/>
                        <a:pt x="28" y="36"/>
                        <a:pt x="18" y="36"/>
                      </a:cubicBezTo>
                      <a:close/>
                      <a:moveTo>
                        <a:pt x="18" y="12"/>
                      </a:moveTo>
                      <a:cubicBezTo>
                        <a:pt x="15" y="12"/>
                        <a:pt x="12" y="14"/>
                        <a:pt x="12" y="18"/>
                      </a:cubicBezTo>
                      <a:cubicBezTo>
                        <a:pt x="12" y="21"/>
                        <a:pt x="15" y="24"/>
                        <a:pt x="18" y="24"/>
                      </a:cubicBezTo>
                      <a:cubicBezTo>
                        <a:pt x="22" y="24"/>
                        <a:pt x="24" y="21"/>
                        <a:pt x="24" y="18"/>
                      </a:cubicBezTo>
                      <a:cubicBezTo>
                        <a:pt x="24" y="14"/>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88" name="Freeform 260">
                  <a:extLst>
                    <a:ext uri="{FF2B5EF4-FFF2-40B4-BE49-F238E27FC236}">
                      <a16:creationId xmlns:a16="http://schemas.microsoft.com/office/drawing/2014/main" id="{F4D83C4B-5E28-0610-9F30-1CC491C7C9E0}"/>
                    </a:ext>
                  </a:extLst>
                </p:cNvPr>
                <p:cNvSpPr>
                  <a:spLocks/>
                </p:cNvSpPr>
                <p:nvPr/>
              </p:nvSpPr>
              <p:spPr bwMode="auto">
                <a:xfrm>
                  <a:off x="351" y="740"/>
                  <a:ext cx="426" cy="124"/>
                </a:xfrm>
                <a:custGeom>
                  <a:avLst/>
                  <a:gdLst>
                    <a:gd name="T0" fmla="*/ 258 w 288"/>
                    <a:gd name="T1" fmla="*/ 84 h 84"/>
                    <a:gd name="T2" fmla="*/ 30 w 288"/>
                    <a:gd name="T3" fmla="*/ 84 h 84"/>
                    <a:gd name="T4" fmla="*/ 0 w 288"/>
                    <a:gd name="T5" fmla="*/ 54 h 84"/>
                    <a:gd name="T6" fmla="*/ 0 w 288"/>
                    <a:gd name="T7" fmla="*/ 6 h 84"/>
                    <a:gd name="T8" fmla="*/ 6 w 288"/>
                    <a:gd name="T9" fmla="*/ 0 h 84"/>
                    <a:gd name="T10" fmla="*/ 12 w 288"/>
                    <a:gd name="T11" fmla="*/ 6 h 84"/>
                    <a:gd name="T12" fmla="*/ 12 w 288"/>
                    <a:gd name="T13" fmla="*/ 54 h 84"/>
                    <a:gd name="T14" fmla="*/ 30 w 288"/>
                    <a:gd name="T15" fmla="*/ 72 h 84"/>
                    <a:gd name="T16" fmla="*/ 258 w 288"/>
                    <a:gd name="T17" fmla="*/ 72 h 84"/>
                    <a:gd name="T18" fmla="*/ 276 w 288"/>
                    <a:gd name="T19" fmla="*/ 54 h 84"/>
                    <a:gd name="T20" fmla="*/ 276 w 288"/>
                    <a:gd name="T21" fmla="*/ 6 h 84"/>
                    <a:gd name="T22" fmla="*/ 282 w 288"/>
                    <a:gd name="T23" fmla="*/ 0 h 84"/>
                    <a:gd name="T24" fmla="*/ 288 w 288"/>
                    <a:gd name="T25" fmla="*/ 6 h 84"/>
                    <a:gd name="T26" fmla="*/ 288 w 288"/>
                    <a:gd name="T27" fmla="*/ 54 h 84"/>
                    <a:gd name="T28" fmla="*/ 258 w 288"/>
                    <a:gd name="T2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84">
                      <a:moveTo>
                        <a:pt x="258" y="84"/>
                      </a:moveTo>
                      <a:cubicBezTo>
                        <a:pt x="30" y="84"/>
                        <a:pt x="30" y="84"/>
                        <a:pt x="30" y="84"/>
                      </a:cubicBezTo>
                      <a:cubicBezTo>
                        <a:pt x="14" y="84"/>
                        <a:pt x="0" y="70"/>
                        <a:pt x="0" y="54"/>
                      </a:cubicBezTo>
                      <a:cubicBezTo>
                        <a:pt x="0" y="6"/>
                        <a:pt x="0" y="6"/>
                        <a:pt x="0" y="6"/>
                      </a:cubicBezTo>
                      <a:cubicBezTo>
                        <a:pt x="0" y="2"/>
                        <a:pt x="3" y="0"/>
                        <a:pt x="6" y="0"/>
                      </a:cubicBezTo>
                      <a:cubicBezTo>
                        <a:pt x="10" y="0"/>
                        <a:pt x="12" y="2"/>
                        <a:pt x="12" y="6"/>
                      </a:cubicBezTo>
                      <a:cubicBezTo>
                        <a:pt x="12" y="54"/>
                        <a:pt x="12" y="54"/>
                        <a:pt x="12" y="54"/>
                      </a:cubicBezTo>
                      <a:cubicBezTo>
                        <a:pt x="12" y="64"/>
                        <a:pt x="20" y="72"/>
                        <a:pt x="30" y="72"/>
                      </a:cubicBezTo>
                      <a:cubicBezTo>
                        <a:pt x="258" y="72"/>
                        <a:pt x="258" y="72"/>
                        <a:pt x="258" y="72"/>
                      </a:cubicBezTo>
                      <a:cubicBezTo>
                        <a:pt x="268" y="72"/>
                        <a:pt x="276" y="64"/>
                        <a:pt x="276" y="54"/>
                      </a:cubicBezTo>
                      <a:cubicBezTo>
                        <a:pt x="276" y="6"/>
                        <a:pt x="276" y="6"/>
                        <a:pt x="276" y="6"/>
                      </a:cubicBezTo>
                      <a:cubicBezTo>
                        <a:pt x="276" y="2"/>
                        <a:pt x="279" y="0"/>
                        <a:pt x="282" y="0"/>
                      </a:cubicBezTo>
                      <a:cubicBezTo>
                        <a:pt x="286" y="0"/>
                        <a:pt x="288" y="2"/>
                        <a:pt x="288" y="6"/>
                      </a:cubicBezTo>
                      <a:cubicBezTo>
                        <a:pt x="288" y="54"/>
                        <a:pt x="288" y="54"/>
                        <a:pt x="288" y="54"/>
                      </a:cubicBezTo>
                      <a:cubicBezTo>
                        <a:pt x="288" y="70"/>
                        <a:pt x="275" y="84"/>
                        <a:pt x="25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89" name="Oval 261">
                  <a:extLst>
                    <a:ext uri="{FF2B5EF4-FFF2-40B4-BE49-F238E27FC236}">
                      <a16:creationId xmlns:a16="http://schemas.microsoft.com/office/drawing/2014/main" id="{A07F1822-2AF6-FF90-6323-B1F8A0B502B4}"/>
                    </a:ext>
                  </a:extLst>
                </p:cNvPr>
                <p:cNvSpPr>
                  <a:spLocks noChangeArrowheads="1"/>
                </p:cNvSpPr>
                <p:nvPr/>
              </p:nvSpPr>
              <p:spPr bwMode="auto">
                <a:xfrm>
                  <a:off x="582" y="784"/>
                  <a:ext cx="35"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90" name="Oval 262">
                  <a:extLst>
                    <a:ext uri="{FF2B5EF4-FFF2-40B4-BE49-F238E27FC236}">
                      <a16:creationId xmlns:a16="http://schemas.microsoft.com/office/drawing/2014/main" id="{84329717-A6CC-9BB0-4A53-C316B95205CE}"/>
                    </a:ext>
                  </a:extLst>
                </p:cNvPr>
                <p:cNvSpPr>
                  <a:spLocks noChangeArrowheads="1"/>
                </p:cNvSpPr>
                <p:nvPr/>
              </p:nvSpPr>
              <p:spPr bwMode="auto">
                <a:xfrm>
                  <a:off x="635" y="784"/>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91" name="Oval 263">
                  <a:extLst>
                    <a:ext uri="{FF2B5EF4-FFF2-40B4-BE49-F238E27FC236}">
                      <a16:creationId xmlns:a16="http://schemas.microsoft.com/office/drawing/2014/main" id="{74310944-22E4-397A-F4E0-138656760226}"/>
                    </a:ext>
                  </a:extLst>
                </p:cNvPr>
                <p:cNvSpPr>
                  <a:spLocks noChangeArrowheads="1"/>
                </p:cNvSpPr>
                <p:nvPr/>
              </p:nvSpPr>
              <p:spPr bwMode="auto">
                <a:xfrm>
                  <a:off x="688" y="784"/>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sp>
              <p:nvSpPr>
                <p:cNvPr id="92" name="Freeform 264">
                  <a:extLst>
                    <a:ext uri="{FF2B5EF4-FFF2-40B4-BE49-F238E27FC236}">
                      <a16:creationId xmlns:a16="http://schemas.microsoft.com/office/drawing/2014/main" id="{7AE7350A-DA6B-26E8-1731-382800CC5C4B}"/>
                    </a:ext>
                  </a:extLst>
                </p:cNvPr>
                <p:cNvSpPr>
                  <a:spLocks noEditPoints="1"/>
                </p:cNvSpPr>
                <p:nvPr/>
              </p:nvSpPr>
              <p:spPr bwMode="auto">
                <a:xfrm>
                  <a:off x="386" y="775"/>
                  <a:ext cx="54" cy="54"/>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8"/>
                        <a:pt x="8" y="0"/>
                        <a:pt x="18" y="0"/>
                      </a:cubicBezTo>
                      <a:cubicBezTo>
                        <a:pt x="28" y="0"/>
                        <a:pt x="36" y="8"/>
                        <a:pt x="36" y="18"/>
                      </a:cubicBezTo>
                      <a:cubicBezTo>
                        <a:pt x="36" y="28"/>
                        <a:pt x="28" y="36"/>
                        <a:pt x="18" y="36"/>
                      </a:cubicBezTo>
                      <a:close/>
                      <a:moveTo>
                        <a:pt x="18" y="12"/>
                      </a:moveTo>
                      <a:cubicBezTo>
                        <a:pt x="15" y="12"/>
                        <a:pt x="12" y="14"/>
                        <a:pt x="12" y="18"/>
                      </a:cubicBezTo>
                      <a:cubicBezTo>
                        <a:pt x="12" y="21"/>
                        <a:pt x="15" y="24"/>
                        <a:pt x="18" y="24"/>
                      </a:cubicBezTo>
                      <a:cubicBezTo>
                        <a:pt x="22" y="24"/>
                        <a:pt x="24" y="21"/>
                        <a:pt x="24" y="18"/>
                      </a:cubicBezTo>
                      <a:cubicBezTo>
                        <a:pt x="24" y="14"/>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FCF4DE"/>
                    </a:solidFill>
                    <a:effectLst/>
                    <a:uLnTx/>
                    <a:uFillTx/>
                    <a:latin typeface="Arial" panose="020B0604020202020204"/>
                    <a:ea typeface="+mn-ea"/>
                    <a:cs typeface="+mn-cs"/>
                  </a:endParaRPr>
                </a:p>
              </p:txBody>
            </p:sp>
          </p:grpSp>
          <p:grpSp>
            <p:nvGrpSpPr>
              <p:cNvPr id="66" name="Group 32">
                <a:extLst>
                  <a:ext uri="{FF2B5EF4-FFF2-40B4-BE49-F238E27FC236}">
                    <a16:creationId xmlns:a16="http://schemas.microsoft.com/office/drawing/2014/main" id="{CC78CAB0-618E-8D2D-BB81-BE722EF6BE7A}"/>
                  </a:ext>
                </a:extLst>
              </p:cNvPr>
              <p:cNvGrpSpPr>
                <a:grpSpLocks noChangeAspect="1"/>
              </p:cNvGrpSpPr>
              <p:nvPr/>
            </p:nvGrpSpPr>
            <p:grpSpPr bwMode="auto">
              <a:xfrm>
                <a:off x="2000540" y="5752720"/>
                <a:ext cx="395779" cy="496476"/>
                <a:chOff x="397" y="442"/>
                <a:chExt cx="338" cy="424"/>
              </a:xfrm>
              <a:solidFill>
                <a:schemeClr val="tx1"/>
              </a:solidFill>
            </p:grpSpPr>
            <p:sp>
              <p:nvSpPr>
                <p:cNvPr id="67" name="Freeform 33">
                  <a:extLst>
                    <a:ext uri="{FF2B5EF4-FFF2-40B4-BE49-F238E27FC236}">
                      <a16:creationId xmlns:a16="http://schemas.microsoft.com/office/drawing/2014/main" id="{10F70C8F-5961-4314-6846-6A233F7BC5E9}"/>
                    </a:ext>
                  </a:extLst>
                </p:cNvPr>
                <p:cNvSpPr>
                  <a:spLocks/>
                </p:cNvSpPr>
                <p:nvPr/>
              </p:nvSpPr>
              <p:spPr bwMode="auto">
                <a:xfrm>
                  <a:off x="557" y="760"/>
                  <a:ext cx="18" cy="106"/>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69"/>
                        <a:pt x="0" y="66"/>
                      </a:cubicBezTo>
                      <a:cubicBezTo>
                        <a:pt x="0" y="6"/>
                        <a:pt x="0" y="6"/>
                        <a:pt x="0" y="6"/>
                      </a:cubicBezTo>
                      <a:cubicBezTo>
                        <a:pt x="0" y="3"/>
                        <a:pt x="3" y="0"/>
                        <a:pt x="6" y="0"/>
                      </a:cubicBezTo>
                      <a:cubicBezTo>
                        <a:pt x="10" y="0"/>
                        <a:pt x="12" y="3"/>
                        <a:pt x="12" y="6"/>
                      </a:cubicBezTo>
                      <a:cubicBezTo>
                        <a:pt x="12" y="66"/>
                        <a:pt x="12" y="66"/>
                        <a:pt x="12" y="66"/>
                      </a:cubicBezTo>
                      <a:cubicBezTo>
                        <a:pt x="12" y="69"/>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68" name="Freeform 34">
                  <a:extLst>
                    <a:ext uri="{FF2B5EF4-FFF2-40B4-BE49-F238E27FC236}">
                      <a16:creationId xmlns:a16="http://schemas.microsoft.com/office/drawing/2014/main" id="{69D0FDDC-E213-8066-E1E9-D4F7D09E81E5}"/>
                    </a:ext>
                  </a:extLst>
                </p:cNvPr>
                <p:cNvSpPr>
                  <a:spLocks/>
                </p:cNvSpPr>
                <p:nvPr/>
              </p:nvSpPr>
              <p:spPr bwMode="auto">
                <a:xfrm>
                  <a:off x="503" y="794"/>
                  <a:ext cx="126" cy="72"/>
                </a:xfrm>
                <a:custGeom>
                  <a:avLst/>
                  <a:gdLst>
                    <a:gd name="T0" fmla="*/ 42 w 85"/>
                    <a:gd name="T1" fmla="*/ 49 h 49"/>
                    <a:gd name="T2" fmla="*/ 38 w 85"/>
                    <a:gd name="T3" fmla="*/ 47 h 49"/>
                    <a:gd name="T4" fmla="*/ 2 w 85"/>
                    <a:gd name="T5" fmla="*/ 11 h 49"/>
                    <a:gd name="T6" fmla="*/ 2 w 85"/>
                    <a:gd name="T7" fmla="*/ 2 h 49"/>
                    <a:gd name="T8" fmla="*/ 11 w 85"/>
                    <a:gd name="T9" fmla="*/ 2 h 49"/>
                    <a:gd name="T10" fmla="*/ 42 w 85"/>
                    <a:gd name="T11" fmla="*/ 34 h 49"/>
                    <a:gd name="T12" fmla="*/ 74 w 85"/>
                    <a:gd name="T13" fmla="*/ 2 h 49"/>
                    <a:gd name="T14" fmla="*/ 83 w 85"/>
                    <a:gd name="T15" fmla="*/ 2 h 49"/>
                    <a:gd name="T16" fmla="*/ 83 w 85"/>
                    <a:gd name="T17" fmla="*/ 11 h 49"/>
                    <a:gd name="T18" fmla="*/ 47 w 85"/>
                    <a:gd name="T19" fmla="*/ 47 h 49"/>
                    <a:gd name="T20" fmla="*/ 42 w 85"/>
                    <a:gd name="T21"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49">
                      <a:moveTo>
                        <a:pt x="42" y="49"/>
                      </a:moveTo>
                      <a:cubicBezTo>
                        <a:pt x="41" y="49"/>
                        <a:pt x="39" y="48"/>
                        <a:pt x="38" y="47"/>
                      </a:cubicBezTo>
                      <a:cubicBezTo>
                        <a:pt x="2" y="11"/>
                        <a:pt x="2" y="11"/>
                        <a:pt x="2" y="11"/>
                      </a:cubicBezTo>
                      <a:cubicBezTo>
                        <a:pt x="0" y="9"/>
                        <a:pt x="0" y="5"/>
                        <a:pt x="2" y="2"/>
                      </a:cubicBezTo>
                      <a:cubicBezTo>
                        <a:pt x="5" y="0"/>
                        <a:pt x="8" y="0"/>
                        <a:pt x="11" y="2"/>
                      </a:cubicBezTo>
                      <a:cubicBezTo>
                        <a:pt x="42" y="34"/>
                        <a:pt x="42" y="34"/>
                        <a:pt x="42" y="34"/>
                      </a:cubicBezTo>
                      <a:cubicBezTo>
                        <a:pt x="74" y="2"/>
                        <a:pt x="74" y="2"/>
                        <a:pt x="74" y="2"/>
                      </a:cubicBezTo>
                      <a:cubicBezTo>
                        <a:pt x="77" y="0"/>
                        <a:pt x="80" y="0"/>
                        <a:pt x="83" y="2"/>
                      </a:cubicBezTo>
                      <a:cubicBezTo>
                        <a:pt x="85" y="5"/>
                        <a:pt x="85" y="9"/>
                        <a:pt x="83" y="11"/>
                      </a:cubicBezTo>
                      <a:cubicBezTo>
                        <a:pt x="47" y="47"/>
                        <a:pt x="47" y="47"/>
                        <a:pt x="47" y="47"/>
                      </a:cubicBezTo>
                      <a:cubicBezTo>
                        <a:pt x="46" y="48"/>
                        <a:pt x="44" y="49"/>
                        <a:pt x="42"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69" name="Freeform 35">
                  <a:extLst>
                    <a:ext uri="{FF2B5EF4-FFF2-40B4-BE49-F238E27FC236}">
                      <a16:creationId xmlns:a16="http://schemas.microsoft.com/office/drawing/2014/main" id="{783AE2CD-25A3-835A-10BF-16F3247EDFFE}"/>
                    </a:ext>
                  </a:extLst>
                </p:cNvPr>
                <p:cNvSpPr>
                  <a:spLocks/>
                </p:cNvSpPr>
                <p:nvPr/>
              </p:nvSpPr>
              <p:spPr bwMode="auto">
                <a:xfrm>
                  <a:off x="557" y="442"/>
                  <a:ext cx="18" cy="105"/>
                </a:xfrm>
                <a:custGeom>
                  <a:avLst/>
                  <a:gdLst>
                    <a:gd name="T0" fmla="*/ 6 w 12"/>
                    <a:gd name="T1" fmla="*/ 71 h 71"/>
                    <a:gd name="T2" fmla="*/ 0 w 12"/>
                    <a:gd name="T3" fmla="*/ 65 h 71"/>
                    <a:gd name="T4" fmla="*/ 0 w 12"/>
                    <a:gd name="T5" fmla="*/ 6 h 71"/>
                    <a:gd name="T6" fmla="*/ 6 w 12"/>
                    <a:gd name="T7" fmla="*/ 0 h 71"/>
                    <a:gd name="T8" fmla="*/ 12 w 12"/>
                    <a:gd name="T9" fmla="*/ 6 h 71"/>
                    <a:gd name="T10" fmla="*/ 12 w 12"/>
                    <a:gd name="T11" fmla="*/ 65 h 71"/>
                    <a:gd name="T12" fmla="*/ 6 w 12"/>
                    <a:gd name="T13" fmla="*/ 71 h 71"/>
                  </a:gdLst>
                  <a:ahLst/>
                  <a:cxnLst>
                    <a:cxn ang="0">
                      <a:pos x="T0" y="T1"/>
                    </a:cxn>
                    <a:cxn ang="0">
                      <a:pos x="T2" y="T3"/>
                    </a:cxn>
                    <a:cxn ang="0">
                      <a:pos x="T4" y="T5"/>
                    </a:cxn>
                    <a:cxn ang="0">
                      <a:pos x="T6" y="T7"/>
                    </a:cxn>
                    <a:cxn ang="0">
                      <a:pos x="T8" y="T9"/>
                    </a:cxn>
                    <a:cxn ang="0">
                      <a:pos x="T10" y="T11"/>
                    </a:cxn>
                    <a:cxn ang="0">
                      <a:pos x="T12" y="T13"/>
                    </a:cxn>
                  </a:cxnLst>
                  <a:rect l="0" t="0" r="r" b="b"/>
                  <a:pathLst>
                    <a:path w="12" h="71">
                      <a:moveTo>
                        <a:pt x="6" y="71"/>
                      </a:moveTo>
                      <a:cubicBezTo>
                        <a:pt x="3" y="71"/>
                        <a:pt x="0" y="69"/>
                        <a:pt x="0" y="65"/>
                      </a:cubicBezTo>
                      <a:cubicBezTo>
                        <a:pt x="0" y="6"/>
                        <a:pt x="0" y="6"/>
                        <a:pt x="0" y="6"/>
                      </a:cubicBezTo>
                      <a:cubicBezTo>
                        <a:pt x="0" y="3"/>
                        <a:pt x="3" y="0"/>
                        <a:pt x="6" y="0"/>
                      </a:cubicBezTo>
                      <a:cubicBezTo>
                        <a:pt x="10" y="0"/>
                        <a:pt x="12" y="3"/>
                        <a:pt x="12" y="6"/>
                      </a:cubicBezTo>
                      <a:cubicBezTo>
                        <a:pt x="12" y="65"/>
                        <a:pt x="12" y="65"/>
                        <a:pt x="12" y="65"/>
                      </a:cubicBezTo>
                      <a:cubicBezTo>
                        <a:pt x="12" y="69"/>
                        <a:pt x="10" y="71"/>
                        <a:pt x="6"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70" name="Freeform 36">
                  <a:extLst>
                    <a:ext uri="{FF2B5EF4-FFF2-40B4-BE49-F238E27FC236}">
                      <a16:creationId xmlns:a16="http://schemas.microsoft.com/office/drawing/2014/main" id="{2059A579-8183-46B6-9B29-86AFA4DFAF9E}"/>
                    </a:ext>
                  </a:extLst>
                </p:cNvPr>
                <p:cNvSpPr>
                  <a:spLocks/>
                </p:cNvSpPr>
                <p:nvPr/>
              </p:nvSpPr>
              <p:spPr bwMode="auto">
                <a:xfrm>
                  <a:off x="503" y="442"/>
                  <a:ext cx="126" cy="72"/>
                </a:xfrm>
                <a:custGeom>
                  <a:avLst/>
                  <a:gdLst>
                    <a:gd name="T0" fmla="*/ 78 w 85"/>
                    <a:gd name="T1" fmla="*/ 48 h 49"/>
                    <a:gd name="T2" fmla="*/ 74 w 85"/>
                    <a:gd name="T3" fmla="*/ 46 h 49"/>
                    <a:gd name="T4" fmla="*/ 42 w 85"/>
                    <a:gd name="T5" fmla="*/ 15 h 49"/>
                    <a:gd name="T6" fmla="*/ 11 w 85"/>
                    <a:gd name="T7" fmla="*/ 46 h 49"/>
                    <a:gd name="T8" fmla="*/ 2 w 85"/>
                    <a:gd name="T9" fmla="*/ 46 h 49"/>
                    <a:gd name="T10" fmla="*/ 2 w 85"/>
                    <a:gd name="T11" fmla="*/ 38 h 49"/>
                    <a:gd name="T12" fmla="*/ 38 w 85"/>
                    <a:gd name="T13" fmla="*/ 2 h 49"/>
                    <a:gd name="T14" fmla="*/ 47 w 85"/>
                    <a:gd name="T15" fmla="*/ 2 h 49"/>
                    <a:gd name="T16" fmla="*/ 83 w 85"/>
                    <a:gd name="T17" fmla="*/ 38 h 49"/>
                    <a:gd name="T18" fmla="*/ 83 w 85"/>
                    <a:gd name="T19" fmla="*/ 46 h 49"/>
                    <a:gd name="T20" fmla="*/ 78 w 85"/>
                    <a:gd name="T21" fmla="*/ 4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49">
                      <a:moveTo>
                        <a:pt x="78" y="48"/>
                      </a:moveTo>
                      <a:cubicBezTo>
                        <a:pt x="77" y="48"/>
                        <a:pt x="75" y="48"/>
                        <a:pt x="74" y="46"/>
                      </a:cubicBezTo>
                      <a:cubicBezTo>
                        <a:pt x="42" y="15"/>
                        <a:pt x="42" y="15"/>
                        <a:pt x="42" y="15"/>
                      </a:cubicBezTo>
                      <a:cubicBezTo>
                        <a:pt x="11" y="46"/>
                        <a:pt x="11" y="46"/>
                        <a:pt x="11" y="46"/>
                      </a:cubicBezTo>
                      <a:cubicBezTo>
                        <a:pt x="8" y="49"/>
                        <a:pt x="5" y="49"/>
                        <a:pt x="2" y="46"/>
                      </a:cubicBezTo>
                      <a:cubicBezTo>
                        <a:pt x="0" y="44"/>
                        <a:pt x="0" y="40"/>
                        <a:pt x="2" y="38"/>
                      </a:cubicBezTo>
                      <a:cubicBezTo>
                        <a:pt x="38" y="2"/>
                        <a:pt x="38" y="2"/>
                        <a:pt x="38" y="2"/>
                      </a:cubicBezTo>
                      <a:cubicBezTo>
                        <a:pt x="41" y="0"/>
                        <a:pt x="44" y="0"/>
                        <a:pt x="47" y="2"/>
                      </a:cubicBezTo>
                      <a:cubicBezTo>
                        <a:pt x="83" y="38"/>
                        <a:pt x="83" y="38"/>
                        <a:pt x="83" y="38"/>
                      </a:cubicBezTo>
                      <a:cubicBezTo>
                        <a:pt x="85" y="40"/>
                        <a:pt x="85" y="44"/>
                        <a:pt x="83" y="46"/>
                      </a:cubicBezTo>
                      <a:cubicBezTo>
                        <a:pt x="82" y="48"/>
                        <a:pt x="80" y="48"/>
                        <a:pt x="78"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71" name="Freeform 37">
                  <a:extLst>
                    <a:ext uri="{FF2B5EF4-FFF2-40B4-BE49-F238E27FC236}">
                      <a16:creationId xmlns:a16="http://schemas.microsoft.com/office/drawing/2014/main" id="{45B10457-2613-1874-CDB9-E83EC05FF485}"/>
                    </a:ext>
                  </a:extLst>
                </p:cNvPr>
                <p:cNvSpPr>
                  <a:spLocks noEditPoints="1"/>
                </p:cNvSpPr>
                <p:nvPr/>
              </p:nvSpPr>
              <p:spPr bwMode="auto">
                <a:xfrm>
                  <a:off x="397" y="566"/>
                  <a:ext cx="338" cy="177"/>
                </a:xfrm>
                <a:custGeom>
                  <a:avLst/>
                  <a:gdLst>
                    <a:gd name="T0" fmla="*/ 222 w 228"/>
                    <a:gd name="T1" fmla="*/ 120 h 120"/>
                    <a:gd name="T2" fmla="*/ 6 w 228"/>
                    <a:gd name="T3" fmla="*/ 120 h 120"/>
                    <a:gd name="T4" fmla="*/ 0 w 228"/>
                    <a:gd name="T5" fmla="*/ 114 h 120"/>
                    <a:gd name="T6" fmla="*/ 0 w 228"/>
                    <a:gd name="T7" fmla="*/ 6 h 120"/>
                    <a:gd name="T8" fmla="*/ 6 w 228"/>
                    <a:gd name="T9" fmla="*/ 0 h 120"/>
                    <a:gd name="T10" fmla="*/ 222 w 228"/>
                    <a:gd name="T11" fmla="*/ 0 h 120"/>
                    <a:gd name="T12" fmla="*/ 228 w 228"/>
                    <a:gd name="T13" fmla="*/ 6 h 120"/>
                    <a:gd name="T14" fmla="*/ 228 w 228"/>
                    <a:gd name="T15" fmla="*/ 114 h 120"/>
                    <a:gd name="T16" fmla="*/ 222 w 228"/>
                    <a:gd name="T17" fmla="*/ 120 h 120"/>
                    <a:gd name="T18" fmla="*/ 12 w 228"/>
                    <a:gd name="T19" fmla="*/ 108 h 120"/>
                    <a:gd name="T20" fmla="*/ 216 w 228"/>
                    <a:gd name="T21" fmla="*/ 108 h 120"/>
                    <a:gd name="T22" fmla="*/ 216 w 228"/>
                    <a:gd name="T23" fmla="*/ 12 h 120"/>
                    <a:gd name="T24" fmla="*/ 12 w 228"/>
                    <a:gd name="T25" fmla="*/ 12 h 120"/>
                    <a:gd name="T26" fmla="*/ 12 w 228"/>
                    <a:gd name="T2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8" h="120">
                      <a:moveTo>
                        <a:pt x="222" y="120"/>
                      </a:moveTo>
                      <a:cubicBezTo>
                        <a:pt x="6" y="120"/>
                        <a:pt x="6" y="120"/>
                        <a:pt x="6" y="120"/>
                      </a:cubicBezTo>
                      <a:cubicBezTo>
                        <a:pt x="3" y="120"/>
                        <a:pt x="0" y="118"/>
                        <a:pt x="0" y="114"/>
                      </a:cubicBezTo>
                      <a:cubicBezTo>
                        <a:pt x="0" y="6"/>
                        <a:pt x="0" y="6"/>
                        <a:pt x="0" y="6"/>
                      </a:cubicBezTo>
                      <a:cubicBezTo>
                        <a:pt x="0" y="3"/>
                        <a:pt x="3" y="0"/>
                        <a:pt x="6" y="0"/>
                      </a:cubicBezTo>
                      <a:cubicBezTo>
                        <a:pt x="222" y="0"/>
                        <a:pt x="222" y="0"/>
                        <a:pt x="222" y="0"/>
                      </a:cubicBezTo>
                      <a:cubicBezTo>
                        <a:pt x="226" y="0"/>
                        <a:pt x="228" y="3"/>
                        <a:pt x="228" y="6"/>
                      </a:cubicBezTo>
                      <a:cubicBezTo>
                        <a:pt x="228" y="114"/>
                        <a:pt x="228" y="114"/>
                        <a:pt x="228" y="114"/>
                      </a:cubicBezTo>
                      <a:cubicBezTo>
                        <a:pt x="228" y="118"/>
                        <a:pt x="226" y="120"/>
                        <a:pt x="222" y="120"/>
                      </a:cubicBezTo>
                      <a:close/>
                      <a:moveTo>
                        <a:pt x="12" y="108"/>
                      </a:moveTo>
                      <a:cubicBezTo>
                        <a:pt x="216" y="108"/>
                        <a:pt x="216" y="108"/>
                        <a:pt x="216" y="108"/>
                      </a:cubicBezTo>
                      <a:cubicBezTo>
                        <a:pt x="216" y="12"/>
                        <a:pt x="216" y="12"/>
                        <a:pt x="216" y="12"/>
                      </a:cubicBezTo>
                      <a:cubicBezTo>
                        <a:pt x="12" y="12"/>
                        <a:pt x="12" y="12"/>
                        <a:pt x="12" y="12"/>
                      </a:cubicBezTo>
                      <a:lnTo>
                        <a:pt x="1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72" name="Freeform 38">
                  <a:extLst>
                    <a:ext uri="{FF2B5EF4-FFF2-40B4-BE49-F238E27FC236}">
                      <a16:creationId xmlns:a16="http://schemas.microsoft.com/office/drawing/2014/main" id="{BBC7B987-7B67-1DAB-3230-02B810F17FAF}"/>
                    </a:ext>
                  </a:extLst>
                </p:cNvPr>
                <p:cNvSpPr>
                  <a:spLocks/>
                </p:cNvSpPr>
                <p:nvPr/>
              </p:nvSpPr>
              <p:spPr bwMode="auto">
                <a:xfrm>
                  <a:off x="450" y="601"/>
                  <a:ext cx="65" cy="107"/>
                </a:xfrm>
                <a:custGeom>
                  <a:avLst/>
                  <a:gdLst>
                    <a:gd name="T0" fmla="*/ 6 w 44"/>
                    <a:gd name="T1" fmla="*/ 72 h 72"/>
                    <a:gd name="T2" fmla="*/ 0 w 44"/>
                    <a:gd name="T3" fmla="*/ 66 h 72"/>
                    <a:gd name="T4" fmla="*/ 0 w 44"/>
                    <a:gd name="T5" fmla="*/ 6 h 72"/>
                    <a:gd name="T6" fmla="*/ 6 w 44"/>
                    <a:gd name="T7" fmla="*/ 0 h 72"/>
                    <a:gd name="T8" fmla="*/ 38 w 44"/>
                    <a:gd name="T9" fmla="*/ 0 h 72"/>
                    <a:gd name="T10" fmla="*/ 44 w 44"/>
                    <a:gd name="T11" fmla="*/ 6 h 72"/>
                    <a:gd name="T12" fmla="*/ 38 w 44"/>
                    <a:gd name="T13" fmla="*/ 12 h 72"/>
                    <a:gd name="T14" fmla="*/ 12 w 44"/>
                    <a:gd name="T15" fmla="*/ 12 h 72"/>
                    <a:gd name="T16" fmla="*/ 12 w 44"/>
                    <a:gd name="T17" fmla="*/ 66 h 72"/>
                    <a:gd name="T18" fmla="*/ 6 w 44"/>
                    <a:gd name="T19"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2">
                      <a:moveTo>
                        <a:pt x="6" y="72"/>
                      </a:moveTo>
                      <a:cubicBezTo>
                        <a:pt x="3" y="72"/>
                        <a:pt x="0" y="70"/>
                        <a:pt x="0" y="66"/>
                      </a:cubicBezTo>
                      <a:cubicBezTo>
                        <a:pt x="0" y="6"/>
                        <a:pt x="0" y="6"/>
                        <a:pt x="0" y="6"/>
                      </a:cubicBezTo>
                      <a:cubicBezTo>
                        <a:pt x="0" y="3"/>
                        <a:pt x="3" y="0"/>
                        <a:pt x="6" y="0"/>
                      </a:cubicBezTo>
                      <a:cubicBezTo>
                        <a:pt x="38" y="0"/>
                        <a:pt x="38" y="0"/>
                        <a:pt x="38" y="0"/>
                      </a:cubicBezTo>
                      <a:cubicBezTo>
                        <a:pt x="41" y="0"/>
                        <a:pt x="44" y="3"/>
                        <a:pt x="44" y="6"/>
                      </a:cubicBezTo>
                      <a:cubicBezTo>
                        <a:pt x="44" y="10"/>
                        <a:pt x="41" y="12"/>
                        <a:pt x="38" y="12"/>
                      </a:cubicBezTo>
                      <a:cubicBezTo>
                        <a:pt x="12" y="12"/>
                        <a:pt x="12" y="12"/>
                        <a:pt x="12" y="12"/>
                      </a:cubicBezTo>
                      <a:cubicBezTo>
                        <a:pt x="12" y="66"/>
                        <a:pt x="12" y="66"/>
                        <a:pt x="12" y="66"/>
                      </a:cubicBezTo>
                      <a:cubicBezTo>
                        <a:pt x="12" y="70"/>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73" name="Freeform 39">
                  <a:extLst>
                    <a:ext uri="{FF2B5EF4-FFF2-40B4-BE49-F238E27FC236}">
                      <a16:creationId xmlns:a16="http://schemas.microsoft.com/office/drawing/2014/main" id="{6D2B4CCE-955F-D8B0-7A86-1A4F7F3881D6}"/>
                    </a:ext>
                  </a:extLst>
                </p:cNvPr>
                <p:cNvSpPr>
                  <a:spLocks/>
                </p:cNvSpPr>
                <p:nvPr/>
              </p:nvSpPr>
              <p:spPr bwMode="auto">
                <a:xfrm>
                  <a:off x="459" y="655"/>
                  <a:ext cx="44" cy="17"/>
                </a:xfrm>
                <a:custGeom>
                  <a:avLst/>
                  <a:gdLst>
                    <a:gd name="T0" fmla="*/ 24 w 30"/>
                    <a:gd name="T1" fmla="*/ 12 h 12"/>
                    <a:gd name="T2" fmla="*/ 6 w 30"/>
                    <a:gd name="T3" fmla="*/ 12 h 12"/>
                    <a:gd name="T4" fmla="*/ 0 w 30"/>
                    <a:gd name="T5" fmla="*/ 6 h 12"/>
                    <a:gd name="T6" fmla="*/ 6 w 30"/>
                    <a:gd name="T7" fmla="*/ 0 h 12"/>
                    <a:gd name="T8" fmla="*/ 24 w 30"/>
                    <a:gd name="T9" fmla="*/ 0 h 12"/>
                    <a:gd name="T10" fmla="*/ 30 w 30"/>
                    <a:gd name="T11" fmla="*/ 6 h 12"/>
                    <a:gd name="T12" fmla="*/ 24 w 3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0" h="12">
                      <a:moveTo>
                        <a:pt x="24" y="12"/>
                      </a:moveTo>
                      <a:cubicBezTo>
                        <a:pt x="6" y="12"/>
                        <a:pt x="6" y="12"/>
                        <a:pt x="6" y="12"/>
                      </a:cubicBezTo>
                      <a:cubicBezTo>
                        <a:pt x="3" y="12"/>
                        <a:pt x="0" y="10"/>
                        <a:pt x="0" y="6"/>
                      </a:cubicBezTo>
                      <a:cubicBezTo>
                        <a:pt x="0" y="3"/>
                        <a:pt x="3" y="0"/>
                        <a:pt x="6" y="0"/>
                      </a:cubicBezTo>
                      <a:cubicBezTo>
                        <a:pt x="24" y="0"/>
                        <a:pt x="24" y="0"/>
                        <a:pt x="24" y="0"/>
                      </a:cubicBezTo>
                      <a:cubicBezTo>
                        <a:pt x="28" y="0"/>
                        <a:pt x="30" y="3"/>
                        <a:pt x="30" y="6"/>
                      </a:cubicBezTo>
                      <a:cubicBezTo>
                        <a:pt x="30" y="10"/>
                        <a:pt x="28"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74" name="Freeform 40">
                  <a:extLst>
                    <a:ext uri="{FF2B5EF4-FFF2-40B4-BE49-F238E27FC236}">
                      <a16:creationId xmlns:a16="http://schemas.microsoft.com/office/drawing/2014/main" id="{51AA7706-5BB2-B868-EDBB-55F1DB7DD9E7}"/>
                    </a:ext>
                  </a:extLst>
                </p:cNvPr>
                <p:cNvSpPr>
                  <a:spLocks noEditPoints="1"/>
                </p:cNvSpPr>
                <p:nvPr/>
              </p:nvSpPr>
              <p:spPr bwMode="auto">
                <a:xfrm>
                  <a:off x="610" y="601"/>
                  <a:ext cx="71" cy="107"/>
                </a:xfrm>
                <a:custGeom>
                  <a:avLst/>
                  <a:gdLst>
                    <a:gd name="T0" fmla="*/ 6 w 48"/>
                    <a:gd name="T1" fmla="*/ 72 h 72"/>
                    <a:gd name="T2" fmla="*/ 0 w 48"/>
                    <a:gd name="T3" fmla="*/ 66 h 72"/>
                    <a:gd name="T4" fmla="*/ 0 w 48"/>
                    <a:gd name="T5" fmla="*/ 6 h 72"/>
                    <a:gd name="T6" fmla="*/ 6 w 48"/>
                    <a:gd name="T7" fmla="*/ 0 h 72"/>
                    <a:gd name="T8" fmla="*/ 23 w 48"/>
                    <a:gd name="T9" fmla="*/ 0 h 72"/>
                    <a:gd name="T10" fmla="*/ 48 w 48"/>
                    <a:gd name="T11" fmla="*/ 24 h 72"/>
                    <a:gd name="T12" fmla="*/ 24 w 48"/>
                    <a:gd name="T13" fmla="*/ 48 h 72"/>
                    <a:gd name="T14" fmla="*/ 12 w 48"/>
                    <a:gd name="T15" fmla="*/ 48 h 72"/>
                    <a:gd name="T16" fmla="*/ 12 w 48"/>
                    <a:gd name="T17" fmla="*/ 66 h 72"/>
                    <a:gd name="T18" fmla="*/ 6 w 48"/>
                    <a:gd name="T19" fmla="*/ 72 h 72"/>
                    <a:gd name="T20" fmla="*/ 12 w 48"/>
                    <a:gd name="T21" fmla="*/ 36 h 72"/>
                    <a:gd name="T22" fmla="*/ 24 w 48"/>
                    <a:gd name="T23" fmla="*/ 36 h 72"/>
                    <a:gd name="T24" fmla="*/ 36 w 48"/>
                    <a:gd name="T25" fmla="*/ 24 h 72"/>
                    <a:gd name="T26" fmla="*/ 23 w 48"/>
                    <a:gd name="T27" fmla="*/ 12 h 72"/>
                    <a:gd name="T28" fmla="*/ 12 w 48"/>
                    <a:gd name="T29" fmla="*/ 12 h 72"/>
                    <a:gd name="T30" fmla="*/ 12 w 48"/>
                    <a:gd name="T31"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 h="72">
                      <a:moveTo>
                        <a:pt x="6" y="72"/>
                      </a:moveTo>
                      <a:cubicBezTo>
                        <a:pt x="3" y="72"/>
                        <a:pt x="0" y="70"/>
                        <a:pt x="0" y="66"/>
                      </a:cubicBezTo>
                      <a:cubicBezTo>
                        <a:pt x="0" y="6"/>
                        <a:pt x="0" y="6"/>
                        <a:pt x="0" y="6"/>
                      </a:cubicBezTo>
                      <a:cubicBezTo>
                        <a:pt x="0" y="3"/>
                        <a:pt x="3" y="0"/>
                        <a:pt x="6" y="0"/>
                      </a:cubicBezTo>
                      <a:cubicBezTo>
                        <a:pt x="23" y="0"/>
                        <a:pt x="23" y="0"/>
                        <a:pt x="23" y="0"/>
                      </a:cubicBezTo>
                      <a:cubicBezTo>
                        <a:pt x="40" y="0"/>
                        <a:pt x="48" y="12"/>
                        <a:pt x="48" y="24"/>
                      </a:cubicBezTo>
                      <a:cubicBezTo>
                        <a:pt x="48" y="36"/>
                        <a:pt x="40" y="48"/>
                        <a:pt x="24" y="48"/>
                      </a:cubicBezTo>
                      <a:cubicBezTo>
                        <a:pt x="12" y="48"/>
                        <a:pt x="12" y="48"/>
                        <a:pt x="12" y="48"/>
                      </a:cubicBezTo>
                      <a:cubicBezTo>
                        <a:pt x="12" y="66"/>
                        <a:pt x="12" y="66"/>
                        <a:pt x="12" y="66"/>
                      </a:cubicBezTo>
                      <a:cubicBezTo>
                        <a:pt x="12" y="70"/>
                        <a:pt x="10" y="72"/>
                        <a:pt x="6" y="72"/>
                      </a:cubicBezTo>
                      <a:close/>
                      <a:moveTo>
                        <a:pt x="12" y="36"/>
                      </a:moveTo>
                      <a:cubicBezTo>
                        <a:pt x="24" y="36"/>
                        <a:pt x="24" y="36"/>
                        <a:pt x="24" y="36"/>
                      </a:cubicBezTo>
                      <a:cubicBezTo>
                        <a:pt x="33" y="36"/>
                        <a:pt x="36" y="29"/>
                        <a:pt x="36" y="24"/>
                      </a:cubicBezTo>
                      <a:cubicBezTo>
                        <a:pt x="36" y="20"/>
                        <a:pt x="34" y="12"/>
                        <a:pt x="23"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75" name="Freeform 41">
                  <a:extLst>
                    <a:ext uri="{FF2B5EF4-FFF2-40B4-BE49-F238E27FC236}">
                      <a16:creationId xmlns:a16="http://schemas.microsoft.com/office/drawing/2014/main" id="{8C99AEBD-C181-33DD-5DB8-FCA95CC13264}"/>
                    </a:ext>
                  </a:extLst>
                </p:cNvPr>
                <p:cNvSpPr>
                  <a:spLocks/>
                </p:cNvSpPr>
                <p:nvPr/>
              </p:nvSpPr>
              <p:spPr bwMode="auto">
                <a:xfrm>
                  <a:off x="557" y="601"/>
                  <a:ext cx="18" cy="107"/>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70"/>
                        <a:pt x="0" y="66"/>
                      </a:cubicBezTo>
                      <a:cubicBezTo>
                        <a:pt x="0" y="6"/>
                        <a:pt x="0" y="6"/>
                        <a:pt x="0" y="6"/>
                      </a:cubicBezTo>
                      <a:cubicBezTo>
                        <a:pt x="0" y="3"/>
                        <a:pt x="3" y="0"/>
                        <a:pt x="6" y="0"/>
                      </a:cubicBezTo>
                      <a:cubicBezTo>
                        <a:pt x="10" y="0"/>
                        <a:pt x="12" y="3"/>
                        <a:pt x="12" y="6"/>
                      </a:cubicBezTo>
                      <a:cubicBezTo>
                        <a:pt x="12" y="66"/>
                        <a:pt x="12" y="66"/>
                        <a:pt x="12" y="66"/>
                      </a:cubicBezTo>
                      <a:cubicBezTo>
                        <a:pt x="12" y="70"/>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sp>
              <p:nvSpPr>
                <p:cNvPr id="76" name="Freeform 42">
                  <a:extLst>
                    <a:ext uri="{FF2B5EF4-FFF2-40B4-BE49-F238E27FC236}">
                      <a16:creationId xmlns:a16="http://schemas.microsoft.com/office/drawing/2014/main" id="{8CC8CB91-8BB4-3603-42B9-5D052CBF0AFC}"/>
                    </a:ext>
                  </a:extLst>
                </p:cNvPr>
                <p:cNvSpPr>
                  <a:spLocks/>
                </p:cNvSpPr>
                <p:nvPr/>
              </p:nvSpPr>
              <p:spPr bwMode="auto">
                <a:xfrm>
                  <a:off x="530" y="601"/>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6" y="0"/>
                        <a:pt x="48" y="3"/>
                        <a:pt x="48" y="6"/>
                      </a:cubicBezTo>
                      <a:cubicBezTo>
                        <a:pt x="48" y="10"/>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srgbClr val="422110"/>
                    </a:solidFill>
                    <a:effectLst/>
                    <a:uLnTx/>
                    <a:uFillTx/>
                    <a:latin typeface="Arial" panose="020B0604020202020204"/>
                    <a:ea typeface="+mn-ea"/>
                    <a:cs typeface="+mn-cs"/>
                  </a:endParaRPr>
                </a:p>
              </p:txBody>
            </p:sp>
          </p:grpSp>
        </p:grpSp>
        <p:grpSp>
          <p:nvGrpSpPr>
            <p:cNvPr id="373" name="Group 372">
              <a:extLst>
                <a:ext uri="{FF2B5EF4-FFF2-40B4-BE49-F238E27FC236}">
                  <a16:creationId xmlns:a16="http://schemas.microsoft.com/office/drawing/2014/main" id="{6F212675-C9AA-F9DD-7E14-80CBFE2FE20F}"/>
                </a:ext>
              </a:extLst>
            </p:cNvPr>
            <p:cNvGrpSpPr/>
            <p:nvPr/>
          </p:nvGrpSpPr>
          <p:grpSpPr>
            <a:xfrm>
              <a:off x="9900365" y="1803957"/>
              <a:ext cx="1858082" cy="2239198"/>
              <a:chOff x="10124324" y="2445912"/>
              <a:chExt cx="1858082" cy="2962152"/>
            </a:xfrm>
          </p:grpSpPr>
          <p:grpSp>
            <p:nvGrpSpPr>
              <p:cNvPr id="374" name="Group 373">
                <a:extLst>
                  <a:ext uri="{FF2B5EF4-FFF2-40B4-BE49-F238E27FC236}">
                    <a16:creationId xmlns:a16="http://schemas.microsoft.com/office/drawing/2014/main" id="{E9C7F830-9EC9-DB1C-D25D-F444286C0095}"/>
                  </a:ext>
                </a:extLst>
              </p:cNvPr>
              <p:cNvGrpSpPr/>
              <p:nvPr/>
            </p:nvGrpSpPr>
            <p:grpSpPr>
              <a:xfrm>
                <a:off x="10330545" y="2445912"/>
                <a:ext cx="1651861" cy="2962152"/>
                <a:chOff x="10330545" y="2445912"/>
                <a:chExt cx="1651861" cy="2962152"/>
              </a:xfrm>
            </p:grpSpPr>
            <p:sp>
              <p:nvSpPr>
                <p:cNvPr id="376" name="Rectangle: Rounded Corners 375">
                  <a:extLst>
                    <a:ext uri="{FF2B5EF4-FFF2-40B4-BE49-F238E27FC236}">
                      <a16:creationId xmlns:a16="http://schemas.microsoft.com/office/drawing/2014/main" id="{3C98D07F-C010-0472-FB5D-529A2041828E}"/>
                    </a:ext>
                  </a:extLst>
                </p:cNvPr>
                <p:cNvSpPr/>
                <p:nvPr/>
              </p:nvSpPr>
              <p:spPr>
                <a:xfrm>
                  <a:off x="10330545" y="2445912"/>
                  <a:ext cx="1651861" cy="2962152"/>
                </a:xfrm>
                <a:prstGeom prst="roundRect">
                  <a:avLst/>
                </a:prstGeom>
                <a:gradFill>
                  <a:gsLst>
                    <a:gs pos="44000">
                      <a:schemeClr val="accent1">
                        <a:lumMod val="75000"/>
                      </a:schemeClr>
                    </a:gs>
                    <a:gs pos="74000">
                      <a:schemeClr val="accent1">
                        <a:lumMod val="45000"/>
                        <a:lumOff val="55000"/>
                      </a:schemeClr>
                    </a:gs>
                    <a:gs pos="83000">
                      <a:schemeClr val="accent1">
                        <a:lumMod val="45000"/>
                        <a:lumOff val="55000"/>
                      </a:schemeClr>
                    </a:gs>
                    <a:gs pos="90000">
                      <a:schemeClr val="accent5">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Rectangle: Rounded Corners 376">
                  <a:extLst>
                    <a:ext uri="{FF2B5EF4-FFF2-40B4-BE49-F238E27FC236}">
                      <a16:creationId xmlns:a16="http://schemas.microsoft.com/office/drawing/2014/main" id="{E4B6935E-18F5-D21E-241D-10A22494E39F}"/>
                    </a:ext>
                  </a:extLst>
                </p:cNvPr>
                <p:cNvSpPr/>
                <p:nvPr/>
              </p:nvSpPr>
              <p:spPr>
                <a:xfrm>
                  <a:off x="10504715" y="2555379"/>
                  <a:ext cx="1321470" cy="601188"/>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Setup</a:t>
                  </a:r>
                </a:p>
              </p:txBody>
            </p:sp>
            <p:sp>
              <p:nvSpPr>
                <p:cNvPr id="378" name="Rectangle: Rounded Corners 377">
                  <a:extLst>
                    <a:ext uri="{FF2B5EF4-FFF2-40B4-BE49-F238E27FC236}">
                      <a16:creationId xmlns:a16="http://schemas.microsoft.com/office/drawing/2014/main" id="{ED99850C-D741-401D-D634-98BC01C803EF}"/>
                    </a:ext>
                  </a:extLst>
                </p:cNvPr>
                <p:cNvSpPr/>
                <p:nvPr/>
              </p:nvSpPr>
              <p:spPr>
                <a:xfrm>
                  <a:off x="10508761" y="3264190"/>
                  <a:ext cx="1321470" cy="601188"/>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Migration</a:t>
                  </a:r>
                </a:p>
              </p:txBody>
            </p:sp>
            <p:sp>
              <p:nvSpPr>
                <p:cNvPr id="379" name="Rectangle: Rounded Corners 378">
                  <a:extLst>
                    <a:ext uri="{FF2B5EF4-FFF2-40B4-BE49-F238E27FC236}">
                      <a16:creationId xmlns:a16="http://schemas.microsoft.com/office/drawing/2014/main" id="{35BE2FB9-6433-F6FB-BAEC-904CDBDBB406}"/>
                    </a:ext>
                  </a:extLst>
                </p:cNvPr>
                <p:cNvSpPr/>
                <p:nvPr/>
              </p:nvSpPr>
              <p:spPr>
                <a:xfrm>
                  <a:off x="10504715" y="3960608"/>
                  <a:ext cx="1321470" cy="601188"/>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Security</a:t>
                  </a:r>
                </a:p>
              </p:txBody>
            </p:sp>
            <p:sp>
              <p:nvSpPr>
                <p:cNvPr id="380" name="Rectangle: Rounded Corners 379">
                  <a:extLst>
                    <a:ext uri="{FF2B5EF4-FFF2-40B4-BE49-F238E27FC236}">
                      <a16:creationId xmlns:a16="http://schemas.microsoft.com/office/drawing/2014/main" id="{9604BA95-1459-77FA-50FE-5B6EFC75EBA7}"/>
                    </a:ext>
                  </a:extLst>
                </p:cNvPr>
                <p:cNvSpPr/>
                <p:nvPr/>
              </p:nvSpPr>
              <p:spPr>
                <a:xfrm>
                  <a:off x="10520176" y="4657026"/>
                  <a:ext cx="1321470" cy="601188"/>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Monitoring</a:t>
                  </a:r>
                </a:p>
              </p:txBody>
            </p:sp>
          </p:grpSp>
          <p:sp>
            <p:nvSpPr>
              <p:cNvPr id="375" name="Trapezoid 374">
                <a:extLst>
                  <a:ext uri="{FF2B5EF4-FFF2-40B4-BE49-F238E27FC236}">
                    <a16:creationId xmlns:a16="http://schemas.microsoft.com/office/drawing/2014/main" id="{889A4869-2155-3841-6ABC-1979194A4565}"/>
                  </a:ext>
                </a:extLst>
              </p:cNvPr>
              <p:cNvSpPr/>
              <p:nvPr/>
            </p:nvSpPr>
            <p:spPr>
              <a:xfrm rot="16200000">
                <a:off x="8904363" y="3820230"/>
                <a:ext cx="2692667" cy="252745"/>
              </a:xfrm>
              <a:prstGeom prst="trapezoid">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aphicFrame>
        <p:nvGraphicFramePr>
          <p:cNvPr id="383" name="TextBox 2">
            <a:extLst>
              <a:ext uri="{FF2B5EF4-FFF2-40B4-BE49-F238E27FC236}">
                <a16:creationId xmlns:a16="http://schemas.microsoft.com/office/drawing/2014/main" id="{AAEB9712-14F0-5236-2F37-688BB4CED416}"/>
              </a:ext>
            </a:extLst>
          </p:cNvPr>
          <p:cNvGraphicFramePr/>
          <p:nvPr>
            <p:extLst>
              <p:ext uri="{D42A27DB-BD31-4B8C-83A1-F6EECF244321}">
                <p14:modId xmlns:p14="http://schemas.microsoft.com/office/powerpoint/2010/main" val="786436411"/>
              </p:ext>
            </p:extLst>
          </p:nvPr>
        </p:nvGraphicFramePr>
        <p:xfrm>
          <a:off x="188571" y="3726245"/>
          <a:ext cx="11772900" cy="267151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796439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A945D3-7C0A-4709-9F50-F870F87F42E4}"/>
              </a:ext>
            </a:extLst>
          </p:cNvPr>
          <p:cNvSpPr>
            <a:spLocks noGrp="1"/>
          </p:cNvSpPr>
          <p:nvPr>
            <p:ph type="dt" sz="half" idx="10"/>
          </p:nvPr>
        </p:nvSpPr>
        <p:spPr/>
        <p:txBody>
          <a:bodyPr/>
          <a:lstStyle/>
          <a:p>
            <a:fld id="{D39A7350-5FE5-4208-ABEC-8EEEDF083E6A}" type="datetime1">
              <a:rPr lang="en-US" smtClean="0"/>
              <a:t>8/26/2025</a:t>
            </a:fld>
            <a:endParaRPr lang="en-US"/>
          </a:p>
        </p:txBody>
      </p:sp>
      <p:sp>
        <p:nvSpPr>
          <p:cNvPr id="4" name="Slide Number Placeholder 3">
            <a:extLst>
              <a:ext uri="{FF2B5EF4-FFF2-40B4-BE49-F238E27FC236}">
                <a16:creationId xmlns:a16="http://schemas.microsoft.com/office/drawing/2014/main" id="{D2DE92ED-4BEA-4A0F-BEDE-B3AB2D2ACFCF}"/>
              </a:ext>
            </a:extLst>
          </p:cNvPr>
          <p:cNvSpPr>
            <a:spLocks noGrp="1"/>
          </p:cNvSpPr>
          <p:nvPr>
            <p:ph type="sldNum" sz="quarter" idx="12"/>
          </p:nvPr>
        </p:nvSpPr>
        <p:spPr/>
        <p:txBody>
          <a:bodyPr/>
          <a:lstStyle/>
          <a:p>
            <a:fld id="{2742E19B-BBB1-2246-AAA4-0D48B8609D3A}" type="slidenum">
              <a:rPr lang="en-US" smtClean="0"/>
              <a:t>5</a:t>
            </a:fld>
            <a:endParaRPr lang="en-US"/>
          </a:p>
        </p:txBody>
      </p:sp>
      <p:sp>
        <p:nvSpPr>
          <p:cNvPr id="6" name="Title 5">
            <a:extLst>
              <a:ext uri="{FF2B5EF4-FFF2-40B4-BE49-F238E27FC236}">
                <a16:creationId xmlns:a16="http://schemas.microsoft.com/office/drawing/2014/main" id="{C7BD1BAD-AF29-4FBB-AD48-9590EED474F3}"/>
              </a:ext>
            </a:extLst>
          </p:cNvPr>
          <p:cNvSpPr>
            <a:spLocks noGrp="1"/>
          </p:cNvSpPr>
          <p:nvPr>
            <p:ph type="title"/>
          </p:nvPr>
        </p:nvSpPr>
        <p:spPr/>
        <p:txBody>
          <a:bodyPr/>
          <a:lstStyle/>
          <a:p>
            <a:r>
              <a:rPr lang="en-US" dirty="0"/>
              <a:t> </a:t>
            </a:r>
            <a:endParaRPr lang="en-IN" dirty="0"/>
          </a:p>
        </p:txBody>
      </p:sp>
      <p:sp>
        <p:nvSpPr>
          <p:cNvPr id="7" name="Rectangle 6">
            <a:extLst>
              <a:ext uri="{FF2B5EF4-FFF2-40B4-BE49-F238E27FC236}">
                <a16:creationId xmlns:a16="http://schemas.microsoft.com/office/drawing/2014/main" id="{3683850A-4D21-4E74-B22A-F7C8F9356799}"/>
              </a:ext>
            </a:extLst>
          </p:cNvPr>
          <p:cNvSpPr/>
          <p:nvPr/>
        </p:nvSpPr>
        <p:spPr>
          <a:xfrm>
            <a:off x="64028" y="92765"/>
            <a:ext cx="9422873" cy="707886"/>
          </a:xfrm>
          <a:prstGeom prst="rect">
            <a:avLst/>
          </a:prstGeom>
        </p:spPr>
        <p:txBody>
          <a:bodyPr wrap="square">
            <a:spAutoFit/>
          </a:bodyPr>
          <a:lstStyle/>
          <a:p>
            <a:endParaRPr lang="en-US" altLang="en-US" sz="4000" b="1" u="sng" dirty="0">
              <a:solidFill>
                <a:schemeClr val="bg1"/>
              </a:solidFill>
              <a:latin typeface="Calibri" panose="020F0502020204030204" pitchFamily="34" charset="0"/>
              <a:sym typeface="Wingdings" panose="05000000000000000000" pitchFamily="2" charset="2"/>
            </a:endParaRPr>
          </a:p>
        </p:txBody>
      </p:sp>
      <p:sp>
        <p:nvSpPr>
          <p:cNvPr id="5" name="TextBox 4">
            <a:extLst>
              <a:ext uri="{FF2B5EF4-FFF2-40B4-BE49-F238E27FC236}">
                <a16:creationId xmlns:a16="http://schemas.microsoft.com/office/drawing/2014/main" id="{51E0B63F-208B-3D30-89D0-C3D2711E8BD1}"/>
              </a:ext>
            </a:extLst>
          </p:cNvPr>
          <p:cNvSpPr txBox="1"/>
          <p:nvPr/>
        </p:nvSpPr>
        <p:spPr>
          <a:xfrm>
            <a:off x="197074" y="1096517"/>
            <a:ext cx="6390539" cy="99352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US" sz="2400" b="1" dirty="0">
                <a:solidFill>
                  <a:srgbClr val="0070C0"/>
                </a:solidFill>
                <a:latin typeface="Graphik"/>
              </a:rPr>
              <a:t>MuleSoft Architecture – Bajaj Context</a:t>
            </a:r>
            <a:endParaRPr kumimoji="0" lang="en-US" sz="2400" b="1" i="0" u="none" strike="noStrike" kern="1200" cap="none" spc="0" normalizeH="0" baseline="0" noProof="0" dirty="0">
              <a:ln>
                <a:noFill/>
              </a:ln>
              <a:solidFill>
                <a:srgbClr val="0070C0"/>
              </a:solidFill>
              <a:effectLst/>
              <a:uLnTx/>
              <a:uFillTx/>
              <a:latin typeface="Graphik"/>
              <a:ea typeface="+mn-ea"/>
              <a:cs typeface="+mn-cs"/>
            </a:endParaRPr>
          </a:p>
        </p:txBody>
      </p:sp>
      <p:pic>
        <p:nvPicPr>
          <p:cNvPr id="9" name="Picture 8">
            <a:extLst>
              <a:ext uri="{FF2B5EF4-FFF2-40B4-BE49-F238E27FC236}">
                <a16:creationId xmlns:a16="http://schemas.microsoft.com/office/drawing/2014/main" id="{618F4ECA-CDB9-6213-7A07-E0935BCF50FE}"/>
              </a:ext>
            </a:extLst>
          </p:cNvPr>
          <p:cNvPicPr>
            <a:picLocks noChangeAspect="1"/>
          </p:cNvPicPr>
          <p:nvPr/>
        </p:nvPicPr>
        <p:blipFill>
          <a:blip r:embed="rId2"/>
          <a:stretch>
            <a:fillRect/>
          </a:stretch>
        </p:blipFill>
        <p:spPr>
          <a:xfrm>
            <a:off x="0" y="1729316"/>
            <a:ext cx="7338696" cy="4627034"/>
          </a:xfrm>
          <a:prstGeom prst="rect">
            <a:avLst/>
          </a:prstGeom>
        </p:spPr>
      </p:pic>
      <p:sp>
        <p:nvSpPr>
          <p:cNvPr id="14" name="TextBox 13">
            <a:extLst>
              <a:ext uri="{FF2B5EF4-FFF2-40B4-BE49-F238E27FC236}">
                <a16:creationId xmlns:a16="http://schemas.microsoft.com/office/drawing/2014/main" id="{A0C51C04-FA9C-C530-CD91-814E31CBB7CF}"/>
              </a:ext>
            </a:extLst>
          </p:cNvPr>
          <p:cNvSpPr txBox="1"/>
          <p:nvPr/>
        </p:nvSpPr>
        <p:spPr>
          <a:xfrm>
            <a:off x="7338696" y="1227396"/>
            <a:ext cx="4689558" cy="501675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cs typeface="Arial" panose="020B0604020202020204" pitchFamily="34" charset="0"/>
              </a:rPr>
              <a:t>System APIs</a:t>
            </a:r>
            <a:r>
              <a:rPr kumimoji="0" lang="en-US" altLang="en-US" sz="1600" b="0" i="0" u="none" strike="noStrike" cap="none" normalizeH="0" baseline="0" dirty="0">
                <a:ln>
                  <a:noFill/>
                </a:ln>
                <a:solidFill>
                  <a:schemeClr val="tx1"/>
                </a:solidFill>
                <a:effectLst/>
                <a:cs typeface="Arial" panose="020B0604020202020204" pitchFamily="34" charset="0"/>
              </a:rPr>
              <a:t> – these usually access the core systems of record and provide a means of insulating the user from the complexity or any changes to the underlying systems. Once built, many users, can access data without any need to learn the underlying systems and can reuse these APIs in multiple projects.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cs typeface="Arial" panose="020B0604020202020204" pitchFamily="34" charset="0"/>
              </a:rPr>
              <a:t>Process APIs</a:t>
            </a:r>
            <a:r>
              <a:rPr kumimoji="0" lang="en-US" altLang="en-US" sz="1600" b="0" i="0" u="none" strike="noStrike" cap="none" normalizeH="0" baseline="0" dirty="0">
                <a:ln>
                  <a:noFill/>
                </a:ln>
                <a:solidFill>
                  <a:schemeClr val="tx1"/>
                </a:solidFill>
                <a:effectLst/>
                <a:cs typeface="Arial" panose="020B0604020202020204" pitchFamily="34" charset="0"/>
              </a:rPr>
              <a:t> – These APIs interact with and shape data within a single system or across systems</a:t>
            </a:r>
            <a:r>
              <a:rPr kumimoji="0" lang="en-US" altLang="en-US" sz="1600" b="0" i="1" u="none" strike="noStrike" cap="none" normalizeH="0" baseline="0" dirty="0">
                <a:ln>
                  <a:noFill/>
                </a:ln>
                <a:solidFill>
                  <a:schemeClr val="tx1"/>
                </a:solidFill>
                <a:effectLst/>
                <a:cs typeface="Arial" panose="020B0604020202020204" pitchFamily="34" charset="0"/>
              </a:rPr>
              <a:t> (breaking down data silos)</a:t>
            </a:r>
            <a:r>
              <a:rPr kumimoji="0" lang="en-US" altLang="en-US" sz="1600" b="0" i="0" u="none" strike="noStrike" cap="none" normalizeH="0" baseline="0" dirty="0">
                <a:ln>
                  <a:noFill/>
                </a:ln>
                <a:solidFill>
                  <a:schemeClr val="tx1"/>
                </a:solidFill>
                <a:effectLst/>
                <a:cs typeface="Arial" panose="020B0604020202020204" pitchFamily="34" charset="0"/>
              </a:rPr>
              <a:t> and are created here without a dependence on the source systems from which that data originates, as well as the target channels through which that data is delivered.</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cs typeface="Arial" panose="020B0604020202020204" pitchFamily="34" charset="0"/>
              </a:rPr>
              <a:t>Experience APIs</a:t>
            </a:r>
            <a:r>
              <a:rPr kumimoji="0" lang="en-US" altLang="en-US" sz="1600" b="0" i="0" u="none" strike="noStrike" cap="none" normalizeH="0" baseline="0" dirty="0">
                <a:ln>
                  <a:noFill/>
                </a:ln>
                <a:solidFill>
                  <a:schemeClr val="tx1"/>
                </a:solidFill>
                <a:effectLst/>
                <a:cs typeface="Arial" panose="020B0604020202020204" pitchFamily="34" charset="0"/>
              </a:rPr>
              <a:t> – Experience APIs are the means by which data can be reconfigured so that it is most easily consumed by its intended audience, all from a common data source, rather than setting up separate point-to-point integrations for each channel. An Experience API is usually created with API-first design principles where the API is designed for the specific user experience in mind. </a:t>
            </a:r>
          </a:p>
        </p:txBody>
      </p:sp>
      <p:sp>
        <p:nvSpPr>
          <p:cNvPr id="8" name="Title 2">
            <a:extLst>
              <a:ext uri="{FF2B5EF4-FFF2-40B4-BE49-F238E27FC236}">
                <a16:creationId xmlns:a16="http://schemas.microsoft.com/office/drawing/2014/main" id="{014C4EE3-6E89-B314-0B1E-61F274CFAE31}"/>
              </a:ext>
            </a:extLst>
          </p:cNvPr>
          <p:cNvSpPr txBox="1">
            <a:spLocks/>
          </p:cNvSpPr>
          <p:nvPr/>
        </p:nvSpPr>
        <p:spPr>
          <a:xfrm>
            <a:off x="197074" y="148863"/>
            <a:ext cx="9130473" cy="8226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bg1"/>
                </a:solidFill>
                <a:latin typeface="Helvetica" panose="020B0604020202020204" pitchFamily="34" charset="0"/>
                <a:ea typeface="+mj-ea"/>
                <a:cs typeface="Helvetica" panose="020B0604020202020204" pitchFamily="34" charset="0"/>
              </a:defRPr>
            </a:lvl1pPr>
          </a:lstStyle>
          <a:p>
            <a:r>
              <a:rPr lang="en-US" dirty="0"/>
              <a:t>Architecture</a:t>
            </a:r>
          </a:p>
        </p:txBody>
      </p:sp>
    </p:spTree>
    <p:extLst>
      <p:ext uri="{BB962C8B-B14F-4D97-AF65-F5344CB8AC3E}">
        <p14:creationId xmlns:p14="http://schemas.microsoft.com/office/powerpoint/2010/main" val="3406507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2BD9EE-6082-6265-B52C-0EEE06670E3D}"/>
              </a:ext>
            </a:extLst>
          </p:cNvPr>
          <p:cNvSpPr>
            <a:spLocks noGrp="1"/>
          </p:cNvSpPr>
          <p:nvPr>
            <p:ph type="title"/>
          </p:nvPr>
        </p:nvSpPr>
        <p:spPr/>
        <p:txBody>
          <a:bodyPr/>
          <a:lstStyle/>
          <a:p>
            <a:r>
              <a:rPr lang="en-US" dirty="0"/>
              <a:t>CI/CD, Environments and Branching Strategy</a:t>
            </a:r>
          </a:p>
        </p:txBody>
      </p:sp>
      <p:sp>
        <p:nvSpPr>
          <p:cNvPr id="19" name="TextBox 18">
            <a:extLst>
              <a:ext uri="{FF2B5EF4-FFF2-40B4-BE49-F238E27FC236}">
                <a16:creationId xmlns:a16="http://schemas.microsoft.com/office/drawing/2014/main" id="{9199B686-F7D3-EE30-3319-30FB2E56EB67}"/>
              </a:ext>
            </a:extLst>
          </p:cNvPr>
          <p:cNvSpPr txBox="1"/>
          <p:nvPr/>
        </p:nvSpPr>
        <p:spPr>
          <a:xfrm>
            <a:off x="695383" y="4517504"/>
            <a:ext cx="1517465" cy="30777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ystem-ui"/>
                <a:ea typeface="+mn-ea"/>
                <a:cs typeface="+mn-cs"/>
              </a:rPr>
              <a:t>Checkout SCM</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5B3CF5FA-6E07-00FB-C924-244D8009D154}"/>
              </a:ext>
            </a:extLst>
          </p:cNvPr>
          <p:cNvSpPr txBox="1"/>
          <p:nvPr/>
        </p:nvSpPr>
        <p:spPr>
          <a:xfrm>
            <a:off x="2427217" y="4517504"/>
            <a:ext cx="1265151" cy="30777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ystem-ui"/>
                <a:ea typeface="+mn-ea"/>
                <a:cs typeface="+mn-cs"/>
              </a:rPr>
              <a:t>Initialization</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853317A7-FB28-4B97-0835-6D1D0EDFBB22}"/>
              </a:ext>
            </a:extLst>
          </p:cNvPr>
          <p:cNvSpPr txBox="1"/>
          <p:nvPr/>
        </p:nvSpPr>
        <p:spPr>
          <a:xfrm>
            <a:off x="3902926" y="4517504"/>
            <a:ext cx="1655734" cy="30777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ystem-ui"/>
                <a:ea typeface="+mn-ea"/>
                <a:cs typeface="+mn-cs"/>
              </a:rPr>
              <a:t>Get common config</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B58E1B9A-B098-CEE2-1A71-55350023A847}"/>
              </a:ext>
            </a:extLst>
          </p:cNvPr>
          <p:cNvSpPr txBox="1"/>
          <p:nvPr/>
        </p:nvSpPr>
        <p:spPr>
          <a:xfrm>
            <a:off x="5770682" y="4517504"/>
            <a:ext cx="1876655" cy="30777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ystem-ui"/>
                <a:ea typeface="+mn-ea"/>
                <a:cs typeface="+mn-cs"/>
              </a:rPr>
              <a:t>Generate Settings.xml</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339E8E25-DF88-253D-3508-EB2C10156E29}"/>
              </a:ext>
            </a:extLst>
          </p:cNvPr>
          <p:cNvSpPr txBox="1"/>
          <p:nvPr/>
        </p:nvSpPr>
        <p:spPr>
          <a:xfrm>
            <a:off x="7855611" y="4517504"/>
            <a:ext cx="1467274" cy="30777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ystem-ui"/>
                <a:ea typeface="+mn-ea"/>
                <a:cs typeface="+mn-cs"/>
              </a:rPr>
              <a:t>Copy secure files</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69D7B100-E51F-3358-7BE2-37CF5C031370}"/>
              </a:ext>
            </a:extLst>
          </p:cNvPr>
          <p:cNvSpPr txBox="1"/>
          <p:nvPr/>
        </p:nvSpPr>
        <p:spPr>
          <a:xfrm>
            <a:off x="9538106" y="4517504"/>
            <a:ext cx="2146409" cy="30777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ystem-ui"/>
                <a:ea typeface="+mn-ea"/>
                <a:cs typeface="+mn-cs"/>
              </a:rPr>
              <a:t>Increment artifact version</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709EBB9A-D4C2-BB4C-D5E2-C83D58972F29}"/>
              </a:ext>
            </a:extLst>
          </p:cNvPr>
          <p:cNvSpPr txBox="1"/>
          <p:nvPr/>
        </p:nvSpPr>
        <p:spPr>
          <a:xfrm>
            <a:off x="9700413" y="5382472"/>
            <a:ext cx="1499616" cy="30777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ystem-ui"/>
                <a:ea typeface="+mn-ea"/>
                <a:cs typeface="+mn-cs"/>
              </a:rPr>
              <a:t>Build Application</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C4886022-006E-D6BB-766D-9CF55ED8568E}"/>
              </a:ext>
            </a:extLst>
          </p:cNvPr>
          <p:cNvSpPr txBox="1"/>
          <p:nvPr/>
        </p:nvSpPr>
        <p:spPr>
          <a:xfrm>
            <a:off x="7423557" y="5382472"/>
            <a:ext cx="1984248" cy="30777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ystem-ui"/>
                <a:ea typeface="+mn-ea"/>
                <a:cs typeface="+mn-cs"/>
              </a:rPr>
              <a:t>SonarQube-cloud</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F0A8ED00-63E5-5901-F277-59C1BEEC2708}"/>
              </a:ext>
            </a:extLst>
          </p:cNvPr>
          <p:cNvSpPr txBox="1"/>
          <p:nvPr/>
        </p:nvSpPr>
        <p:spPr>
          <a:xfrm>
            <a:off x="4169532" y="5382473"/>
            <a:ext cx="2962656" cy="307776"/>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ystem-ui"/>
                <a:ea typeface="+mn-ea"/>
                <a:cs typeface="+mn-cs"/>
              </a:rPr>
              <a:t>Upload artifact to </a:t>
            </a:r>
            <a:r>
              <a:rPr kumimoji="0" lang="en-US" sz="1400" b="0" i="0" u="none" strike="noStrike" kern="1200" cap="none" spc="0" normalizeH="0" baseline="0" noProof="0" dirty="0" err="1">
                <a:ln>
                  <a:noFill/>
                </a:ln>
                <a:solidFill>
                  <a:prstClr val="white"/>
                </a:solidFill>
                <a:effectLst/>
                <a:uLnTx/>
                <a:uFillTx/>
                <a:latin typeface="system-ui"/>
                <a:ea typeface="+mn-ea"/>
                <a:cs typeface="+mn-cs"/>
              </a:rPr>
              <a:t>Anypoint</a:t>
            </a:r>
            <a:r>
              <a:rPr kumimoji="0" lang="en-US" sz="1400" b="0" i="0" u="none" strike="noStrike" kern="1200" cap="none" spc="0" normalizeH="0" baseline="0" noProof="0" dirty="0">
                <a:ln>
                  <a:noFill/>
                </a:ln>
                <a:solidFill>
                  <a:prstClr val="white"/>
                </a:solidFill>
                <a:effectLst/>
                <a:uLnTx/>
                <a:uFillTx/>
                <a:latin typeface="system-ui"/>
                <a:ea typeface="+mn-ea"/>
                <a:cs typeface="+mn-cs"/>
              </a:rPr>
              <a:t> Exchange</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TextBox 36">
            <a:extLst>
              <a:ext uri="{FF2B5EF4-FFF2-40B4-BE49-F238E27FC236}">
                <a16:creationId xmlns:a16="http://schemas.microsoft.com/office/drawing/2014/main" id="{7592AB41-A08A-AB0F-8234-5902B37BA08C}"/>
              </a:ext>
            </a:extLst>
          </p:cNvPr>
          <p:cNvSpPr txBox="1"/>
          <p:nvPr/>
        </p:nvSpPr>
        <p:spPr>
          <a:xfrm>
            <a:off x="1541728" y="5382471"/>
            <a:ext cx="2335196" cy="30777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system-ui"/>
                <a:ea typeface="+mn-ea"/>
                <a:cs typeface="+mn-cs"/>
              </a:rPr>
              <a:t>Deploy </a:t>
            </a:r>
            <a:r>
              <a:rPr kumimoji="0" lang="en-US" sz="1400" b="0" i="0" u="none" strike="noStrike" kern="1200" cap="none" spc="0" normalizeH="0" baseline="0" noProof="0" dirty="0" err="1">
                <a:ln>
                  <a:noFill/>
                </a:ln>
                <a:solidFill>
                  <a:prstClr val="white"/>
                </a:solidFill>
                <a:effectLst/>
                <a:uLnTx/>
                <a:uFillTx/>
                <a:latin typeface="system-ui"/>
                <a:ea typeface="+mn-ea"/>
                <a:cs typeface="+mn-cs"/>
              </a:rPr>
              <a:t>Mulesoft</a:t>
            </a:r>
            <a:r>
              <a:rPr kumimoji="0" lang="en-US" sz="1400" b="0" i="0" u="none" strike="noStrike" kern="1200" cap="none" spc="0" normalizeH="0" baseline="0" noProof="0" dirty="0">
                <a:ln>
                  <a:noFill/>
                </a:ln>
                <a:solidFill>
                  <a:prstClr val="white"/>
                </a:solidFill>
                <a:effectLst/>
                <a:uLnTx/>
                <a:uFillTx/>
                <a:latin typeface="system-ui"/>
                <a:ea typeface="+mn-ea"/>
                <a:cs typeface="+mn-cs"/>
              </a:rPr>
              <a:t> Application</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823EB13A-0DB5-D9F2-660C-86D76D1E3D5A}"/>
              </a:ext>
            </a:extLst>
          </p:cNvPr>
          <p:cNvCxnSpPr>
            <a:stCxn id="19" idx="3"/>
            <a:endCxn id="21" idx="1"/>
          </p:cNvCxnSpPr>
          <p:nvPr/>
        </p:nvCxnSpPr>
        <p:spPr>
          <a:xfrm>
            <a:off x="2212848" y="4671393"/>
            <a:ext cx="2143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F085E1C-B1BC-0712-A0EC-4B4CEA205924}"/>
              </a:ext>
            </a:extLst>
          </p:cNvPr>
          <p:cNvCxnSpPr>
            <a:cxnSpLocks/>
          </p:cNvCxnSpPr>
          <p:nvPr/>
        </p:nvCxnSpPr>
        <p:spPr>
          <a:xfrm>
            <a:off x="3670896" y="4671393"/>
            <a:ext cx="244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56CAF7E-17D9-4D05-0B93-F0F7FEFBB1F8}"/>
              </a:ext>
            </a:extLst>
          </p:cNvPr>
          <p:cNvCxnSpPr>
            <a:cxnSpLocks/>
          </p:cNvCxnSpPr>
          <p:nvPr/>
        </p:nvCxnSpPr>
        <p:spPr>
          <a:xfrm>
            <a:off x="5530557" y="4671393"/>
            <a:ext cx="244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B0F91A8-F72C-D525-D14A-4D6339C3298E}"/>
              </a:ext>
            </a:extLst>
          </p:cNvPr>
          <p:cNvCxnSpPr>
            <a:cxnSpLocks/>
          </p:cNvCxnSpPr>
          <p:nvPr/>
        </p:nvCxnSpPr>
        <p:spPr>
          <a:xfrm>
            <a:off x="7615485" y="4671393"/>
            <a:ext cx="244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3E35DD5-6CA3-0670-B1AA-CD46AAA4627F}"/>
              </a:ext>
            </a:extLst>
          </p:cNvPr>
          <p:cNvCxnSpPr>
            <a:cxnSpLocks/>
          </p:cNvCxnSpPr>
          <p:nvPr/>
        </p:nvCxnSpPr>
        <p:spPr>
          <a:xfrm>
            <a:off x="9297981" y="4671393"/>
            <a:ext cx="244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110D7B2-A672-EE44-CB99-390F3DA51063}"/>
              </a:ext>
            </a:extLst>
          </p:cNvPr>
          <p:cNvCxnSpPr>
            <a:stCxn id="31" idx="1"/>
            <a:endCxn id="33" idx="3"/>
          </p:cNvCxnSpPr>
          <p:nvPr/>
        </p:nvCxnSpPr>
        <p:spPr>
          <a:xfrm flipH="1">
            <a:off x="9445915" y="5536361"/>
            <a:ext cx="2544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5F11AEC-0B66-4E5C-B724-FE6B46DD94E5}"/>
              </a:ext>
            </a:extLst>
          </p:cNvPr>
          <p:cNvCxnSpPr>
            <a:cxnSpLocks/>
          </p:cNvCxnSpPr>
          <p:nvPr/>
        </p:nvCxnSpPr>
        <p:spPr>
          <a:xfrm flipH="1">
            <a:off x="7114947" y="5536361"/>
            <a:ext cx="2926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F80F403-8FB9-3D4C-6513-76BF3F6A43FD}"/>
              </a:ext>
            </a:extLst>
          </p:cNvPr>
          <p:cNvCxnSpPr>
            <a:cxnSpLocks/>
          </p:cNvCxnSpPr>
          <p:nvPr/>
        </p:nvCxnSpPr>
        <p:spPr>
          <a:xfrm flipH="1">
            <a:off x="3876924" y="5542984"/>
            <a:ext cx="2926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52DC0491-681F-9AAC-78B0-6C96E89E57DB}"/>
              </a:ext>
            </a:extLst>
          </p:cNvPr>
          <p:cNvCxnSpPr>
            <a:cxnSpLocks/>
            <a:stCxn id="29" idx="3"/>
            <a:endCxn id="31" idx="3"/>
          </p:cNvCxnSpPr>
          <p:nvPr/>
        </p:nvCxnSpPr>
        <p:spPr>
          <a:xfrm flipH="1">
            <a:off x="11200029" y="4671393"/>
            <a:ext cx="484486" cy="864968"/>
          </a:xfrm>
          <a:prstGeom prst="bentConnector3">
            <a:avLst>
              <a:gd name="adj1" fmla="val -47184"/>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50">
            <a:extLst>
              <a:ext uri="{FF2B5EF4-FFF2-40B4-BE49-F238E27FC236}">
                <a16:creationId xmlns:a16="http://schemas.microsoft.com/office/drawing/2014/main" id="{DF0F3435-EE8C-7640-EC79-718A697852D2}"/>
              </a:ext>
            </a:extLst>
          </p:cNvPr>
          <p:cNvSpPr/>
          <p:nvPr/>
        </p:nvSpPr>
        <p:spPr>
          <a:xfrm>
            <a:off x="1681270" y="2802250"/>
            <a:ext cx="1418730" cy="4480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Developer Owned Environment</a:t>
            </a:r>
          </a:p>
        </p:txBody>
      </p:sp>
      <p:sp>
        <p:nvSpPr>
          <p:cNvPr id="52" name="Rectangle: Rounded Corners 51">
            <a:extLst>
              <a:ext uri="{FF2B5EF4-FFF2-40B4-BE49-F238E27FC236}">
                <a16:creationId xmlns:a16="http://schemas.microsoft.com/office/drawing/2014/main" id="{E2B98A1C-EB7E-FF30-C87E-5987373545C1}"/>
              </a:ext>
            </a:extLst>
          </p:cNvPr>
          <p:cNvSpPr/>
          <p:nvPr/>
        </p:nvSpPr>
        <p:spPr>
          <a:xfrm>
            <a:off x="5386635" y="2841837"/>
            <a:ext cx="1418730" cy="4480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Integrator Testing Environment</a:t>
            </a:r>
          </a:p>
        </p:txBody>
      </p:sp>
      <p:sp>
        <p:nvSpPr>
          <p:cNvPr id="53" name="Rectangle: Rounded Corners 52">
            <a:extLst>
              <a:ext uri="{FF2B5EF4-FFF2-40B4-BE49-F238E27FC236}">
                <a16:creationId xmlns:a16="http://schemas.microsoft.com/office/drawing/2014/main" id="{D65DAD47-F647-221B-8601-967F412B03AD}"/>
              </a:ext>
            </a:extLst>
          </p:cNvPr>
          <p:cNvSpPr/>
          <p:nvPr/>
        </p:nvSpPr>
        <p:spPr>
          <a:xfrm>
            <a:off x="9154059" y="2802250"/>
            <a:ext cx="1418730" cy="4480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Production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Environment</a:t>
            </a:r>
          </a:p>
        </p:txBody>
      </p:sp>
      <p:cxnSp>
        <p:nvCxnSpPr>
          <p:cNvPr id="55" name="Straight Connector 54">
            <a:extLst>
              <a:ext uri="{FF2B5EF4-FFF2-40B4-BE49-F238E27FC236}">
                <a16:creationId xmlns:a16="http://schemas.microsoft.com/office/drawing/2014/main" id="{C351D089-488D-891D-CA1B-67075F112DA8}"/>
              </a:ext>
            </a:extLst>
          </p:cNvPr>
          <p:cNvCxnSpPr/>
          <p:nvPr/>
        </p:nvCxnSpPr>
        <p:spPr>
          <a:xfrm>
            <a:off x="4060120" y="2026679"/>
            <a:ext cx="0" cy="8151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4494330-E10C-19CA-3B2E-45FFA4757DCB}"/>
              </a:ext>
            </a:extLst>
          </p:cNvPr>
          <p:cNvCxnSpPr/>
          <p:nvPr/>
        </p:nvCxnSpPr>
        <p:spPr>
          <a:xfrm>
            <a:off x="8107864" y="2026679"/>
            <a:ext cx="0" cy="815158"/>
          </a:xfrm>
          <a:prstGeom prst="line">
            <a:avLst/>
          </a:prstGeom>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1A16EA9B-A607-6F4C-8911-520EB22F577C}"/>
              </a:ext>
            </a:extLst>
          </p:cNvPr>
          <p:cNvSpPr txBox="1"/>
          <p:nvPr/>
        </p:nvSpPr>
        <p:spPr>
          <a:xfrm>
            <a:off x="3279833" y="2802250"/>
            <a:ext cx="182270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solidFill>
                <a:effectLst/>
                <a:uLnTx/>
                <a:uFillTx/>
                <a:latin typeface="Calibri" panose="020F0502020204030204"/>
                <a:ea typeface="+mn-ea"/>
                <a:cs typeface="+mn-cs"/>
              </a:rPr>
              <a:t>Automated CI/CD Pipeline</a:t>
            </a:r>
          </a:p>
        </p:txBody>
      </p:sp>
      <p:sp>
        <p:nvSpPr>
          <p:cNvPr id="58" name="TextBox 57">
            <a:extLst>
              <a:ext uri="{FF2B5EF4-FFF2-40B4-BE49-F238E27FC236}">
                <a16:creationId xmlns:a16="http://schemas.microsoft.com/office/drawing/2014/main" id="{D14A8C89-7999-5439-829F-9475ACCBFA35}"/>
              </a:ext>
            </a:extLst>
          </p:cNvPr>
          <p:cNvSpPr txBox="1"/>
          <p:nvPr/>
        </p:nvSpPr>
        <p:spPr>
          <a:xfrm>
            <a:off x="7196513" y="2875364"/>
            <a:ext cx="182270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solidFill>
                <a:effectLst/>
                <a:uLnTx/>
                <a:uFillTx/>
                <a:latin typeface="Calibri" panose="020F0502020204030204"/>
                <a:ea typeface="+mn-ea"/>
                <a:cs typeface="+mn-cs"/>
              </a:rPr>
              <a:t>Automated CI/CD Pipeline</a:t>
            </a:r>
          </a:p>
        </p:txBody>
      </p:sp>
      <p:sp>
        <p:nvSpPr>
          <p:cNvPr id="2" name="TextBox 1">
            <a:extLst>
              <a:ext uri="{FF2B5EF4-FFF2-40B4-BE49-F238E27FC236}">
                <a16:creationId xmlns:a16="http://schemas.microsoft.com/office/drawing/2014/main" id="{E88F530D-6451-170F-B007-17C84CF82029}"/>
              </a:ext>
            </a:extLst>
          </p:cNvPr>
          <p:cNvSpPr txBox="1"/>
          <p:nvPr/>
        </p:nvSpPr>
        <p:spPr>
          <a:xfrm>
            <a:off x="113336" y="1167751"/>
            <a:ext cx="287140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Environments</a:t>
            </a:r>
          </a:p>
        </p:txBody>
      </p:sp>
      <p:sp>
        <p:nvSpPr>
          <p:cNvPr id="4" name="Rectangle: Rounded Corners 3">
            <a:extLst>
              <a:ext uri="{FF2B5EF4-FFF2-40B4-BE49-F238E27FC236}">
                <a16:creationId xmlns:a16="http://schemas.microsoft.com/office/drawing/2014/main" id="{FA0C54C1-9B4C-3C02-E9FE-94E67AACA295}"/>
              </a:ext>
            </a:extLst>
          </p:cNvPr>
          <p:cNvSpPr/>
          <p:nvPr/>
        </p:nvSpPr>
        <p:spPr>
          <a:xfrm>
            <a:off x="1545191" y="1690971"/>
            <a:ext cx="1418730" cy="59436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DEV</a:t>
            </a:r>
          </a:p>
        </p:txBody>
      </p:sp>
      <p:sp>
        <p:nvSpPr>
          <p:cNvPr id="5" name="Rectangle: Rounded Corners 4">
            <a:extLst>
              <a:ext uri="{FF2B5EF4-FFF2-40B4-BE49-F238E27FC236}">
                <a16:creationId xmlns:a16="http://schemas.microsoft.com/office/drawing/2014/main" id="{0DB79A6C-A525-1033-EAAE-B98751E8D008}"/>
              </a:ext>
            </a:extLst>
          </p:cNvPr>
          <p:cNvSpPr/>
          <p:nvPr/>
        </p:nvSpPr>
        <p:spPr>
          <a:xfrm>
            <a:off x="5266580" y="1690971"/>
            <a:ext cx="1418730" cy="59436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UAT</a:t>
            </a:r>
          </a:p>
        </p:txBody>
      </p:sp>
      <p:sp>
        <p:nvSpPr>
          <p:cNvPr id="6" name="Rectangle: Rounded Corners 5">
            <a:extLst>
              <a:ext uri="{FF2B5EF4-FFF2-40B4-BE49-F238E27FC236}">
                <a16:creationId xmlns:a16="http://schemas.microsoft.com/office/drawing/2014/main" id="{44EA8F17-C3B3-2115-BF8A-F1021695EB55}"/>
              </a:ext>
            </a:extLst>
          </p:cNvPr>
          <p:cNvSpPr/>
          <p:nvPr/>
        </p:nvSpPr>
        <p:spPr>
          <a:xfrm>
            <a:off x="8987969" y="1690971"/>
            <a:ext cx="1418730" cy="5943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PROD</a:t>
            </a:r>
          </a:p>
        </p:txBody>
      </p:sp>
      <p:cxnSp>
        <p:nvCxnSpPr>
          <p:cNvPr id="8" name="Straight Arrow Connector 7">
            <a:extLst>
              <a:ext uri="{FF2B5EF4-FFF2-40B4-BE49-F238E27FC236}">
                <a16:creationId xmlns:a16="http://schemas.microsoft.com/office/drawing/2014/main" id="{F68D30BA-690A-DC66-C684-DCD6F5126CCB}"/>
              </a:ext>
            </a:extLst>
          </p:cNvPr>
          <p:cNvCxnSpPr>
            <a:stCxn id="4" idx="3"/>
            <a:endCxn id="5" idx="1"/>
          </p:cNvCxnSpPr>
          <p:nvPr/>
        </p:nvCxnSpPr>
        <p:spPr>
          <a:xfrm>
            <a:off x="2963921" y="1988151"/>
            <a:ext cx="2302659" cy="0"/>
          </a:xfrm>
          <a:prstGeom prst="straightConnector1">
            <a:avLst/>
          </a:prstGeom>
          <a:ln w="19050" cap="flat" cmpd="sng" algn="ctr">
            <a:solidFill>
              <a:schemeClr val="accent3"/>
            </a:solidFill>
            <a:prstDash val="lg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9B08CF34-CC9E-D85E-0262-8E6AC741F2CE}"/>
              </a:ext>
            </a:extLst>
          </p:cNvPr>
          <p:cNvCxnSpPr>
            <a:cxnSpLocks/>
            <a:endCxn id="6" idx="1"/>
          </p:cNvCxnSpPr>
          <p:nvPr/>
        </p:nvCxnSpPr>
        <p:spPr>
          <a:xfrm>
            <a:off x="6775704" y="1988151"/>
            <a:ext cx="2212265" cy="0"/>
          </a:xfrm>
          <a:prstGeom prst="straightConnector1">
            <a:avLst/>
          </a:prstGeom>
          <a:ln w="19050" cap="flat" cmpd="sng" algn="ctr">
            <a:solidFill>
              <a:schemeClr val="accent3"/>
            </a:solidFill>
            <a:prstDash val="lgDash"/>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9" name="Rectangle: Rounded Corners 1028">
            <a:extLst>
              <a:ext uri="{FF2B5EF4-FFF2-40B4-BE49-F238E27FC236}">
                <a16:creationId xmlns:a16="http://schemas.microsoft.com/office/drawing/2014/main" id="{28ACD04B-B714-95C6-0309-EB075E8EEFDE}"/>
              </a:ext>
            </a:extLst>
          </p:cNvPr>
          <p:cNvSpPr/>
          <p:nvPr/>
        </p:nvSpPr>
        <p:spPr>
          <a:xfrm>
            <a:off x="4782313" y="3644548"/>
            <a:ext cx="2625242" cy="59436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CI/CD Process Workflow</a:t>
            </a:r>
          </a:p>
        </p:txBody>
      </p:sp>
      <p:pic>
        <p:nvPicPr>
          <p:cNvPr id="1031" name="Picture 1030">
            <a:extLst>
              <a:ext uri="{FF2B5EF4-FFF2-40B4-BE49-F238E27FC236}">
                <a16:creationId xmlns:a16="http://schemas.microsoft.com/office/drawing/2014/main" id="{A6028DA4-4E73-A2B8-6C4B-CB2258E43C33}"/>
              </a:ext>
            </a:extLst>
          </p:cNvPr>
          <p:cNvPicPr>
            <a:picLocks noChangeAspect="1"/>
          </p:cNvPicPr>
          <p:nvPr/>
        </p:nvPicPr>
        <p:blipFill>
          <a:blip r:embed="rId2"/>
          <a:stretch>
            <a:fillRect/>
          </a:stretch>
        </p:blipFill>
        <p:spPr>
          <a:xfrm>
            <a:off x="183808" y="4148172"/>
            <a:ext cx="1023150" cy="369332"/>
          </a:xfrm>
          <a:prstGeom prst="rect">
            <a:avLst/>
          </a:prstGeom>
        </p:spPr>
      </p:pic>
      <p:pic>
        <p:nvPicPr>
          <p:cNvPr id="1033" name="Picture 1032">
            <a:extLst>
              <a:ext uri="{FF2B5EF4-FFF2-40B4-BE49-F238E27FC236}">
                <a16:creationId xmlns:a16="http://schemas.microsoft.com/office/drawing/2014/main" id="{645519A0-9124-61B6-02FA-4B4E3EE9F4F8}"/>
              </a:ext>
            </a:extLst>
          </p:cNvPr>
          <p:cNvPicPr>
            <a:picLocks noChangeAspect="1"/>
          </p:cNvPicPr>
          <p:nvPr/>
        </p:nvPicPr>
        <p:blipFill>
          <a:blip r:embed="rId3"/>
          <a:stretch>
            <a:fillRect/>
          </a:stretch>
        </p:blipFill>
        <p:spPr>
          <a:xfrm>
            <a:off x="7819500" y="5690248"/>
            <a:ext cx="1168469" cy="369333"/>
          </a:xfrm>
          <a:prstGeom prst="rect">
            <a:avLst/>
          </a:prstGeom>
        </p:spPr>
      </p:pic>
      <p:pic>
        <p:nvPicPr>
          <p:cNvPr id="1035" name="Picture 1034">
            <a:extLst>
              <a:ext uri="{FF2B5EF4-FFF2-40B4-BE49-F238E27FC236}">
                <a16:creationId xmlns:a16="http://schemas.microsoft.com/office/drawing/2014/main" id="{F600857A-9BD6-D2C1-BAFF-283A3B2F5E0E}"/>
              </a:ext>
            </a:extLst>
          </p:cNvPr>
          <p:cNvPicPr>
            <a:picLocks noChangeAspect="1"/>
          </p:cNvPicPr>
          <p:nvPr/>
        </p:nvPicPr>
        <p:blipFill>
          <a:blip r:embed="rId4"/>
          <a:stretch>
            <a:fillRect/>
          </a:stretch>
        </p:blipFill>
        <p:spPr>
          <a:xfrm>
            <a:off x="1738616" y="5690248"/>
            <a:ext cx="795698" cy="360551"/>
          </a:xfrm>
          <a:prstGeom prst="rect">
            <a:avLst/>
          </a:prstGeom>
        </p:spPr>
      </p:pic>
    </p:spTree>
    <p:extLst>
      <p:ext uri="{BB962C8B-B14F-4D97-AF65-F5344CB8AC3E}">
        <p14:creationId xmlns:p14="http://schemas.microsoft.com/office/powerpoint/2010/main" val="3695687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A3C3C1-75B8-99BF-D634-BA875C6AD9BB}"/>
              </a:ext>
            </a:extLst>
          </p:cNvPr>
          <p:cNvSpPr>
            <a:spLocks noGrp="1"/>
          </p:cNvSpPr>
          <p:nvPr>
            <p:ph type="title"/>
          </p:nvPr>
        </p:nvSpPr>
        <p:spPr/>
        <p:txBody>
          <a:bodyPr/>
          <a:lstStyle/>
          <a:p>
            <a:r>
              <a:rPr lang="en-US" dirty="0"/>
              <a:t>API Security Implemented</a:t>
            </a:r>
          </a:p>
        </p:txBody>
      </p:sp>
      <p:grpSp>
        <p:nvGrpSpPr>
          <p:cNvPr id="4" name="Group 3">
            <a:extLst>
              <a:ext uri="{FF2B5EF4-FFF2-40B4-BE49-F238E27FC236}">
                <a16:creationId xmlns:a16="http://schemas.microsoft.com/office/drawing/2014/main" id="{AF53CD41-0904-CCD1-3213-E938AD52D571}"/>
              </a:ext>
            </a:extLst>
          </p:cNvPr>
          <p:cNvGrpSpPr/>
          <p:nvPr/>
        </p:nvGrpSpPr>
        <p:grpSpPr>
          <a:xfrm>
            <a:off x="137160" y="1169468"/>
            <a:ext cx="3971765" cy="643726"/>
            <a:chOff x="3749845" y="2523"/>
            <a:chExt cx="2664395" cy="666098"/>
          </a:xfrm>
        </p:grpSpPr>
        <p:sp>
          <p:nvSpPr>
            <p:cNvPr id="17" name="Rectangle: Rounded Corners 16">
              <a:extLst>
                <a:ext uri="{FF2B5EF4-FFF2-40B4-BE49-F238E27FC236}">
                  <a16:creationId xmlns:a16="http://schemas.microsoft.com/office/drawing/2014/main" id="{DD7DE3DE-3BDD-3FFE-2497-80349CD09811}"/>
                </a:ext>
              </a:extLst>
            </p:cNvPr>
            <p:cNvSpPr/>
            <p:nvPr/>
          </p:nvSpPr>
          <p:spPr>
            <a:xfrm>
              <a:off x="3749845" y="2523"/>
              <a:ext cx="2664395" cy="666098"/>
            </a:xfrm>
            <a:prstGeom prst="roundRect">
              <a:avLst>
                <a:gd name="adj" fmla="val 10000"/>
              </a:avLst>
            </a:prstGeom>
            <a:gradFill rotWithShape="0">
              <a:gsLst>
                <a:gs pos="0">
                  <a:srgbClr val="BE82FF">
                    <a:hueOff val="0"/>
                    <a:satOff val="0"/>
                    <a:lumOff val="0"/>
                    <a:alphaOff val="0"/>
                    <a:satMod val="103000"/>
                    <a:lumMod val="102000"/>
                    <a:tint val="94000"/>
                  </a:srgbClr>
                </a:gs>
                <a:gs pos="50000">
                  <a:srgbClr val="BE82FF">
                    <a:hueOff val="0"/>
                    <a:satOff val="0"/>
                    <a:lumOff val="0"/>
                    <a:alphaOff val="0"/>
                    <a:satMod val="110000"/>
                    <a:lumMod val="100000"/>
                    <a:shade val="100000"/>
                  </a:srgbClr>
                </a:gs>
                <a:gs pos="100000">
                  <a:srgbClr val="BE82FF">
                    <a:hueOff val="0"/>
                    <a:satOff val="0"/>
                    <a:lumOff val="0"/>
                    <a:alphaOff val="0"/>
                    <a:lumMod val="99000"/>
                    <a:satMod val="120000"/>
                    <a:shade val="78000"/>
                  </a:srgbClr>
                </a:gs>
              </a:gsLst>
              <a:lin ang="5400000" scaled="0"/>
            </a:gradFill>
            <a:ln>
              <a:noFill/>
            </a:ln>
            <a:effectLst/>
          </p:spPr>
          <p:style>
            <a:lnRef idx="0">
              <a:scrgbClr r="0" g="0" b="0"/>
            </a:lnRef>
            <a:fillRef idx="3">
              <a:scrgbClr r="0" g="0" b="0"/>
            </a:fillRef>
            <a:effectRef idx="2">
              <a:scrgbClr r="0" g="0" b="0"/>
            </a:effectRef>
            <a:fontRef idx="minor">
              <a:schemeClr val="lt1"/>
            </a:fontRef>
          </p:style>
          <p:txBody>
            <a:bodyPr/>
            <a:lstStyle/>
            <a:p>
              <a:endParaRPr lang="en-US"/>
            </a:p>
          </p:txBody>
        </p:sp>
        <p:sp>
          <p:nvSpPr>
            <p:cNvPr id="18" name="Rectangle: Rounded Corners 4">
              <a:extLst>
                <a:ext uri="{FF2B5EF4-FFF2-40B4-BE49-F238E27FC236}">
                  <a16:creationId xmlns:a16="http://schemas.microsoft.com/office/drawing/2014/main" id="{F52C023A-8E9F-C6C5-78FB-F222BC5197FF}"/>
                </a:ext>
              </a:extLst>
            </p:cNvPr>
            <p:cNvSpPr txBox="1"/>
            <p:nvPr/>
          </p:nvSpPr>
          <p:spPr>
            <a:xfrm>
              <a:off x="3769354" y="22032"/>
              <a:ext cx="2625377" cy="6270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FFFFF"/>
                  </a:solidFill>
                  <a:latin typeface="Graphik"/>
                  <a:ea typeface="+mn-ea"/>
                  <a:cs typeface="+mn-cs"/>
                </a:rPr>
                <a:t>Security</a:t>
              </a:r>
            </a:p>
          </p:txBody>
        </p:sp>
      </p:grpSp>
      <p:grpSp>
        <p:nvGrpSpPr>
          <p:cNvPr id="5" name="Group 4">
            <a:extLst>
              <a:ext uri="{FF2B5EF4-FFF2-40B4-BE49-F238E27FC236}">
                <a16:creationId xmlns:a16="http://schemas.microsoft.com/office/drawing/2014/main" id="{2CFD7560-ADE0-9F4C-1C51-0D0BDF138AAB}"/>
              </a:ext>
            </a:extLst>
          </p:cNvPr>
          <p:cNvGrpSpPr/>
          <p:nvPr/>
        </p:nvGrpSpPr>
        <p:grpSpPr>
          <a:xfrm>
            <a:off x="137160" y="1949829"/>
            <a:ext cx="3971765" cy="476554"/>
            <a:chOff x="3749845" y="901756"/>
            <a:chExt cx="2664395" cy="666098"/>
          </a:xfrm>
        </p:grpSpPr>
        <p:sp>
          <p:nvSpPr>
            <p:cNvPr id="15" name="Rectangle: Rounded Corners 14">
              <a:extLst>
                <a:ext uri="{FF2B5EF4-FFF2-40B4-BE49-F238E27FC236}">
                  <a16:creationId xmlns:a16="http://schemas.microsoft.com/office/drawing/2014/main" id="{3EDA9610-8748-E4C4-F00A-BB53651095E7}"/>
                </a:ext>
              </a:extLst>
            </p:cNvPr>
            <p:cNvSpPr/>
            <p:nvPr/>
          </p:nvSpPr>
          <p:spPr>
            <a:xfrm>
              <a:off x="3749845" y="901756"/>
              <a:ext cx="2664395" cy="666098"/>
            </a:xfrm>
            <a:prstGeom prst="roundRect">
              <a:avLst>
                <a:gd name="adj" fmla="val 10000"/>
              </a:avLst>
            </a:prstGeom>
            <a:solidFill>
              <a:srgbClr val="D6E1F1"/>
            </a:solidFill>
          </p:spPr>
          <p:style>
            <a:lnRef idx="1">
              <a:schemeClr val="accent5">
                <a:tint val="40000"/>
                <a:alpha val="90000"/>
                <a:hueOff val="-1797270"/>
                <a:satOff val="-6089"/>
                <a:lumOff val="-781"/>
                <a:alphaOff val="0"/>
              </a:schemeClr>
            </a:lnRef>
            <a:fillRef idx="1">
              <a:scrgbClr r="0" g="0" b="0"/>
            </a:fillRef>
            <a:effectRef idx="0">
              <a:schemeClr val="accent5">
                <a:tint val="40000"/>
                <a:alpha val="90000"/>
                <a:hueOff val="-1797270"/>
                <a:satOff val="-6089"/>
                <a:lumOff val="-781"/>
                <a:alphaOff val="0"/>
              </a:schemeClr>
            </a:effectRef>
            <a:fontRef idx="minor">
              <a:schemeClr val="dk1">
                <a:hueOff val="0"/>
                <a:satOff val="0"/>
                <a:lumOff val="0"/>
                <a:alphaOff val="0"/>
              </a:schemeClr>
            </a:fontRef>
          </p:style>
          <p:txBody>
            <a:bodyPr/>
            <a:lstStyle/>
            <a:p>
              <a:endParaRPr lang="en-US"/>
            </a:p>
          </p:txBody>
        </p:sp>
        <p:sp>
          <p:nvSpPr>
            <p:cNvPr id="16" name="Rectangle: Rounded Corners 6">
              <a:extLst>
                <a:ext uri="{FF2B5EF4-FFF2-40B4-BE49-F238E27FC236}">
                  <a16:creationId xmlns:a16="http://schemas.microsoft.com/office/drawing/2014/main" id="{2DC191BB-2DE2-B21B-817B-9A6598EA9FA7}"/>
                </a:ext>
              </a:extLst>
            </p:cNvPr>
            <p:cNvSpPr txBox="1"/>
            <p:nvPr/>
          </p:nvSpPr>
          <p:spPr>
            <a:xfrm>
              <a:off x="3769354" y="921265"/>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Extended Security with OAuth Authentication</a:t>
              </a:r>
            </a:p>
          </p:txBody>
        </p:sp>
      </p:grpSp>
      <p:grpSp>
        <p:nvGrpSpPr>
          <p:cNvPr id="6" name="Group 5">
            <a:extLst>
              <a:ext uri="{FF2B5EF4-FFF2-40B4-BE49-F238E27FC236}">
                <a16:creationId xmlns:a16="http://schemas.microsoft.com/office/drawing/2014/main" id="{090401A5-999A-D81D-E901-EBBEABCD2269}"/>
              </a:ext>
            </a:extLst>
          </p:cNvPr>
          <p:cNvGrpSpPr/>
          <p:nvPr/>
        </p:nvGrpSpPr>
        <p:grpSpPr>
          <a:xfrm>
            <a:off x="137159" y="2595427"/>
            <a:ext cx="3971765" cy="476554"/>
            <a:chOff x="3749845" y="1800989"/>
            <a:chExt cx="2664395" cy="666098"/>
          </a:xfrm>
        </p:grpSpPr>
        <p:sp>
          <p:nvSpPr>
            <p:cNvPr id="13" name="Rectangle: Rounded Corners 12">
              <a:extLst>
                <a:ext uri="{FF2B5EF4-FFF2-40B4-BE49-F238E27FC236}">
                  <a16:creationId xmlns:a16="http://schemas.microsoft.com/office/drawing/2014/main" id="{94D37573-8997-5CF6-1C3C-9DB7C2B6091E}"/>
                </a:ext>
              </a:extLst>
            </p:cNvPr>
            <p:cNvSpPr/>
            <p:nvPr/>
          </p:nvSpPr>
          <p:spPr>
            <a:xfrm>
              <a:off x="3749845" y="1800989"/>
              <a:ext cx="2664395" cy="666098"/>
            </a:xfrm>
            <a:prstGeom prst="roundRect">
              <a:avLst>
                <a:gd name="adj" fmla="val 10000"/>
              </a:avLst>
            </a:prstGeom>
            <a:solidFill>
              <a:srgbClr val="D6E1F1">
                <a:alpha val="90000"/>
              </a:srgbClr>
            </a:solidFill>
          </p:spPr>
          <p:style>
            <a:lnRef idx="1">
              <a:schemeClr val="accent5">
                <a:tint val="40000"/>
                <a:alpha val="90000"/>
                <a:hueOff val="-2246587"/>
                <a:satOff val="-7611"/>
                <a:lumOff val="-976"/>
                <a:alphaOff val="0"/>
              </a:schemeClr>
            </a:lnRef>
            <a:fillRef idx="1">
              <a:scrgbClr r="0" g="0" b="0"/>
            </a:fillRef>
            <a:effectRef idx="0">
              <a:schemeClr val="accent5">
                <a:tint val="40000"/>
                <a:alpha val="90000"/>
                <a:hueOff val="-2246587"/>
                <a:satOff val="-7611"/>
                <a:lumOff val="-976"/>
                <a:alphaOff val="0"/>
              </a:schemeClr>
            </a:effectRef>
            <a:fontRef idx="minor">
              <a:schemeClr val="dk1">
                <a:hueOff val="0"/>
                <a:satOff val="0"/>
                <a:lumOff val="0"/>
                <a:alphaOff val="0"/>
              </a:schemeClr>
            </a:fontRef>
          </p:style>
          <p:txBody>
            <a:bodyPr/>
            <a:lstStyle/>
            <a:p>
              <a:endParaRPr lang="en-US"/>
            </a:p>
          </p:txBody>
        </p:sp>
        <p:sp>
          <p:nvSpPr>
            <p:cNvPr id="14" name="Rectangle: Rounded Corners 8">
              <a:extLst>
                <a:ext uri="{FF2B5EF4-FFF2-40B4-BE49-F238E27FC236}">
                  <a16:creationId xmlns:a16="http://schemas.microsoft.com/office/drawing/2014/main" id="{A511F994-DE68-304B-FC0F-CEADBE25F457}"/>
                </a:ext>
              </a:extLst>
            </p:cNvPr>
            <p:cNvSpPr txBox="1"/>
            <p:nvPr/>
          </p:nvSpPr>
          <p:spPr>
            <a:xfrm>
              <a:off x="3769354" y="1820498"/>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dirty="0"/>
                <a:t>IP whitelisting</a:t>
              </a:r>
              <a:endParaRPr lang="en-US" sz="1400" kern="1200" dirty="0"/>
            </a:p>
          </p:txBody>
        </p:sp>
      </p:grpSp>
      <p:grpSp>
        <p:nvGrpSpPr>
          <p:cNvPr id="7" name="Group 6">
            <a:extLst>
              <a:ext uri="{FF2B5EF4-FFF2-40B4-BE49-F238E27FC236}">
                <a16:creationId xmlns:a16="http://schemas.microsoft.com/office/drawing/2014/main" id="{18FE38B0-F70C-C87E-AC34-CB0E95C1110F}"/>
              </a:ext>
            </a:extLst>
          </p:cNvPr>
          <p:cNvGrpSpPr/>
          <p:nvPr/>
        </p:nvGrpSpPr>
        <p:grpSpPr>
          <a:xfrm>
            <a:off x="137158" y="3309466"/>
            <a:ext cx="3971765" cy="476554"/>
            <a:chOff x="3749845" y="2700223"/>
            <a:chExt cx="2664395" cy="666098"/>
          </a:xfrm>
        </p:grpSpPr>
        <p:sp>
          <p:nvSpPr>
            <p:cNvPr id="11" name="Rectangle: Rounded Corners 10">
              <a:extLst>
                <a:ext uri="{FF2B5EF4-FFF2-40B4-BE49-F238E27FC236}">
                  <a16:creationId xmlns:a16="http://schemas.microsoft.com/office/drawing/2014/main" id="{7759BB39-3302-435D-EEA3-20E09867CA0A}"/>
                </a:ext>
              </a:extLst>
            </p:cNvPr>
            <p:cNvSpPr/>
            <p:nvPr/>
          </p:nvSpPr>
          <p:spPr>
            <a:xfrm>
              <a:off x="3749845" y="2700223"/>
              <a:ext cx="2664395" cy="666098"/>
            </a:xfrm>
            <a:prstGeom prst="roundRect">
              <a:avLst>
                <a:gd name="adj" fmla="val 10000"/>
              </a:avLst>
            </a:prstGeom>
            <a:solidFill>
              <a:srgbClr val="D6E1F1">
                <a:alpha val="90000"/>
              </a:srgbClr>
            </a:solidFill>
          </p:spPr>
          <p:style>
            <a:lnRef idx="1">
              <a:schemeClr val="accent5">
                <a:tint val="40000"/>
                <a:alpha val="90000"/>
                <a:hueOff val="-2695905"/>
                <a:satOff val="-9133"/>
                <a:lumOff val="-1171"/>
                <a:alphaOff val="0"/>
              </a:schemeClr>
            </a:lnRef>
            <a:fillRef idx="1">
              <a:scrgbClr r="0" g="0" b="0"/>
            </a:fillRef>
            <a:effectRef idx="0">
              <a:schemeClr val="accent5">
                <a:tint val="40000"/>
                <a:alpha val="90000"/>
                <a:hueOff val="-2695905"/>
                <a:satOff val="-9133"/>
                <a:lumOff val="-1171"/>
                <a:alphaOff val="0"/>
              </a:schemeClr>
            </a:effectRef>
            <a:fontRef idx="minor">
              <a:schemeClr val="dk1">
                <a:hueOff val="0"/>
                <a:satOff val="0"/>
                <a:lumOff val="0"/>
                <a:alphaOff val="0"/>
              </a:schemeClr>
            </a:fontRef>
          </p:style>
          <p:txBody>
            <a:bodyPr/>
            <a:lstStyle/>
            <a:p>
              <a:endParaRPr lang="en-US"/>
            </a:p>
          </p:txBody>
        </p:sp>
        <p:sp>
          <p:nvSpPr>
            <p:cNvPr id="12" name="Rectangle: Rounded Corners 10">
              <a:extLst>
                <a:ext uri="{FF2B5EF4-FFF2-40B4-BE49-F238E27FC236}">
                  <a16:creationId xmlns:a16="http://schemas.microsoft.com/office/drawing/2014/main" id="{8C0DC403-FF6F-7DE0-4936-91850F52AF16}"/>
                </a:ext>
              </a:extLst>
            </p:cNvPr>
            <p:cNvSpPr txBox="1"/>
            <p:nvPr/>
          </p:nvSpPr>
          <p:spPr>
            <a:xfrm>
              <a:off x="3769354" y="2719732"/>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Client Id Enforcement</a:t>
              </a:r>
            </a:p>
          </p:txBody>
        </p:sp>
      </p:grpSp>
      <p:grpSp>
        <p:nvGrpSpPr>
          <p:cNvPr id="8" name="Group 7">
            <a:extLst>
              <a:ext uri="{FF2B5EF4-FFF2-40B4-BE49-F238E27FC236}">
                <a16:creationId xmlns:a16="http://schemas.microsoft.com/office/drawing/2014/main" id="{B87A2004-0384-924E-A84C-98D3A9D29B4A}"/>
              </a:ext>
            </a:extLst>
          </p:cNvPr>
          <p:cNvGrpSpPr/>
          <p:nvPr/>
        </p:nvGrpSpPr>
        <p:grpSpPr>
          <a:xfrm>
            <a:off x="108077" y="4081399"/>
            <a:ext cx="3971765" cy="476554"/>
            <a:chOff x="3749845" y="3599456"/>
            <a:chExt cx="2664395" cy="666098"/>
          </a:xfrm>
        </p:grpSpPr>
        <p:sp>
          <p:nvSpPr>
            <p:cNvPr id="9" name="Rectangle: Rounded Corners 8">
              <a:extLst>
                <a:ext uri="{FF2B5EF4-FFF2-40B4-BE49-F238E27FC236}">
                  <a16:creationId xmlns:a16="http://schemas.microsoft.com/office/drawing/2014/main" id="{B2A37A4A-DEBE-6C6E-77C0-CC7CC3DC1D06}"/>
                </a:ext>
              </a:extLst>
            </p:cNvPr>
            <p:cNvSpPr/>
            <p:nvPr/>
          </p:nvSpPr>
          <p:spPr>
            <a:xfrm>
              <a:off x="3749845" y="3599456"/>
              <a:ext cx="2664395" cy="666098"/>
            </a:xfrm>
            <a:prstGeom prst="roundRect">
              <a:avLst>
                <a:gd name="adj" fmla="val 10000"/>
              </a:avLst>
            </a:prstGeom>
            <a:solidFill>
              <a:srgbClr val="D6E1F1">
                <a:alpha val="90000"/>
              </a:srgbClr>
            </a:solidFill>
          </p:spPr>
          <p:style>
            <a:lnRef idx="1">
              <a:schemeClr val="accent5">
                <a:tint val="40000"/>
                <a:alpha val="90000"/>
                <a:hueOff val="-3145222"/>
                <a:satOff val="-10655"/>
                <a:lumOff val="-1366"/>
                <a:alphaOff val="0"/>
              </a:schemeClr>
            </a:lnRef>
            <a:fillRef idx="1">
              <a:scrgbClr r="0" g="0" b="0"/>
            </a:fillRef>
            <a:effectRef idx="0">
              <a:schemeClr val="accent5">
                <a:tint val="40000"/>
                <a:alpha val="90000"/>
                <a:hueOff val="-3145222"/>
                <a:satOff val="-10655"/>
                <a:lumOff val="-1366"/>
                <a:alphaOff val="0"/>
              </a:schemeClr>
            </a:effectRef>
            <a:fontRef idx="minor">
              <a:schemeClr val="dk1">
                <a:hueOff val="0"/>
                <a:satOff val="0"/>
                <a:lumOff val="0"/>
                <a:alphaOff val="0"/>
              </a:schemeClr>
            </a:fontRef>
          </p:style>
          <p:txBody>
            <a:bodyPr/>
            <a:lstStyle/>
            <a:p>
              <a:endParaRPr lang="en-US"/>
            </a:p>
          </p:txBody>
        </p:sp>
        <p:sp>
          <p:nvSpPr>
            <p:cNvPr id="10" name="Rectangle: Rounded Corners 12">
              <a:extLst>
                <a:ext uri="{FF2B5EF4-FFF2-40B4-BE49-F238E27FC236}">
                  <a16:creationId xmlns:a16="http://schemas.microsoft.com/office/drawing/2014/main" id="{05F7429D-E735-41C7-15BE-7304D9400CF9}"/>
                </a:ext>
              </a:extLst>
            </p:cNvPr>
            <p:cNvSpPr txBox="1"/>
            <p:nvPr/>
          </p:nvSpPr>
          <p:spPr>
            <a:xfrm>
              <a:off x="3769354" y="3618965"/>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dirty="0"/>
                <a:t>Encryption and Decryption</a:t>
              </a:r>
              <a:endParaRPr lang="en-US" sz="1400" kern="1200" dirty="0"/>
            </a:p>
          </p:txBody>
        </p:sp>
      </p:grpSp>
      <p:grpSp>
        <p:nvGrpSpPr>
          <p:cNvPr id="21" name="Group 20">
            <a:extLst>
              <a:ext uri="{FF2B5EF4-FFF2-40B4-BE49-F238E27FC236}">
                <a16:creationId xmlns:a16="http://schemas.microsoft.com/office/drawing/2014/main" id="{EB6401F0-B0A4-9BE7-EAAC-0CD2EF7453D5}"/>
              </a:ext>
            </a:extLst>
          </p:cNvPr>
          <p:cNvGrpSpPr/>
          <p:nvPr/>
        </p:nvGrpSpPr>
        <p:grpSpPr>
          <a:xfrm>
            <a:off x="108077" y="4805738"/>
            <a:ext cx="3971765" cy="476554"/>
            <a:chOff x="3749845" y="3599456"/>
            <a:chExt cx="2664395" cy="666098"/>
          </a:xfrm>
        </p:grpSpPr>
        <p:sp>
          <p:nvSpPr>
            <p:cNvPr id="22" name="Rectangle: Rounded Corners 21">
              <a:extLst>
                <a:ext uri="{FF2B5EF4-FFF2-40B4-BE49-F238E27FC236}">
                  <a16:creationId xmlns:a16="http://schemas.microsoft.com/office/drawing/2014/main" id="{9C2D5C72-C68A-C75F-63E7-F77C82B316D4}"/>
                </a:ext>
              </a:extLst>
            </p:cNvPr>
            <p:cNvSpPr/>
            <p:nvPr/>
          </p:nvSpPr>
          <p:spPr>
            <a:xfrm>
              <a:off x="3749845" y="3599456"/>
              <a:ext cx="2664395" cy="666098"/>
            </a:xfrm>
            <a:prstGeom prst="roundRect">
              <a:avLst>
                <a:gd name="adj" fmla="val 10000"/>
              </a:avLst>
            </a:prstGeom>
            <a:solidFill>
              <a:srgbClr val="D6E1F1">
                <a:alpha val="90000"/>
              </a:srgbClr>
            </a:solidFill>
          </p:spPr>
          <p:style>
            <a:lnRef idx="1">
              <a:schemeClr val="accent5">
                <a:tint val="40000"/>
                <a:alpha val="90000"/>
                <a:hueOff val="-3145222"/>
                <a:satOff val="-10655"/>
                <a:lumOff val="-1366"/>
                <a:alphaOff val="0"/>
              </a:schemeClr>
            </a:lnRef>
            <a:fillRef idx="1">
              <a:scrgbClr r="0" g="0" b="0"/>
            </a:fillRef>
            <a:effectRef idx="0">
              <a:schemeClr val="accent5">
                <a:tint val="40000"/>
                <a:alpha val="90000"/>
                <a:hueOff val="-3145222"/>
                <a:satOff val="-10655"/>
                <a:lumOff val="-1366"/>
                <a:alphaOff val="0"/>
              </a:schemeClr>
            </a:effectRef>
            <a:fontRef idx="minor">
              <a:schemeClr val="dk1">
                <a:hueOff val="0"/>
                <a:satOff val="0"/>
                <a:lumOff val="0"/>
                <a:alphaOff val="0"/>
              </a:schemeClr>
            </a:fontRef>
          </p:style>
          <p:txBody>
            <a:bodyPr/>
            <a:lstStyle/>
            <a:p>
              <a:endParaRPr lang="en-US"/>
            </a:p>
          </p:txBody>
        </p:sp>
        <p:sp>
          <p:nvSpPr>
            <p:cNvPr id="23" name="Rectangle: Rounded Corners 12">
              <a:extLst>
                <a:ext uri="{FF2B5EF4-FFF2-40B4-BE49-F238E27FC236}">
                  <a16:creationId xmlns:a16="http://schemas.microsoft.com/office/drawing/2014/main" id="{34ED0DDF-E8DF-15CD-5CAD-9BBC3BD27AD4}"/>
                </a:ext>
              </a:extLst>
            </p:cNvPr>
            <p:cNvSpPr txBox="1"/>
            <p:nvPr/>
          </p:nvSpPr>
          <p:spPr>
            <a:xfrm>
              <a:off x="3769354" y="3618965"/>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Schema Validation</a:t>
              </a:r>
            </a:p>
          </p:txBody>
        </p:sp>
      </p:grpSp>
      <p:grpSp>
        <p:nvGrpSpPr>
          <p:cNvPr id="24" name="Group 23">
            <a:extLst>
              <a:ext uri="{FF2B5EF4-FFF2-40B4-BE49-F238E27FC236}">
                <a16:creationId xmlns:a16="http://schemas.microsoft.com/office/drawing/2014/main" id="{B367AAC4-57FA-1267-6CC8-FB75D8AB3953}"/>
              </a:ext>
            </a:extLst>
          </p:cNvPr>
          <p:cNvGrpSpPr/>
          <p:nvPr/>
        </p:nvGrpSpPr>
        <p:grpSpPr>
          <a:xfrm>
            <a:off x="108076" y="5530077"/>
            <a:ext cx="3971765" cy="476554"/>
            <a:chOff x="3749845" y="3599456"/>
            <a:chExt cx="2664395" cy="666098"/>
          </a:xfrm>
        </p:grpSpPr>
        <p:sp>
          <p:nvSpPr>
            <p:cNvPr id="25" name="Rectangle: Rounded Corners 24">
              <a:extLst>
                <a:ext uri="{FF2B5EF4-FFF2-40B4-BE49-F238E27FC236}">
                  <a16:creationId xmlns:a16="http://schemas.microsoft.com/office/drawing/2014/main" id="{4D601A70-EDD5-0B4D-C775-8C2644BCE766}"/>
                </a:ext>
              </a:extLst>
            </p:cNvPr>
            <p:cNvSpPr/>
            <p:nvPr/>
          </p:nvSpPr>
          <p:spPr>
            <a:xfrm>
              <a:off x="3749845" y="3599456"/>
              <a:ext cx="2664395" cy="666098"/>
            </a:xfrm>
            <a:prstGeom prst="roundRect">
              <a:avLst>
                <a:gd name="adj" fmla="val 10000"/>
              </a:avLst>
            </a:prstGeom>
            <a:solidFill>
              <a:srgbClr val="D6E1F1">
                <a:alpha val="90000"/>
              </a:srgbClr>
            </a:solidFill>
          </p:spPr>
          <p:style>
            <a:lnRef idx="1">
              <a:schemeClr val="accent5">
                <a:tint val="40000"/>
                <a:alpha val="90000"/>
                <a:hueOff val="-3145222"/>
                <a:satOff val="-10655"/>
                <a:lumOff val="-1366"/>
                <a:alphaOff val="0"/>
              </a:schemeClr>
            </a:lnRef>
            <a:fillRef idx="1">
              <a:scrgbClr r="0" g="0" b="0"/>
            </a:fillRef>
            <a:effectRef idx="0">
              <a:schemeClr val="accent5">
                <a:tint val="40000"/>
                <a:alpha val="90000"/>
                <a:hueOff val="-3145222"/>
                <a:satOff val="-10655"/>
                <a:lumOff val="-1366"/>
                <a:alphaOff val="0"/>
              </a:schemeClr>
            </a:effectRef>
            <a:fontRef idx="minor">
              <a:schemeClr val="dk1">
                <a:hueOff val="0"/>
                <a:satOff val="0"/>
                <a:lumOff val="0"/>
                <a:alphaOff val="0"/>
              </a:schemeClr>
            </a:fontRef>
          </p:style>
          <p:txBody>
            <a:bodyPr/>
            <a:lstStyle/>
            <a:p>
              <a:endParaRPr lang="en-US"/>
            </a:p>
          </p:txBody>
        </p:sp>
        <p:sp>
          <p:nvSpPr>
            <p:cNvPr id="26" name="Rectangle: Rounded Corners 12">
              <a:extLst>
                <a:ext uri="{FF2B5EF4-FFF2-40B4-BE49-F238E27FC236}">
                  <a16:creationId xmlns:a16="http://schemas.microsoft.com/office/drawing/2014/main" id="{16744E83-F794-93CA-D877-6A94B4D284CD}"/>
                </a:ext>
              </a:extLst>
            </p:cNvPr>
            <p:cNvSpPr txBox="1"/>
            <p:nvPr/>
          </p:nvSpPr>
          <p:spPr>
            <a:xfrm>
              <a:off x="3769354" y="3618965"/>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Rate Limiting</a:t>
              </a:r>
            </a:p>
          </p:txBody>
        </p:sp>
      </p:grpSp>
      <p:grpSp>
        <p:nvGrpSpPr>
          <p:cNvPr id="27" name="Group 26">
            <a:extLst>
              <a:ext uri="{FF2B5EF4-FFF2-40B4-BE49-F238E27FC236}">
                <a16:creationId xmlns:a16="http://schemas.microsoft.com/office/drawing/2014/main" id="{CA10203F-CB7C-3F28-A29C-EF04D77D6165}"/>
              </a:ext>
            </a:extLst>
          </p:cNvPr>
          <p:cNvGrpSpPr/>
          <p:nvPr/>
        </p:nvGrpSpPr>
        <p:grpSpPr>
          <a:xfrm>
            <a:off x="4395216" y="1935872"/>
            <a:ext cx="7455408" cy="476554"/>
            <a:chOff x="3749845" y="901756"/>
            <a:chExt cx="2664395" cy="666098"/>
          </a:xfrm>
        </p:grpSpPr>
        <p:sp>
          <p:nvSpPr>
            <p:cNvPr id="28" name="Rectangle: Rounded Corners 27">
              <a:extLst>
                <a:ext uri="{FF2B5EF4-FFF2-40B4-BE49-F238E27FC236}">
                  <a16:creationId xmlns:a16="http://schemas.microsoft.com/office/drawing/2014/main" id="{358FB6CC-988D-2447-2144-4ED0D8139FE9}"/>
                </a:ext>
              </a:extLst>
            </p:cNvPr>
            <p:cNvSpPr/>
            <p:nvPr/>
          </p:nvSpPr>
          <p:spPr>
            <a:xfrm>
              <a:off x="3749845" y="901756"/>
              <a:ext cx="2664395" cy="666098"/>
            </a:xfrm>
            <a:prstGeom prst="roundRect">
              <a:avLst>
                <a:gd name="adj" fmla="val 10000"/>
              </a:avLst>
            </a:prstGeom>
            <a:solidFill>
              <a:srgbClr val="D6E1F1"/>
            </a:solidFill>
          </p:spPr>
          <p:style>
            <a:lnRef idx="1">
              <a:schemeClr val="accent5">
                <a:tint val="40000"/>
                <a:alpha val="90000"/>
                <a:hueOff val="-1797270"/>
                <a:satOff val="-6089"/>
                <a:lumOff val="-781"/>
                <a:alphaOff val="0"/>
              </a:schemeClr>
            </a:lnRef>
            <a:fillRef idx="1">
              <a:scrgbClr r="0" g="0" b="0"/>
            </a:fillRef>
            <a:effectRef idx="0">
              <a:schemeClr val="accent5">
                <a:tint val="40000"/>
                <a:alpha val="90000"/>
                <a:hueOff val="-1797270"/>
                <a:satOff val="-6089"/>
                <a:lumOff val="-781"/>
                <a:alphaOff val="0"/>
              </a:schemeClr>
            </a:effectRef>
            <a:fontRef idx="minor">
              <a:schemeClr val="dk1">
                <a:hueOff val="0"/>
                <a:satOff val="0"/>
                <a:lumOff val="0"/>
                <a:alphaOff val="0"/>
              </a:schemeClr>
            </a:fontRef>
          </p:style>
          <p:txBody>
            <a:bodyPr/>
            <a:lstStyle/>
            <a:p>
              <a:pPr algn="ctr"/>
              <a:endParaRPr lang="en-US"/>
            </a:p>
          </p:txBody>
        </p:sp>
        <p:sp>
          <p:nvSpPr>
            <p:cNvPr id="29" name="Rectangle: Rounded Corners 6">
              <a:extLst>
                <a:ext uri="{FF2B5EF4-FFF2-40B4-BE49-F238E27FC236}">
                  <a16:creationId xmlns:a16="http://schemas.microsoft.com/office/drawing/2014/main" id="{9593800C-2766-FB9D-F351-455844B23F96}"/>
                </a:ext>
              </a:extLst>
            </p:cNvPr>
            <p:cNvSpPr txBox="1"/>
            <p:nvPr/>
          </p:nvSpPr>
          <p:spPr>
            <a:xfrm>
              <a:off x="3769354" y="921265"/>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dirty="0"/>
                <a:t>Enhanced trust and compliance by securing APIs with OAuth authentication, protecting sensitive data and ensuring only authorized access</a:t>
              </a:r>
              <a:endParaRPr lang="en-US" sz="1400" kern="1200" dirty="0"/>
            </a:p>
          </p:txBody>
        </p:sp>
      </p:grpSp>
      <p:grpSp>
        <p:nvGrpSpPr>
          <p:cNvPr id="30" name="Group 29">
            <a:extLst>
              <a:ext uri="{FF2B5EF4-FFF2-40B4-BE49-F238E27FC236}">
                <a16:creationId xmlns:a16="http://schemas.microsoft.com/office/drawing/2014/main" id="{B2D3E5E4-74D8-0345-5617-7118BA828C0D}"/>
              </a:ext>
            </a:extLst>
          </p:cNvPr>
          <p:cNvGrpSpPr/>
          <p:nvPr/>
        </p:nvGrpSpPr>
        <p:grpSpPr>
          <a:xfrm>
            <a:off x="4449805" y="2609385"/>
            <a:ext cx="7455408" cy="476554"/>
            <a:chOff x="3749845" y="901756"/>
            <a:chExt cx="2664395" cy="666098"/>
          </a:xfrm>
        </p:grpSpPr>
        <p:sp>
          <p:nvSpPr>
            <p:cNvPr id="31" name="Rectangle: Rounded Corners 30">
              <a:extLst>
                <a:ext uri="{FF2B5EF4-FFF2-40B4-BE49-F238E27FC236}">
                  <a16:creationId xmlns:a16="http://schemas.microsoft.com/office/drawing/2014/main" id="{37C1B652-D232-BD69-0133-BFE4C14B988A}"/>
                </a:ext>
              </a:extLst>
            </p:cNvPr>
            <p:cNvSpPr/>
            <p:nvPr/>
          </p:nvSpPr>
          <p:spPr>
            <a:xfrm>
              <a:off x="3749845" y="901756"/>
              <a:ext cx="2664395" cy="666098"/>
            </a:xfrm>
            <a:prstGeom prst="roundRect">
              <a:avLst>
                <a:gd name="adj" fmla="val 10000"/>
              </a:avLst>
            </a:prstGeom>
            <a:solidFill>
              <a:srgbClr val="D6E1F1"/>
            </a:solidFill>
          </p:spPr>
          <p:style>
            <a:lnRef idx="1">
              <a:schemeClr val="accent5">
                <a:tint val="40000"/>
                <a:alpha val="90000"/>
                <a:hueOff val="-1797270"/>
                <a:satOff val="-6089"/>
                <a:lumOff val="-781"/>
                <a:alphaOff val="0"/>
              </a:schemeClr>
            </a:lnRef>
            <a:fillRef idx="1">
              <a:scrgbClr r="0" g="0" b="0"/>
            </a:fillRef>
            <a:effectRef idx="0">
              <a:schemeClr val="accent5">
                <a:tint val="40000"/>
                <a:alpha val="90000"/>
                <a:hueOff val="-1797270"/>
                <a:satOff val="-6089"/>
                <a:lumOff val="-781"/>
                <a:alphaOff val="0"/>
              </a:schemeClr>
            </a:effectRef>
            <a:fontRef idx="minor">
              <a:schemeClr val="dk1">
                <a:hueOff val="0"/>
                <a:satOff val="0"/>
                <a:lumOff val="0"/>
                <a:alphaOff val="0"/>
              </a:schemeClr>
            </a:fontRef>
          </p:style>
          <p:txBody>
            <a:bodyPr/>
            <a:lstStyle/>
            <a:p>
              <a:pPr algn="ctr"/>
              <a:endParaRPr lang="en-US"/>
            </a:p>
          </p:txBody>
        </p:sp>
        <p:sp>
          <p:nvSpPr>
            <p:cNvPr id="32" name="Rectangle: Rounded Corners 6">
              <a:extLst>
                <a:ext uri="{FF2B5EF4-FFF2-40B4-BE49-F238E27FC236}">
                  <a16:creationId xmlns:a16="http://schemas.microsoft.com/office/drawing/2014/main" id="{00E5395D-5F00-E6DE-7202-5A1472562C09}"/>
                </a:ext>
              </a:extLst>
            </p:cNvPr>
            <p:cNvSpPr txBox="1"/>
            <p:nvPr/>
          </p:nvSpPr>
          <p:spPr>
            <a:xfrm>
              <a:off x="3769354" y="921265"/>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dirty="0"/>
                <a:t>Strengthened API security by allowing access only from trusted and pre-approved IP addresses</a:t>
              </a:r>
              <a:endParaRPr lang="en-US" sz="1400" kern="1200" dirty="0"/>
            </a:p>
          </p:txBody>
        </p:sp>
      </p:grpSp>
      <p:grpSp>
        <p:nvGrpSpPr>
          <p:cNvPr id="36" name="Group 35">
            <a:extLst>
              <a:ext uri="{FF2B5EF4-FFF2-40B4-BE49-F238E27FC236}">
                <a16:creationId xmlns:a16="http://schemas.microsoft.com/office/drawing/2014/main" id="{D562117D-7FCF-FE73-31C8-D1C71D7C39BA}"/>
              </a:ext>
            </a:extLst>
          </p:cNvPr>
          <p:cNvGrpSpPr/>
          <p:nvPr/>
        </p:nvGrpSpPr>
        <p:grpSpPr>
          <a:xfrm>
            <a:off x="4449805" y="3323424"/>
            <a:ext cx="7455408" cy="476554"/>
            <a:chOff x="3749845" y="901756"/>
            <a:chExt cx="2664395" cy="666098"/>
          </a:xfrm>
        </p:grpSpPr>
        <p:sp>
          <p:nvSpPr>
            <p:cNvPr id="37" name="Rectangle: Rounded Corners 36">
              <a:extLst>
                <a:ext uri="{FF2B5EF4-FFF2-40B4-BE49-F238E27FC236}">
                  <a16:creationId xmlns:a16="http://schemas.microsoft.com/office/drawing/2014/main" id="{D7521A4D-82B0-3A83-A440-11CBA2EE4CE9}"/>
                </a:ext>
              </a:extLst>
            </p:cNvPr>
            <p:cNvSpPr/>
            <p:nvPr/>
          </p:nvSpPr>
          <p:spPr>
            <a:xfrm>
              <a:off x="3749845" y="901756"/>
              <a:ext cx="2664395" cy="666098"/>
            </a:xfrm>
            <a:prstGeom prst="roundRect">
              <a:avLst>
                <a:gd name="adj" fmla="val 10000"/>
              </a:avLst>
            </a:prstGeom>
            <a:solidFill>
              <a:srgbClr val="D6E1F1"/>
            </a:solidFill>
          </p:spPr>
          <p:style>
            <a:lnRef idx="1">
              <a:schemeClr val="accent5">
                <a:tint val="40000"/>
                <a:alpha val="90000"/>
                <a:hueOff val="-1797270"/>
                <a:satOff val="-6089"/>
                <a:lumOff val="-781"/>
                <a:alphaOff val="0"/>
              </a:schemeClr>
            </a:lnRef>
            <a:fillRef idx="1">
              <a:scrgbClr r="0" g="0" b="0"/>
            </a:fillRef>
            <a:effectRef idx="0">
              <a:schemeClr val="accent5">
                <a:tint val="40000"/>
                <a:alpha val="90000"/>
                <a:hueOff val="-1797270"/>
                <a:satOff val="-6089"/>
                <a:lumOff val="-781"/>
                <a:alphaOff val="0"/>
              </a:schemeClr>
            </a:effectRef>
            <a:fontRef idx="minor">
              <a:schemeClr val="dk1">
                <a:hueOff val="0"/>
                <a:satOff val="0"/>
                <a:lumOff val="0"/>
                <a:alphaOff val="0"/>
              </a:schemeClr>
            </a:fontRef>
          </p:style>
          <p:txBody>
            <a:bodyPr/>
            <a:lstStyle/>
            <a:p>
              <a:pPr algn="ctr"/>
              <a:endParaRPr lang="en-US"/>
            </a:p>
          </p:txBody>
        </p:sp>
        <p:sp>
          <p:nvSpPr>
            <p:cNvPr id="38" name="Rectangle: Rounded Corners 6">
              <a:extLst>
                <a:ext uri="{FF2B5EF4-FFF2-40B4-BE49-F238E27FC236}">
                  <a16:creationId xmlns:a16="http://schemas.microsoft.com/office/drawing/2014/main" id="{BC3A4F49-49A2-AE3C-C858-64A246BDF797}"/>
                </a:ext>
              </a:extLst>
            </p:cNvPr>
            <p:cNvSpPr txBox="1"/>
            <p:nvPr/>
          </p:nvSpPr>
          <p:spPr>
            <a:xfrm>
              <a:off x="3769354" y="921265"/>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dirty="0"/>
                <a:t>Secured API access by validating requests through unique client ID and secret credentials, generated by the platform.</a:t>
              </a:r>
              <a:endParaRPr lang="en-US" sz="1400" kern="1200" dirty="0"/>
            </a:p>
          </p:txBody>
        </p:sp>
      </p:grpSp>
      <p:grpSp>
        <p:nvGrpSpPr>
          <p:cNvPr id="39" name="Group 38">
            <a:extLst>
              <a:ext uri="{FF2B5EF4-FFF2-40B4-BE49-F238E27FC236}">
                <a16:creationId xmlns:a16="http://schemas.microsoft.com/office/drawing/2014/main" id="{79B764E8-42F1-AFF8-4702-2F9ED955F539}"/>
              </a:ext>
            </a:extLst>
          </p:cNvPr>
          <p:cNvGrpSpPr/>
          <p:nvPr/>
        </p:nvGrpSpPr>
        <p:grpSpPr>
          <a:xfrm>
            <a:off x="4449804" y="4067442"/>
            <a:ext cx="7455408" cy="476554"/>
            <a:chOff x="3749845" y="901756"/>
            <a:chExt cx="2664395" cy="666098"/>
          </a:xfrm>
        </p:grpSpPr>
        <p:sp>
          <p:nvSpPr>
            <p:cNvPr id="40" name="Rectangle: Rounded Corners 39">
              <a:extLst>
                <a:ext uri="{FF2B5EF4-FFF2-40B4-BE49-F238E27FC236}">
                  <a16:creationId xmlns:a16="http://schemas.microsoft.com/office/drawing/2014/main" id="{B22D8B98-4377-855F-DC4A-0566825CE475}"/>
                </a:ext>
              </a:extLst>
            </p:cNvPr>
            <p:cNvSpPr/>
            <p:nvPr/>
          </p:nvSpPr>
          <p:spPr>
            <a:xfrm>
              <a:off x="3749845" y="901756"/>
              <a:ext cx="2664395" cy="666098"/>
            </a:xfrm>
            <a:prstGeom prst="roundRect">
              <a:avLst>
                <a:gd name="adj" fmla="val 10000"/>
              </a:avLst>
            </a:prstGeom>
            <a:solidFill>
              <a:srgbClr val="D6E1F1"/>
            </a:solidFill>
          </p:spPr>
          <p:style>
            <a:lnRef idx="1">
              <a:schemeClr val="accent5">
                <a:tint val="40000"/>
                <a:alpha val="90000"/>
                <a:hueOff val="-1797270"/>
                <a:satOff val="-6089"/>
                <a:lumOff val="-781"/>
                <a:alphaOff val="0"/>
              </a:schemeClr>
            </a:lnRef>
            <a:fillRef idx="1">
              <a:scrgbClr r="0" g="0" b="0"/>
            </a:fillRef>
            <a:effectRef idx="0">
              <a:schemeClr val="accent5">
                <a:tint val="40000"/>
                <a:alpha val="90000"/>
                <a:hueOff val="-1797270"/>
                <a:satOff val="-6089"/>
                <a:lumOff val="-781"/>
                <a:alphaOff val="0"/>
              </a:schemeClr>
            </a:effectRef>
            <a:fontRef idx="minor">
              <a:schemeClr val="dk1">
                <a:hueOff val="0"/>
                <a:satOff val="0"/>
                <a:lumOff val="0"/>
                <a:alphaOff val="0"/>
              </a:schemeClr>
            </a:fontRef>
          </p:style>
          <p:txBody>
            <a:bodyPr/>
            <a:lstStyle/>
            <a:p>
              <a:endParaRPr lang="en-US"/>
            </a:p>
          </p:txBody>
        </p:sp>
        <p:sp>
          <p:nvSpPr>
            <p:cNvPr id="41" name="Rectangle: Rounded Corners 6">
              <a:extLst>
                <a:ext uri="{FF2B5EF4-FFF2-40B4-BE49-F238E27FC236}">
                  <a16:creationId xmlns:a16="http://schemas.microsoft.com/office/drawing/2014/main" id="{D74049B0-6EB7-A2A4-DE2C-7D9A60256CBE}"/>
                </a:ext>
              </a:extLst>
            </p:cNvPr>
            <p:cNvSpPr txBox="1"/>
            <p:nvPr/>
          </p:nvSpPr>
          <p:spPr>
            <a:xfrm>
              <a:off x="3762916" y="921264"/>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dirty="0"/>
                <a:t>Protected sensitive data in transit robust encryption and decryption mechanisms. </a:t>
              </a:r>
              <a:r>
                <a:rPr lang="en-US" sz="1400" b="1" dirty="0"/>
                <a:t>AES/CBC/PKCS5Padding</a:t>
              </a:r>
              <a:r>
                <a:rPr lang="en-US" sz="1400" dirty="0"/>
                <a:t> cipher is used for symmetric encryption-decryption</a:t>
              </a:r>
              <a:endParaRPr lang="en-US" sz="1400" kern="1200" dirty="0"/>
            </a:p>
          </p:txBody>
        </p:sp>
      </p:grpSp>
      <p:grpSp>
        <p:nvGrpSpPr>
          <p:cNvPr id="42" name="Group 41">
            <a:extLst>
              <a:ext uri="{FF2B5EF4-FFF2-40B4-BE49-F238E27FC236}">
                <a16:creationId xmlns:a16="http://schemas.microsoft.com/office/drawing/2014/main" id="{E77AB9B7-3770-0D6B-480E-293A25864648}"/>
              </a:ext>
            </a:extLst>
          </p:cNvPr>
          <p:cNvGrpSpPr/>
          <p:nvPr/>
        </p:nvGrpSpPr>
        <p:grpSpPr>
          <a:xfrm>
            <a:off x="4449804" y="4819696"/>
            <a:ext cx="7455408" cy="476554"/>
            <a:chOff x="3749845" y="901756"/>
            <a:chExt cx="2664395" cy="666098"/>
          </a:xfrm>
        </p:grpSpPr>
        <p:sp>
          <p:nvSpPr>
            <p:cNvPr id="43" name="Rectangle: Rounded Corners 42">
              <a:extLst>
                <a:ext uri="{FF2B5EF4-FFF2-40B4-BE49-F238E27FC236}">
                  <a16:creationId xmlns:a16="http://schemas.microsoft.com/office/drawing/2014/main" id="{46DBD9D6-7683-0615-9742-9F0038B47391}"/>
                </a:ext>
              </a:extLst>
            </p:cNvPr>
            <p:cNvSpPr/>
            <p:nvPr/>
          </p:nvSpPr>
          <p:spPr>
            <a:xfrm>
              <a:off x="3749845" y="901756"/>
              <a:ext cx="2664395" cy="666098"/>
            </a:xfrm>
            <a:prstGeom prst="roundRect">
              <a:avLst>
                <a:gd name="adj" fmla="val 10000"/>
              </a:avLst>
            </a:prstGeom>
            <a:solidFill>
              <a:srgbClr val="D6E1F1"/>
            </a:solidFill>
          </p:spPr>
          <p:style>
            <a:lnRef idx="1">
              <a:schemeClr val="accent5">
                <a:tint val="40000"/>
                <a:alpha val="90000"/>
                <a:hueOff val="-1797270"/>
                <a:satOff val="-6089"/>
                <a:lumOff val="-781"/>
                <a:alphaOff val="0"/>
              </a:schemeClr>
            </a:lnRef>
            <a:fillRef idx="1">
              <a:scrgbClr r="0" g="0" b="0"/>
            </a:fillRef>
            <a:effectRef idx="0">
              <a:schemeClr val="accent5">
                <a:tint val="40000"/>
                <a:alpha val="90000"/>
                <a:hueOff val="-1797270"/>
                <a:satOff val="-6089"/>
                <a:lumOff val="-781"/>
                <a:alphaOff val="0"/>
              </a:schemeClr>
            </a:effectRef>
            <a:fontRef idx="minor">
              <a:schemeClr val="dk1">
                <a:hueOff val="0"/>
                <a:satOff val="0"/>
                <a:lumOff val="0"/>
                <a:alphaOff val="0"/>
              </a:schemeClr>
            </a:fontRef>
          </p:style>
          <p:txBody>
            <a:bodyPr/>
            <a:lstStyle/>
            <a:p>
              <a:endParaRPr lang="en-US"/>
            </a:p>
          </p:txBody>
        </p:sp>
        <p:sp>
          <p:nvSpPr>
            <p:cNvPr id="44" name="Rectangle: Rounded Corners 6">
              <a:extLst>
                <a:ext uri="{FF2B5EF4-FFF2-40B4-BE49-F238E27FC236}">
                  <a16:creationId xmlns:a16="http://schemas.microsoft.com/office/drawing/2014/main" id="{A59B8275-5544-DA73-1F1F-A84F84691EA1}"/>
                </a:ext>
              </a:extLst>
            </p:cNvPr>
            <p:cNvSpPr txBox="1"/>
            <p:nvPr/>
          </p:nvSpPr>
          <p:spPr>
            <a:xfrm>
              <a:off x="3769354" y="921265"/>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dirty="0"/>
                <a:t>Ensured data integrity and consistency by validating API requests and responses against predefined schemas</a:t>
              </a:r>
              <a:endParaRPr lang="en-US" sz="1400" kern="1200" dirty="0"/>
            </a:p>
          </p:txBody>
        </p:sp>
      </p:grpSp>
      <p:grpSp>
        <p:nvGrpSpPr>
          <p:cNvPr id="45" name="Group 44">
            <a:extLst>
              <a:ext uri="{FF2B5EF4-FFF2-40B4-BE49-F238E27FC236}">
                <a16:creationId xmlns:a16="http://schemas.microsoft.com/office/drawing/2014/main" id="{344C2A80-E218-1AAE-B077-EDAF09C9692B}"/>
              </a:ext>
            </a:extLst>
          </p:cNvPr>
          <p:cNvGrpSpPr/>
          <p:nvPr/>
        </p:nvGrpSpPr>
        <p:grpSpPr>
          <a:xfrm>
            <a:off x="4449804" y="5516120"/>
            <a:ext cx="7455408" cy="476554"/>
            <a:chOff x="3749845" y="901756"/>
            <a:chExt cx="2664395" cy="666098"/>
          </a:xfrm>
        </p:grpSpPr>
        <p:sp>
          <p:nvSpPr>
            <p:cNvPr id="46" name="Rectangle: Rounded Corners 45">
              <a:extLst>
                <a:ext uri="{FF2B5EF4-FFF2-40B4-BE49-F238E27FC236}">
                  <a16:creationId xmlns:a16="http://schemas.microsoft.com/office/drawing/2014/main" id="{5223E2C3-E121-6953-24B4-02EF1A27752B}"/>
                </a:ext>
              </a:extLst>
            </p:cNvPr>
            <p:cNvSpPr/>
            <p:nvPr/>
          </p:nvSpPr>
          <p:spPr>
            <a:xfrm>
              <a:off x="3749845" y="901756"/>
              <a:ext cx="2664395" cy="666098"/>
            </a:xfrm>
            <a:prstGeom prst="roundRect">
              <a:avLst>
                <a:gd name="adj" fmla="val 10000"/>
              </a:avLst>
            </a:prstGeom>
            <a:solidFill>
              <a:srgbClr val="D6E1F1"/>
            </a:solidFill>
          </p:spPr>
          <p:style>
            <a:lnRef idx="1">
              <a:schemeClr val="accent5">
                <a:tint val="40000"/>
                <a:alpha val="90000"/>
                <a:hueOff val="-1797270"/>
                <a:satOff val="-6089"/>
                <a:lumOff val="-781"/>
                <a:alphaOff val="0"/>
              </a:schemeClr>
            </a:lnRef>
            <a:fillRef idx="1">
              <a:scrgbClr r="0" g="0" b="0"/>
            </a:fillRef>
            <a:effectRef idx="0">
              <a:schemeClr val="accent5">
                <a:tint val="40000"/>
                <a:alpha val="90000"/>
                <a:hueOff val="-1797270"/>
                <a:satOff val="-6089"/>
                <a:lumOff val="-781"/>
                <a:alphaOff val="0"/>
              </a:schemeClr>
            </a:effectRef>
            <a:fontRef idx="minor">
              <a:schemeClr val="dk1">
                <a:hueOff val="0"/>
                <a:satOff val="0"/>
                <a:lumOff val="0"/>
                <a:alphaOff val="0"/>
              </a:schemeClr>
            </a:fontRef>
          </p:style>
          <p:txBody>
            <a:bodyPr/>
            <a:lstStyle/>
            <a:p>
              <a:endParaRPr lang="en-US"/>
            </a:p>
          </p:txBody>
        </p:sp>
        <p:sp>
          <p:nvSpPr>
            <p:cNvPr id="47" name="Rectangle: Rounded Corners 6">
              <a:extLst>
                <a:ext uri="{FF2B5EF4-FFF2-40B4-BE49-F238E27FC236}">
                  <a16:creationId xmlns:a16="http://schemas.microsoft.com/office/drawing/2014/main" id="{24CD6629-3215-B210-641F-63D3BC0D5EC9}"/>
                </a:ext>
              </a:extLst>
            </p:cNvPr>
            <p:cNvSpPr txBox="1"/>
            <p:nvPr/>
          </p:nvSpPr>
          <p:spPr>
            <a:xfrm>
              <a:off x="3769354" y="921265"/>
              <a:ext cx="2625377" cy="6270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dirty="0"/>
                <a:t>Protected APIs from misuse and ensured fair usage by controlling the number of requests within a defined time frame.</a:t>
              </a:r>
              <a:endParaRPr lang="en-US" sz="1400" kern="1200" dirty="0"/>
            </a:p>
          </p:txBody>
        </p:sp>
      </p:grpSp>
      <p:grpSp>
        <p:nvGrpSpPr>
          <p:cNvPr id="48" name="Group 47">
            <a:extLst>
              <a:ext uri="{FF2B5EF4-FFF2-40B4-BE49-F238E27FC236}">
                <a16:creationId xmlns:a16="http://schemas.microsoft.com/office/drawing/2014/main" id="{E65ECA82-95B8-03B1-E7DE-25FCC2B52ED7}"/>
              </a:ext>
            </a:extLst>
          </p:cNvPr>
          <p:cNvGrpSpPr/>
          <p:nvPr/>
        </p:nvGrpSpPr>
        <p:grpSpPr>
          <a:xfrm>
            <a:off x="4395216" y="1160410"/>
            <a:ext cx="7509996" cy="643726"/>
            <a:chOff x="3749845" y="2523"/>
            <a:chExt cx="2664395" cy="666098"/>
          </a:xfrm>
        </p:grpSpPr>
        <p:sp>
          <p:nvSpPr>
            <p:cNvPr id="49" name="Rectangle: Rounded Corners 48">
              <a:extLst>
                <a:ext uri="{FF2B5EF4-FFF2-40B4-BE49-F238E27FC236}">
                  <a16:creationId xmlns:a16="http://schemas.microsoft.com/office/drawing/2014/main" id="{15951C8A-723B-231C-DCB2-ECD3AEB95675}"/>
                </a:ext>
              </a:extLst>
            </p:cNvPr>
            <p:cNvSpPr/>
            <p:nvPr/>
          </p:nvSpPr>
          <p:spPr>
            <a:xfrm>
              <a:off x="3749845" y="2523"/>
              <a:ext cx="2664395" cy="666098"/>
            </a:xfrm>
            <a:prstGeom prst="roundRect">
              <a:avLst>
                <a:gd name="adj" fmla="val 10000"/>
              </a:avLst>
            </a:prstGeom>
            <a:gradFill rotWithShape="0">
              <a:gsLst>
                <a:gs pos="0">
                  <a:srgbClr val="BE82FF">
                    <a:hueOff val="0"/>
                    <a:satOff val="0"/>
                    <a:lumOff val="0"/>
                    <a:alphaOff val="0"/>
                    <a:satMod val="103000"/>
                    <a:lumMod val="102000"/>
                    <a:tint val="94000"/>
                  </a:srgbClr>
                </a:gs>
                <a:gs pos="50000">
                  <a:srgbClr val="BE82FF">
                    <a:hueOff val="0"/>
                    <a:satOff val="0"/>
                    <a:lumOff val="0"/>
                    <a:alphaOff val="0"/>
                    <a:satMod val="110000"/>
                    <a:lumMod val="100000"/>
                    <a:shade val="100000"/>
                  </a:srgbClr>
                </a:gs>
                <a:gs pos="100000">
                  <a:srgbClr val="BE82FF">
                    <a:hueOff val="0"/>
                    <a:satOff val="0"/>
                    <a:lumOff val="0"/>
                    <a:alphaOff val="0"/>
                    <a:lumMod val="99000"/>
                    <a:satMod val="120000"/>
                    <a:shade val="78000"/>
                  </a:srgbClr>
                </a:gs>
              </a:gsLst>
              <a:lin ang="5400000" scaled="0"/>
            </a:gradFill>
            <a:ln>
              <a:noFill/>
            </a:ln>
            <a:effectLst/>
          </p:spPr>
          <p:style>
            <a:lnRef idx="0">
              <a:scrgbClr r="0" g="0" b="0"/>
            </a:lnRef>
            <a:fillRef idx="3">
              <a:scrgbClr r="0" g="0" b="0"/>
            </a:fillRef>
            <a:effectRef idx="2">
              <a:scrgbClr r="0" g="0" b="0"/>
            </a:effectRef>
            <a:fontRef idx="minor">
              <a:schemeClr val="lt1"/>
            </a:fontRef>
          </p:style>
          <p:txBody>
            <a:bodyPr/>
            <a:lstStyle/>
            <a:p>
              <a:endParaRPr lang="en-US"/>
            </a:p>
          </p:txBody>
        </p:sp>
        <p:sp>
          <p:nvSpPr>
            <p:cNvPr id="50" name="Rectangle: Rounded Corners 4">
              <a:extLst>
                <a:ext uri="{FF2B5EF4-FFF2-40B4-BE49-F238E27FC236}">
                  <a16:creationId xmlns:a16="http://schemas.microsoft.com/office/drawing/2014/main" id="{7E8D325E-F75E-E4BE-46D1-6C0EFB139D51}"/>
                </a:ext>
              </a:extLst>
            </p:cNvPr>
            <p:cNvSpPr txBox="1"/>
            <p:nvPr/>
          </p:nvSpPr>
          <p:spPr>
            <a:xfrm>
              <a:off x="3769354" y="22032"/>
              <a:ext cx="2625377" cy="6270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FFFFF"/>
                  </a:solidFill>
                  <a:latin typeface="Graphik"/>
                  <a:ea typeface="+mn-ea"/>
                  <a:cs typeface="+mn-cs"/>
                </a:rPr>
                <a:t>Description</a:t>
              </a:r>
            </a:p>
          </p:txBody>
        </p:sp>
      </p:grpSp>
    </p:spTree>
    <p:extLst>
      <p:ext uri="{BB962C8B-B14F-4D97-AF65-F5344CB8AC3E}">
        <p14:creationId xmlns:p14="http://schemas.microsoft.com/office/powerpoint/2010/main" val="2217584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Flipkart Logo Stock Illustrations – 34 ...">
            <a:extLst>
              <a:ext uri="{FF2B5EF4-FFF2-40B4-BE49-F238E27FC236}">
                <a16:creationId xmlns:a16="http://schemas.microsoft.com/office/drawing/2014/main" id="{5782D121-5679-9CFB-60DF-23FDE5C70D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9043" y="3716675"/>
            <a:ext cx="2258176" cy="186467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A12ABEB0-81F7-5EDC-6CAF-D7E05F862787}"/>
              </a:ext>
            </a:extLst>
          </p:cNvPr>
          <p:cNvSpPr>
            <a:spLocks noGrp="1"/>
          </p:cNvSpPr>
          <p:nvPr>
            <p:ph type="title"/>
          </p:nvPr>
        </p:nvSpPr>
        <p:spPr>
          <a:xfrm>
            <a:off x="356428" y="-194781"/>
            <a:ext cx="9116096" cy="614971"/>
          </a:xfrm>
        </p:spPr>
        <p:txBody>
          <a:bodyPr>
            <a:noAutofit/>
          </a:bodyPr>
          <a:lstStyle/>
          <a:p>
            <a:br>
              <a:rPr lang="en-IN" sz="4000">
                <a:latin typeface="Abadi" panose="020B0604020104020204" pitchFamily="34" charset="0"/>
                <a:cs typeface="AngsanaUPC" panose="02020603050405020304" pitchFamily="18" charset="-34"/>
              </a:rPr>
            </a:br>
            <a:r>
              <a:rPr lang="en-IN" sz="4000">
                <a:latin typeface="Abadi" panose="020B0604020104020204" pitchFamily="34" charset="0"/>
                <a:cs typeface="AngsanaUPC" panose="02020603050405020304" pitchFamily="18" charset="-34"/>
              </a:rPr>
              <a:t>Centralised API architecture</a:t>
            </a:r>
          </a:p>
        </p:txBody>
      </p:sp>
      <p:sp>
        <p:nvSpPr>
          <p:cNvPr id="4" name="Oval 3">
            <a:extLst>
              <a:ext uri="{FF2B5EF4-FFF2-40B4-BE49-F238E27FC236}">
                <a16:creationId xmlns:a16="http://schemas.microsoft.com/office/drawing/2014/main" id="{E560CF55-4526-AA38-D815-1F4C4E81B2CC}"/>
              </a:ext>
            </a:extLst>
          </p:cNvPr>
          <p:cNvSpPr/>
          <p:nvPr/>
        </p:nvSpPr>
        <p:spPr bwMode="gray">
          <a:xfrm>
            <a:off x="4415745" y="2604171"/>
            <a:ext cx="2966438" cy="2851882"/>
          </a:xfrm>
          <a:prstGeom prst="ellipse">
            <a:avLst/>
          </a:prstGeom>
          <a:solidFill>
            <a:srgbClr val="005CAA"/>
          </a:solidFill>
          <a:ln w="76200">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000000"/>
              </a:solidFill>
              <a:effectLst/>
              <a:uLnTx/>
              <a:uFillTx/>
              <a:latin typeface="Helvetica"/>
              <a:ea typeface="+mn-ea"/>
              <a:cs typeface="+mn-cs"/>
            </a:endParaRPr>
          </a:p>
        </p:txBody>
      </p:sp>
      <p:sp>
        <p:nvSpPr>
          <p:cNvPr id="5" name="Oval 4">
            <a:extLst>
              <a:ext uri="{FF2B5EF4-FFF2-40B4-BE49-F238E27FC236}">
                <a16:creationId xmlns:a16="http://schemas.microsoft.com/office/drawing/2014/main" id="{45C2A044-43CF-12E5-41BF-A85C43C7B499}"/>
              </a:ext>
            </a:extLst>
          </p:cNvPr>
          <p:cNvSpPr/>
          <p:nvPr/>
        </p:nvSpPr>
        <p:spPr bwMode="gray">
          <a:xfrm>
            <a:off x="4641417" y="2781018"/>
            <a:ext cx="2576053" cy="2562783"/>
          </a:xfrm>
          <a:prstGeom prst="ellipse">
            <a:avLst/>
          </a:prstGeom>
          <a:gradFill flip="none" rotWithShape="1">
            <a:gsLst>
              <a:gs pos="7471">
                <a:schemeClr val="accent3">
                  <a:lumMod val="5000"/>
                  <a:lumOff val="95000"/>
                </a:schemeClr>
              </a:gs>
              <a:gs pos="16667">
                <a:schemeClr val="accent3">
                  <a:lumMod val="5000"/>
                  <a:lumOff val="95000"/>
                </a:schemeClr>
              </a:gs>
              <a:gs pos="2500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18900000" scaled="1"/>
            <a:tileRect/>
          </a:gradFill>
          <a:ln w="28575">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000000"/>
              </a:solidFill>
              <a:effectLst/>
              <a:uLnTx/>
              <a:uFillTx/>
              <a:latin typeface="Helvetica"/>
              <a:ea typeface="+mn-ea"/>
              <a:cs typeface="+mn-cs"/>
            </a:endParaRPr>
          </a:p>
        </p:txBody>
      </p:sp>
      <p:grpSp>
        <p:nvGrpSpPr>
          <p:cNvPr id="25" name="Group 24">
            <a:extLst>
              <a:ext uri="{FF2B5EF4-FFF2-40B4-BE49-F238E27FC236}">
                <a16:creationId xmlns:a16="http://schemas.microsoft.com/office/drawing/2014/main" id="{0A1BFEB9-8A29-7419-81CC-45C4F9745E13}"/>
              </a:ext>
            </a:extLst>
          </p:cNvPr>
          <p:cNvGrpSpPr/>
          <p:nvPr/>
        </p:nvGrpSpPr>
        <p:grpSpPr>
          <a:xfrm>
            <a:off x="356428" y="1087432"/>
            <a:ext cx="11680398" cy="5258485"/>
            <a:chOff x="356428" y="1087432"/>
            <a:chExt cx="11680398" cy="5258485"/>
          </a:xfrm>
        </p:grpSpPr>
        <p:grpSp>
          <p:nvGrpSpPr>
            <p:cNvPr id="8" name="Group 7">
              <a:extLst>
                <a:ext uri="{FF2B5EF4-FFF2-40B4-BE49-F238E27FC236}">
                  <a16:creationId xmlns:a16="http://schemas.microsoft.com/office/drawing/2014/main" id="{77E99BEC-1F10-AF35-CE23-AC55825FA6D5}"/>
                </a:ext>
              </a:extLst>
            </p:cNvPr>
            <p:cNvGrpSpPr/>
            <p:nvPr/>
          </p:nvGrpSpPr>
          <p:grpSpPr>
            <a:xfrm>
              <a:off x="356428" y="1087432"/>
              <a:ext cx="11680398" cy="5258485"/>
              <a:chOff x="202099" y="915738"/>
              <a:chExt cx="11660713" cy="5423138"/>
            </a:xfrm>
          </p:grpSpPr>
          <p:sp>
            <p:nvSpPr>
              <p:cNvPr id="10" name="TextBox 9">
                <a:extLst>
                  <a:ext uri="{FF2B5EF4-FFF2-40B4-BE49-F238E27FC236}">
                    <a16:creationId xmlns:a16="http://schemas.microsoft.com/office/drawing/2014/main" id="{4D6184D2-A720-53E6-2696-9F997AFC696E}"/>
                  </a:ext>
                </a:extLst>
              </p:cNvPr>
              <p:cNvSpPr txBox="1"/>
              <p:nvPr/>
            </p:nvSpPr>
            <p:spPr bwMode="gray">
              <a:xfrm>
                <a:off x="5058225" y="4137181"/>
                <a:ext cx="1382119" cy="297169"/>
              </a:xfrm>
              <a:prstGeom prst="rect">
                <a:avLst/>
              </a:prstGeom>
              <a:noFill/>
              <a:ln>
                <a:solidFill>
                  <a:schemeClr val="accent1"/>
                </a:solidFill>
              </a:ln>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005DAB">
                        <a:lumMod val="50000"/>
                      </a:srgbClr>
                    </a:solidFill>
                    <a:latin typeface="Skeena" panose="020F0502020204030204" pitchFamily="2" charset="0"/>
                    <a:cs typeface="Times New Roman" panose="02020603050405020304" pitchFamily="18" charset="0"/>
                  </a:rPr>
                  <a:t>MuleSoft Layer</a:t>
                </a:r>
                <a:endParaRPr kumimoji="0" lang="en-IN" sz="1400" b="1" i="0" u="none" strike="noStrike" kern="1200" cap="none" spc="0" normalizeH="0" baseline="0" noProof="0">
                  <a:ln>
                    <a:noFill/>
                  </a:ln>
                  <a:solidFill>
                    <a:srgbClr val="005DAB">
                      <a:lumMod val="50000"/>
                    </a:srgbClr>
                  </a:solidFill>
                  <a:effectLst/>
                  <a:uLnTx/>
                  <a:uFillTx/>
                  <a:latin typeface="Skeena" panose="020F0502020204030204" pitchFamily="2" charset="0"/>
                  <a:ea typeface="+mn-ea"/>
                  <a:cs typeface="Times New Roman" panose="02020603050405020304" pitchFamily="18" charset="0"/>
                </a:endParaRPr>
              </a:p>
            </p:txBody>
          </p:sp>
          <p:grpSp>
            <p:nvGrpSpPr>
              <p:cNvPr id="11" name="Group 10">
                <a:extLst>
                  <a:ext uri="{FF2B5EF4-FFF2-40B4-BE49-F238E27FC236}">
                    <a16:creationId xmlns:a16="http://schemas.microsoft.com/office/drawing/2014/main" id="{D6A6F6A2-E76D-1054-9729-93C714DB0C9F}"/>
                  </a:ext>
                </a:extLst>
              </p:cNvPr>
              <p:cNvGrpSpPr/>
              <p:nvPr/>
            </p:nvGrpSpPr>
            <p:grpSpPr>
              <a:xfrm>
                <a:off x="202099" y="915738"/>
                <a:ext cx="11660713" cy="5423138"/>
                <a:chOff x="202099" y="922939"/>
                <a:chExt cx="11660713" cy="5423138"/>
              </a:xfrm>
            </p:grpSpPr>
            <p:sp>
              <p:nvSpPr>
                <p:cNvPr id="12" name="Rectangle: Rounded Corners 11">
                  <a:extLst>
                    <a:ext uri="{FF2B5EF4-FFF2-40B4-BE49-F238E27FC236}">
                      <a16:creationId xmlns:a16="http://schemas.microsoft.com/office/drawing/2014/main" id="{66152280-8F57-EA94-1936-525CEF00F6CD}"/>
                    </a:ext>
                  </a:extLst>
                </p:cNvPr>
                <p:cNvSpPr/>
                <p:nvPr/>
              </p:nvSpPr>
              <p:spPr bwMode="gray">
                <a:xfrm>
                  <a:off x="228594" y="5430405"/>
                  <a:ext cx="3247636" cy="915672"/>
                </a:xfrm>
                <a:prstGeom prst="roundRect">
                  <a:avLst/>
                </a:prstGeom>
                <a:solidFill>
                  <a:srgbClr val="D6E1F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005DAB">
                          <a:lumMod val="50000"/>
                        </a:srgbClr>
                      </a:solidFill>
                      <a:effectLst/>
                      <a:uLnTx/>
                      <a:uFillTx/>
                      <a:latin typeface="Graphik" panose="020B0503030202060203" pitchFamily="34" charset="0"/>
                    </a:rPr>
                    <a:t>DMS System </a:t>
                  </a:r>
                  <a:br>
                    <a:rPr kumimoji="0" lang="en-US" sz="1200" b="1" i="1" u="none" strike="noStrike" kern="1200" cap="none" spc="0" normalizeH="0" baseline="0" noProof="0">
                      <a:ln>
                        <a:noFill/>
                      </a:ln>
                      <a:solidFill>
                        <a:srgbClr val="005DAB">
                          <a:lumMod val="50000"/>
                        </a:srgbClr>
                      </a:solidFill>
                      <a:effectLst/>
                      <a:uLnTx/>
                      <a:uFillTx/>
                      <a:latin typeface="Graphik" panose="020B0503030202060203" pitchFamily="34" charset="0"/>
                    </a:rPr>
                  </a:br>
                  <a:r>
                    <a:rPr kumimoji="0" lang="en-US" sz="1200" b="1" i="1" u="none" strike="noStrike" kern="1200" cap="none" spc="0" normalizeH="0" baseline="0" noProof="0">
                      <a:ln>
                        <a:noFill/>
                      </a:ln>
                      <a:solidFill>
                        <a:srgbClr val="005DAB">
                          <a:lumMod val="50000"/>
                        </a:srgbClr>
                      </a:solidFill>
                      <a:effectLst/>
                      <a:uLnTx/>
                      <a:uFillTx/>
                      <a:latin typeface="Graphik" panose="020B0503030202060203" pitchFamily="34" charset="0"/>
                    </a:rPr>
                    <a:t>(</a:t>
                  </a:r>
                  <a:r>
                    <a:rPr kumimoji="0" lang="en-US" sz="1200" b="0" i="1" u="none" strike="noStrike" kern="1200" cap="none" spc="0" normalizeH="0" baseline="0" noProof="0">
                      <a:ln>
                        <a:noFill/>
                      </a:ln>
                      <a:solidFill>
                        <a:srgbClr val="005DAB">
                          <a:lumMod val="50000"/>
                        </a:srgbClr>
                      </a:solidFill>
                      <a:effectLst/>
                      <a:uLnTx/>
                      <a:uFillTx/>
                      <a:latin typeface="Graphik" panose="020B0503030202060203" pitchFamily="34" charset="0"/>
                    </a:rPr>
                    <a:t>Direct Channel via Batch Jobs – Model &amp; Branch Master, Vehicle Allocation &amp; Invoice)</a:t>
                  </a:r>
                  <a:endParaRPr kumimoji="0" lang="en-IN" sz="1200" b="0" i="1" u="none" strike="noStrike" kern="1200" cap="none" spc="0" normalizeH="0" baseline="0" noProof="0">
                    <a:ln>
                      <a:noFill/>
                    </a:ln>
                    <a:solidFill>
                      <a:srgbClr val="005DAB">
                        <a:lumMod val="50000"/>
                      </a:srgbClr>
                    </a:solidFill>
                    <a:effectLst/>
                    <a:uLnTx/>
                    <a:uFillTx/>
                    <a:latin typeface="Graphik" panose="020B0503030202060203"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005DAB">
                        <a:lumMod val="50000"/>
                      </a:srgbClr>
                    </a:solidFill>
                    <a:effectLst/>
                    <a:uLnTx/>
                    <a:uFillTx/>
                    <a:latin typeface="Graphik" panose="020B0503030202060203" pitchFamily="34" charset="0"/>
                  </a:endParaRPr>
                </a:p>
              </p:txBody>
            </p:sp>
            <p:sp>
              <p:nvSpPr>
                <p:cNvPr id="13" name="Rectangle: Rounded Corners 12">
                  <a:extLst>
                    <a:ext uri="{FF2B5EF4-FFF2-40B4-BE49-F238E27FC236}">
                      <a16:creationId xmlns:a16="http://schemas.microsoft.com/office/drawing/2014/main" id="{3D6283DC-4426-C8E6-49A9-8ACADC418865}"/>
                    </a:ext>
                  </a:extLst>
                </p:cNvPr>
                <p:cNvSpPr/>
                <p:nvPr/>
              </p:nvSpPr>
              <p:spPr bwMode="gray">
                <a:xfrm>
                  <a:off x="202099" y="3273011"/>
                  <a:ext cx="3319333" cy="667120"/>
                </a:xfrm>
                <a:prstGeom prst="roundRect">
                  <a:avLst/>
                </a:prstGeom>
                <a:solidFill>
                  <a:srgbClr val="D6E1F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005DAB">
                          <a:lumMod val="50000"/>
                        </a:srgbClr>
                      </a:solidFill>
                      <a:effectLst/>
                      <a:uLnTx/>
                      <a:uFillTx/>
                      <a:latin typeface="Graphik" panose="020B0503030202060203" pitchFamily="34" charset="0"/>
                    </a:rPr>
                    <a:t>Aggregator </a:t>
                  </a:r>
                  <a:r>
                    <a:rPr kumimoji="0" lang="en-US" sz="1200" i="1" u="none" strike="noStrike" kern="1200" cap="none" spc="0" normalizeH="0" baseline="0" noProof="0">
                      <a:ln>
                        <a:noFill/>
                      </a:ln>
                      <a:solidFill>
                        <a:srgbClr val="005DAB">
                          <a:lumMod val="50000"/>
                        </a:srgbClr>
                      </a:solidFill>
                      <a:effectLst/>
                      <a:uLnTx/>
                      <a:uFillTx/>
                      <a:latin typeface="Graphik" panose="020B0503030202060203" pitchFamily="34" charset="0"/>
                    </a:rPr>
                    <a:t>(</a:t>
                  </a:r>
                  <a:r>
                    <a:rPr kumimoji="0" lang="en-US" sz="1200" b="0" i="1" u="none" strike="noStrike" kern="1200" cap="none" spc="0" normalizeH="0" baseline="0" noProof="0">
                      <a:ln>
                        <a:noFill/>
                      </a:ln>
                      <a:solidFill>
                        <a:srgbClr val="005DAB">
                          <a:lumMod val="50000"/>
                        </a:srgbClr>
                      </a:solidFill>
                      <a:effectLst/>
                      <a:uLnTx/>
                      <a:uFillTx/>
                      <a:latin typeface="Graphik" panose="020B0503030202060203" pitchFamily="34" charset="0"/>
                    </a:rPr>
                    <a:t>Direct Integration – Digital Enquires)</a:t>
                  </a:r>
                  <a:endParaRPr kumimoji="0" lang="en-IN" sz="1200" b="0" i="1" u="none" strike="noStrike" kern="1200" cap="none" spc="0" normalizeH="0" baseline="0" noProof="0">
                    <a:ln>
                      <a:noFill/>
                    </a:ln>
                    <a:solidFill>
                      <a:srgbClr val="005DAB">
                        <a:lumMod val="50000"/>
                      </a:srgbClr>
                    </a:solidFill>
                    <a:effectLst/>
                    <a:uLnTx/>
                    <a:uFillTx/>
                    <a:latin typeface="Graphik" panose="020B0503030202060203"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005DAB">
                        <a:lumMod val="50000"/>
                      </a:srgbClr>
                    </a:solidFill>
                    <a:effectLst/>
                    <a:uLnTx/>
                    <a:uFillTx/>
                    <a:latin typeface="Graphik" panose="020B0503030202060203" pitchFamily="34" charset="0"/>
                  </a:endParaRPr>
                </a:p>
              </p:txBody>
            </p:sp>
            <p:cxnSp>
              <p:nvCxnSpPr>
                <p:cNvPr id="14" name="Straight Connector 13">
                  <a:extLst>
                    <a:ext uri="{FF2B5EF4-FFF2-40B4-BE49-F238E27FC236}">
                      <a16:creationId xmlns:a16="http://schemas.microsoft.com/office/drawing/2014/main" id="{E53F9D03-4347-B3A2-48F5-98101560D84D}"/>
                    </a:ext>
                  </a:extLst>
                </p:cNvPr>
                <p:cNvCxnSpPr>
                  <a:cxnSpLocks/>
                  <a:stCxn id="13" idx="3"/>
                </p:cNvCxnSpPr>
                <p:nvPr/>
              </p:nvCxnSpPr>
              <p:spPr bwMode="gray">
                <a:xfrm>
                  <a:off x="3521432" y="3606571"/>
                  <a:ext cx="719470" cy="0"/>
                </a:xfrm>
                <a:prstGeom prst="line">
                  <a:avLst/>
                </a:prstGeom>
                <a:gradFill flip="none" rotWithShape="1">
                  <a:gsLst>
                    <a:gs pos="0">
                      <a:schemeClr val="accent2">
                        <a:lumMod val="40000"/>
                        <a:lumOff val="60000"/>
                      </a:schemeClr>
                    </a:gs>
                    <a:gs pos="50000">
                      <a:schemeClr val="accent2">
                        <a:lumMod val="20000"/>
                        <a:lumOff val="80000"/>
                      </a:schemeClr>
                    </a:gs>
                    <a:gs pos="100000">
                      <a:schemeClr val="accent3">
                        <a:lumMod val="20000"/>
                        <a:lumOff val="80000"/>
                      </a:schemeClr>
                    </a:gs>
                  </a:gsLst>
                  <a:path path="circle">
                    <a:fillToRect l="100000" b="100000"/>
                  </a:path>
                  <a:tileRect t="-100000" r="-100000"/>
                </a:gradFill>
                <a:ln w="19050" cap="flat">
                  <a:solidFill>
                    <a:schemeClr val="accent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BC47FF95-C652-F6BC-5E99-492729480159}"/>
                    </a:ext>
                  </a:extLst>
                </p:cNvPr>
                <p:cNvSpPr/>
                <p:nvPr/>
              </p:nvSpPr>
              <p:spPr bwMode="gray">
                <a:xfrm>
                  <a:off x="242646" y="1476535"/>
                  <a:ext cx="3343714" cy="611579"/>
                </a:xfrm>
                <a:prstGeom prst="roundRect">
                  <a:avLst/>
                </a:prstGeom>
                <a:solidFill>
                  <a:srgbClr val="D6E1F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000000"/>
                    </a:solidFill>
                    <a:effectLst/>
                    <a:uLnTx/>
                    <a:uFillTx/>
                    <a:latin typeface="Graphik" panose="020B0503030202060203" pitchFamily="34" charset="0"/>
                  </a:endParaRPr>
                </a:p>
              </p:txBody>
            </p:sp>
            <p:cxnSp>
              <p:nvCxnSpPr>
                <p:cNvPr id="16" name="Straight Connector 15">
                  <a:extLst>
                    <a:ext uri="{FF2B5EF4-FFF2-40B4-BE49-F238E27FC236}">
                      <a16:creationId xmlns:a16="http://schemas.microsoft.com/office/drawing/2014/main" id="{56C5FE8E-9920-93FA-4F14-D7BECDB9A720}"/>
                    </a:ext>
                  </a:extLst>
                </p:cNvPr>
                <p:cNvCxnSpPr>
                  <a:cxnSpLocks/>
                </p:cNvCxnSpPr>
                <p:nvPr/>
              </p:nvCxnSpPr>
              <p:spPr bwMode="gray">
                <a:xfrm>
                  <a:off x="3535106" y="2083249"/>
                  <a:ext cx="1104331" cy="831675"/>
                </a:xfrm>
                <a:prstGeom prst="line">
                  <a:avLst/>
                </a:prstGeom>
                <a:gradFill flip="none" rotWithShape="1">
                  <a:gsLst>
                    <a:gs pos="0">
                      <a:schemeClr val="accent2">
                        <a:lumMod val="40000"/>
                        <a:lumOff val="60000"/>
                      </a:schemeClr>
                    </a:gs>
                    <a:gs pos="50000">
                      <a:schemeClr val="accent2">
                        <a:lumMod val="20000"/>
                        <a:lumOff val="80000"/>
                      </a:schemeClr>
                    </a:gs>
                    <a:gs pos="100000">
                      <a:schemeClr val="accent3">
                        <a:lumMod val="20000"/>
                        <a:lumOff val="80000"/>
                      </a:schemeClr>
                    </a:gs>
                  </a:gsLst>
                  <a:path path="circle">
                    <a:fillToRect l="100000" b="100000"/>
                  </a:path>
                  <a:tileRect t="-100000" r="-100000"/>
                </a:gradFill>
                <a:ln w="19050" cap="flat">
                  <a:solidFill>
                    <a:schemeClr val="accent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70D4A4F4-8DE1-FECF-0935-7BF1D7429054}"/>
                    </a:ext>
                  </a:extLst>
                </p:cNvPr>
                <p:cNvSpPr/>
                <p:nvPr/>
              </p:nvSpPr>
              <p:spPr bwMode="gray">
                <a:xfrm flipH="1">
                  <a:off x="8787619" y="4797055"/>
                  <a:ext cx="3072954" cy="624127"/>
                </a:xfrm>
                <a:prstGeom prst="roundRect">
                  <a:avLst/>
                </a:prstGeom>
                <a:solidFill>
                  <a:srgbClr val="D6E1F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defRPr/>
                  </a:pPr>
                  <a:r>
                    <a:rPr lang="en-US" sz="1200" b="1" i="1">
                      <a:solidFill>
                        <a:srgbClr val="005DAB">
                          <a:lumMod val="50000"/>
                        </a:srgbClr>
                      </a:solidFill>
                      <a:latin typeface="Graphik"/>
                    </a:rPr>
                    <a:t>Flipkart Booking (</a:t>
                  </a:r>
                  <a:r>
                    <a:rPr lang="en-US" sz="1200" i="1">
                      <a:solidFill>
                        <a:srgbClr val="005DAB">
                          <a:lumMod val="50000"/>
                        </a:srgbClr>
                      </a:solidFill>
                      <a:latin typeface="Graphik"/>
                    </a:rPr>
                    <a:t>Direct Integration – Digital Enquires)</a:t>
                  </a:r>
                  <a:endParaRPr lang="en-IN" sz="1200" i="1">
                    <a:solidFill>
                      <a:srgbClr val="005DAB">
                        <a:lumMod val="50000"/>
                      </a:srgbClr>
                    </a:solidFill>
                    <a:latin typeface="Graphik"/>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1" i="1" u="none" strike="noStrike" kern="1200" cap="none" spc="0" normalizeH="0" baseline="0" noProof="0">
                    <a:ln>
                      <a:noFill/>
                    </a:ln>
                    <a:solidFill>
                      <a:srgbClr val="005DAB">
                        <a:lumMod val="50000"/>
                      </a:srgbClr>
                    </a:solidFill>
                    <a:effectLst/>
                    <a:uLnTx/>
                    <a:uFillTx/>
                    <a:latin typeface="Graphik" panose="020B0503030202060203" pitchFamily="34" charset="0"/>
                  </a:endParaRPr>
                </a:p>
              </p:txBody>
            </p:sp>
            <p:sp>
              <p:nvSpPr>
                <p:cNvPr id="18" name="Rectangle: Rounded Corners 17">
                  <a:extLst>
                    <a:ext uri="{FF2B5EF4-FFF2-40B4-BE49-F238E27FC236}">
                      <a16:creationId xmlns:a16="http://schemas.microsoft.com/office/drawing/2014/main" id="{7F96E12A-ACC8-8DA7-2F71-50C12D0ADA36}"/>
                    </a:ext>
                  </a:extLst>
                </p:cNvPr>
                <p:cNvSpPr/>
                <p:nvPr/>
              </p:nvSpPr>
              <p:spPr bwMode="gray">
                <a:xfrm>
                  <a:off x="4158437" y="1363069"/>
                  <a:ext cx="3343715" cy="751636"/>
                </a:xfrm>
                <a:prstGeom prst="roundRect">
                  <a:avLst/>
                </a:prstGeom>
                <a:solidFill>
                  <a:srgbClr val="D6E1F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005DAB">
                          <a:lumMod val="50000"/>
                        </a:srgbClr>
                      </a:solidFill>
                      <a:effectLst/>
                      <a:uLnTx/>
                      <a:uFillTx/>
                      <a:latin typeface="Graphik" panose="020B0503030202060203" pitchFamily="34" charset="0"/>
                    </a:rPr>
                    <a:t>Brand Website + Hyperlocal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5DAB">
                          <a:lumMod val="50000"/>
                        </a:srgbClr>
                      </a:solidFill>
                      <a:effectLst/>
                      <a:uLnTx/>
                      <a:uFillTx/>
                      <a:latin typeface="Graphik" panose="020B0503030202060203" pitchFamily="34" charset="0"/>
                    </a:rPr>
                    <a:t>(for Digital Enquiries)</a:t>
                  </a:r>
                  <a:endParaRPr kumimoji="0" lang="en-IN" sz="1200" b="0" i="0" u="none" strike="noStrike" kern="1200" cap="none" spc="0" normalizeH="0" baseline="0" noProof="0">
                    <a:ln>
                      <a:noFill/>
                    </a:ln>
                    <a:solidFill>
                      <a:srgbClr val="005DAB">
                        <a:lumMod val="50000"/>
                      </a:srgbClr>
                    </a:solidFill>
                    <a:effectLst/>
                    <a:uLnTx/>
                    <a:uFillTx/>
                    <a:latin typeface="Graphik" panose="020B0503030202060203" pitchFamily="34" charset="0"/>
                  </a:endParaRPr>
                </a:p>
              </p:txBody>
            </p:sp>
            <p:cxnSp>
              <p:nvCxnSpPr>
                <p:cNvPr id="19" name="Straight Connector 18">
                  <a:extLst>
                    <a:ext uri="{FF2B5EF4-FFF2-40B4-BE49-F238E27FC236}">
                      <a16:creationId xmlns:a16="http://schemas.microsoft.com/office/drawing/2014/main" id="{611DF2CE-D220-6D2C-8E69-632C9757948A}"/>
                    </a:ext>
                  </a:extLst>
                </p:cNvPr>
                <p:cNvCxnSpPr>
                  <a:cxnSpLocks/>
                  <a:endCxn id="4" idx="0"/>
                </p:cNvCxnSpPr>
                <p:nvPr/>
              </p:nvCxnSpPr>
              <p:spPr bwMode="gray">
                <a:xfrm>
                  <a:off x="5735294" y="2124604"/>
                  <a:ext cx="1" cy="364623"/>
                </a:xfrm>
                <a:prstGeom prst="line">
                  <a:avLst/>
                </a:prstGeom>
                <a:gradFill flip="none" rotWithShape="1">
                  <a:gsLst>
                    <a:gs pos="0">
                      <a:schemeClr val="accent2">
                        <a:lumMod val="40000"/>
                        <a:lumOff val="60000"/>
                      </a:schemeClr>
                    </a:gs>
                    <a:gs pos="50000">
                      <a:schemeClr val="accent2">
                        <a:lumMod val="20000"/>
                        <a:lumOff val="80000"/>
                      </a:schemeClr>
                    </a:gs>
                    <a:gs pos="100000">
                      <a:schemeClr val="accent3">
                        <a:lumMod val="20000"/>
                        <a:lumOff val="80000"/>
                      </a:schemeClr>
                    </a:gs>
                  </a:gsLst>
                  <a:path path="circle">
                    <a:fillToRect l="100000" b="100000"/>
                  </a:path>
                  <a:tileRect t="-100000" r="-100000"/>
                </a:gradFill>
                <a:ln w="19050" cap="flat">
                  <a:solidFill>
                    <a:schemeClr val="accent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A13831B4-3F30-A5CC-F885-6764F485A97C}"/>
                    </a:ext>
                  </a:extLst>
                </p:cNvPr>
                <p:cNvSpPr/>
                <p:nvPr/>
              </p:nvSpPr>
              <p:spPr bwMode="gray">
                <a:xfrm flipH="1">
                  <a:off x="8833015" y="1454240"/>
                  <a:ext cx="3029797" cy="458693"/>
                </a:xfrm>
                <a:prstGeom prst="roundRect">
                  <a:avLst/>
                </a:prstGeom>
                <a:solidFill>
                  <a:srgbClr val="D6E1F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005DAB">
                          <a:lumMod val="50000"/>
                        </a:srgbClr>
                      </a:solidFill>
                      <a:effectLst/>
                      <a:uLnTx/>
                      <a:uFillTx/>
                      <a:latin typeface="Graphik" panose="020B0503030202060203" pitchFamily="34" charset="0"/>
                    </a:rPr>
                    <a:t>Chatbot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5DAB">
                          <a:lumMod val="50000"/>
                        </a:srgbClr>
                      </a:solidFill>
                      <a:effectLst/>
                      <a:uLnTx/>
                      <a:uFillTx/>
                      <a:latin typeface="Graphik" panose="020B0503030202060203" pitchFamily="34" charset="0"/>
                    </a:rPr>
                    <a:t>(for Lead nurturing)</a:t>
                  </a:r>
                  <a:endParaRPr kumimoji="0" lang="en-IN" sz="1200" b="0" i="1" u="none" strike="noStrike" kern="1200" cap="none" spc="0" normalizeH="0" baseline="0" noProof="0">
                    <a:ln>
                      <a:noFill/>
                    </a:ln>
                    <a:solidFill>
                      <a:srgbClr val="005DAB">
                        <a:lumMod val="50000"/>
                      </a:srgbClr>
                    </a:solidFill>
                    <a:effectLst/>
                    <a:uLnTx/>
                    <a:uFillTx/>
                    <a:latin typeface="Graphik" panose="020B0503030202060203"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005DAB">
                        <a:lumMod val="50000"/>
                      </a:srgbClr>
                    </a:solidFill>
                    <a:effectLst/>
                    <a:uLnTx/>
                    <a:uFillTx/>
                    <a:latin typeface="Graphik" panose="020B0503030202060203" pitchFamily="34" charset="0"/>
                  </a:endParaRPr>
                </a:p>
              </p:txBody>
            </p:sp>
            <p:cxnSp>
              <p:nvCxnSpPr>
                <p:cNvPr id="21" name="Straight Connector 20">
                  <a:extLst>
                    <a:ext uri="{FF2B5EF4-FFF2-40B4-BE49-F238E27FC236}">
                      <a16:creationId xmlns:a16="http://schemas.microsoft.com/office/drawing/2014/main" id="{519E72E2-B5B6-B070-8E65-6B6E8F9E3229}"/>
                    </a:ext>
                  </a:extLst>
                </p:cNvPr>
                <p:cNvCxnSpPr>
                  <a:cxnSpLocks/>
                  <a:stCxn id="20" idx="3"/>
                </p:cNvCxnSpPr>
                <p:nvPr/>
              </p:nvCxnSpPr>
              <p:spPr bwMode="gray">
                <a:xfrm flipH="1" flipV="1">
                  <a:off x="8199239" y="1683584"/>
                  <a:ext cx="633776" cy="3"/>
                </a:xfrm>
                <a:prstGeom prst="line">
                  <a:avLst/>
                </a:prstGeom>
                <a:gradFill flip="none" rotWithShape="1">
                  <a:gsLst>
                    <a:gs pos="0">
                      <a:schemeClr val="accent2">
                        <a:lumMod val="40000"/>
                        <a:lumOff val="60000"/>
                      </a:schemeClr>
                    </a:gs>
                    <a:gs pos="50000">
                      <a:schemeClr val="accent2">
                        <a:lumMod val="20000"/>
                        <a:lumOff val="80000"/>
                      </a:schemeClr>
                    </a:gs>
                    <a:gs pos="100000">
                      <a:schemeClr val="accent3">
                        <a:lumMod val="20000"/>
                        <a:lumOff val="80000"/>
                      </a:schemeClr>
                    </a:gs>
                  </a:gsLst>
                  <a:path path="circle">
                    <a:fillToRect l="50000" t="50000" r="50000" b="50000"/>
                  </a:path>
                  <a:tileRect/>
                </a:gradFill>
                <a:ln w="19050" cap="flat">
                  <a:solidFill>
                    <a:schemeClr val="accent1"/>
                  </a:solidFill>
                  <a:miter lim="8000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58D724C-7FB4-977A-523A-02C73AB3987A}"/>
                    </a:ext>
                  </a:extLst>
                </p:cNvPr>
                <p:cNvCxnSpPr>
                  <a:cxnSpLocks/>
                </p:cNvCxnSpPr>
                <p:nvPr/>
              </p:nvCxnSpPr>
              <p:spPr bwMode="gray">
                <a:xfrm flipH="1">
                  <a:off x="6748266" y="1683584"/>
                  <a:ext cx="1464959" cy="1215156"/>
                </a:xfrm>
                <a:prstGeom prst="line">
                  <a:avLst/>
                </a:prstGeom>
                <a:gradFill flip="none" rotWithShape="1">
                  <a:gsLst>
                    <a:gs pos="0">
                      <a:schemeClr val="accent2">
                        <a:lumMod val="40000"/>
                        <a:lumOff val="60000"/>
                      </a:schemeClr>
                    </a:gs>
                    <a:gs pos="50000">
                      <a:schemeClr val="accent2">
                        <a:lumMod val="20000"/>
                        <a:lumOff val="80000"/>
                      </a:schemeClr>
                    </a:gs>
                    <a:gs pos="100000">
                      <a:schemeClr val="accent3">
                        <a:lumMod val="20000"/>
                        <a:lumOff val="80000"/>
                      </a:schemeClr>
                    </a:gs>
                  </a:gsLst>
                  <a:path path="circle">
                    <a:fillToRect l="50000" t="50000" r="50000" b="50000"/>
                  </a:path>
                  <a:tileRect/>
                </a:gradFill>
                <a:ln w="19050" cap="flat">
                  <a:solidFill>
                    <a:schemeClr val="accent1"/>
                  </a:solidFill>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object 56">
                  <a:extLst>
                    <a:ext uri="{FF2B5EF4-FFF2-40B4-BE49-F238E27FC236}">
                      <a16:creationId xmlns:a16="http://schemas.microsoft.com/office/drawing/2014/main" id="{89985948-F04B-E6EA-4721-562C9700DD44}"/>
                    </a:ext>
                  </a:extLst>
                </p:cNvPr>
                <p:cNvSpPr/>
                <p:nvPr/>
              </p:nvSpPr>
              <p:spPr>
                <a:xfrm>
                  <a:off x="5460268" y="927147"/>
                  <a:ext cx="330216" cy="375260"/>
                </a:xfrm>
                <a:custGeom>
                  <a:avLst/>
                  <a:gdLst/>
                  <a:ahLst/>
                  <a:cxnLst/>
                  <a:rect l="l" t="t" r="r" b="b"/>
                  <a:pathLst>
                    <a:path w="699134" h="699135">
                      <a:moveTo>
                        <a:pt x="657580" y="309930"/>
                      </a:moveTo>
                      <a:lnTo>
                        <a:pt x="656678" y="302145"/>
                      </a:lnTo>
                      <a:lnTo>
                        <a:pt x="652907" y="295262"/>
                      </a:lnTo>
                      <a:lnTo>
                        <a:pt x="646569" y="290169"/>
                      </a:lnTo>
                      <a:lnTo>
                        <a:pt x="638759" y="287947"/>
                      </a:lnTo>
                      <a:lnTo>
                        <a:pt x="630961" y="288848"/>
                      </a:lnTo>
                      <a:lnTo>
                        <a:pt x="624090" y="292620"/>
                      </a:lnTo>
                      <a:lnTo>
                        <a:pt x="619010" y="298970"/>
                      </a:lnTo>
                      <a:lnTo>
                        <a:pt x="595185" y="345059"/>
                      </a:lnTo>
                      <a:lnTo>
                        <a:pt x="568794" y="292265"/>
                      </a:lnTo>
                      <a:lnTo>
                        <a:pt x="561695" y="287883"/>
                      </a:lnTo>
                      <a:lnTo>
                        <a:pt x="546201" y="287883"/>
                      </a:lnTo>
                      <a:lnTo>
                        <a:pt x="539102" y="292265"/>
                      </a:lnTo>
                      <a:lnTo>
                        <a:pt x="513016" y="344449"/>
                      </a:lnTo>
                      <a:lnTo>
                        <a:pt x="486714" y="291871"/>
                      </a:lnTo>
                      <a:lnTo>
                        <a:pt x="479044" y="287426"/>
                      </a:lnTo>
                      <a:lnTo>
                        <a:pt x="460476" y="288569"/>
                      </a:lnTo>
                      <a:lnTo>
                        <a:pt x="453123" y="295008"/>
                      </a:lnTo>
                      <a:lnTo>
                        <a:pt x="451015" y="303428"/>
                      </a:lnTo>
                      <a:lnTo>
                        <a:pt x="449605" y="297827"/>
                      </a:lnTo>
                      <a:lnTo>
                        <a:pt x="445871" y="292836"/>
                      </a:lnTo>
                      <a:lnTo>
                        <a:pt x="440309" y="290042"/>
                      </a:lnTo>
                      <a:lnTo>
                        <a:pt x="432460" y="287921"/>
                      </a:lnTo>
                      <a:lnTo>
                        <a:pt x="424675" y="288937"/>
                      </a:lnTo>
                      <a:lnTo>
                        <a:pt x="417842" y="292798"/>
                      </a:lnTo>
                      <a:lnTo>
                        <a:pt x="412838" y="299212"/>
                      </a:lnTo>
                      <a:lnTo>
                        <a:pt x="390220" y="344449"/>
                      </a:lnTo>
                      <a:lnTo>
                        <a:pt x="364121" y="292265"/>
                      </a:lnTo>
                      <a:lnTo>
                        <a:pt x="357035" y="287883"/>
                      </a:lnTo>
                      <a:lnTo>
                        <a:pt x="341541" y="287883"/>
                      </a:lnTo>
                      <a:lnTo>
                        <a:pt x="334441" y="292265"/>
                      </a:lnTo>
                      <a:lnTo>
                        <a:pt x="308356" y="344449"/>
                      </a:lnTo>
                      <a:lnTo>
                        <a:pt x="285724" y="299212"/>
                      </a:lnTo>
                      <a:lnTo>
                        <a:pt x="280733" y="292798"/>
                      </a:lnTo>
                      <a:lnTo>
                        <a:pt x="273900" y="288937"/>
                      </a:lnTo>
                      <a:lnTo>
                        <a:pt x="266115" y="287921"/>
                      </a:lnTo>
                      <a:lnTo>
                        <a:pt x="258279" y="290042"/>
                      </a:lnTo>
                      <a:lnTo>
                        <a:pt x="252691" y="292836"/>
                      </a:lnTo>
                      <a:lnTo>
                        <a:pt x="248970" y="297827"/>
                      </a:lnTo>
                      <a:lnTo>
                        <a:pt x="247573" y="303428"/>
                      </a:lnTo>
                      <a:lnTo>
                        <a:pt x="245452" y="295008"/>
                      </a:lnTo>
                      <a:lnTo>
                        <a:pt x="238099" y="288569"/>
                      </a:lnTo>
                      <a:lnTo>
                        <a:pt x="219544" y="287413"/>
                      </a:lnTo>
                      <a:lnTo>
                        <a:pt x="211848" y="291871"/>
                      </a:lnTo>
                      <a:lnTo>
                        <a:pt x="185559" y="344449"/>
                      </a:lnTo>
                      <a:lnTo>
                        <a:pt x="162928" y="299212"/>
                      </a:lnTo>
                      <a:lnTo>
                        <a:pt x="155143" y="290791"/>
                      </a:lnTo>
                      <a:lnTo>
                        <a:pt x="144691" y="287921"/>
                      </a:lnTo>
                      <a:lnTo>
                        <a:pt x="134200" y="290690"/>
                      </a:lnTo>
                      <a:lnTo>
                        <a:pt x="126314" y="299212"/>
                      </a:lnTo>
                      <a:lnTo>
                        <a:pt x="103403" y="345059"/>
                      </a:lnTo>
                      <a:lnTo>
                        <a:pt x="79578" y="298970"/>
                      </a:lnTo>
                      <a:lnTo>
                        <a:pt x="74485" y="292620"/>
                      </a:lnTo>
                      <a:lnTo>
                        <a:pt x="67602" y="288848"/>
                      </a:lnTo>
                      <a:lnTo>
                        <a:pt x="59817" y="287947"/>
                      </a:lnTo>
                      <a:lnTo>
                        <a:pt x="52006" y="290169"/>
                      </a:lnTo>
                      <a:lnTo>
                        <a:pt x="45656" y="295262"/>
                      </a:lnTo>
                      <a:lnTo>
                        <a:pt x="41897" y="302145"/>
                      </a:lnTo>
                      <a:lnTo>
                        <a:pt x="40982" y="309930"/>
                      </a:lnTo>
                      <a:lnTo>
                        <a:pt x="43218" y="317754"/>
                      </a:lnTo>
                      <a:lnTo>
                        <a:pt x="85521" y="399618"/>
                      </a:lnTo>
                      <a:lnTo>
                        <a:pt x="93395" y="407949"/>
                      </a:lnTo>
                      <a:lnTo>
                        <a:pt x="103822" y="410679"/>
                      </a:lnTo>
                      <a:lnTo>
                        <a:pt x="114211" y="407822"/>
                      </a:lnTo>
                      <a:lnTo>
                        <a:pt x="121996" y="399376"/>
                      </a:lnTo>
                      <a:lnTo>
                        <a:pt x="144627" y="354114"/>
                      </a:lnTo>
                      <a:lnTo>
                        <a:pt x="167259" y="399376"/>
                      </a:lnTo>
                      <a:lnTo>
                        <a:pt x="175094" y="407847"/>
                      </a:lnTo>
                      <a:lnTo>
                        <a:pt x="185572" y="410667"/>
                      </a:lnTo>
                      <a:lnTo>
                        <a:pt x="196037" y="407835"/>
                      </a:lnTo>
                      <a:lnTo>
                        <a:pt x="203873" y="399376"/>
                      </a:lnTo>
                      <a:lnTo>
                        <a:pt x="241998" y="323100"/>
                      </a:lnTo>
                      <a:lnTo>
                        <a:pt x="244678" y="320497"/>
                      </a:lnTo>
                      <a:lnTo>
                        <a:pt x="246646" y="317144"/>
                      </a:lnTo>
                      <a:lnTo>
                        <a:pt x="247586" y="313372"/>
                      </a:lnTo>
                      <a:lnTo>
                        <a:pt x="248437" y="316153"/>
                      </a:lnTo>
                      <a:lnTo>
                        <a:pt x="290055" y="399376"/>
                      </a:lnTo>
                      <a:lnTo>
                        <a:pt x="297891" y="407847"/>
                      </a:lnTo>
                      <a:lnTo>
                        <a:pt x="308368" y="410667"/>
                      </a:lnTo>
                      <a:lnTo>
                        <a:pt x="318820" y="407835"/>
                      </a:lnTo>
                      <a:lnTo>
                        <a:pt x="326656" y="399376"/>
                      </a:lnTo>
                      <a:lnTo>
                        <a:pt x="349288" y="354114"/>
                      </a:lnTo>
                      <a:lnTo>
                        <a:pt x="371919" y="399376"/>
                      </a:lnTo>
                      <a:lnTo>
                        <a:pt x="379755" y="407847"/>
                      </a:lnTo>
                      <a:lnTo>
                        <a:pt x="390220" y="410667"/>
                      </a:lnTo>
                      <a:lnTo>
                        <a:pt x="400697" y="407835"/>
                      </a:lnTo>
                      <a:lnTo>
                        <a:pt x="408533" y="399376"/>
                      </a:lnTo>
                      <a:lnTo>
                        <a:pt x="450126" y="316153"/>
                      </a:lnTo>
                      <a:lnTo>
                        <a:pt x="450989" y="313372"/>
                      </a:lnTo>
                      <a:lnTo>
                        <a:pt x="451929" y="317144"/>
                      </a:lnTo>
                      <a:lnTo>
                        <a:pt x="453885" y="320497"/>
                      </a:lnTo>
                      <a:lnTo>
                        <a:pt x="456577" y="323100"/>
                      </a:lnTo>
                      <a:lnTo>
                        <a:pt x="494715" y="399376"/>
                      </a:lnTo>
                      <a:lnTo>
                        <a:pt x="502551" y="407847"/>
                      </a:lnTo>
                      <a:lnTo>
                        <a:pt x="513016" y="410667"/>
                      </a:lnTo>
                      <a:lnTo>
                        <a:pt x="523481" y="407835"/>
                      </a:lnTo>
                      <a:lnTo>
                        <a:pt x="531317" y="399376"/>
                      </a:lnTo>
                      <a:lnTo>
                        <a:pt x="553961" y="354114"/>
                      </a:lnTo>
                      <a:lnTo>
                        <a:pt x="576580" y="399376"/>
                      </a:lnTo>
                      <a:lnTo>
                        <a:pt x="584352" y="407809"/>
                      </a:lnTo>
                      <a:lnTo>
                        <a:pt x="594741" y="410679"/>
                      </a:lnTo>
                      <a:lnTo>
                        <a:pt x="605167" y="407949"/>
                      </a:lnTo>
                      <a:lnTo>
                        <a:pt x="613067" y="399618"/>
                      </a:lnTo>
                      <a:lnTo>
                        <a:pt x="655358" y="317754"/>
                      </a:lnTo>
                      <a:lnTo>
                        <a:pt x="657580" y="309930"/>
                      </a:lnTo>
                      <a:close/>
                    </a:path>
                    <a:path w="699134" h="699135">
                      <a:moveTo>
                        <a:pt x="698576" y="267411"/>
                      </a:moveTo>
                      <a:lnTo>
                        <a:pt x="696734" y="252463"/>
                      </a:lnTo>
                      <a:lnTo>
                        <a:pt x="694613" y="246951"/>
                      </a:lnTo>
                      <a:lnTo>
                        <a:pt x="691502" y="238848"/>
                      </a:lnTo>
                      <a:lnTo>
                        <a:pt x="683336" y="226999"/>
                      </a:lnTo>
                      <a:lnTo>
                        <a:pt x="672693" y="217385"/>
                      </a:lnTo>
                      <a:lnTo>
                        <a:pt x="667143" y="206019"/>
                      </a:lnTo>
                      <a:lnTo>
                        <a:pt x="657644" y="186601"/>
                      </a:lnTo>
                      <a:lnTo>
                        <a:pt x="657644" y="267411"/>
                      </a:lnTo>
                      <a:lnTo>
                        <a:pt x="657644" y="431152"/>
                      </a:lnTo>
                      <a:lnTo>
                        <a:pt x="656031" y="439115"/>
                      </a:lnTo>
                      <a:lnTo>
                        <a:pt x="651649" y="445617"/>
                      </a:lnTo>
                      <a:lnTo>
                        <a:pt x="645134" y="450011"/>
                      </a:lnTo>
                      <a:lnTo>
                        <a:pt x="637171" y="451624"/>
                      </a:lnTo>
                      <a:lnTo>
                        <a:pt x="622236" y="451624"/>
                      </a:lnTo>
                      <a:lnTo>
                        <a:pt x="622236" y="492277"/>
                      </a:lnTo>
                      <a:lnTo>
                        <a:pt x="597573" y="531444"/>
                      </a:lnTo>
                      <a:lnTo>
                        <a:pt x="567639" y="566229"/>
                      </a:lnTo>
                      <a:lnTo>
                        <a:pt x="533107" y="596138"/>
                      </a:lnTo>
                      <a:lnTo>
                        <a:pt x="494601" y="620712"/>
                      </a:lnTo>
                      <a:lnTo>
                        <a:pt x="452983" y="639368"/>
                      </a:lnTo>
                      <a:lnTo>
                        <a:pt x="475005" y="606132"/>
                      </a:lnTo>
                      <a:lnTo>
                        <a:pt x="492912" y="569468"/>
                      </a:lnTo>
                      <a:lnTo>
                        <a:pt x="507009" y="530987"/>
                      </a:lnTo>
                      <a:lnTo>
                        <a:pt x="517588" y="492277"/>
                      </a:lnTo>
                      <a:lnTo>
                        <a:pt x="622236" y="492277"/>
                      </a:lnTo>
                      <a:lnTo>
                        <a:pt x="622236" y="451624"/>
                      </a:lnTo>
                      <a:lnTo>
                        <a:pt x="475475" y="451624"/>
                      </a:lnTo>
                      <a:lnTo>
                        <a:pt x="475475" y="492277"/>
                      </a:lnTo>
                      <a:lnTo>
                        <a:pt x="460603" y="539483"/>
                      </a:lnTo>
                      <a:lnTo>
                        <a:pt x="438048" y="588022"/>
                      </a:lnTo>
                      <a:lnTo>
                        <a:pt x="407758" y="629196"/>
                      </a:lnTo>
                      <a:lnTo>
                        <a:pt x="369747" y="654215"/>
                      </a:lnTo>
                      <a:lnTo>
                        <a:pt x="369747" y="492544"/>
                      </a:lnTo>
                      <a:lnTo>
                        <a:pt x="369747" y="492277"/>
                      </a:lnTo>
                      <a:lnTo>
                        <a:pt x="475475" y="492277"/>
                      </a:lnTo>
                      <a:lnTo>
                        <a:pt x="475475" y="451624"/>
                      </a:lnTo>
                      <a:lnTo>
                        <a:pt x="328815" y="451624"/>
                      </a:lnTo>
                      <a:lnTo>
                        <a:pt x="328815" y="492544"/>
                      </a:lnTo>
                      <a:lnTo>
                        <a:pt x="328815" y="654215"/>
                      </a:lnTo>
                      <a:lnTo>
                        <a:pt x="306222" y="639368"/>
                      </a:lnTo>
                      <a:lnTo>
                        <a:pt x="290728" y="629170"/>
                      </a:lnTo>
                      <a:lnTo>
                        <a:pt x="260477" y="588111"/>
                      </a:lnTo>
                      <a:lnTo>
                        <a:pt x="245592" y="556107"/>
                      </a:lnTo>
                      <a:lnTo>
                        <a:pt x="245592" y="639368"/>
                      </a:lnTo>
                      <a:lnTo>
                        <a:pt x="203873" y="620687"/>
                      </a:lnTo>
                      <a:lnTo>
                        <a:pt x="165468" y="596226"/>
                      </a:lnTo>
                      <a:lnTo>
                        <a:pt x="130937" y="566407"/>
                      </a:lnTo>
                      <a:lnTo>
                        <a:pt x="101003" y="531685"/>
                      </a:lnTo>
                      <a:lnTo>
                        <a:pt x="76352" y="492544"/>
                      </a:lnTo>
                      <a:lnTo>
                        <a:pt x="180975" y="492544"/>
                      </a:lnTo>
                      <a:lnTo>
                        <a:pt x="191566" y="531202"/>
                      </a:lnTo>
                      <a:lnTo>
                        <a:pt x="205663" y="569595"/>
                      </a:lnTo>
                      <a:lnTo>
                        <a:pt x="223570" y="606171"/>
                      </a:lnTo>
                      <a:lnTo>
                        <a:pt x="245592" y="639368"/>
                      </a:lnTo>
                      <a:lnTo>
                        <a:pt x="245592" y="556107"/>
                      </a:lnTo>
                      <a:lnTo>
                        <a:pt x="237947" y="539661"/>
                      </a:lnTo>
                      <a:lnTo>
                        <a:pt x="223088" y="492544"/>
                      </a:lnTo>
                      <a:lnTo>
                        <a:pt x="328815" y="492544"/>
                      </a:lnTo>
                      <a:lnTo>
                        <a:pt x="328815" y="451624"/>
                      </a:lnTo>
                      <a:lnTo>
                        <a:pt x="61391" y="451624"/>
                      </a:lnTo>
                      <a:lnTo>
                        <a:pt x="53441" y="450011"/>
                      </a:lnTo>
                      <a:lnTo>
                        <a:pt x="46939" y="445617"/>
                      </a:lnTo>
                      <a:lnTo>
                        <a:pt x="42545" y="439115"/>
                      </a:lnTo>
                      <a:lnTo>
                        <a:pt x="40932" y="431152"/>
                      </a:lnTo>
                      <a:lnTo>
                        <a:pt x="40932" y="267411"/>
                      </a:lnTo>
                      <a:lnTo>
                        <a:pt x="42545" y="259461"/>
                      </a:lnTo>
                      <a:lnTo>
                        <a:pt x="46939" y="252945"/>
                      </a:lnTo>
                      <a:lnTo>
                        <a:pt x="53441" y="248564"/>
                      </a:lnTo>
                      <a:lnTo>
                        <a:pt x="61391" y="246951"/>
                      </a:lnTo>
                      <a:lnTo>
                        <a:pt x="637171" y="246951"/>
                      </a:lnTo>
                      <a:lnTo>
                        <a:pt x="645134" y="248564"/>
                      </a:lnTo>
                      <a:lnTo>
                        <a:pt x="651649" y="252945"/>
                      </a:lnTo>
                      <a:lnTo>
                        <a:pt x="656031" y="259461"/>
                      </a:lnTo>
                      <a:lnTo>
                        <a:pt x="657644" y="267411"/>
                      </a:lnTo>
                      <a:lnTo>
                        <a:pt x="657644" y="186601"/>
                      </a:lnTo>
                      <a:lnTo>
                        <a:pt x="652703" y="176491"/>
                      </a:lnTo>
                      <a:lnTo>
                        <a:pt x="627672" y="138747"/>
                      </a:lnTo>
                      <a:lnTo>
                        <a:pt x="622236" y="132486"/>
                      </a:lnTo>
                      <a:lnTo>
                        <a:pt x="622236" y="206019"/>
                      </a:lnTo>
                      <a:lnTo>
                        <a:pt x="517588" y="206019"/>
                      </a:lnTo>
                      <a:lnTo>
                        <a:pt x="506501" y="165747"/>
                      </a:lnTo>
                      <a:lnTo>
                        <a:pt x="492836" y="128790"/>
                      </a:lnTo>
                      <a:lnTo>
                        <a:pt x="476770" y="95567"/>
                      </a:lnTo>
                      <a:lnTo>
                        <a:pt x="475475" y="93522"/>
                      </a:lnTo>
                      <a:lnTo>
                        <a:pt x="475475" y="206019"/>
                      </a:lnTo>
                      <a:lnTo>
                        <a:pt x="369747" y="206019"/>
                      </a:lnTo>
                      <a:lnTo>
                        <a:pt x="369747" y="44348"/>
                      </a:lnTo>
                      <a:lnTo>
                        <a:pt x="407835" y="69380"/>
                      </a:lnTo>
                      <a:lnTo>
                        <a:pt x="438099" y="110451"/>
                      </a:lnTo>
                      <a:lnTo>
                        <a:pt x="460629" y="158902"/>
                      </a:lnTo>
                      <a:lnTo>
                        <a:pt x="475475" y="206019"/>
                      </a:lnTo>
                      <a:lnTo>
                        <a:pt x="475475" y="93522"/>
                      </a:lnTo>
                      <a:lnTo>
                        <a:pt x="458457" y="66497"/>
                      </a:lnTo>
                      <a:lnTo>
                        <a:pt x="456653" y="63995"/>
                      </a:lnTo>
                      <a:lnTo>
                        <a:pt x="454825" y="61569"/>
                      </a:lnTo>
                      <a:lnTo>
                        <a:pt x="452983" y="59194"/>
                      </a:lnTo>
                      <a:lnTo>
                        <a:pt x="494665" y="77863"/>
                      </a:lnTo>
                      <a:lnTo>
                        <a:pt x="533107" y="102336"/>
                      </a:lnTo>
                      <a:lnTo>
                        <a:pt x="567639" y="132168"/>
                      </a:lnTo>
                      <a:lnTo>
                        <a:pt x="597573" y="166890"/>
                      </a:lnTo>
                      <a:lnTo>
                        <a:pt x="622236" y="206019"/>
                      </a:lnTo>
                      <a:lnTo>
                        <a:pt x="622236" y="132486"/>
                      </a:lnTo>
                      <a:lnTo>
                        <a:pt x="564324" y="74485"/>
                      </a:lnTo>
                      <a:lnTo>
                        <a:pt x="526897" y="48856"/>
                      </a:lnTo>
                      <a:lnTo>
                        <a:pt x="518045" y="44348"/>
                      </a:lnTo>
                      <a:lnTo>
                        <a:pt x="486232" y="28143"/>
                      </a:lnTo>
                      <a:lnTo>
                        <a:pt x="442772" y="12801"/>
                      </a:lnTo>
                      <a:lnTo>
                        <a:pt x="396976" y="3263"/>
                      </a:lnTo>
                      <a:lnTo>
                        <a:pt x="349288" y="0"/>
                      </a:lnTo>
                      <a:lnTo>
                        <a:pt x="328815" y="1409"/>
                      </a:lnTo>
                      <a:lnTo>
                        <a:pt x="328815" y="44348"/>
                      </a:lnTo>
                      <a:lnTo>
                        <a:pt x="328815" y="206019"/>
                      </a:lnTo>
                      <a:lnTo>
                        <a:pt x="223088" y="206019"/>
                      </a:lnTo>
                      <a:lnTo>
                        <a:pt x="232905" y="172529"/>
                      </a:lnTo>
                      <a:lnTo>
                        <a:pt x="258140" y="114427"/>
                      </a:lnTo>
                      <a:lnTo>
                        <a:pt x="284048" y="76885"/>
                      </a:lnTo>
                      <a:lnTo>
                        <a:pt x="328815" y="44348"/>
                      </a:lnTo>
                      <a:lnTo>
                        <a:pt x="328815" y="1409"/>
                      </a:lnTo>
                      <a:lnTo>
                        <a:pt x="301586" y="3276"/>
                      </a:lnTo>
                      <a:lnTo>
                        <a:pt x="255778" y="12801"/>
                      </a:lnTo>
                      <a:lnTo>
                        <a:pt x="245592" y="16408"/>
                      </a:lnTo>
                      <a:lnTo>
                        <a:pt x="245592" y="59194"/>
                      </a:lnTo>
                      <a:lnTo>
                        <a:pt x="243751" y="61569"/>
                      </a:lnTo>
                      <a:lnTo>
                        <a:pt x="221805" y="95567"/>
                      </a:lnTo>
                      <a:lnTo>
                        <a:pt x="192074" y="165747"/>
                      </a:lnTo>
                      <a:lnTo>
                        <a:pt x="180975" y="206019"/>
                      </a:lnTo>
                      <a:lnTo>
                        <a:pt x="76352" y="206019"/>
                      </a:lnTo>
                      <a:lnTo>
                        <a:pt x="101003" y="166890"/>
                      </a:lnTo>
                      <a:lnTo>
                        <a:pt x="130937" y="132168"/>
                      </a:lnTo>
                      <a:lnTo>
                        <a:pt x="165468" y="102336"/>
                      </a:lnTo>
                      <a:lnTo>
                        <a:pt x="203911" y="77863"/>
                      </a:lnTo>
                      <a:lnTo>
                        <a:pt x="245592" y="59194"/>
                      </a:lnTo>
                      <a:lnTo>
                        <a:pt x="245592" y="16408"/>
                      </a:lnTo>
                      <a:lnTo>
                        <a:pt x="171653" y="48869"/>
                      </a:lnTo>
                      <a:lnTo>
                        <a:pt x="134239" y="74498"/>
                      </a:lnTo>
                      <a:lnTo>
                        <a:pt x="100495" y="104622"/>
                      </a:lnTo>
                      <a:lnTo>
                        <a:pt x="70891" y="138772"/>
                      </a:lnTo>
                      <a:lnTo>
                        <a:pt x="45872" y="176504"/>
                      </a:lnTo>
                      <a:lnTo>
                        <a:pt x="25882" y="217385"/>
                      </a:lnTo>
                      <a:lnTo>
                        <a:pt x="15240" y="226999"/>
                      </a:lnTo>
                      <a:lnTo>
                        <a:pt x="7073" y="238848"/>
                      </a:lnTo>
                      <a:lnTo>
                        <a:pt x="1841" y="252463"/>
                      </a:lnTo>
                      <a:lnTo>
                        <a:pt x="0" y="267411"/>
                      </a:lnTo>
                      <a:lnTo>
                        <a:pt x="0" y="431152"/>
                      </a:lnTo>
                      <a:lnTo>
                        <a:pt x="1841" y="446112"/>
                      </a:lnTo>
                      <a:lnTo>
                        <a:pt x="7073" y="459727"/>
                      </a:lnTo>
                      <a:lnTo>
                        <a:pt x="15240" y="471576"/>
                      </a:lnTo>
                      <a:lnTo>
                        <a:pt x="25882" y="481190"/>
                      </a:lnTo>
                      <a:lnTo>
                        <a:pt x="45885" y="522071"/>
                      </a:lnTo>
                      <a:lnTo>
                        <a:pt x="70904" y="559816"/>
                      </a:lnTo>
                      <a:lnTo>
                        <a:pt x="100507" y="593953"/>
                      </a:lnTo>
                      <a:lnTo>
                        <a:pt x="134251" y="624078"/>
                      </a:lnTo>
                      <a:lnTo>
                        <a:pt x="171678" y="649706"/>
                      </a:lnTo>
                      <a:lnTo>
                        <a:pt x="212344" y="670420"/>
                      </a:lnTo>
                      <a:lnTo>
                        <a:pt x="255803" y="685761"/>
                      </a:lnTo>
                      <a:lnTo>
                        <a:pt x="301599" y="695299"/>
                      </a:lnTo>
                      <a:lnTo>
                        <a:pt x="349288" y="698576"/>
                      </a:lnTo>
                      <a:lnTo>
                        <a:pt x="396989" y="695299"/>
                      </a:lnTo>
                      <a:lnTo>
                        <a:pt x="442798" y="685761"/>
                      </a:lnTo>
                      <a:lnTo>
                        <a:pt x="486257" y="670420"/>
                      </a:lnTo>
                      <a:lnTo>
                        <a:pt x="518058" y="654215"/>
                      </a:lnTo>
                      <a:lnTo>
                        <a:pt x="526910" y="649706"/>
                      </a:lnTo>
                      <a:lnTo>
                        <a:pt x="564337" y="624065"/>
                      </a:lnTo>
                      <a:lnTo>
                        <a:pt x="598081" y="593953"/>
                      </a:lnTo>
                      <a:lnTo>
                        <a:pt x="627684" y="559803"/>
                      </a:lnTo>
                      <a:lnTo>
                        <a:pt x="652703" y="522071"/>
                      </a:lnTo>
                      <a:lnTo>
                        <a:pt x="667270" y="492277"/>
                      </a:lnTo>
                      <a:lnTo>
                        <a:pt x="672693" y="481190"/>
                      </a:lnTo>
                      <a:lnTo>
                        <a:pt x="683336" y="471563"/>
                      </a:lnTo>
                      <a:lnTo>
                        <a:pt x="691502" y="459727"/>
                      </a:lnTo>
                      <a:lnTo>
                        <a:pt x="694613" y="451624"/>
                      </a:lnTo>
                      <a:lnTo>
                        <a:pt x="696734" y="446112"/>
                      </a:lnTo>
                      <a:lnTo>
                        <a:pt x="698576" y="431152"/>
                      </a:lnTo>
                      <a:lnTo>
                        <a:pt x="698576" y="267411"/>
                      </a:lnTo>
                      <a:close/>
                    </a:path>
                  </a:pathLst>
                </a:custGeom>
                <a:solidFill>
                  <a:schemeClr val="accent1">
                    <a:lumMod val="75000"/>
                  </a:schemeClr>
                </a:solidFill>
                <a:ln>
                  <a:solidFill>
                    <a:schemeClr val="accent1"/>
                  </a:solidFill>
                </a:ln>
              </p:spPr>
              <p:txBody>
                <a:bodyPr wrap="square" lIns="0" tIns="0" rIns="0" bIns="0" rtlCol="0"/>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black"/>
                    </a:solidFill>
                    <a:effectLst/>
                    <a:uLnTx/>
                    <a:uFillTx/>
                    <a:latin typeface="Calibri"/>
                    <a:ea typeface="+mn-ea"/>
                    <a:cs typeface="+mn-cs"/>
                  </a:endParaRPr>
                </a:p>
              </p:txBody>
            </p:sp>
            <p:pic>
              <p:nvPicPr>
                <p:cNvPr id="24" name="Picture 20" descr="Bajaj Logo and symbol, meaning, history, PNG, brand">
                  <a:extLst>
                    <a:ext uri="{FF2B5EF4-FFF2-40B4-BE49-F238E27FC236}">
                      <a16:creationId xmlns:a16="http://schemas.microsoft.com/office/drawing/2014/main" id="{A1F4D83A-ADD4-8E73-C3B4-241375C8F6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784" r="21017"/>
                <a:stretch/>
              </p:blipFill>
              <p:spPr bwMode="auto">
                <a:xfrm>
                  <a:off x="5866710" y="922939"/>
                  <a:ext cx="374200" cy="402692"/>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30" name="Picture 18" descr="Premium Vector | Robot icon. chat bot sign for support service concept.  chatbot character flat style.">
                  <a:extLst>
                    <a:ext uri="{FF2B5EF4-FFF2-40B4-BE49-F238E27FC236}">
                      <a16:creationId xmlns:a16="http://schemas.microsoft.com/office/drawing/2014/main" id="{9F5DE6A7-2461-CA56-FADF-5952D9255B0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204" t="21641" r="9736" b="22347"/>
                <a:stretch/>
              </p:blipFill>
              <p:spPr bwMode="auto">
                <a:xfrm>
                  <a:off x="10793180" y="1064533"/>
                  <a:ext cx="613113" cy="367656"/>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31" name="Picture 22" descr="yellow.ai | Bangalore">
                  <a:extLst>
                    <a:ext uri="{FF2B5EF4-FFF2-40B4-BE49-F238E27FC236}">
                      <a16:creationId xmlns:a16="http://schemas.microsoft.com/office/drawing/2014/main" id="{B078DC4B-7F4F-81DD-620A-8C166BE1B6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74369" y="1087848"/>
                  <a:ext cx="386205" cy="306209"/>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33" name="Rectangle: Rounded Corners 32">
                  <a:extLst>
                    <a:ext uri="{FF2B5EF4-FFF2-40B4-BE49-F238E27FC236}">
                      <a16:creationId xmlns:a16="http://schemas.microsoft.com/office/drawing/2014/main" id="{736DB4C0-06D3-3966-4165-106A9D278294}"/>
                    </a:ext>
                  </a:extLst>
                </p:cNvPr>
                <p:cNvSpPr/>
                <p:nvPr/>
              </p:nvSpPr>
              <p:spPr bwMode="gray">
                <a:xfrm>
                  <a:off x="239153" y="4432529"/>
                  <a:ext cx="1534311" cy="582683"/>
                </a:xfrm>
                <a:prstGeom prst="roundRect">
                  <a:avLst/>
                </a:prstGeom>
                <a:solidFill>
                  <a:srgbClr val="D6E1F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1" dirty="0">
                      <a:solidFill>
                        <a:srgbClr val="005DAB">
                          <a:lumMod val="50000"/>
                        </a:srgbClr>
                      </a:solidFill>
                      <a:latin typeface="Graphik" panose="020B0503030202060203" pitchFamily="34" charset="0"/>
                    </a:rPr>
                    <a:t>Datawarehouse</a:t>
                  </a:r>
                  <a:r>
                    <a:rPr kumimoji="0" lang="en-IN" sz="1200" b="1" i="1" u="none" strike="noStrike" kern="1200" cap="none" spc="0" normalizeH="0" baseline="0" noProof="0" dirty="0">
                      <a:ln>
                        <a:noFill/>
                      </a:ln>
                      <a:solidFill>
                        <a:srgbClr val="005DAB">
                          <a:lumMod val="50000"/>
                        </a:srgbClr>
                      </a:solidFill>
                      <a:effectLst/>
                      <a:uLnTx/>
                      <a:uFillTx/>
                      <a:latin typeface="Graphik" panose="020B0503030202060203" pitchFamily="34" charset="0"/>
                    </a:rPr>
                    <a:t> Integration </a:t>
                  </a:r>
                  <a:endParaRPr kumimoji="0" lang="en-IN" sz="1200" b="0" i="0" u="none" strike="noStrike" kern="1200" cap="none" spc="0" normalizeH="0" baseline="0" noProof="0" dirty="0">
                    <a:ln>
                      <a:noFill/>
                    </a:ln>
                    <a:solidFill>
                      <a:srgbClr val="005DAB">
                        <a:lumMod val="50000"/>
                      </a:srgbClr>
                    </a:solidFill>
                    <a:effectLst/>
                    <a:uLnTx/>
                    <a:uFillTx/>
                    <a:latin typeface="Graphik" panose="020B0503030202060203" pitchFamily="34" charset="0"/>
                  </a:endParaRPr>
                </a:p>
              </p:txBody>
            </p:sp>
            <p:sp>
              <p:nvSpPr>
                <p:cNvPr id="34" name="Rectangle: Rounded Corners 33">
                  <a:extLst>
                    <a:ext uri="{FF2B5EF4-FFF2-40B4-BE49-F238E27FC236}">
                      <a16:creationId xmlns:a16="http://schemas.microsoft.com/office/drawing/2014/main" id="{D2301115-E5DC-E78E-8517-A884401179ED}"/>
                    </a:ext>
                  </a:extLst>
                </p:cNvPr>
                <p:cNvSpPr/>
                <p:nvPr/>
              </p:nvSpPr>
              <p:spPr bwMode="gray">
                <a:xfrm flipH="1">
                  <a:off x="8806247" y="3013208"/>
                  <a:ext cx="3029797" cy="540698"/>
                </a:xfrm>
                <a:prstGeom prst="roundRect">
                  <a:avLst/>
                </a:prstGeom>
                <a:solidFill>
                  <a:srgbClr val="D6E1F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defRPr/>
                  </a:pPr>
                  <a:r>
                    <a:rPr lang="en-IN" sz="1200" b="1" i="1">
                      <a:solidFill>
                        <a:srgbClr val="005DAB">
                          <a:lumMod val="50000"/>
                        </a:srgbClr>
                      </a:solidFill>
                      <a:latin typeface="Graphik" panose="020B0503030202060203" pitchFamily="34" charset="0"/>
                    </a:rPr>
                    <a:t>Amazon booking </a:t>
                  </a:r>
                  <a:r>
                    <a:rPr lang="en-US" sz="1200" b="1" i="1">
                      <a:solidFill>
                        <a:srgbClr val="005DAB">
                          <a:lumMod val="50000"/>
                        </a:srgbClr>
                      </a:solidFill>
                      <a:latin typeface="Graphik" panose="020B0503030202060203" pitchFamily="34" charset="0"/>
                    </a:rPr>
                    <a:t>(</a:t>
                  </a:r>
                  <a:r>
                    <a:rPr lang="en-US" sz="1200" i="1">
                      <a:solidFill>
                        <a:srgbClr val="005DAB">
                          <a:lumMod val="50000"/>
                        </a:srgbClr>
                      </a:solidFill>
                      <a:latin typeface="Graphik" panose="020B0503030202060203" pitchFamily="34" charset="0"/>
                    </a:rPr>
                    <a:t>Direct Integration – Digital Enquires)</a:t>
                  </a:r>
                  <a:endParaRPr lang="en-IN" sz="1200" i="1">
                    <a:solidFill>
                      <a:srgbClr val="005DAB">
                        <a:lumMod val="50000"/>
                      </a:srgbClr>
                    </a:solidFill>
                    <a:latin typeface="Graphik" panose="020B0503030202060203"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1" i="1" u="none" strike="noStrike" kern="1200" cap="none" spc="0" normalizeH="0" baseline="0" noProof="0">
                    <a:ln>
                      <a:noFill/>
                    </a:ln>
                    <a:solidFill>
                      <a:srgbClr val="005DAB">
                        <a:lumMod val="50000"/>
                      </a:srgbClr>
                    </a:solidFill>
                    <a:effectLst/>
                    <a:uLnTx/>
                    <a:uFillTx/>
                    <a:latin typeface="Graphik" panose="020B0503030202060203" pitchFamily="34" charset="0"/>
                  </a:endParaRPr>
                </a:p>
              </p:txBody>
            </p:sp>
            <p:cxnSp>
              <p:nvCxnSpPr>
                <p:cNvPr id="35" name="Straight Connector 34">
                  <a:extLst>
                    <a:ext uri="{FF2B5EF4-FFF2-40B4-BE49-F238E27FC236}">
                      <a16:creationId xmlns:a16="http://schemas.microsoft.com/office/drawing/2014/main" id="{3D16074A-8404-4A31-2BE3-5D9DD374939D}"/>
                    </a:ext>
                  </a:extLst>
                </p:cNvPr>
                <p:cNvCxnSpPr>
                  <a:cxnSpLocks/>
                </p:cNvCxnSpPr>
                <p:nvPr/>
              </p:nvCxnSpPr>
              <p:spPr bwMode="gray">
                <a:xfrm flipH="1" flipV="1">
                  <a:off x="8174448" y="3273010"/>
                  <a:ext cx="631801" cy="3"/>
                </a:xfrm>
                <a:prstGeom prst="line">
                  <a:avLst/>
                </a:prstGeom>
                <a:gradFill flip="none" rotWithShape="1">
                  <a:gsLst>
                    <a:gs pos="0">
                      <a:schemeClr val="accent2">
                        <a:lumMod val="40000"/>
                        <a:lumOff val="60000"/>
                      </a:schemeClr>
                    </a:gs>
                    <a:gs pos="50000">
                      <a:schemeClr val="accent2">
                        <a:lumMod val="20000"/>
                        <a:lumOff val="80000"/>
                      </a:schemeClr>
                    </a:gs>
                    <a:gs pos="100000">
                      <a:schemeClr val="accent3">
                        <a:lumMod val="20000"/>
                        <a:lumOff val="80000"/>
                      </a:schemeClr>
                    </a:gs>
                  </a:gsLst>
                  <a:path path="circle">
                    <a:fillToRect l="100000" t="100000"/>
                  </a:path>
                  <a:tileRect r="-100000" b="-100000"/>
                </a:gradFill>
                <a:ln w="19050" cap="flat">
                  <a:solidFill>
                    <a:schemeClr val="accent1"/>
                  </a:solidFill>
                  <a:miter lim="8000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23E19C-F5A7-079E-ADE8-CC5DAA6440EA}"/>
                    </a:ext>
                  </a:extLst>
                </p:cNvPr>
                <p:cNvCxnSpPr>
                  <a:cxnSpLocks/>
                </p:cNvCxnSpPr>
                <p:nvPr/>
              </p:nvCxnSpPr>
              <p:spPr bwMode="gray">
                <a:xfrm flipH="1">
                  <a:off x="7183102" y="3273010"/>
                  <a:ext cx="1002966" cy="432419"/>
                </a:xfrm>
                <a:prstGeom prst="line">
                  <a:avLst/>
                </a:prstGeom>
                <a:gradFill flip="none" rotWithShape="1">
                  <a:gsLst>
                    <a:gs pos="0">
                      <a:schemeClr val="accent2">
                        <a:lumMod val="40000"/>
                        <a:lumOff val="60000"/>
                      </a:schemeClr>
                    </a:gs>
                    <a:gs pos="50000">
                      <a:schemeClr val="accent2">
                        <a:lumMod val="20000"/>
                        <a:lumOff val="80000"/>
                      </a:schemeClr>
                    </a:gs>
                    <a:gs pos="100000">
                      <a:schemeClr val="accent3">
                        <a:lumMod val="20000"/>
                        <a:lumOff val="80000"/>
                      </a:schemeClr>
                    </a:gs>
                  </a:gsLst>
                  <a:path path="circle">
                    <a:fillToRect l="100000" t="100000"/>
                  </a:path>
                  <a:tileRect r="-100000" b="-100000"/>
                </a:gradFill>
                <a:ln w="19050" cap="flat">
                  <a:solidFill>
                    <a:schemeClr val="accent1"/>
                  </a:solidFill>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CF67B80-2AB1-9B00-CB97-9AB048C7AD12}"/>
                    </a:ext>
                  </a:extLst>
                </p:cNvPr>
                <p:cNvCxnSpPr>
                  <a:cxnSpLocks/>
                </p:cNvCxnSpPr>
                <p:nvPr/>
              </p:nvCxnSpPr>
              <p:spPr bwMode="gray">
                <a:xfrm flipH="1" flipV="1">
                  <a:off x="8136931" y="5039020"/>
                  <a:ext cx="631801" cy="3"/>
                </a:xfrm>
                <a:prstGeom prst="line">
                  <a:avLst/>
                </a:prstGeom>
                <a:gradFill flip="none" rotWithShape="1">
                  <a:gsLst>
                    <a:gs pos="0">
                      <a:schemeClr val="accent2">
                        <a:lumMod val="40000"/>
                        <a:lumOff val="60000"/>
                      </a:schemeClr>
                    </a:gs>
                    <a:gs pos="50000">
                      <a:schemeClr val="accent2">
                        <a:lumMod val="20000"/>
                        <a:lumOff val="80000"/>
                      </a:schemeClr>
                    </a:gs>
                    <a:gs pos="100000">
                      <a:schemeClr val="accent3">
                        <a:lumMod val="20000"/>
                        <a:lumOff val="80000"/>
                      </a:schemeClr>
                    </a:gs>
                  </a:gsLst>
                  <a:path path="circle">
                    <a:fillToRect l="100000" t="100000"/>
                  </a:path>
                  <a:tileRect r="-100000" b="-100000"/>
                </a:gradFill>
                <a:ln w="19050" cap="flat">
                  <a:solidFill>
                    <a:schemeClr val="accent1"/>
                  </a:solidFill>
                  <a:miter lim="8000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4B5F8D8-2676-9D82-F3FF-5583DF62721A}"/>
                    </a:ext>
                  </a:extLst>
                </p:cNvPr>
                <p:cNvCxnSpPr>
                  <a:cxnSpLocks/>
                </p:cNvCxnSpPr>
                <p:nvPr/>
              </p:nvCxnSpPr>
              <p:spPr bwMode="gray">
                <a:xfrm flipH="1" flipV="1">
                  <a:off x="6979321" y="4805649"/>
                  <a:ext cx="1174733" cy="233371"/>
                </a:xfrm>
                <a:prstGeom prst="line">
                  <a:avLst/>
                </a:prstGeom>
                <a:gradFill flip="none" rotWithShape="1">
                  <a:gsLst>
                    <a:gs pos="0">
                      <a:schemeClr val="accent2">
                        <a:lumMod val="40000"/>
                        <a:lumOff val="60000"/>
                      </a:schemeClr>
                    </a:gs>
                    <a:gs pos="50000">
                      <a:schemeClr val="accent2">
                        <a:lumMod val="20000"/>
                        <a:lumOff val="80000"/>
                      </a:schemeClr>
                    </a:gs>
                    <a:gs pos="100000">
                      <a:schemeClr val="accent3">
                        <a:lumMod val="20000"/>
                        <a:lumOff val="80000"/>
                      </a:schemeClr>
                    </a:gs>
                  </a:gsLst>
                  <a:path path="circle">
                    <a:fillToRect l="100000" t="100000"/>
                  </a:path>
                  <a:tileRect r="-100000" b="-100000"/>
                </a:gradFill>
                <a:ln w="19050" cap="flat">
                  <a:solidFill>
                    <a:schemeClr val="accent1"/>
                  </a:solidFill>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cxnSp>
          <p:nvCxnSpPr>
            <p:cNvPr id="9" name="Straight Arrow Connector 8">
              <a:extLst>
                <a:ext uri="{FF2B5EF4-FFF2-40B4-BE49-F238E27FC236}">
                  <a16:creationId xmlns:a16="http://schemas.microsoft.com/office/drawing/2014/main" id="{4BE5C412-6956-E954-CF26-10160F8043C0}"/>
                </a:ext>
              </a:extLst>
            </p:cNvPr>
            <p:cNvCxnSpPr>
              <a:cxnSpLocks/>
              <a:stCxn id="33" idx="3"/>
            </p:cNvCxnSpPr>
            <p:nvPr/>
          </p:nvCxnSpPr>
          <p:spPr bwMode="gray">
            <a:xfrm>
              <a:off x="1930446" y="4772963"/>
              <a:ext cx="2680491" cy="0"/>
            </a:xfrm>
            <a:prstGeom prst="straightConnector1">
              <a:avLst/>
            </a:prstGeom>
            <a:ln w="19050" cap="flat">
              <a:solidFill>
                <a:schemeClr val="accent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39" name="Connector: Elbow 38">
            <a:extLst>
              <a:ext uri="{FF2B5EF4-FFF2-40B4-BE49-F238E27FC236}">
                <a16:creationId xmlns:a16="http://schemas.microsoft.com/office/drawing/2014/main" id="{BD9BE3C9-F125-44E1-1E44-770B6CD4ECD7}"/>
              </a:ext>
            </a:extLst>
          </p:cNvPr>
          <p:cNvCxnSpPr>
            <a:cxnSpLocks/>
          </p:cNvCxnSpPr>
          <p:nvPr/>
        </p:nvCxnSpPr>
        <p:spPr bwMode="gray">
          <a:xfrm flipV="1">
            <a:off x="3686225" y="5476731"/>
            <a:ext cx="2230062" cy="537795"/>
          </a:xfrm>
          <a:prstGeom prst="bentConnector3">
            <a:avLst>
              <a:gd name="adj1" fmla="val 99925"/>
            </a:avLst>
          </a:prstGeom>
          <a:ln w="19050" cap="flat">
            <a:solidFill>
              <a:schemeClr val="accent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0" name="Picture 39" descr="A logo with white letters and orange and black background">
            <a:extLst>
              <a:ext uri="{FF2B5EF4-FFF2-40B4-BE49-F238E27FC236}">
                <a16:creationId xmlns:a16="http://schemas.microsoft.com/office/drawing/2014/main" id="{E15D2C48-9204-A23A-647B-5EA4EE30BD5F}"/>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9465698" y="2654230"/>
            <a:ext cx="1256251" cy="295588"/>
          </a:xfrm>
          <a:prstGeom prst="rect">
            <a:avLst/>
          </a:prstGeom>
        </p:spPr>
      </p:pic>
      <p:pic>
        <p:nvPicPr>
          <p:cNvPr id="42" name="Picture 41" descr="A logo of a company&#10;&#10;AI-generated content may be incorrect.">
            <a:extLst>
              <a:ext uri="{FF2B5EF4-FFF2-40B4-BE49-F238E27FC236}">
                <a16:creationId xmlns:a16="http://schemas.microsoft.com/office/drawing/2014/main" id="{7E8DB590-4DE2-1F1D-F373-BAAF83CE9D09}"/>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5256351" y="3655993"/>
            <a:ext cx="1178588" cy="521147"/>
          </a:xfrm>
          <a:prstGeom prst="rect">
            <a:avLst/>
          </a:prstGeom>
        </p:spPr>
      </p:pic>
      <p:sp>
        <p:nvSpPr>
          <p:cNvPr id="6" name="TextBox 5">
            <a:extLst>
              <a:ext uri="{FF2B5EF4-FFF2-40B4-BE49-F238E27FC236}">
                <a16:creationId xmlns:a16="http://schemas.microsoft.com/office/drawing/2014/main" id="{CB5AEE75-2D51-02BD-26FD-7CFCB312DC92}"/>
              </a:ext>
            </a:extLst>
          </p:cNvPr>
          <p:cNvSpPr txBox="1"/>
          <p:nvPr/>
        </p:nvSpPr>
        <p:spPr>
          <a:xfrm>
            <a:off x="356428" y="1708553"/>
            <a:ext cx="3093914"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5DAB">
                    <a:lumMod val="50000"/>
                  </a:srgbClr>
                </a:solidFill>
                <a:effectLst/>
                <a:uLnTx/>
                <a:uFillTx/>
                <a:latin typeface="Graphik" panose="020B0503030202060203" pitchFamily="34" charset="0"/>
              </a:rPr>
              <a:t>CRM Platform(LSQ)</a:t>
            </a:r>
            <a:endParaRPr kumimoji="0" lang="en-IN" sz="1100" b="1" i="1" u="none" strike="noStrike" kern="1200" cap="none" spc="0" normalizeH="0" baseline="0" noProof="0">
              <a:ln>
                <a:noFill/>
              </a:ln>
              <a:solidFill>
                <a:srgbClr val="005DAB">
                  <a:lumMod val="50000"/>
                </a:srgbClr>
              </a:solidFill>
              <a:effectLst/>
              <a:uLnTx/>
              <a:uFillTx/>
              <a:latin typeface="Graphik" panose="020B0503030202060203" pitchFamily="34" charset="0"/>
            </a:endParaRPr>
          </a:p>
        </p:txBody>
      </p:sp>
    </p:spTree>
    <p:extLst>
      <p:ext uri="{BB962C8B-B14F-4D97-AF65-F5344CB8AC3E}">
        <p14:creationId xmlns:p14="http://schemas.microsoft.com/office/powerpoint/2010/main" val="2414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FE31CE-C87F-9C13-0095-947406B0426A}"/>
              </a:ext>
            </a:extLst>
          </p:cNvPr>
          <p:cNvSpPr>
            <a:spLocks noGrp="1"/>
          </p:cNvSpPr>
          <p:nvPr>
            <p:ph type="title"/>
          </p:nvPr>
        </p:nvSpPr>
        <p:spPr/>
        <p:txBody>
          <a:bodyPr>
            <a:normAutofit/>
          </a:bodyPr>
          <a:lstStyle/>
          <a:p>
            <a:pPr lvl="0"/>
            <a:r>
              <a:rPr lang="en-US" dirty="0"/>
              <a:t>Key Metrics &amp; Business Outcomes</a:t>
            </a:r>
          </a:p>
        </p:txBody>
      </p:sp>
      <p:graphicFrame>
        <p:nvGraphicFramePr>
          <p:cNvPr id="2" name="Diagram 1">
            <a:extLst>
              <a:ext uri="{FF2B5EF4-FFF2-40B4-BE49-F238E27FC236}">
                <a16:creationId xmlns:a16="http://schemas.microsoft.com/office/drawing/2014/main" id="{6D8A9CE2-508C-083C-C2CA-2C535C6ABE28}"/>
              </a:ext>
            </a:extLst>
          </p:cNvPr>
          <p:cNvGraphicFramePr/>
          <p:nvPr/>
        </p:nvGraphicFramePr>
        <p:xfrm>
          <a:off x="0" y="1033273"/>
          <a:ext cx="3850501" cy="5312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EBEECEAD-3A45-9765-B268-2FF2F08DE7E8}"/>
              </a:ext>
            </a:extLst>
          </p:cNvPr>
          <p:cNvSpPr txBox="1"/>
          <p:nvPr/>
        </p:nvSpPr>
        <p:spPr>
          <a:xfrm>
            <a:off x="228600" y="1885223"/>
            <a:ext cx="868680" cy="338554"/>
          </a:xfrm>
          <a:prstGeom prst="rect">
            <a:avLst/>
          </a:prstGeom>
          <a:noFill/>
        </p:spPr>
        <p:txBody>
          <a:bodyPr wrap="square" rtlCol="0">
            <a:spAutoFit/>
          </a:bodyPr>
          <a:lstStyle/>
          <a:p>
            <a:r>
              <a:rPr lang="en-US" sz="1600" b="1" dirty="0"/>
              <a:t>&gt; 8 M</a:t>
            </a:r>
          </a:p>
        </p:txBody>
      </p:sp>
      <p:sp>
        <p:nvSpPr>
          <p:cNvPr id="5" name="TextBox 4">
            <a:extLst>
              <a:ext uri="{FF2B5EF4-FFF2-40B4-BE49-F238E27FC236}">
                <a16:creationId xmlns:a16="http://schemas.microsoft.com/office/drawing/2014/main" id="{4E67BB9C-347F-1186-F28C-427607CDD929}"/>
              </a:ext>
            </a:extLst>
          </p:cNvPr>
          <p:cNvSpPr txBox="1"/>
          <p:nvPr/>
        </p:nvSpPr>
        <p:spPr>
          <a:xfrm>
            <a:off x="228600" y="5214447"/>
            <a:ext cx="868680" cy="338554"/>
          </a:xfrm>
          <a:prstGeom prst="rect">
            <a:avLst/>
          </a:prstGeom>
          <a:noFill/>
        </p:spPr>
        <p:txBody>
          <a:bodyPr wrap="square" rtlCol="0">
            <a:spAutoFit/>
          </a:bodyPr>
          <a:lstStyle/>
          <a:p>
            <a:r>
              <a:rPr lang="en-US" sz="1600" b="1" dirty="0"/>
              <a:t>&gt; 4 M</a:t>
            </a:r>
          </a:p>
        </p:txBody>
      </p:sp>
      <p:sp>
        <p:nvSpPr>
          <p:cNvPr id="6" name="TextBox 5">
            <a:extLst>
              <a:ext uri="{FF2B5EF4-FFF2-40B4-BE49-F238E27FC236}">
                <a16:creationId xmlns:a16="http://schemas.microsoft.com/office/drawing/2014/main" id="{3755EAE7-4894-D9F8-E096-4989AF0E210F}"/>
              </a:ext>
            </a:extLst>
          </p:cNvPr>
          <p:cNvSpPr txBox="1"/>
          <p:nvPr/>
        </p:nvSpPr>
        <p:spPr>
          <a:xfrm>
            <a:off x="662940" y="4082958"/>
            <a:ext cx="868680" cy="338554"/>
          </a:xfrm>
          <a:prstGeom prst="rect">
            <a:avLst/>
          </a:prstGeom>
          <a:noFill/>
        </p:spPr>
        <p:txBody>
          <a:bodyPr wrap="square" rtlCol="0">
            <a:spAutoFit/>
          </a:bodyPr>
          <a:lstStyle/>
          <a:p>
            <a:r>
              <a:rPr lang="en-US" sz="1600" b="1" dirty="0"/>
              <a:t>&gt; 1 K</a:t>
            </a:r>
          </a:p>
        </p:txBody>
      </p:sp>
      <p:sp>
        <p:nvSpPr>
          <p:cNvPr id="7" name="TextBox 6">
            <a:extLst>
              <a:ext uri="{FF2B5EF4-FFF2-40B4-BE49-F238E27FC236}">
                <a16:creationId xmlns:a16="http://schemas.microsoft.com/office/drawing/2014/main" id="{87A986BE-AA29-98C5-16F4-9E3B09486BF3}"/>
              </a:ext>
            </a:extLst>
          </p:cNvPr>
          <p:cNvSpPr txBox="1"/>
          <p:nvPr/>
        </p:nvSpPr>
        <p:spPr>
          <a:xfrm>
            <a:off x="562356" y="2966845"/>
            <a:ext cx="868680" cy="338554"/>
          </a:xfrm>
          <a:prstGeom prst="rect">
            <a:avLst/>
          </a:prstGeom>
          <a:noFill/>
        </p:spPr>
        <p:txBody>
          <a:bodyPr wrap="square" rtlCol="0">
            <a:spAutoFit/>
          </a:bodyPr>
          <a:lstStyle/>
          <a:p>
            <a:r>
              <a:rPr lang="en-US" sz="1600" b="1" dirty="0"/>
              <a:t>&gt; 150 K</a:t>
            </a:r>
          </a:p>
        </p:txBody>
      </p:sp>
      <p:grpSp>
        <p:nvGrpSpPr>
          <p:cNvPr id="13" name="Group 12">
            <a:extLst>
              <a:ext uri="{FF2B5EF4-FFF2-40B4-BE49-F238E27FC236}">
                <a16:creationId xmlns:a16="http://schemas.microsoft.com/office/drawing/2014/main" id="{53CC8E4F-E0D6-48DF-95CB-8EB5FBC54E80}"/>
              </a:ext>
            </a:extLst>
          </p:cNvPr>
          <p:cNvGrpSpPr/>
          <p:nvPr/>
        </p:nvGrpSpPr>
        <p:grpSpPr>
          <a:xfrm>
            <a:off x="4462272" y="1095720"/>
            <a:ext cx="3122263" cy="647743"/>
            <a:chOff x="853" y="525643"/>
            <a:chExt cx="2590973" cy="647743"/>
          </a:xfrm>
        </p:grpSpPr>
        <p:sp>
          <p:nvSpPr>
            <p:cNvPr id="14" name="Rectangle: Rounded Corners 13">
              <a:extLst>
                <a:ext uri="{FF2B5EF4-FFF2-40B4-BE49-F238E27FC236}">
                  <a16:creationId xmlns:a16="http://schemas.microsoft.com/office/drawing/2014/main" id="{C9F051F7-43CC-C560-81FA-A0470EBDC24A}"/>
                </a:ext>
              </a:extLst>
            </p:cNvPr>
            <p:cNvSpPr/>
            <p:nvPr/>
          </p:nvSpPr>
          <p:spPr>
            <a:xfrm>
              <a:off x="853" y="525643"/>
              <a:ext cx="2590973" cy="647743"/>
            </a:xfrm>
            <a:prstGeom prst="roundRect">
              <a:avLst>
                <a:gd name="adj" fmla="val 10000"/>
              </a:avLst>
            </a:prstGeom>
            <a:gradFill rotWithShape="0">
              <a:gsLst>
                <a:gs pos="0">
                  <a:srgbClr val="BE82FF">
                    <a:hueOff val="0"/>
                    <a:satOff val="0"/>
                    <a:lumOff val="0"/>
                    <a:alphaOff val="0"/>
                    <a:satMod val="103000"/>
                    <a:lumMod val="102000"/>
                    <a:tint val="94000"/>
                  </a:srgbClr>
                </a:gs>
                <a:gs pos="50000">
                  <a:srgbClr val="BE82FF">
                    <a:hueOff val="0"/>
                    <a:satOff val="0"/>
                    <a:lumOff val="0"/>
                    <a:alphaOff val="0"/>
                    <a:satMod val="110000"/>
                    <a:lumMod val="100000"/>
                    <a:shade val="100000"/>
                  </a:srgbClr>
                </a:gs>
                <a:gs pos="100000">
                  <a:srgbClr val="BE82FF">
                    <a:hueOff val="0"/>
                    <a:satOff val="0"/>
                    <a:lumOff val="0"/>
                    <a:alphaOff val="0"/>
                    <a:lumMod val="99000"/>
                    <a:satMod val="120000"/>
                    <a:shade val="78000"/>
                  </a:srgbClr>
                </a:gs>
              </a:gsLst>
              <a:lin ang="5400000" scaled="0"/>
            </a:gradFill>
            <a:ln>
              <a:noFill/>
            </a:ln>
            <a:effectLst/>
          </p:spPr>
          <p:style>
            <a:lnRef idx="0">
              <a:scrgbClr r="0" g="0" b="0"/>
            </a:lnRef>
            <a:fillRef idx="3">
              <a:scrgbClr r="0" g="0" b="0"/>
            </a:fillRef>
            <a:effectRef idx="2">
              <a:scrgbClr r="0" g="0" b="0"/>
            </a:effectRef>
            <a:fontRef idx="minor">
              <a:schemeClr val="lt1"/>
            </a:fontRef>
          </p:style>
          <p:txBody>
            <a:bodyPr/>
            <a:lstStyle/>
            <a:p>
              <a:endParaRPr lang="en-US"/>
            </a:p>
          </p:txBody>
        </p:sp>
        <p:sp>
          <p:nvSpPr>
            <p:cNvPr id="15" name="Rectangle: Rounded Corners 4">
              <a:extLst>
                <a:ext uri="{FF2B5EF4-FFF2-40B4-BE49-F238E27FC236}">
                  <a16:creationId xmlns:a16="http://schemas.microsoft.com/office/drawing/2014/main" id="{38E13E9F-E265-93CA-A232-AB19D3626FA8}"/>
                </a:ext>
              </a:extLst>
            </p:cNvPr>
            <p:cNvSpPr txBox="1"/>
            <p:nvPr/>
          </p:nvSpPr>
          <p:spPr>
            <a:xfrm>
              <a:off x="19825" y="544615"/>
              <a:ext cx="2553029" cy="6097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FFFFF"/>
                  </a:solidFill>
                  <a:latin typeface="Graphik"/>
                  <a:ea typeface="+mn-ea"/>
                  <a:cs typeface="+mn-cs"/>
                </a:rPr>
                <a:t>Enablers</a:t>
              </a:r>
            </a:p>
          </p:txBody>
        </p:sp>
      </p:grpSp>
      <p:graphicFrame>
        <p:nvGraphicFramePr>
          <p:cNvPr id="16" name="Diagram 15">
            <a:extLst>
              <a:ext uri="{FF2B5EF4-FFF2-40B4-BE49-F238E27FC236}">
                <a16:creationId xmlns:a16="http://schemas.microsoft.com/office/drawing/2014/main" id="{2C9D78FD-7FE0-DA0B-2638-D40E71968172}"/>
              </a:ext>
            </a:extLst>
          </p:cNvPr>
          <p:cNvGraphicFramePr/>
          <p:nvPr/>
        </p:nvGraphicFramePr>
        <p:xfrm>
          <a:off x="2372359" y="2251861"/>
          <a:ext cx="7447280" cy="403521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7" name="Arrow: Down 16">
            <a:extLst>
              <a:ext uri="{FF2B5EF4-FFF2-40B4-BE49-F238E27FC236}">
                <a16:creationId xmlns:a16="http://schemas.microsoft.com/office/drawing/2014/main" id="{56B681CD-F2CE-4F6B-E726-6C606C4057C3}"/>
              </a:ext>
            </a:extLst>
          </p:cNvPr>
          <p:cNvSpPr/>
          <p:nvPr/>
        </p:nvSpPr>
        <p:spPr>
          <a:xfrm>
            <a:off x="5952744" y="1816071"/>
            <a:ext cx="265176" cy="37334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6ECB95C-7C4A-3019-7022-1C2714DD34A4}"/>
              </a:ext>
            </a:extLst>
          </p:cNvPr>
          <p:cNvGrpSpPr/>
          <p:nvPr/>
        </p:nvGrpSpPr>
        <p:grpSpPr>
          <a:xfrm>
            <a:off x="8647175" y="1095720"/>
            <a:ext cx="3122263" cy="647743"/>
            <a:chOff x="853" y="525643"/>
            <a:chExt cx="2590973" cy="647743"/>
          </a:xfrm>
        </p:grpSpPr>
        <p:sp>
          <p:nvSpPr>
            <p:cNvPr id="19" name="Rectangle: Rounded Corners 18">
              <a:extLst>
                <a:ext uri="{FF2B5EF4-FFF2-40B4-BE49-F238E27FC236}">
                  <a16:creationId xmlns:a16="http://schemas.microsoft.com/office/drawing/2014/main" id="{F2E31077-18B8-9579-2AEE-F88BA62F550B}"/>
                </a:ext>
              </a:extLst>
            </p:cNvPr>
            <p:cNvSpPr/>
            <p:nvPr/>
          </p:nvSpPr>
          <p:spPr>
            <a:xfrm>
              <a:off x="853" y="525643"/>
              <a:ext cx="2590973" cy="647743"/>
            </a:xfrm>
            <a:prstGeom prst="roundRect">
              <a:avLst>
                <a:gd name="adj" fmla="val 10000"/>
              </a:avLst>
            </a:prstGeom>
            <a:gradFill rotWithShape="0">
              <a:gsLst>
                <a:gs pos="0">
                  <a:srgbClr val="BE82FF">
                    <a:hueOff val="0"/>
                    <a:satOff val="0"/>
                    <a:lumOff val="0"/>
                    <a:alphaOff val="0"/>
                    <a:satMod val="103000"/>
                    <a:lumMod val="102000"/>
                    <a:tint val="94000"/>
                  </a:srgbClr>
                </a:gs>
                <a:gs pos="50000">
                  <a:srgbClr val="BE82FF">
                    <a:hueOff val="0"/>
                    <a:satOff val="0"/>
                    <a:lumOff val="0"/>
                    <a:alphaOff val="0"/>
                    <a:satMod val="110000"/>
                    <a:lumMod val="100000"/>
                    <a:shade val="100000"/>
                  </a:srgbClr>
                </a:gs>
                <a:gs pos="100000">
                  <a:srgbClr val="BE82FF">
                    <a:hueOff val="0"/>
                    <a:satOff val="0"/>
                    <a:lumOff val="0"/>
                    <a:alphaOff val="0"/>
                    <a:lumMod val="99000"/>
                    <a:satMod val="120000"/>
                    <a:shade val="78000"/>
                  </a:srgbClr>
                </a:gs>
              </a:gsLst>
              <a:lin ang="5400000" scaled="0"/>
            </a:gradFill>
            <a:ln>
              <a:noFill/>
            </a:ln>
            <a:effectLst/>
          </p:spPr>
          <p:style>
            <a:lnRef idx="0">
              <a:scrgbClr r="0" g="0" b="0"/>
            </a:lnRef>
            <a:fillRef idx="3">
              <a:scrgbClr r="0" g="0" b="0"/>
            </a:fillRef>
            <a:effectRef idx="2">
              <a:scrgbClr r="0" g="0" b="0"/>
            </a:effectRef>
            <a:fontRef idx="minor">
              <a:schemeClr val="lt1"/>
            </a:fontRef>
          </p:style>
          <p:txBody>
            <a:bodyPr/>
            <a:lstStyle/>
            <a:p>
              <a:endParaRPr lang="en-US"/>
            </a:p>
          </p:txBody>
        </p:sp>
        <p:sp>
          <p:nvSpPr>
            <p:cNvPr id="20" name="Rectangle: Rounded Corners 4">
              <a:extLst>
                <a:ext uri="{FF2B5EF4-FFF2-40B4-BE49-F238E27FC236}">
                  <a16:creationId xmlns:a16="http://schemas.microsoft.com/office/drawing/2014/main" id="{E2C70E20-5303-9496-7390-0C80948D5B30}"/>
                </a:ext>
              </a:extLst>
            </p:cNvPr>
            <p:cNvSpPr txBox="1"/>
            <p:nvPr/>
          </p:nvSpPr>
          <p:spPr>
            <a:xfrm>
              <a:off x="19825" y="544615"/>
              <a:ext cx="2553029" cy="6097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FFFFF"/>
                  </a:solidFill>
                  <a:latin typeface="Graphik"/>
                  <a:ea typeface="+mn-ea"/>
                  <a:cs typeface="+mn-cs"/>
                </a:rPr>
                <a:t>Cost Saving</a:t>
              </a:r>
            </a:p>
          </p:txBody>
        </p:sp>
      </p:grpSp>
      <p:sp>
        <p:nvSpPr>
          <p:cNvPr id="21" name="Arrow: Down 20">
            <a:extLst>
              <a:ext uri="{FF2B5EF4-FFF2-40B4-BE49-F238E27FC236}">
                <a16:creationId xmlns:a16="http://schemas.microsoft.com/office/drawing/2014/main" id="{8F6DC5D0-7B9E-C7C7-B698-9C45803F298E}"/>
              </a:ext>
            </a:extLst>
          </p:cNvPr>
          <p:cNvSpPr/>
          <p:nvPr/>
        </p:nvSpPr>
        <p:spPr>
          <a:xfrm>
            <a:off x="10075719" y="1811276"/>
            <a:ext cx="265176" cy="37334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4593E520-E073-126A-5F76-DDDA2BA34FCD}"/>
              </a:ext>
            </a:extLst>
          </p:cNvPr>
          <p:cNvSpPr/>
          <p:nvPr/>
        </p:nvSpPr>
        <p:spPr>
          <a:xfrm>
            <a:off x="8670038" y="2270833"/>
            <a:ext cx="3122263" cy="6477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Monthly Cache Hits  ~4 M</a:t>
            </a:r>
          </a:p>
        </p:txBody>
      </p:sp>
      <p:sp>
        <p:nvSpPr>
          <p:cNvPr id="23" name="Arrow: Down 22">
            <a:extLst>
              <a:ext uri="{FF2B5EF4-FFF2-40B4-BE49-F238E27FC236}">
                <a16:creationId xmlns:a16="http://schemas.microsoft.com/office/drawing/2014/main" id="{E4DAC80E-5F47-60A3-8FA9-45F90309DC16}"/>
              </a:ext>
            </a:extLst>
          </p:cNvPr>
          <p:cNvSpPr/>
          <p:nvPr/>
        </p:nvSpPr>
        <p:spPr>
          <a:xfrm>
            <a:off x="10075720" y="2966845"/>
            <a:ext cx="265176" cy="37334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B9549B23-01E9-E586-A0F9-2C0506EE8252}"/>
              </a:ext>
            </a:extLst>
          </p:cNvPr>
          <p:cNvSpPr/>
          <p:nvPr/>
        </p:nvSpPr>
        <p:spPr>
          <a:xfrm>
            <a:off x="8670038" y="3340933"/>
            <a:ext cx="3122263" cy="7962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Monthly Cost Saving =~ </a:t>
            </a:r>
            <a:r>
              <a:rPr lang="en-US" sz="1400" b="1" dirty="0"/>
              <a:t>Rs 12 Lac</a:t>
            </a:r>
          </a:p>
          <a:p>
            <a:pPr algn="ctr"/>
            <a:r>
              <a:rPr lang="en-US" sz="1400" dirty="0"/>
              <a:t>Yearly Saving = ~</a:t>
            </a:r>
            <a:r>
              <a:rPr lang="en-US" sz="1400" b="1" dirty="0"/>
              <a:t>Rs 1.4 Cr </a:t>
            </a:r>
          </a:p>
        </p:txBody>
      </p:sp>
      <p:grpSp>
        <p:nvGrpSpPr>
          <p:cNvPr id="27" name="Group 26">
            <a:extLst>
              <a:ext uri="{FF2B5EF4-FFF2-40B4-BE49-F238E27FC236}">
                <a16:creationId xmlns:a16="http://schemas.microsoft.com/office/drawing/2014/main" id="{F4E7C0B5-69B6-570A-A5EF-D75BD9F22CE5}"/>
              </a:ext>
            </a:extLst>
          </p:cNvPr>
          <p:cNvGrpSpPr/>
          <p:nvPr/>
        </p:nvGrpSpPr>
        <p:grpSpPr>
          <a:xfrm>
            <a:off x="8670038" y="4352744"/>
            <a:ext cx="3122263" cy="647743"/>
            <a:chOff x="853" y="525643"/>
            <a:chExt cx="2590973" cy="647743"/>
          </a:xfrm>
        </p:grpSpPr>
        <p:sp>
          <p:nvSpPr>
            <p:cNvPr id="28" name="Rectangle: Rounded Corners 27">
              <a:extLst>
                <a:ext uri="{FF2B5EF4-FFF2-40B4-BE49-F238E27FC236}">
                  <a16:creationId xmlns:a16="http://schemas.microsoft.com/office/drawing/2014/main" id="{DC88FB9B-6092-BCF2-A43B-7130536FF85D}"/>
                </a:ext>
              </a:extLst>
            </p:cNvPr>
            <p:cNvSpPr/>
            <p:nvPr/>
          </p:nvSpPr>
          <p:spPr>
            <a:xfrm>
              <a:off x="853" y="525643"/>
              <a:ext cx="2590973" cy="647743"/>
            </a:xfrm>
            <a:prstGeom prst="roundRect">
              <a:avLst>
                <a:gd name="adj" fmla="val 10000"/>
              </a:avLst>
            </a:prstGeom>
            <a:gradFill rotWithShape="0">
              <a:gsLst>
                <a:gs pos="0">
                  <a:srgbClr val="BE82FF">
                    <a:hueOff val="0"/>
                    <a:satOff val="0"/>
                    <a:lumOff val="0"/>
                    <a:alphaOff val="0"/>
                    <a:satMod val="103000"/>
                    <a:lumMod val="102000"/>
                    <a:tint val="94000"/>
                  </a:srgbClr>
                </a:gs>
                <a:gs pos="50000">
                  <a:srgbClr val="BE82FF">
                    <a:hueOff val="0"/>
                    <a:satOff val="0"/>
                    <a:lumOff val="0"/>
                    <a:alphaOff val="0"/>
                    <a:satMod val="110000"/>
                    <a:lumMod val="100000"/>
                    <a:shade val="100000"/>
                  </a:srgbClr>
                </a:gs>
                <a:gs pos="100000">
                  <a:srgbClr val="BE82FF">
                    <a:hueOff val="0"/>
                    <a:satOff val="0"/>
                    <a:lumOff val="0"/>
                    <a:alphaOff val="0"/>
                    <a:lumMod val="99000"/>
                    <a:satMod val="120000"/>
                    <a:shade val="78000"/>
                  </a:srgbClr>
                </a:gs>
              </a:gsLst>
              <a:lin ang="5400000" scaled="0"/>
            </a:gradFill>
            <a:ln>
              <a:noFill/>
            </a:ln>
            <a:effectLst/>
          </p:spPr>
          <p:style>
            <a:lnRef idx="0">
              <a:scrgbClr r="0" g="0" b="0"/>
            </a:lnRef>
            <a:fillRef idx="3">
              <a:scrgbClr r="0" g="0" b="0"/>
            </a:fillRef>
            <a:effectRef idx="2">
              <a:scrgbClr r="0" g="0" b="0"/>
            </a:effectRef>
            <a:fontRef idx="minor">
              <a:schemeClr val="lt1"/>
            </a:fontRef>
          </p:style>
          <p:txBody>
            <a:bodyPr/>
            <a:lstStyle/>
            <a:p>
              <a:endParaRPr lang="en-US"/>
            </a:p>
          </p:txBody>
        </p:sp>
        <p:sp>
          <p:nvSpPr>
            <p:cNvPr id="29" name="Rectangle: Rounded Corners 4">
              <a:extLst>
                <a:ext uri="{FF2B5EF4-FFF2-40B4-BE49-F238E27FC236}">
                  <a16:creationId xmlns:a16="http://schemas.microsoft.com/office/drawing/2014/main" id="{71AE7A40-B205-926A-D1B0-CA60D45881DC}"/>
                </a:ext>
              </a:extLst>
            </p:cNvPr>
            <p:cNvSpPr txBox="1"/>
            <p:nvPr/>
          </p:nvSpPr>
          <p:spPr>
            <a:xfrm>
              <a:off x="19825" y="544615"/>
              <a:ext cx="2553029" cy="6097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FFFFF"/>
                  </a:solidFill>
                  <a:latin typeface="Graphik"/>
                  <a:ea typeface="+mn-ea"/>
                  <a:cs typeface="+mn-cs"/>
                </a:rPr>
                <a:t>Security</a:t>
              </a:r>
            </a:p>
          </p:txBody>
        </p:sp>
      </p:grpSp>
      <p:sp>
        <p:nvSpPr>
          <p:cNvPr id="30" name="Rectangle: Rounded Corners 29">
            <a:extLst>
              <a:ext uri="{FF2B5EF4-FFF2-40B4-BE49-F238E27FC236}">
                <a16:creationId xmlns:a16="http://schemas.microsoft.com/office/drawing/2014/main" id="{1F0D29B3-4662-FDF3-1ECA-2D46BEAE77B9}"/>
              </a:ext>
            </a:extLst>
          </p:cNvPr>
          <p:cNvSpPr/>
          <p:nvPr/>
        </p:nvSpPr>
        <p:spPr>
          <a:xfrm>
            <a:off x="8692900" y="5355752"/>
            <a:ext cx="3122263" cy="844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1400" b="1" dirty="0"/>
              <a:t>Enhanced Security &amp; Compliance</a:t>
            </a:r>
            <a:r>
              <a:rPr lang="en-US" sz="1400" dirty="0"/>
              <a:t>: Robust API security features ensured compliance with industry standards.</a:t>
            </a:r>
            <a:endParaRPr lang="en-US" sz="1400" b="1" dirty="0"/>
          </a:p>
        </p:txBody>
      </p:sp>
      <p:sp>
        <p:nvSpPr>
          <p:cNvPr id="31" name="Arrow: Down 30">
            <a:extLst>
              <a:ext uri="{FF2B5EF4-FFF2-40B4-BE49-F238E27FC236}">
                <a16:creationId xmlns:a16="http://schemas.microsoft.com/office/drawing/2014/main" id="{9E8B6BFA-3ED1-5813-2ADD-071894CF3606}"/>
              </a:ext>
            </a:extLst>
          </p:cNvPr>
          <p:cNvSpPr/>
          <p:nvPr/>
        </p:nvSpPr>
        <p:spPr>
          <a:xfrm>
            <a:off x="10019886" y="5000487"/>
            <a:ext cx="265176" cy="37334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4333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6DBB35-8D61-9FCD-817A-66F53C0FC340}"/>
              </a:ext>
            </a:extLst>
          </p:cNvPr>
          <p:cNvSpPr>
            <a:spLocks noGrp="1"/>
          </p:cNvSpPr>
          <p:nvPr>
            <p:ph type="title"/>
          </p:nvPr>
        </p:nvSpPr>
        <p:spPr/>
        <p:txBody>
          <a:bodyPr>
            <a:normAutofit/>
          </a:bodyPr>
          <a:lstStyle/>
          <a:p>
            <a:r>
              <a:rPr lang="en-US" dirty="0"/>
              <a:t>API Usage and Growth</a:t>
            </a:r>
          </a:p>
        </p:txBody>
      </p:sp>
      <p:graphicFrame>
        <p:nvGraphicFramePr>
          <p:cNvPr id="5" name="Chart 4">
            <a:extLst>
              <a:ext uri="{FF2B5EF4-FFF2-40B4-BE49-F238E27FC236}">
                <a16:creationId xmlns:a16="http://schemas.microsoft.com/office/drawing/2014/main" id="{A0CA74AF-E9B1-2779-06B1-A7E141F4D7BB}"/>
              </a:ext>
            </a:extLst>
          </p:cNvPr>
          <p:cNvGraphicFramePr>
            <a:graphicFrameLocks/>
          </p:cNvGraphicFramePr>
          <p:nvPr>
            <p:extLst>
              <p:ext uri="{D42A27DB-BD31-4B8C-83A1-F6EECF244321}">
                <p14:modId xmlns:p14="http://schemas.microsoft.com/office/powerpoint/2010/main" val="1308423382"/>
              </p:ext>
            </p:extLst>
          </p:nvPr>
        </p:nvGraphicFramePr>
        <p:xfrm>
          <a:off x="173735" y="1188719"/>
          <a:ext cx="3895341" cy="26609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CFAA4EE0-A539-8A7A-E8B5-85D9744B29CF}"/>
              </a:ext>
            </a:extLst>
          </p:cNvPr>
          <p:cNvGraphicFramePr>
            <a:graphicFrameLocks/>
          </p:cNvGraphicFramePr>
          <p:nvPr>
            <p:extLst>
              <p:ext uri="{D42A27DB-BD31-4B8C-83A1-F6EECF244321}">
                <p14:modId xmlns:p14="http://schemas.microsoft.com/office/powerpoint/2010/main" val="3249315515"/>
              </p:ext>
            </p:extLst>
          </p:nvPr>
        </p:nvGraphicFramePr>
        <p:xfrm>
          <a:off x="4363213" y="1188717"/>
          <a:ext cx="3895341" cy="26609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6F2B78B1-DA31-357A-CE9A-50779F86401B}"/>
              </a:ext>
            </a:extLst>
          </p:cNvPr>
          <p:cNvGraphicFramePr>
            <a:graphicFrameLocks/>
          </p:cNvGraphicFramePr>
          <p:nvPr>
            <p:extLst>
              <p:ext uri="{D42A27DB-BD31-4B8C-83A1-F6EECF244321}">
                <p14:modId xmlns:p14="http://schemas.microsoft.com/office/powerpoint/2010/main" val="2160105166"/>
              </p:ext>
            </p:extLst>
          </p:nvPr>
        </p:nvGraphicFramePr>
        <p:xfrm>
          <a:off x="8552691" y="1188718"/>
          <a:ext cx="3538725" cy="266090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Diagram 27">
            <a:extLst>
              <a:ext uri="{FF2B5EF4-FFF2-40B4-BE49-F238E27FC236}">
                <a16:creationId xmlns:a16="http://schemas.microsoft.com/office/drawing/2014/main" id="{E985CC35-E736-AFA9-DD91-3473A071FFF2}"/>
              </a:ext>
            </a:extLst>
          </p:cNvPr>
          <p:cNvGraphicFramePr/>
          <p:nvPr>
            <p:extLst>
              <p:ext uri="{D42A27DB-BD31-4B8C-83A1-F6EECF244321}">
                <p14:modId xmlns:p14="http://schemas.microsoft.com/office/powerpoint/2010/main" val="2144123358"/>
              </p:ext>
            </p:extLst>
          </p:nvPr>
        </p:nvGraphicFramePr>
        <p:xfrm>
          <a:off x="137159" y="4122905"/>
          <a:ext cx="11917681" cy="207465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753530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F8E0C-24E2-128A-11EB-2748C162F3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AF47954-C99F-CAA7-7F4D-766944726C33}"/>
              </a:ext>
            </a:extLst>
          </p:cNvPr>
          <p:cNvSpPr>
            <a:spLocks noGrp="1"/>
          </p:cNvSpPr>
          <p:nvPr>
            <p:ph type="title"/>
          </p:nvPr>
        </p:nvSpPr>
        <p:spPr/>
        <p:txBody>
          <a:bodyPr>
            <a:normAutofit/>
          </a:bodyPr>
          <a:lstStyle/>
          <a:p>
            <a:r>
              <a:rPr lang="en-US" dirty="0"/>
              <a:t>Caching</a:t>
            </a:r>
          </a:p>
        </p:txBody>
      </p:sp>
      <p:graphicFrame>
        <p:nvGraphicFramePr>
          <p:cNvPr id="4" name="Chart 3">
            <a:extLst>
              <a:ext uri="{FF2B5EF4-FFF2-40B4-BE49-F238E27FC236}">
                <a16:creationId xmlns:a16="http://schemas.microsoft.com/office/drawing/2014/main" id="{4B56D42C-C54A-0AE6-5C66-29E4ECF59847}"/>
              </a:ext>
            </a:extLst>
          </p:cNvPr>
          <p:cNvGraphicFramePr>
            <a:graphicFrameLocks/>
          </p:cNvGraphicFramePr>
          <p:nvPr>
            <p:extLst>
              <p:ext uri="{D42A27DB-BD31-4B8C-83A1-F6EECF244321}">
                <p14:modId xmlns:p14="http://schemas.microsoft.com/office/powerpoint/2010/main" val="3876086760"/>
              </p:ext>
            </p:extLst>
          </p:nvPr>
        </p:nvGraphicFramePr>
        <p:xfrm>
          <a:off x="6281928" y="2194888"/>
          <a:ext cx="5770272" cy="415104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5FDBA233-E123-4110-3F72-D276F16B9EB5}"/>
              </a:ext>
            </a:extLst>
          </p:cNvPr>
          <p:cNvGraphicFramePr>
            <a:graphicFrameLocks/>
          </p:cNvGraphicFramePr>
          <p:nvPr>
            <p:extLst>
              <p:ext uri="{D42A27DB-BD31-4B8C-83A1-F6EECF244321}">
                <p14:modId xmlns:p14="http://schemas.microsoft.com/office/powerpoint/2010/main" val="2708398313"/>
              </p:ext>
            </p:extLst>
          </p:nvPr>
        </p:nvGraphicFramePr>
        <p:xfrm>
          <a:off x="158088" y="2194888"/>
          <a:ext cx="5947056" cy="41510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Diagram 1">
            <a:extLst>
              <a:ext uri="{FF2B5EF4-FFF2-40B4-BE49-F238E27FC236}">
                <a16:creationId xmlns:a16="http://schemas.microsoft.com/office/drawing/2014/main" id="{708C2D41-FFC0-8518-0E2C-498B5B42D263}"/>
              </a:ext>
            </a:extLst>
          </p:cNvPr>
          <p:cNvGraphicFramePr/>
          <p:nvPr>
            <p:extLst>
              <p:ext uri="{D42A27DB-BD31-4B8C-83A1-F6EECF244321}">
                <p14:modId xmlns:p14="http://schemas.microsoft.com/office/powerpoint/2010/main" val="3205760320"/>
              </p:ext>
            </p:extLst>
          </p:nvPr>
        </p:nvGraphicFramePr>
        <p:xfrm>
          <a:off x="2165602" y="-213021"/>
          <a:ext cx="7664198" cy="37060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61030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8BEDE6-7595-AB1F-EF39-46E247A054B2}"/>
              </a:ext>
            </a:extLst>
          </p:cNvPr>
          <p:cNvSpPr>
            <a:spLocks noGrp="1"/>
          </p:cNvSpPr>
          <p:nvPr>
            <p:ph type="title"/>
          </p:nvPr>
        </p:nvSpPr>
        <p:spPr/>
        <p:txBody>
          <a:bodyPr>
            <a:normAutofit/>
          </a:bodyPr>
          <a:lstStyle/>
          <a:p>
            <a:r>
              <a:rPr lang="en-US" dirty="0"/>
              <a:t>Monitoring, Alerts &amp; Reports</a:t>
            </a:r>
          </a:p>
        </p:txBody>
      </p:sp>
      <p:sp>
        <p:nvSpPr>
          <p:cNvPr id="5" name="TextBox 4">
            <a:extLst>
              <a:ext uri="{FF2B5EF4-FFF2-40B4-BE49-F238E27FC236}">
                <a16:creationId xmlns:a16="http://schemas.microsoft.com/office/drawing/2014/main" id="{B873FECA-9F0A-542D-4F74-23EE253DF273}"/>
              </a:ext>
            </a:extLst>
          </p:cNvPr>
          <p:cNvSpPr txBox="1"/>
          <p:nvPr/>
        </p:nvSpPr>
        <p:spPr>
          <a:xfrm>
            <a:off x="185166" y="1205222"/>
            <a:ext cx="9937242" cy="923330"/>
          </a:xfrm>
          <a:prstGeom prst="rect">
            <a:avLst/>
          </a:prstGeom>
          <a:noFill/>
        </p:spPr>
        <p:txBody>
          <a:bodyPr wrap="square">
            <a:spAutoFit/>
          </a:bodyPr>
          <a:lstStyle/>
          <a:p>
            <a:pPr marL="285750" indent="-285750">
              <a:buFont typeface="Arial" panose="020B0604020202020204" pitchFamily="34" charset="0"/>
              <a:buChar char="•"/>
            </a:pPr>
            <a:r>
              <a:rPr lang="en-US" dirty="0"/>
              <a:t>Centralized Logging via </a:t>
            </a:r>
            <a:r>
              <a:rPr lang="en-US" dirty="0" err="1"/>
              <a:t>Anypoint</a:t>
            </a:r>
            <a:r>
              <a:rPr lang="en-US" dirty="0"/>
              <a:t> Monitoring</a:t>
            </a:r>
          </a:p>
          <a:p>
            <a:pPr marL="285750" indent="-285750">
              <a:buFont typeface="Arial" panose="020B0604020202020204" pitchFamily="34" charset="0"/>
              <a:buChar char="•"/>
            </a:pPr>
            <a:r>
              <a:rPr lang="en-US" dirty="0"/>
              <a:t>Advanced Proactive Alert Mechanism</a:t>
            </a:r>
          </a:p>
          <a:p>
            <a:pPr marL="285750" indent="-285750">
              <a:buFont typeface="Arial" panose="020B0604020202020204" pitchFamily="34" charset="0"/>
              <a:buChar char="•"/>
            </a:pPr>
            <a:r>
              <a:rPr lang="en-US" dirty="0"/>
              <a:t>Daily Functional Reporting for Key Business Flows</a:t>
            </a:r>
          </a:p>
        </p:txBody>
      </p:sp>
      <p:sp>
        <p:nvSpPr>
          <p:cNvPr id="10" name="TextBox 9">
            <a:extLst>
              <a:ext uri="{FF2B5EF4-FFF2-40B4-BE49-F238E27FC236}">
                <a16:creationId xmlns:a16="http://schemas.microsoft.com/office/drawing/2014/main" id="{29067456-FEC6-8F54-9C96-742ADB583784}"/>
              </a:ext>
            </a:extLst>
          </p:cNvPr>
          <p:cNvSpPr txBox="1"/>
          <p:nvPr/>
        </p:nvSpPr>
        <p:spPr>
          <a:xfrm>
            <a:off x="17205" y="2128552"/>
            <a:ext cx="2399439" cy="369332"/>
          </a:xfrm>
          <a:prstGeom prst="rect">
            <a:avLst/>
          </a:prstGeom>
          <a:noFill/>
        </p:spPr>
        <p:txBody>
          <a:bodyPr wrap="none" rtlCol="0">
            <a:spAutoFit/>
          </a:bodyPr>
          <a:lstStyle/>
          <a:p>
            <a:r>
              <a:rPr lang="en-US" dirty="0"/>
              <a:t>Monitoring Dashboards</a:t>
            </a:r>
          </a:p>
        </p:txBody>
      </p:sp>
      <p:pic>
        <p:nvPicPr>
          <p:cNvPr id="4" name="Picture 3">
            <a:extLst>
              <a:ext uri="{FF2B5EF4-FFF2-40B4-BE49-F238E27FC236}">
                <a16:creationId xmlns:a16="http://schemas.microsoft.com/office/drawing/2014/main" id="{409B0B29-A740-6399-9D1C-EE2DCBAEFFC2}"/>
              </a:ext>
            </a:extLst>
          </p:cNvPr>
          <p:cNvPicPr>
            <a:picLocks noChangeAspect="1"/>
          </p:cNvPicPr>
          <p:nvPr/>
        </p:nvPicPr>
        <p:blipFill>
          <a:blip r:embed="rId2"/>
          <a:stretch>
            <a:fillRect/>
          </a:stretch>
        </p:blipFill>
        <p:spPr>
          <a:xfrm>
            <a:off x="3081528" y="4663440"/>
            <a:ext cx="5422392" cy="1764792"/>
          </a:xfrm>
          <a:prstGeom prst="rect">
            <a:avLst/>
          </a:prstGeom>
        </p:spPr>
      </p:pic>
      <p:pic>
        <p:nvPicPr>
          <p:cNvPr id="6" name="Picture 5">
            <a:extLst>
              <a:ext uri="{FF2B5EF4-FFF2-40B4-BE49-F238E27FC236}">
                <a16:creationId xmlns:a16="http://schemas.microsoft.com/office/drawing/2014/main" id="{043BA8A5-2E4B-2DDB-0B08-BFA76655B3A7}"/>
              </a:ext>
            </a:extLst>
          </p:cNvPr>
          <p:cNvPicPr>
            <a:picLocks noChangeAspect="1"/>
          </p:cNvPicPr>
          <p:nvPr/>
        </p:nvPicPr>
        <p:blipFill>
          <a:blip r:embed="rId3"/>
          <a:stretch>
            <a:fillRect/>
          </a:stretch>
        </p:blipFill>
        <p:spPr>
          <a:xfrm>
            <a:off x="4075475" y="2497883"/>
            <a:ext cx="3722451" cy="1973063"/>
          </a:xfrm>
          <a:prstGeom prst="rect">
            <a:avLst/>
          </a:prstGeom>
        </p:spPr>
      </p:pic>
      <p:pic>
        <p:nvPicPr>
          <p:cNvPr id="8" name="Picture 7">
            <a:extLst>
              <a:ext uri="{FF2B5EF4-FFF2-40B4-BE49-F238E27FC236}">
                <a16:creationId xmlns:a16="http://schemas.microsoft.com/office/drawing/2014/main" id="{F03779C2-283B-A03C-C116-884E8752293B}"/>
              </a:ext>
            </a:extLst>
          </p:cNvPr>
          <p:cNvPicPr>
            <a:picLocks noChangeAspect="1"/>
          </p:cNvPicPr>
          <p:nvPr/>
        </p:nvPicPr>
        <p:blipFill>
          <a:blip r:embed="rId4"/>
          <a:stretch>
            <a:fillRect/>
          </a:stretch>
        </p:blipFill>
        <p:spPr>
          <a:xfrm>
            <a:off x="8235914" y="2497883"/>
            <a:ext cx="3722451" cy="1973063"/>
          </a:xfrm>
          <a:prstGeom prst="rect">
            <a:avLst/>
          </a:prstGeom>
        </p:spPr>
      </p:pic>
      <p:pic>
        <p:nvPicPr>
          <p:cNvPr id="7" name="Picture 6">
            <a:extLst>
              <a:ext uri="{FF2B5EF4-FFF2-40B4-BE49-F238E27FC236}">
                <a16:creationId xmlns:a16="http://schemas.microsoft.com/office/drawing/2014/main" id="{24EF306E-1CB0-24CA-30AE-42C73130DCA3}"/>
              </a:ext>
            </a:extLst>
          </p:cNvPr>
          <p:cNvPicPr>
            <a:picLocks noChangeAspect="1"/>
          </p:cNvPicPr>
          <p:nvPr/>
        </p:nvPicPr>
        <p:blipFill>
          <a:blip r:embed="rId5"/>
          <a:stretch>
            <a:fillRect/>
          </a:stretch>
        </p:blipFill>
        <p:spPr>
          <a:xfrm>
            <a:off x="0" y="2497883"/>
            <a:ext cx="3722451" cy="1973063"/>
          </a:xfrm>
          <a:prstGeom prst="rect">
            <a:avLst/>
          </a:prstGeom>
        </p:spPr>
      </p:pic>
      <p:sp>
        <p:nvSpPr>
          <p:cNvPr id="11" name="Arrow: Right 10">
            <a:extLst>
              <a:ext uri="{FF2B5EF4-FFF2-40B4-BE49-F238E27FC236}">
                <a16:creationId xmlns:a16="http://schemas.microsoft.com/office/drawing/2014/main" id="{548762B4-EE01-80D1-3907-FA64B86944C8}"/>
              </a:ext>
            </a:extLst>
          </p:cNvPr>
          <p:cNvSpPr/>
          <p:nvPr/>
        </p:nvSpPr>
        <p:spPr>
          <a:xfrm>
            <a:off x="3722451" y="3348709"/>
            <a:ext cx="353024" cy="2419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2F76F70B-E7A4-5ECD-436F-DC3AA44A67F4}"/>
              </a:ext>
            </a:extLst>
          </p:cNvPr>
          <p:cNvSpPr/>
          <p:nvPr/>
        </p:nvSpPr>
        <p:spPr>
          <a:xfrm>
            <a:off x="7859308" y="3348604"/>
            <a:ext cx="353024" cy="2419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7314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step&#10;&#10;AI-generated content may be incorrect.">
            <a:extLst>
              <a:ext uri="{FF2B5EF4-FFF2-40B4-BE49-F238E27FC236}">
                <a16:creationId xmlns:a16="http://schemas.microsoft.com/office/drawing/2014/main" id="{8ECEEFA4-DA43-A8A0-6584-69B30ECC4C7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495" r="-2" b="-2"/>
          <a:stretch>
            <a:fillRect/>
          </a:stretch>
        </p:blipFill>
        <p:spPr>
          <a:xfrm>
            <a:off x="561671" y="1286118"/>
            <a:ext cx="11068657" cy="4993758"/>
          </a:xfrm>
          <a:noFill/>
        </p:spPr>
      </p:pic>
      <p:sp>
        <p:nvSpPr>
          <p:cNvPr id="3" name="Title 2">
            <a:extLst>
              <a:ext uri="{FF2B5EF4-FFF2-40B4-BE49-F238E27FC236}">
                <a16:creationId xmlns:a16="http://schemas.microsoft.com/office/drawing/2014/main" id="{3FFDF4D6-DD31-A9FA-D3FD-96795486794B}"/>
              </a:ext>
            </a:extLst>
          </p:cNvPr>
          <p:cNvSpPr>
            <a:spLocks noGrp="1"/>
          </p:cNvSpPr>
          <p:nvPr>
            <p:ph type="title"/>
          </p:nvPr>
        </p:nvSpPr>
        <p:spPr>
          <a:xfrm>
            <a:off x="356428" y="-194782"/>
            <a:ext cx="9072964" cy="1110216"/>
          </a:xfrm>
        </p:spPr>
        <p:txBody>
          <a:bodyPr anchor="ctr">
            <a:normAutofit/>
          </a:bodyPr>
          <a:lstStyle/>
          <a:p>
            <a:r>
              <a:rPr lang="en-US">
                <a:latin typeface="Helvetica"/>
                <a:cs typeface="Helvetica"/>
              </a:rPr>
              <a:t>Projects in Pipeline</a:t>
            </a:r>
            <a:endParaRPr lang="en-US"/>
          </a:p>
        </p:txBody>
      </p:sp>
      <p:sp>
        <p:nvSpPr>
          <p:cNvPr id="6" name="Rectangle 5">
            <a:extLst>
              <a:ext uri="{FF2B5EF4-FFF2-40B4-BE49-F238E27FC236}">
                <a16:creationId xmlns:a16="http://schemas.microsoft.com/office/drawing/2014/main" id="{D675F6AA-AF1C-6C74-8286-6A9D573DF80D}"/>
              </a:ext>
            </a:extLst>
          </p:cNvPr>
          <p:cNvSpPr/>
          <p:nvPr/>
        </p:nvSpPr>
        <p:spPr>
          <a:xfrm>
            <a:off x="1246249" y="1789471"/>
            <a:ext cx="1624770" cy="822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accent1">
                    <a:lumMod val="75000"/>
                  </a:schemeClr>
                </a:solidFill>
                <a:ea typeface="Calibri"/>
                <a:cs typeface="Calibri"/>
              </a:rPr>
              <a:t>Flipkart Integration</a:t>
            </a:r>
          </a:p>
        </p:txBody>
      </p:sp>
      <p:sp>
        <p:nvSpPr>
          <p:cNvPr id="7" name="Rectangle 6">
            <a:extLst>
              <a:ext uri="{FF2B5EF4-FFF2-40B4-BE49-F238E27FC236}">
                <a16:creationId xmlns:a16="http://schemas.microsoft.com/office/drawing/2014/main" id="{C811B2E3-F07B-C26C-D351-7D7ABA47E579}"/>
              </a:ext>
            </a:extLst>
          </p:cNvPr>
          <p:cNvSpPr/>
          <p:nvPr/>
        </p:nvSpPr>
        <p:spPr>
          <a:xfrm>
            <a:off x="3327113" y="1818225"/>
            <a:ext cx="1567132" cy="822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accent1">
                    <a:lumMod val="75000"/>
                  </a:schemeClr>
                </a:solidFill>
              </a:rPr>
              <a:t>API Portal Implementation</a:t>
            </a:r>
            <a:endParaRPr lang="en-US" sz="1600" b="1">
              <a:solidFill>
                <a:schemeClr val="accent1">
                  <a:lumMod val="75000"/>
                </a:schemeClr>
              </a:solidFill>
              <a:ea typeface="Calibri"/>
              <a:cs typeface="Calibri"/>
            </a:endParaRPr>
          </a:p>
        </p:txBody>
      </p:sp>
      <p:sp>
        <p:nvSpPr>
          <p:cNvPr id="8" name="Rectangle 7">
            <a:extLst>
              <a:ext uri="{FF2B5EF4-FFF2-40B4-BE49-F238E27FC236}">
                <a16:creationId xmlns:a16="http://schemas.microsoft.com/office/drawing/2014/main" id="{65A18407-5B5F-818C-952B-F8A9039F56A8}"/>
              </a:ext>
            </a:extLst>
          </p:cNvPr>
          <p:cNvSpPr/>
          <p:nvPr/>
        </p:nvSpPr>
        <p:spPr>
          <a:xfrm>
            <a:off x="9303777" y="1817344"/>
            <a:ext cx="1524000" cy="822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1">
                    <a:lumMod val="75000"/>
                  </a:schemeClr>
                </a:solidFill>
              </a:rPr>
              <a:t>Data Cloud Integration</a:t>
            </a:r>
            <a:endParaRPr lang="en-IN" sz="2000" b="1">
              <a:solidFill>
                <a:schemeClr val="accent1">
                  <a:lumMod val="75000"/>
                </a:schemeClr>
              </a:solidFill>
            </a:endParaRPr>
          </a:p>
        </p:txBody>
      </p:sp>
      <p:sp>
        <p:nvSpPr>
          <p:cNvPr id="9" name="Rectangle 8">
            <a:extLst>
              <a:ext uri="{FF2B5EF4-FFF2-40B4-BE49-F238E27FC236}">
                <a16:creationId xmlns:a16="http://schemas.microsoft.com/office/drawing/2014/main" id="{C283B5A5-C879-9CFF-45E4-EDF8C3BF10B2}"/>
              </a:ext>
            </a:extLst>
          </p:cNvPr>
          <p:cNvSpPr/>
          <p:nvPr/>
        </p:nvSpPr>
        <p:spPr>
          <a:xfrm>
            <a:off x="7384021" y="1858296"/>
            <a:ext cx="1524000" cy="822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accent5">
                    <a:lumMod val="50000"/>
                  </a:schemeClr>
                </a:solidFill>
              </a:rPr>
              <a:t>SAP Integration</a:t>
            </a:r>
            <a:endParaRPr lang="en-US" b="1">
              <a:solidFill>
                <a:schemeClr val="accent5">
                  <a:lumMod val="50000"/>
                </a:schemeClr>
              </a:solidFill>
              <a:ea typeface="Calibri"/>
              <a:cs typeface="Calibri"/>
            </a:endParaRPr>
          </a:p>
        </p:txBody>
      </p:sp>
      <p:sp>
        <p:nvSpPr>
          <p:cNvPr id="10" name="Rectangle 9">
            <a:extLst>
              <a:ext uri="{FF2B5EF4-FFF2-40B4-BE49-F238E27FC236}">
                <a16:creationId xmlns:a16="http://schemas.microsoft.com/office/drawing/2014/main" id="{7EB105F9-6F9D-0C0C-7FC5-6ED5591BF0BA}"/>
              </a:ext>
            </a:extLst>
          </p:cNvPr>
          <p:cNvSpPr/>
          <p:nvPr/>
        </p:nvSpPr>
        <p:spPr>
          <a:xfrm>
            <a:off x="5220943" y="1817345"/>
            <a:ext cx="1524000" cy="822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t> F</a:t>
            </a:r>
            <a:r>
              <a:rPr lang="en-US" b="1">
                <a:solidFill>
                  <a:schemeClr val="accent5">
                    <a:lumMod val="50000"/>
                  </a:schemeClr>
                </a:solidFill>
              </a:rPr>
              <a:t>One &amp; Done (Document Upload)</a:t>
            </a:r>
            <a:endParaRPr lang="en-US" b="1">
              <a:solidFill>
                <a:schemeClr val="accent5">
                  <a:lumMod val="50000"/>
                </a:schemeClr>
              </a:solidFill>
              <a:ea typeface="Calibri"/>
              <a:cs typeface="Calibri"/>
            </a:endParaRPr>
          </a:p>
        </p:txBody>
      </p:sp>
      <p:sp>
        <p:nvSpPr>
          <p:cNvPr id="4" name="Rectangle: Rounded Corners 3">
            <a:extLst>
              <a:ext uri="{FF2B5EF4-FFF2-40B4-BE49-F238E27FC236}">
                <a16:creationId xmlns:a16="http://schemas.microsoft.com/office/drawing/2014/main" id="{D22B7AB6-3034-D6D4-DECC-759D09CAC09D}"/>
              </a:ext>
            </a:extLst>
          </p:cNvPr>
          <p:cNvSpPr/>
          <p:nvPr/>
        </p:nvSpPr>
        <p:spPr>
          <a:xfrm>
            <a:off x="3328223" y="4994786"/>
            <a:ext cx="1435516" cy="334296"/>
          </a:xfrm>
          <a:prstGeom prst="round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Sep - 25</a:t>
            </a:r>
            <a:endParaRPr lang="en-IN"/>
          </a:p>
        </p:txBody>
      </p:sp>
      <p:sp>
        <p:nvSpPr>
          <p:cNvPr id="11" name="Rectangle: Rounded Corners 10">
            <a:extLst>
              <a:ext uri="{FF2B5EF4-FFF2-40B4-BE49-F238E27FC236}">
                <a16:creationId xmlns:a16="http://schemas.microsoft.com/office/drawing/2014/main" id="{857A8FEB-3DF9-609A-2DE8-D465769EBEB9}"/>
              </a:ext>
            </a:extLst>
          </p:cNvPr>
          <p:cNvSpPr/>
          <p:nvPr/>
        </p:nvSpPr>
        <p:spPr>
          <a:xfrm>
            <a:off x="5348762" y="4994786"/>
            <a:ext cx="1435516" cy="334296"/>
          </a:xfrm>
          <a:prstGeom prst="round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Oct -25</a:t>
            </a:r>
            <a:endParaRPr lang="en-IN" dirty="0"/>
          </a:p>
        </p:txBody>
      </p:sp>
      <p:sp>
        <p:nvSpPr>
          <p:cNvPr id="12" name="Rectangle: Rounded Corners 11">
            <a:extLst>
              <a:ext uri="{FF2B5EF4-FFF2-40B4-BE49-F238E27FC236}">
                <a16:creationId xmlns:a16="http://schemas.microsoft.com/office/drawing/2014/main" id="{14F94A91-5418-6282-DA70-F661B0529550}"/>
              </a:ext>
            </a:extLst>
          </p:cNvPr>
          <p:cNvSpPr/>
          <p:nvPr/>
        </p:nvSpPr>
        <p:spPr>
          <a:xfrm>
            <a:off x="7384021" y="5004618"/>
            <a:ext cx="1435516" cy="334296"/>
          </a:xfrm>
          <a:prstGeom prst="round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Nov - 25</a:t>
            </a:r>
            <a:endParaRPr lang="en-IN"/>
          </a:p>
        </p:txBody>
      </p:sp>
      <p:sp>
        <p:nvSpPr>
          <p:cNvPr id="13" name="Rectangle: Rounded Corners 12">
            <a:extLst>
              <a:ext uri="{FF2B5EF4-FFF2-40B4-BE49-F238E27FC236}">
                <a16:creationId xmlns:a16="http://schemas.microsoft.com/office/drawing/2014/main" id="{98E9F24B-8D5F-355E-A4C4-6A6080C8EA72}"/>
              </a:ext>
            </a:extLst>
          </p:cNvPr>
          <p:cNvSpPr/>
          <p:nvPr/>
        </p:nvSpPr>
        <p:spPr>
          <a:xfrm>
            <a:off x="9409465" y="4994786"/>
            <a:ext cx="1435516" cy="334296"/>
          </a:xfrm>
          <a:prstGeom prst="round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Nov -  25</a:t>
            </a:r>
            <a:endParaRPr lang="en-IN"/>
          </a:p>
        </p:txBody>
      </p:sp>
      <p:sp>
        <p:nvSpPr>
          <p:cNvPr id="14" name="Rectangle: Rounded Corners 13">
            <a:extLst>
              <a:ext uri="{FF2B5EF4-FFF2-40B4-BE49-F238E27FC236}">
                <a16:creationId xmlns:a16="http://schemas.microsoft.com/office/drawing/2014/main" id="{025BB2F5-6C45-B88C-48AE-B873D512E541}"/>
              </a:ext>
            </a:extLst>
          </p:cNvPr>
          <p:cNvSpPr/>
          <p:nvPr/>
        </p:nvSpPr>
        <p:spPr>
          <a:xfrm>
            <a:off x="1340876" y="5004618"/>
            <a:ext cx="1435516" cy="334296"/>
          </a:xfrm>
          <a:prstGeom prst="round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Sep - 25</a:t>
            </a:r>
            <a:endParaRPr lang="en-IN" dirty="0"/>
          </a:p>
        </p:txBody>
      </p:sp>
    </p:spTree>
    <p:extLst>
      <p:ext uri="{BB962C8B-B14F-4D97-AF65-F5344CB8AC3E}">
        <p14:creationId xmlns:p14="http://schemas.microsoft.com/office/powerpoint/2010/main" val="232018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5D77BC-8A97-1237-59B8-998EA218FDEA}"/>
              </a:ext>
            </a:extLst>
          </p:cNvPr>
          <p:cNvSpPr>
            <a:spLocks noGrp="1"/>
          </p:cNvSpPr>
          <p:nvPr>
            <p:ph type="body" idx="13"/>
          </p:nvPr>
        </p:nvSpPr>
        <p:spPr>
          <a:xfrm>
            <a:off x="4455044" y="2521335"/>
            <a:ext cx="7736956" cy="1500187"/>
          </a:xfrm>
        </p:spPr>
        <p:txBody>
          <a:bodyPr>
            <a:normAutofit/>
          </a:bodyPr>
          <a:lstStyle/>
          <a:p>
            <a:r>
              <a:rPr lang="en-US" sz="6600" b="1" dirty="0"/>
              <a:t>THANK YOU</a:t>
            </a:r>
            <a:endParaRPr lang="en-IN" sz="6600" b="1" dirty="0"/>
          </a:p>
        </p:txBody>
      </p:sp>
    </p:spTree>
    <p:extLst>
      <p:ext uri="{BB962C8B-B14F-4D97-AF65-F5344CB8AC3E}">
        <p14:creationId xmlns:p14="http://schemas.microsoft.com/office/powerpoint/2010/main" val="1374594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7bbbbf12-fa25-42e6-aeaa-3a6cd7e0cf7b">
      <UserInfo>
        <DisplayName>PRATYUSH SINHA</DisplayName>
        <AccountId>9</AccountId>
        <AccountType/>
      </UserInfo>
    </SharedWithUsers>
    <TaxCatchAll xmlns="7bbbbf12-fa25-42e6-aeaa-3a6cd7e0cf7b" xsi:nil="true"/>
    <lcf76f155ced4ddcb4097134ff3c332f xmlns="9b6019d9-1758-4407-a4dd-1ec63af10ee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D791E683D78D746B1CAB25B2C0B3BEE" ma:contentTypeVersion="14" ma:contentTypeDescription="Create a new document." ma:contentTypeScope="" ma:versionID="c4dfa9c3a3dde641d9cc58ad5305683b">
  <xsd:schema xmlns:xsd="http://www.w3.org/2001/XMLSchema" xmlns:xs="http://www.w3.org/2001/XMLSchema" xmlns:p="http://schemas.microsoft.com/office/2006/metadata/properties" xmlns:ns2="7bbbbf12-fa25-42e6-aeaa-3a6cd7e0cf7b" xmlns:ns3="9b6019d9-1758-4407-a4dd-1ec63af10ee5" targetNamespace="http://schemas.microsoft.com/office/2006/metadata/properties" ma:root="true" ma:fieldsID="937258a98c860b63d9097fa161c30233" ns2:_="" ns3:_="">
    <xsd:import namespace="7bbbbf12-fa25-42e6-aeaa-3a6cd7e0cf7b"/>
    <xsd:import namespace="9b6019d9-1758-4407-a4dd-1ec63af10ee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MediaServiceGenerationTime" minOccurs="0"/>
                <xsd:element ref="ns3:MediaServiceEventHashCode" minOccurs="0"/>
                <xsd:element ref="ns3:lcf76f155ced4ddcb4097134ff3c332f" minOccurs="0"/>
                <xsd:element ref="ns2:TaxCatchAll"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bbbf12-fa25-42e6-aeaa-3a6cd7e0cf7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cf5bee2d-ace2-45b3-bbc9-930d17d425d3}" ma:internalName="TaxCatchAll" ma:showField="CatchAllData" ma:web="7bbbbf12-fa25-42e6-aeaa-3a6cd7e0cf7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b6019d9-1758-4407-a4dd-1ec63af10ee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6589745b-4968-4e0c-b00a-a17d340c83a7"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268582-AEAE-45A0-810C-851B6C66776A}">
  <ds:schemaRefs>
    <ds:schemaRef ds:uri="9b6019d9-1758-4407-a4dd-1ec63af10ee5"/>
    <ds:schemaRef ds:uri="http://www.w3.org/XML/1998/namespace"/>
    <ds:schemaRef ds:uri="http://schemas.microsoft.com/office/infopath/2007/PartnerControls"/>
    <ds:schemaRef ds:uri="http://purl.org/dc/elements/1.1/"/>
    <ds:schemaRef ds:uri="http://purl.org/dc/dcmitype/"/>
    <ds:schemaRef ds:uri="http://purl.org/dc/terms/"/>
    <ds:schemaRef ds:uri="http://schemas.microsoft.com/office/2006/documentManagement/types"/>
    <ds:schemaRef ds:uri="http://schemas.openxmlformats.org/package/2006/metadata/core-properties"/>
    <ds:schemaRef ds:uri="7bbbbf12-fa25-42e6-aeaa-3a6cd7e0cf7b"/>
    <ds:schemaRef ds:uri="http://schemas.microsoft.com/office/2006/metadata/properties"/>
  </ds:schemaRefs>
</ds:datastoreItem>
</file>

<file path=customXml/itemProps2.xml><?xml version="1.0" encoding="utf-8"?>
<ds:datastoreItem xmlns:ds="http://schemas.openxmlformats.org/officeDocument/2006/customXml" ds:itemID="{4F14E6C2-556D-4A16-B0F1-96ED260C11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bbbf12-fa25-42e6-aeaa-3a6cd7e0cf7b"/>
    <ds:schemaRef ds:uri="9b6019d9-1758-4407-a4dd-1ec63af10e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07BEED7-FCEA-4614-8EAC-F535C2AFC477}">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Integral</Template>
  <TotalTime>20024</TotalTime>
  <Words>1089</Words>
  <Application>Microsoft Office PowerPoint</Application>
  <PresentationFormat>Widescreen</PresentationFormat>
  <Paragraphs>184</Paragraphs>
  <Slides>14</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14</vt:i4>
      </vt:variant>
    </vt:vector>
  </HeadingPairs>
  <TitlesOfParts>
    <vt:vector size="27" baseType="lpstr">
      <vt:lpstr>Abadi</vt:lpstr>
      <vt:lpstr>AngsanaUPC</vt:lpstr>
      <vt:lpstr>Aptos</vt:lpstr>
      <vt:lpstr>Arial</vt:lpstr>
      <vt:lpstr>Arial Black</vt:lpstr>
      <vt:lpstr>Calibri</vt:lpstr>
      <vt:lpstr>Calibri Light</vt:lpstr>
      <vt:lpstr>Graphik</vt:lpstr>
      <vt:lpstr>Helvetica</vt:lpstr>
      <vt:lpstr>Skeena</vt:lpstr>
      <vt:lpstr>system-ui</vt:lpstr>
      <vt:lpstr>Times New Roman</vt:lpstr>
      <vt:lpstr>Office Theme</vt:lpstr>
      <vt:lpstr>PowerPoint Presentation</vt:lpstr>
      <vt:lpstr> AGENDA </vt:lpstr>
      <vt:lpstr>Why Salesforce-Mulesoft?</vt:lpstr>
      <vt:lpstr>Solution</vt:lpstr>
      <vt:lpstr> </vt:lpstr>
      <vt:lpstr>CI/CD, Environments and Branching Strategy</vt:lpstr>
      <vt:lpstr>API Security Implemented</vt:lpstr>
      <vt:lpstr> Centralised API architecture</vt:lpstr>
      <vt:lpstr>Key Metrics &amp; Business Outcomes</vt:lpstr>
      <vt:lpstr>API Usage and Growth</vt:lpstr>
      <vt:lpstr>Caching</vt:lpstr>
      <vt:lpstr>Monitoring, Alerts &amp; Reports</vt:lpstr>
      <vt:lpstr>Projects in Pipeline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PRATYUSH SINHA</dc:creator>
  <cp:lastModifiedBy>PRATYUSH SINHA</cp:lastModifiedBy>
  <cp:revision>25</cp:revision>
  <dcterms:created xsi:type="dcterms:W3CDTF">2023-05-16T05:38:21Z</dcterms:created>
  <dcterms:modified xsi:type="dcterms:W3CDTF">2025-08-27T11:45:45Z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0x010100DD791E683D78D746B1CAB25B2C0B3BEE</vt:lpwstr>
  </property>
  <property fmtid="{D5CDD505-2E9C-101B-9397-08002B2CF9AE}" pid="3" name="MediaServiceImageTags">
    <vt:lpwstr/>
  </property>
</Properties>
</file>